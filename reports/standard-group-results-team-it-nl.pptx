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1" r:id="rId16"/>
    <p:sldId id="304" r:id="rId17"/>
    <p:sldId id="307" r:id="rId18"/>
    <p:sldId id="310" r:id="rId19"/>
    <p:sldId id="313" r:id="rId20"/>
    <p:sldId id="316" r:id="rId21"/>
    <p:sldId id="319" r:id="rId22"/>
    <p:sldId id="322" r:id="rId23"/>
    <p:sldId id="331" r:id="rId24"/>
    <p:sldId id="334" r:id="rId25"/>
    <p:sldId id="337" r:id="rId26"/>
    <p:sldId id="340" r:id="rId27"/>
    <p:sldId id="343" r:id="rId28"/>
    <p:sldId id="346" r:id="rId29"/>
    <p:sldId id="349" r:id="rId30"/>
    <p:sldId id="352" r:id="rId31"/>
    <p:sldId id="355" r:id="rId32"/>
    <p:sldId id="358" r:id="rId33"/>
    <p:sldId id="361" r:id="rId34"/>
    <p:sldId id="370" r:id="rId35"/>
    <p:sldId id="373" r:id="rId36"/>
    <p:sldId id="376" r:id="rId37"/>
    <p:sldId id="379" r:id="rId38"/>
    <p:sldId id="382" r:id="rId39"/>
    <p:sldId id="385" r:id="rId40"/>
    <p:sldId id="388" r:id="rId41"/>
    <p:sldId id="391" r:id="rId42"/>
    <p:sldId id="394" r:id="rId43"/>
    <p:sldId id="397" r:id="rId44"/>
    <p:sldId id="400" r:id="rId45"/>
    <p:sldId id="403" r:id="rId46"/>
    <p:sldId id="406" r:id="rId47"/>
    <p:sldId id="409" r:id="rId48"/>
    <p:sldId id="412" r:id="rId49"/>
    <p:sldId id="415" r:id="rId50"/>
    <p:sldId id="418" r:id="rId51"/>
    <p:sldId id="421" r:id="rId52"/>
    <p:sldId id="424" r:id="rId53"/>
    <p:sldId id="427" r:id="rId54"/>
    <p:sldId id="430" r:id="rId55"/>
    <p:sldId id="433" r:id="rId56"/>
    <p:sldId id="436" r:id="rId57"/>
    <p:sldId id="439" r:id="rId58"/>
    <p:sldId id="442" r:id="rId59"/>
    <p:sldId id="445" r:id="rId60"/>
    <p:sldId id="448" r:id="rId61"/>
    <p:sldId id="457" r:id="rId62"/>
    <p:sldId id="451" r:id="rId63"/>
    <p:sldId id="460" r:id="rId64"/>
    <p:sldId id="454" r:id="rId65"/>
    <p:sldId id="463" r:id="rId66"/>
    <p:sldId id="466" r:id="rId67"/>
    <p:sldId id="469" r:id="rId68"/>
    <p:sldId id="472" r:id="rId69"/>
    <p:sldId id="475" r:id="rId70"/>
    <p:sldId id="478" r:id="rId71"/>
    <p:sldId id="481" r:id="rId72"/>
    <p:sldId id="484" r:id="rId73"/>
    <p:sldId id="487" r:id="rId74"/>
    <p:sldId id="490" r:id="rId75"/>
    <p:sldId id="493" r:id="rId76"/>
    <p:sldId id="496" r:id="rId77"/>
    <p:sldId id="499" r:id="rId78"/>
    <p:sldId id="502" r:id="rId79"/>
    <p:sldId id="505" r:id="rId80"/>
    <p:sldId id="508" r:id="rId81"/>
    <p:sldId id="511" r:id="rId82"/>
    <p:sldId id="514" r:id="rId83"/>
    <p:sldId id="517" r:id="rId84"/>
  </p:sldIdLst>
  <p:sldSz cx="9144000" cy="5143500" type="screen16x9"/>
  <p:notesSz cx="6858000" cy="9144000"/>
  <p:embeddedFontLst>
    <p:embeddedFont>
      <p:font typeface="Poppins" pitchFamily="2" charset="77"/>
      <p:regular r:id="rId85"/>
      <p:bold r:id="rId86"/>
      <p:italic r:id="rId87"/>
      <p:boldItalic r:id="rId88"/>
    </p:embeddedFont>
  </p:embeddedFontLst>
  <p:custDataLst>
    <p:tags r:id="rId8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1.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FB01DF56-AB2A-40B4-890F-637A6639E395}"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094272AC-EE36-46F6-A38B-15242E4D46CE}"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E84E2BB4-EFBC-4E32-9A37-75F4E2751629}"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51CDC701-ADA6-4EC9-9686-41763795AA7F}"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212A6F0D-D01C-42A0-8F4E-6614E7CCCC51}"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AC101994-C778-41C2-92CD-9913623D8857}"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547DBE76-5BAC-4CCC-A66B-6302F8415FF8}"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9CB27D6B-9C08-4200-9CB9-C3A3432D74CE}"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465212F7-6020-46FD-BBF3-22238680233A}"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702C86F2-0EFE-4C4D-9A42-D6822B623A22}"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5A81F64D-2C05-4A5A-AE64-524C011447B1}"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3.xml"/><Relationship Id="rId7" Type="http://schemas.openxmlformats.org/officeDocument/2006/relationships/slide" Target="slide3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22.xml"/><Relationship Id="rId5" Type="http://schemas.openxmlformats.org/officeDocument/2006/relationships/slide" Target="slide12.xml"/><Relationship Id="rId4" Type="http://schemas.openxmlformats.org/officeDocument/2006/relationships/slide" Target="slide9.xml"/><Relationship Id="rId9" Type="http://schemas.openxmlformats.org/officeDocument/2006/relationships/slide" Target="slide8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19.svg"/><Relationship Id="rId10" Type="http://schemas.openxmlformats.org/officeDocument/2006/relationships/image" Target="../media/image20.svg"/><Relationship Id="rId4" Type="http://schemas.openxmlformats.org/officeDocument/2006/relationships/image" Target="../media/image18.svg"/><Relationship Id="rId9"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7.svg"/><Relationship Id="rId2"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1.svg"/><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20.sv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9.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0.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421606"/>
            <a:ext cx="6286500" cy="14401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dirty="0">
                <a:solidFill>
                  <a:srgbClr val="000000"/>
                </a:solidFill>
                <a:latin typeface="Poppins"/>
              </a:rPr>
              <a:t>De </a:t>
            </a:r>
            <a:r>
              <a:rPr sz="3150" b="1" i="0" dirty="0" err="1">
                <a:solidFill>
                  <a:srgbClr val="000000"/>
                </a:solidFill>
                <a:latin typeface="Poppins"/>
              </a:rPr>
              <a:t>resultaten</a:t>
            </a:r>
            <a:r>
              <a:rPr sz="3150" b="1" i="0" dirty="0">
                <a:solidFill>
                  <a:srgbClr val="000000"/>
                </a:solidFill>
                <a:latin typeface="Poppins"/>
              </a:rPr>
              <a:t> van Your Voice - 2024 (Top 2 Box) </a:t>
            </a:r>
            <a:r>
              <a:rPr sz="3150" b="1" i="0" dirty="0" err="1">
                <a:solidFill>
                  <a:srgbClr val="000000"/>
                </a:solidFill>
                <a:latin typeface="Poppins"/>
              </a:rPr>
              <a:t>voor</a:t>
            </a:r>
            <a:r>
              <a:rPr sz="3150" b="1" i="0" dirty="0">
                <a:solidFill>
                  <a:srgbClr val="000000"/>
                </a:solidFill>
                <a:latin typeface="Poppins"/>
              </a:rPr>
              <a:t> </a:t>
            </a:r>
            <a:r>
              <a:rPr lang="en-US" sz="3150" b="1" i="0" dirty="0">
                <a:solidFill>
                  <a:srgbClr val="000000"/>
                </a:solidFill>
                <a:latin typeface="Poppins"/>
              </a:rPr>
              <a:t>Team IT</a:t>
            </a:r>
            <a:endParaRPr sz="3150" b="1" i="0" dirty="0">
              <a:solidFill>
                <a:srgbClr val="000000"/>
              </a:solidFill>
              <a:latin typeface="Poppins"/>
            </a:endParaRPr>
          </a:p>
        </p:txBody>
      </p:sp>
      <p:sp>
        <p:nvSpPr>
          <p:cNvPr id="4"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5"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Onderzoeksperiode</a:t>
            </a:r>
            <a:r>
              <a:rPr sz="788" b="0" i="0">
                <a:solidFill>
                  <a:srgbClr val="192743"/>
                </a:solidFill>
                <a:latin typeface="Poppins"/>
              </a:rPr>
              <a:t> mei 03, 2024 - mei 08, 2024</a:t>
            </a:r>
          </a:p>
        </p:txBody>
      </p:sp>
      <p:sp>
        <p:nvSpPr>
          <p:cNvPr id="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Inhoud</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De resultaten aflezen</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Employee Net Promoter Score</a:t>
            </a:r>
          </a:p>
        </p:txBody>
      </p:sp>
      <p:sp>
        <p:nvSpPr>
          <p:cNvPr id="8" name="New shape"/>
          <p:cNvSpPr txBox="1"/>
          <p:nvPr/>
        </p:nvSpPr>
        <p:spPr>
          <a:xfrm>
            <a:off x="457200" y="201168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01168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Organisatie-effectiviteit - Algemeen profiel</a:t>
            </a:r>
          </a:p>
        </p:txBody>
      </p:sp>
      <p:sp>
        <p:nvSpPr>
          <p:cNvPr id="10" name="New shape"/>
          <p:cNvSpPr txBox="1"/>
          <p:nvPr/>
        </p:nvSpPr>
        <p:spPr>
          <a:xfrm>
            <a:off x="457200" y="259461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59461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Thema's</a:t>
            </a:r>
          </a:p>
        </p:txBody>
      </p:sp>
      <p:sp>
        <p:nvSpPr>
          <p:cNvPr id="12" name="New shape"/>
          <p:cNvSpPr txBox="1"/>
          <p:nvPr/>
        </p:nvSpPr>
        <p:spPr>
          <a:xfrm>
            <a:off x="457200" y="29718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3" name="New shape">
            <a:hlinkClick r:id="rId7" action="ppaction://hlinksldjump"/>
          </p:cNvPr>
          <p:cNvSpPr txBox="1"/>
          <p:nvPr/>
        </p:nvSpPr>
        <p:spPr>
          <a:xfrm>
            <a:off x="835819" y="29718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Resultaten op de vragen</a:t>
            </a:r>
          </a:p>
        </p:txBody>
      </p:sp>
      <p:sp>
        <p:nvSpPr>
          <p:cNvPr id="14" name="New shape"/>
          <p:cNvSpPr txBox="1"/>
          <p:nvPr/>
        </p:nvSpPr>
        <p:spPr>
          <a:xfrm>
            <a:off x="457200" y="33489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5" name="New shape">
            <a:hlinkClick r:id="rId8" action="ppaction://hlinksldjump"/>
          </p:cNvPr>
          <p:cNvSpPr txBox="1"/>
          <p:nvPr/>
        </p:nvSpPr>
        <p:spPr>
          <a:xfrm>
            <a:off x="835819" y="334899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Nader bekijken: Groepsscores</a:t>
            </a:r>
          </a:p>
        </p:txBody>
      </p:sp>
      <p:sp>
        <p:nvSpPr>
          <p:cNvPr id="16" name="New shape"/>
          <p:cNvSpPr txBox="1"/>
          <p:nvPr/>
        </p:nvSpPr>
        <p:spPr>
          <a:xfrm>
            <a:off x="457200" y="372618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7" name="New shape">
            <a:hlinkClick r:id="rId9" action="ppaction://hlinksldjump"/>
          </p:cNvPr>
          <p:cNvSpPr txBox="1"/>
          <p:nvPr/>
        </p:nvSpPr>
        <p:spPr>
          <a:xfrm>
            <a:off x="835819" y="372618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Onderwerpen die je medewerkers noemen</a:t>
            </a:r>
          </a:p>
        </p:txBody>
      </p:sp>
      <p:sp>
        <p:nvSpPr>
          <p:cNvPr id="18"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19"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Onderzoeksperiode</a:t>
            </a:r>
            <a:r>
              <a:rPr sz="788" b="0" i="0">
                <a:solidFill>
                  <a:srgbClr val="192743"/>
                </a:solidFill>
                <a:latin typeface="Poppins"/>
              </a:rPr>
              <a:t> mei 03, 2024 - mei 08, 2024</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2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De resultaten aflezen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De kern van het onderzoek</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Het begin van je luisteravontuur!</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Laten we de resultaten bekijken.</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Onderzoeksperiode</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mei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mei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Vragen zijn in totaal gesteld</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over thema's als:</a:t>
            </a:r>
          </a:p>
        </p:txBody>
      </p:sp>
      <p:sp>
        <p:nvSpPr>
          <p:cNvPr id="23" name="New shape"/>
          <p:cNvSpPr txBox="1"/>
          <p:nvPr/>
        </p:nvSpPr>
        <p:spPr>
          <a:xfrm>
            <a:off x="1299472" y="3500438"/>
            <a:ext cx="1041400"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Werkgeverschap</a:t>
            </a:r>
          </a:p>
        </p:txBody>
      </p:sp>
      <p:sp>
        <p:nvSpPr>
          <p:cNvPr id="25" name="New shape"/>
          <p:cNvSpPr txBox="1"/>
          <p:nvPr/>
        </p:nvSpPr>
        <p:spPr>
          <a:xfrm>
            <a:off x="2412309" y="3500438"/>
            <a:ext cx="86021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Bevlogenheid</a:t>
            </a:r>
          </a:p>
        </p:txBody>
      </p:sp>
      <p:sp>
        <p:nvSpPr>
          <p:cNvPr id="27" name="New shape"/>
          <p:cNvSpPr txBox="1"/>
          <p:nvPr/>
        </p:nvSpPr>
        <p:spPr>
          <a:xfrm>
            <a:off x="1485511" y="3746954"/>
            <a:ext cx="1600978"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Leiderschap bij verandering</a:t>
            </a:r>
          </a:p>
        </p:txBody>
      </p:sp>
      <p:sp>
        <p:nvSpPr>
          <p:cNvPr id="29" name="New shape"/>
          <p:cNvSpPr txBox="1"/>
          <p:nvPr/>
        </p:nvSpPr>
        <p:spPr>
          <a:xfrm>
            <a:off x="1582515" y="3993471"/>
            <a:ext cx="1406970"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Medewerkers faciliteren</a:t>
            </a:r>
          </a:p>
        </p:txBody>
      </p:sp>
      <p:sp>
        <p:nvSpPr>
          <p:cNvPr id="31"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en meer...</a:t>
            </a:r>
          </a:p>
        </p:txBody>
      </p:sp>
      <p:sp>
        <p:nvSpPr>
          <p:cNvPr id="32"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4"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1C55C7"/>
                </a:solidFill>
                <a:latin typeface="Poppins"/>
              </a:rPr>
              <a:t>291/365</a:t>
            </a:r>
          </a:p>
        </p:txBody>
      </p:sp>
      <p:sp>
        <p:nvSpPr>
          <p:cNvPr id="35"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Hebben gereageerd.</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a:t>
            </a:r>
          </a:p>
        </p:txBody>
      </p:sp>
      <p:pic>
        <p:nvPicPr>
          <p:cNvPr id="37"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39"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Pictogrammen</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Deze pictogrammen vertegenwoordigen de door jou geselecteerde vergelijkingsbenchmarks.</a:t>
            </a:r>
          </a:p>
        </p:txBody>
      </p:sp>
      <p:grpSp>
        <p:nvGrpSpPr>
          <p:cNvPr id="4" name="Group 3"/>
          <p:cNvGrpSpPr/>
          <p:nvPr/>
        </p:nvGrpSpPr>
        <p:grpSpPr>
          <a:xfrm>
            <a:off x="457200" y="1368743"/>
            <a:ext cx="3871912" cy="120015"/>
            <a:chOff x="-177800" y="733743"/>
            <a:chExt cx="3871912" cy="120015"/>
          </a:xfrm>
        </p:grpSpPr>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177800" y="742315"/>
              <a:ext cx="85725" cy="102870"/>
            </a:xfrm>
            <a:prstGeom prst="rect">
              <a:avLst/>
            </a:prstGeom>
          </p:spPr>
        </p:pic>
        <p:sp>
          <p:nvSpPr>
            <p:cNvPr id="6" name="New shape"/>
            <p:cNvSpPr txBox="1"/>
            <p:nvPr/>
          </p:nvSpPr>
          <p:spPr>
            <a:xfrm>
              <a:off x="-20638" y="733743"/>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C55C7"/>
                  </a:solidFill>
                  <a:latin typeface="Poppins"/>
                </a:rPr>
                <a:t>Huidig onderzoek</a:t>
              </a:r>
            </a:p>
          </p:txBody>
        </p:sp>
      </p:grpSp>
      <p:sp>
        <p:nvSpPr>
          <p:cNvPr id="7" name="New shape"/>
          <p:cNvSpPr txBox="1"/>
          <p:nvPr/>
        </p:nvSpPr>
        <p:spPr>
          <a:xfrm>
            <a:off x="457200" y="152019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C55C7"/>
                </a:solidFill>
                <a:latin typeface="Poppins"/>
              </a:rPr>
              <a:t>De huidige onderzoeksscores worden blauw gemarkeerd en vergeleken met een of meer van de onderstaande items.</a:t>
            </a:r>
          </a:p>
        </p:txBody>
      </p:sp>
      <p:grpSp>
        <p:nvGrpSpPr>
          <p:cNvPr id="8" name="Group 7"/>
          <p:cNvGrpSpPr/>
          <p:nvPr/>
        </p:nvGrpSpPr>
        <p:grpSpPr>
          <a:xfrm>
            <a:off x="457200" y="2014538"/>
            <a:ext cx="3876199" cy="120015"/>
            <a:chOff x="-177800" y="1379538"/>
            <a:chExt cx="3876199" cy="120015"/>
          </a:xfrm>
        </p:grpSpPr>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177800" y="1394540"/>
              <a:ext cx="90011" cy="90011"/>
            </a:xfrm>
            <a:prstGeom prst="rect">
              <a:avLst/>
            </a:prstGeom>
          </p:spPr>
        </p:pic>
        <p:sp>
          <p:nvSpPr>
            <p:cNvPr id="10" name="New shape"/>
            <p:cNvSpPr txBox="1"/>
            <p:nvPr/>
          </p:nvSpPr>
          <p:spPr>
            <a:xfrm>
              <a:off x="-16351" y="1379538"/>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Vorig onderzoek</a:t>
              </a:r>
            </a:p>
          </p:txBody>
        </p:sp>
      </p:grpSp>
      <p:sp>
        <p:nvSpPr>
          <p:cNvPr id="11" name="New shape"/>
          <p:cNvSpPr txBox="1"/>
          <p:nvPr/>
        </p:nvSpPr>
        <p:spPr>
          <a:xfrm>
            <a:off x="457200" y="2165985"/>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Toont de scores van het vorige onderzoek.</a:t>
            </a:r>
          </a:p>
        </p:txBody>
      </p:sp>
      <p:grpSp>
        <p:nvGrpSpPr>
          <p:cNvPr id="12" name="Group 11"/>
          <p:cNvGrpSpPr/>
          <p:nvPr/>
        </p:nvGrpSpPr>
        <p:grpSpPr>
          <a:xfrm>
            <a:off x="457200" y="2540317"/>
            <a:ext cx="3876199" cy="120015"/>
            <a:chOff x="-177800" y="1905317"/>
            <a:chExt cx="3876199" cy="120015"/>
          </a:xfrm>
        </p:grpSpPr>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177800" y="1920319"/>
              <a:ext cx="90011" cy="90011"/>
            </a:xfrm>
            <a:prstGeom prst="rect">
              <a:avLst/>
            </a:prstGeom>
          </p:spPr>
        </p:pic>
        <p:sp>
          <p:nvSpPr>
            <p:cNvPr id="14" name="New shape"/>
            <p:cNvSpPr txBox="1"/>
            <p:nvPr/>
          </p:nvSpPr>
          <p:spPr>
            <a:xfrm>
              <a:off x="-16351" y="1905317"/>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Benchmark</a:t>
              </a:r>
            </a:p>
          </p:txBody>
        </p:sp>
      </p:grpSp>
      <p:sp>
        <p:nvSpPr>
          <p:cNvPr id="15" name="New shape"/>
          <p:cNvSpPr txBox="1"/>
          <p:nvPr/>
        </p:nvSpPr>
        <p:spPr>
          <a:xfrm>
            <a:off x="457200" y="269176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vergelijkt de huidige scores met die van je geselecteerde benchmark. Deze kan branchespecifiek, landspecifiek of aangepast zijn.</a:t>
            </a:r>
          </a:p>
        </p:txBody>
      </p:sp>
      <p:grpSp>
        <p:nvGrpSpPr>
          <p:cNvPr id="16" name="Group 15"/>
          <p:cNvGrpSpPr/>
          <p:nvPr/>
        </p:nvGrpSpPr>
        <p:grpSpPr>
          <a:xfrm>
            <a:off x="457200" y="3186112"/>
            <a:ext cx="3876199" cy="120015"/>
            <a:chOff x="-177800" y="2551112"/>
            <a:chExt cx="3876199" cy="120015"/>
          </a:xfrm>
        </p:grpSpPr>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177800" y="2566114"/>
              <a:ext cx="90011" cy="90011"/>
            </a:xfrm>
            <a:prstGeom prst="rect">
              <a:avLst/>
            </a:prstGeom>
          </p:spPr>
        </p:pic>
        <p:sp>
          <p:nvSpPr>
            <p:cNvPr id="18" name="New shape"/>
            <p:cNvSpPr txBox="1"/>
            <p:nvPr/>
          </p:nvSpPr>
          <p:spPr>
            <a:xfrm>
              <a:off x="-16351" y="2551112"/>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Top 3-benchmark</a:t>
              </a:r>
            </a:p>
          </p:txBody>
        </p:sp>
      </p:grpSp>
      <p:sp>
        <p:nvSpPr>
          <p:cNvPr id="19" name="New shape"/>
          <p:cNvSpPr txBox="1"/>
          <p:nvPr/>
        </p:nvSpPr>
        <p:spPr>
          <a:xfrm>
            <a:off x="457200" y="333756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Toont de scores van de drie best presterende bedrijven in de geselecteerde benchmark.</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pic>
        <p:nvPicPr>
          <p:cNvPr id="21"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23"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Responspercentage en vergelijking</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Je algehele responspercentage vergeleken met de vorige scores en benchmarkscores</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Huidig</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Vorig onderzoek</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1244473" y="4897041"/>
            <a:ext cx="114300" cy="121444"/>
          </a:xfrm>
          <a:prstGeom prst="rect">
            <a:avLst/>
          </a:prstGeom>
        </p:spPr>
      </p:pic>
      <p:sp>
        <p:nvSpPr>
          <p:cNvPr id="26" name="New shape"/>
          <p:cNvSpPr txBox="1"/>
          <p:nvPr/>
        </p:nvSpPr>
        <p:spPr>
          <a:xfrm>
            <a:off x="143021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Responspercentage per groep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Bekijk hoeveel medewerkers in al je groepen hebben deelgenomen aan het onderzoek.</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Huidig</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244473" y="4897041"/>
            <a:ext cx="114300" cy="121444"/>
          </a:xfrm>
          <a:prstGeom prst="rect">
            <a:avLst/>
          </a:prstGeom>
        </p:spPr>
      </p:pic>
      <p:sp>
        <p:nvSpPr>
          <p:cNvPr id="55" name="New shape"/>
          <p:cNvSpPr txBox="1"/>
          <p:nvPr/>
        </p:nvSpPr>
        <p:spPr>
          <a:xfrm>
            <a:off x="143021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Vragen die opvallen</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457200" y="1114425"/>
            <a:ext cx="285750" cy="285750"/>
          </a:xfrm>
          <a:prstGeom prst="rect">
            <a:avLst/>
          </a:prstGeom>
        </p:spPr>
      </p:pic>
      <p:sp>
        <p:nvSpPr>
          <p:cNvPr id="4" name="New shape"/>
          <p:cNvSpPr txBox="1"/>
          <p:nvPr/>
        </p:nvSpPr>
        <p:spPr>
          <a:xfrm>
            <a:off x="814388"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Hoogste scores</a:t>
            </a:r>
          </a:p>
        </p:txBody>
      </p:sp>
      <p:pic>
        <p:nvPicPr>
          <p:cNvPr id="5" name="New picture"/>
          <p:cNvPicPr/>
          <p:nvPr/>
        </p:nvPicPr>
        <p:blipFill>
          <a:blip>
            <a:extLst>
              <a:ext uri="{96DAC541-7B7A-43D3-8B79-37D633B846F1}">
                <asvg:svgBlip xmlns:asvg="http://schemas.microsoft.com/office/drawing/2016/SVG/main" r:embed="rId3"/>
              </a:ext>
            </a:extLst>
          </a:blip>
          <a:stretch>
            <a:fillRect/>
          </a:stretch>
        </p:blipFill>
        <p:spPr>
          <a:xfrm>
            <a:off x="4864894" y="1114425"/>
            <a:ext cx="285750" cy="285750"/>
          </a:xfrm>
          <a:prstGeom prst="rect">
            <a:avLst/>
          </a:prstGeom>
        </p:spPr>
      </p:pic>
      <p:sp>
        <p:nvSpPr>
          <p:cNvPr id="6" name="New shape"/>
          <p:cNvSpPr txBox="1"/>
          <p:nvPr/>
        </p:nvSpPr>
        <p:spPr>
          <a:xfrm>
            <a:off x="5222081"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Laagste scores</a:t>
            </a:r>
          </a:p>
        </p:txBody>
      </p:sp>
      <p:sp>
        <p:nvSpPr>
          <p:cNvPr id="7" name="New shape"/>
          <p:cNvSpPr txBox="1"/>
          <p:nvPr/>
        </p:nvSpPr>
        <p:spPr>
          <a:xfrm>
            <a:off x="457200" y="1757362"/>
            <a:ext cx="2494273"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Ik </a:t>
            </a:r>
            <a:r>
              <a:rPr sz="900" b="0" i="0" dirty="0" err="1">
                <a:solidFill>
                  <a:srgbClr val="192743"/>
                </a:solidFill>
                <a:latin typeface="Poppins"/>
              </a:rPr>
              <a:t>heb</a:t>
            </a:r>
            <a:r>
              <a:rPr sz="900" b="0" i="0" dirty="0">
                <a:solidFill>
                  <a:srgbClr val="192743"/>
                </a:solidFill>
                <a:latin typeface="Poppins"/>
              </a:rPr>
              <a:t> het </a:t>
            </a:r>
            <a:r>
              <a:rPr sz="900" b="0" i="0" dirty="0" err="1">
                <a:solidFill>
                  <a:srgbClr val="192743"/>
                </a:solidFill>
                <a:latin typeface="Poppins"/>
              </a:rPr>
              <a:t>gevoel</a:t>
            </a:r>
            <a:r>
              <a:rPr sz="900" b="0" i="0" dirty="0">
                <a:solidFill>
                  <a:srgbClr val="192743"/>
                </a:solidFill>
                <a:latin typeface="Poppins"/>
              </a:rPr>
              <a:t> </a:t>
            </a:r>
            <a:r>
              <a:rPr sz="900" b="0" i="0" dirty="0" err="1">
                <a:solidFill>
                  <a:srgbClr val="192743"/>
                </a:solidFill>
                <a:latin typeface="Poppins"/>
              </a:rPr>
              <a:t>dat</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a:t>
            </a:r>
            <a:r>
              <a:rPr sz="900" b="0" i="0" dirty="0" err="1">
                <a:solidFill>
                  <a:srgbClr val="192743"/>
                </a:solidFill>
                <a:latin typeface="Poppins"/>
              </a:rPr>
              <a:t>bij</a:t>
            </a:r>
            <a:r>
              <a:rPr sz="900" b="0" i="0" dirty="0">
                <a:solidFill>
                  <a:srgbClr val="192743"/>
                </a:solidFill>
                <a:latin typeface="Poppins"/>
              </a:rPr>
              <a:t> </a:t>
            </a:r>
            <a:r>
              <a:rPr lang="en-US" sz="900" b="0" i="0" dirty="0">
                <a:solidFill>
                  <a:srgbClr val="192743"/>
                </a:solidFill>
                <a:latin typeface="Poppins"/>
              </a:rPr>
              <a:t>Team IT</a:t>
            </a:r>
            <a:r>
              <a:rPr sz="900" b="0" i="0" dirty="0">
                <a:solidFill>
                  <a:srgbClr val="192743"/>
                </a:solidFill>
                <a:latin typeface="Poppins"/>
              </a:rPr>
              <a:t> pas</a:t>
            </a:r>
          </a:p>
        </p:txBody>
      </p:sp>
      <p:sp>
        <p:nvSpPr>
          <p:cNvPr id="8" name="New shape"/>
          <p:cNvSpPr/>
          <p:nvPr/>
        </p:nvSpPr>
        <p:spPr>
          <a:xfrm>
            <a:off x="2904982" y="1814512"/>
            <a:ext cx="92406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 name="New shape"/>
          <p:cNvSpPr txBox="1"/>
          <p:nvPr/>
        </p:nvSpPr>
        <p:spPr>
          <a:xfrm>
            <a:off x="3886200"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0" name="New shape"/>
          <p:cNvSpPr txBox="1"/>
          <p:nvPr/>
        </p:nvSpPr>
        <p:spPr>
          <a:xfrm>
            <a:off x="457200" y="2271712"/>
            <a:ext cx="20747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ervaar een acceptabele werkdruk</a:t>
            </a:r>
          </a:p>
        </p:txBody>
      </p:sp>
      <p:sp>
        <p:nvSpPr>
          <p:cNvPr id="11" name="New shape"/>
          <p:cNvSpPr/>
          <p:nvPr/>
        </p:nvSpPr>
        <p:spPr>
          <a:xfrm>
            <a:off x="2589117" y="2328862"/>
            <a:ext cx="123993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3886200"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75%</a:t>
            </a:r>
          </a:p>
        </p:txBody>
      </p:sp>
      <p:sp>
        <p:nvSpPr>
          <p:cNvPr id="14" name="New shape"/>
          <p:cNvSpPr txBox="1"/>
          <p:nvPr/>
        </p:nvSpPr>
        <p:spPr>
          <a:xfrm>
            <a:off x="457200"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heb</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diverse </a:t>
            </a:r>
            <a:r>
              <a:rPr sz="900" b="0" i="0" dirty="0" err="1">
                <a:solidFill>
                  <a:srgbClr val="192743"/>
                </a:solidFill>
                <a:latin typeface="Poppins"/>
              </a:rPr>
              <a:t>mogelijkheden</a:t>
            </a:r>
            <a:r>
              <a:rPr sz="900" b="0" i="0" dirty="0">
                <a:solidFill>
                  <a:srgbClr val="192743"/>
                </a:solidFill>
                <a:latin typeface="Poppins"/>
              </a:rPr>
              <a:t> om </a:t>
            </a:r>
            <a:r>
              <a:rPr sz="900" b="0" i="0" dirty="0" err="1">
                <a:solidFill>
                  <a:srgbClr val="192743"/>
                </a:solidFill>
                <a:latin typeface="Poppins"/>
              </a:rPr>
              <a:t>mijzelf</a:t>
            </a:r>
            <a:r>
              <a:rPr sz="900" b="0" i="0" dirty="0">
                <a:solidFill>
                  <a:srgbClr val="192743"/>
                </a:solidFill>
                <a:latin typeface="Poppins"/>
              </a:rPr>
              <a:t> </a:t>
            </a:r>
            <a:r>
              <a:rPr sz="900" b="0" i="0" dirty="0" err="1">
                <a:solidFill>
                  <a:srgbClr val="192743"/>
                </a:solidFill>
                <a:latin typeface="Poppins"/>
              </a:rPr>
              <a:t>te</a:t>
            </a:r>
            <a:r>
              <a:rPr sz="900" b="0" i="0" dirty="0">
                <a:solidFill>
                  <a:srgbClr val="192743"/>
                </a:solidFill>
                <a:latin typeface="Poppins"/>
              </a:rPr>
              <a:t> </a:t>
            </a:r>
            <a:r>
              <a:rPr sz="900" b="0" i="0" dirty="0" err="1">
                <a:solidFill>
                  <a:srgbClr val="192743"/>
                </a:solidFill>
                <a:latin typeface="Poppins"/>
              </a:rPr>
              <a:t>ontwikkelen</a:t>
            </a:r>
            <a:endParaRPr sz="900" b="0" i="0" dirty="0">
              <a:solidFill>
                <a:srgbClr val="192743"/>
              </a:solidFill>
              <a:latin typeface="Poppins"/>
            </a:endParaRPr>
          </a:p>
        </p:txBody>
      </p:sp>
      <p:sp>
        <p:nvSpPr>
          <p:cNvPr id="15" name="New shape"/>
          <p:cNvSpPr txBox="1"/>
          <p:nvPr/>
        </p:nvSpPr>
        <p:spPr>
          <a:xfrm>
            <a:off x="3886200"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7" name="New shape"/>
          <p:cNvSpPr txBox="1"/>
          <p:nvPr/>
        </p:nvSpPr>
        <p:spPr>
          <a:xfrm>
            <a:off x="457200" y="3214687"/>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Mijn team ontwikkelt regelmatig goede ideeën voor verbetering</a:t>
            </a:r>
          </a:p>
        </p:txBody>
      </p:sp>
      <p:sp>
        <p:nvSpPr>
          <p:cNvPr id="18" name="New shape"/>
          <p:cNvSpPr txBox="1"/>
          <p:nvPr/>
        </p:nvSpPr>
        <p:spPr>
          <a:xfrm>
            <a:off x="3886200"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9" name="New shape"/>
          <p:cNvSpPr txBox="1"/>
          <p:nvPr/>
        </p:nvSpPr>
        <p:spPr>
          <a:xfrm>
            <a:off x="457200" y="3814762"/>
            <a:ext cx="277319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De </a:t>
            </a:r>
            <a:r>
              <a:rPr sz="900" b="0" i="0" dirty="0" err="1">
                <a:solidFill>
                  <a:srgbClr val="192743"/>
                </a:solidFill>
                <a:latin typeface="Poppins"/>
              </a:rPr>
              <a:t>toekomstvisie</a:t>
            </a:r>
            <a:r>
              <a:rPr sz="900" b="0" i="0" dirty="0">
                <a:solidFill>
                  <a:srgbClr val="192743"/>
                </a:solidFill>
                <a:latin typeface="Poppins"/>
              </a:rPr>
              <a:t> van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inspireert</a:t>
            </a:r>
            <a:r>
              <a:rPr sz="900" b="0" i="0" dirty="0">
                <a:solidFill>
                  <a:srgbClr val="192743"/>
                </a:solidFill>
                <a:latin typeface="Poppins"/>
              </a:rPr>
              <a:t> me</a:t>
            </a:r>
          </a:p>
        </p:txBody>
      </p:sp>
      <p:sp>
        <p:nvSpPr>
          <p:cNvPr id="20" name="New shape"/>
          <p:cNvSpPr/>
          <p:nvPr/>
        </p:nvSpPr>
        <p:spPr>
          <a:xfrm>
            <a:off x="3183969" y="3871912"/>
            <a:ext cx="64508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886200"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22" name="New shape"/>
          <p:cNvSpPr txBox="1"/>
          <p:nvPr/>
        </p:nvSpPr>
        <p:spPr>
          <a:xfrm>
            <a:off x="4864894" y="1757362"/>
            <a:ext cx="146388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heb plezier in mijn werk</a:t>
            </a:r>
          </a:p>
        </p:txBody>
      </p:sp>
      <p:sp>
        <p:nvSpPr>
          <p:cNvPr id="23" name="New shape"/>
          <p:cNvSpPr/>
          <p:nvPr/>
        </p:nvSpPr>
        <p:spPr>
          <a:xfrm>
            <a:off x="6385925" y="1814512"/>
            <a:ext cx="1850819"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txBox="1"/>
          <p:nvPr/>
        </p:nvSpPr>
        <p:spPr>
          <a:xfrm>
            <a:off x="8293894"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25" name="New shape"/>
          <p:cNvSpPr txBox="1"/>
          <p:nvPr/>
        </p:nvSpPr>
        <p:spPr>
          <a:xfrm>
            <a:off x="4864894" y="2271712"/>
            <a:ext cx="300953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weet welke resultaten er van mij worden verwacht</a:t>
            </a:r>
          </a:p>
        </p:txBody>
      </p:sp>
      <p:sp>
        <p:nvSpPr>
          <p:cNvPr id="26" name="New shape"/>
          <p:cNvSpPr/>
          <p:nvPr/>
        </p:nvSpPr>
        <p:spPr>
          <a:xfrm>
            <a:off x="7931578" y="2328862"/>
            <a:ext cx="30516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8293894"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29" name="New shape"/>
          <p:cNvSpPr txBox="1"/>
          <p:nvPr/>
        </p:nvSpPr>
        <p:spPr>
          <a:xfrm>
            <a:off x="4864894"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worden</a:t>
            </a:r>
            <a:r>
              <a:rPr sz="900" b="0" i="0" dirty="0">
                <a:solidFill>
                  <a:srgbClr val="192743"/>
                </a:solidFill>
                <a:latin typeface="Poppins"/>
              </a:rPr>
              <a:t> </a:t>
            </a:r>
            <a:r>
              <a:rPr sz="900" b="0" i="0" dirty="0" err="1">
                <a:solidFill>
                  <a:srgbClr val="192743"/>
                </a:solidFill>
                <a:latin typeface="Poppins"/>
              </a:rPr>
              <a:t>medewerkers</a:t>
            </a:r>
            <a:r>
              <a:rPr sz="900" b="0" i="0" dirty="0">
                <a:solidFill>
                  <a:srgbClr val="192743"/>
                </a:solidFill>
                <a:latin typeface="Poppins"/>
              </a:rPr>
              <a:t> op </a:t>
            </a:r>
            <a:r>
              <a:rPr sz="900" b="0" i="0" dirty="0" err="1">
                <a:solidFill>
                  <a:srgbClr val="192743"/>
                </a:solidFill>
                <a:latin typeface="Poppins"/>
              </a:rPr>
              <a:t>een</a:t>
            </a:r>
            <a:r>
              <a:rPr sz="900" b="0" i="0" dirty="0">
                <a:solidFill>
                  <a:srgbClr val="192743"/>
                </a:solidFill>
                <a:latin typeface="Poppins"/>
              </a:rPr>
              <a:t> </a:t>
            </a:r>
            <a:r>
              <a:rPr sz="900" b="0" i="0" dirty="0" err="1">
                <a:solidFill>
                  <a:srgbClr val="192743"/>
                </a:solidFill>
                <a:latin typeface="Poppins"/>
              </a:rPr>
              <a:t>eerlijke</a:t>
            </a:r>
            <a:r>
              <a:rPr sz="900" b="0" i="0" dirty="0">
                <a:solidFill>
                  <a:srgbClr val="192743"/>
                </a:solidFill>
                <a:latin typeface="Poppins"/>
              </a:rPr>
              <a:t> </a:t>
            </a:r>
            <a:r>
              <a:rPr sz="900" b="0" i="0" dirty="0" err="1">
                <a:solidFill>
                  <a:srgbClr val="192743"/>
                </a:solidFill>
                <a:latin typeface="Poppins"/>
              </a:rPr>
              <a:t>manier</a:t>
            </a:r>
            <a:r>
              <a:rPr sz="900" b="0" i="0" dirty="0">
                <a:solidFill>
                  <a:srgbClr val="192743"/>
                </a:solidFill>
                <a:latin typeface="Poppins"/>
              </a:rPr>
              <a:t> </a:t>
            </a:r>
            <a:r>
              <a:rPr sz="900" b="0" i="0" dirty="0" err="1">
                <a:solidFill>
                  <a:srgbClr val="192743"/>
                </a:solidFill>
                <a:latin typeface="Poppins"/>
              </a:rPr>
              <a:t>behandeld</a:t>
            </a:r>
            <a:endParaRPr sz="900" b="0" i="0" dirty="0">
              <a:solidFill>
                <a:srgbClr val="192743"/>
              </a:solidFill>
              <a:latin typeface="Poppins"/>
            </a:endParaRPr>
          </a:p>
        </p:txBody>
      </p:sp>
      <p:sp>
        <p:nvSpPr>
          <p:cNvPr id="30" name="New shape"/>
          <p:cNvSpPr txBox="1"/>
          <p:nvPr/>
        </p:nvSpPr>
        <p:spPr>
          <a:xfrm>
            <a:off x="8293894"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31" name="New shape"/>
          <p:cNvSpPr txBox="1"/>
          <p:nvPr/>
        </p:nvSpPr>
        <p:spPr>
          <a:xfrm>
            <a:off x="4864894" y="3300412"/>
            <a:ext cx="1567737"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Ik ben trots op </a:t>
            </a:r>
            <a:r>
              <a:rPr lang="en-US" sz="900" b="0" i="0" dirty="0">
                <a:solidFill>
                  <a:srgbClr val="192743"/>
                </a:solidFill>
                <a:latin typeface="Poppins"/>
              </a:rPr>
              <a:t>Team IT</a:t>
            </a:r>
            <a:endParaRPr sz="900" b="0" i="0" dirty="0">
              <a:solidFill>
                <a:srgbClr val="192743"/>
              </a:solidFill>
              <a:latin typeface="Poppins"/>
            </a:endParaRPr>
          </a:p>
        </p:txBody>
      </p:sp>
      <p:sp>
        <p:nvSpPr>
          <p:cNvPr id="32" name="New shape"/>
          <p:cNvSpPr/>
          <p:nvPr/>
        </p:nvSpPr>
        <p:spPr>
          <a:xfrm>
            <a:off x="6385925" y="3357562"/>
            <a:ext cx="1850819"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8293894"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5" name="New shape"/>
          <p:cNvSpPr txBox="1"/>
          <p:nvPr/>
        </p:nvSpPr>
        <p:spPr>
          <a:xfrm>
            <a:off x="4864894" y="37290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gebruikt</a:t>
            </a:r>
            <a:r>
              <a:rPr sz="900" b="0" i="0" dirty="0">
                <a:solidFill>
                  <a:srgbClr val="192743"/>
                </a:solidFill>
                <a:latin typeface="Poppins"/>
              </a:rPr>
              <a:t> de </a:t>
            </a:r>
            <a:r>
              <a:rPr sz="900" b="0" i="0" dirty="0" err="1">
                <a:solidFill>
                  <a:srgbClr val="192743"/>
                </a:solidFill>
                <a:latin typeface="Poppins"/>
              </a:rPr>
              <a:t>ideeën</a:t>
            </a:r>
            <a:r>
              <a:rPr sz="900" b="0" i="0" dirty="0">
                <a:solidFill>
                  <a:srgbClr val="192743"/>
                </a:solidFill>
                <a:latin typeface="Poppins"/>
              </a:rPr>
              <a:t> </a:t>
            </a:r>
            <a:r>
              <a:rPr sz="900" b="0" i="0" dirty="0" err="1">
                <a:solidFill>
                  <a:srgbClr val="192743"/>
                </a:solidFill>
                <a:latin typeface="Poppins"/>
              </a:rPr>
              <a:t>en</a:t>
            </a:r>
            <a:r>
              <a:rPr sz="900" b="0" i="0" dirty="0">
                <a:solidFill>
                  <a:srgbClr val="192743"/>
                </a:solidFill>
                <a:latin typeface="Poppins"/>
              </a:rPr>
              <a:t> </a:t>
            </a:r>
            <a:r>
              <a:rPr sz="900" b="0" i="0" dirty="0" err="1">
                <a:solidFill>
                  <a:srgbClr val="192743"/>
                </a:solidFill>
                <a:latin typeface="Poppins"/>
              </a:rPr>
              <a:t>suggesties</a:t>
            </a:r>
            <a:r>
              <a:rPr sz="900" b="0" i="0" dirty="0">
                <a:solidFill>
                  <a:srgbClr val="192743"/>
                </a:solidFill>
                <a:latin typeface="Poppins"/>
              </a:rPr>
              <a:t> van </a:t>
            </a:r>
            <a:r>
              <a:rPr sz="900" b="0" i="0" dirty="0" err="1">
                <a:solidFill>
                  <a:srgbClr val="192743"/>
                </a:solidFill>
                <a:latin typeface="Poppins"/>
              </a:rPr>
              <a:t>medewerkers</a:t>
            </a:r>
            <a:r>
              <a:rPr sz="900" b="0" i="0" dirty="0">
                <a:solidFill>
                  <a:srgbClr val="192743"/>
                </a:solidFill>
                <a:latin typeface="Poppins"/>
              </a:rPr>
              <a:t> om </a:t>
            </a:r>
            <a:r>
              <a:rPr sz="900" b="0" i="0" dirty="0" err="1">
                <a:solidFill>
                  <a:srgbClr val="192743"/>
                </a:solidFill>
                <a:latin typeface="Poppins"/>
              </a:rPr>
              <a:t>te</a:t>
            </a:r>
            <a:r>
              <a:rPr sz="900" b="0" i="0" dirty="0">
                <a:solidFill>
                  <a:srgbClr val="192743"/>
                </a:solidFill>
                <a:latin typeface="Poppins"/>
              </a:rPr>
              <a:t> </a:t>
            </a:r>
            <a:r>
              <a:rPr sz="900" b="0" i="0" dirty="0" err="1">
                <a:solidFill>
                  <a:srgbClr val="192743"/>
                </a:solidFill>
                <a:latin typeface="Poppins"/>
              </a:rPr>
              <a:t>verbeteren</a:t>
            </a:r>
            <a:endParaRPr sz="900" b="0" i="0" dirty="0">
              <a:solidFill>
                <a:srgbClr val="192743"/>
              </a:solidFill>
              <a:latin typeface="Poppins"/>
            </a:endParaRPr>
          </a:p>
        </p:txBody>
      </p:sp>
      <p:sp>
        <p:nvSpPr>
          <p:cNvPr id="36" name="New shape"/>
          <p:cNvSpPr txBox="1"/>
          <p:nvPr/>
        </p:nvSpPr>
        <p:spPr>
          <a:xfrm>
            <a:off x="8293894"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7" name="New shape"/>
          <p:cNvSpPr/>
          <p:nvPr/>
        </p:nvSpPr>
        <p:spPr>
          <a:xfrm flipH="1">
            <a:off x="4579144" y="1585912"/>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40"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Employee Net Promoter Score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en benchmarkvergelijking</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De ENPS laat zien in welke mate de medewerkers de organisatie zouden aanbevelen als goede werkgever.</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095748" y="1428750"/>
            <a:ext cx="808879" cy="171450"/>
            <a:chOff x="-120650" y="793750"/>
            <a:chExt cx="808879"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8" y="810209"/>
              <a:ext cx="56599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Neutralen</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368405" y="1428750"/>
            <a:ext cx="778415" cy="171450"/>
            <a:chOff x="2136775" y="793750"/>
            <a:chExt cx="778415"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53552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Promotor</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736637" y="1428750"/>
            <a:ext cx="842550" cy="171450"/>
            <a:chOff x="4537075" y="793750"/>
            <a:chExt cx="842550"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599662"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Criticaster</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1C55C7"/>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Huidig</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Vorig onderzoek</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Globaal</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resultaten niet beschikbaar</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Globaal</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165673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Employee Net Promoter Score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Opsplitsing per groep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Een vergelijking van de eNPS-score tussen al je groepen.</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1C55C7"/>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1C55C7"/>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301623" y="4897041"/>
            <a:ext cx="114300" cy="121444"/>
          </a:xfrm>
          <a:prstGeom prst="rect">
            <a:avLst/>
          </a:prstGeom>
        </p:spPr>
      </p:pic>
      <p:sp>
        <p:nvSpPr>
          <p:cNvPr id="49" name="New shape"/>
          <p:cNvSpPr txBox="1"/>
          <p:nvPr/>
        </p:nvSpPr>
        <p:spPr>
          <a:xfrm>
            <a:off x="148736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165673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Employee Net Promoter Score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Organisatie-effectiviteit - Algemeen profiel</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De resultaten aflezen</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Vergeleken items en scoreberekening</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 2 Box score of de score 'Ja'</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Bij een berekening op basis van de Top 2 Box score worden voor de totaalscore per vraag de percentages gecombineerd van deelnemers die 'Helemaal mee eens' of 'Mee eens' hebben geselecteerd.</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Mogelijke antwoorden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Procentuele verdeling</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Helemaal 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Ja %</a:t>
                      </a:r>
                    </a:p>
                    <a:p>
                      <a:pPr algn="ctr"/>
                      <a:r>
                        <a:rPr sz="788" b="1" i="0">
                          <a:solidFill>
                            <a:srgbClr val="30B3AF"/>
                          </a:solidFill>
                          <a:latin typeface="Poppins"/>
                        </a:rPr>
                        <a:t>Top 2 Box score</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Niet mee eens/ niet 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Percentage neutraal</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Nee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Helemaal 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Voorbeeld van vraagscore</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Deelnemer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Deelnemer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Helemaal 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Deelnemer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van de 3 = 67%</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Voorbeeld van themascore</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Het percentage mensen dat op alle topicvragen heeft gereageerd met 'Mee eens' of 'Helemaal mee eens'.</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Deelnemers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Themavraag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Themavraag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van de 4 = 75%</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De resultaten aflezen</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Verschillen in scores en hoe de resultaten worden vergeleken</a:t>
            </a:r>
          </a:p>
        </p:txBody>
      </p:sp>
      <p:sp>
        <p:nvSpPr>
          <p:cNvPr id="4" name="New shape"/>
          <p:cNvSpPr/>
          <p:nvPr/>
        </p:nvSpPr>
        <p:spPr>
          <a:xfrm>
            <a:off x="457200" y="16116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3449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20 % punten lager.</a:t>
            </a:r>
          </a:p>
        </p:txBody>
      </p:sp>
      <p:sp>
        <p:nvSpPr>
          <p:cNvPr id="6" name="New shape"/>
          <p:cNvSpPr/>
          <p:nvPr/>
        </p:nvSpPr>
        <p:spPr>
          <a:xfrm>
            <a:off x="457200" y="209740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2026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10 % punten lager.</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0604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Niet relevant omdat het verschil kleiner is dan 10 % punten.</a:t>
            </a:r>
          </a:p>
        </p:txBody>
      </p:sp>
      <p:sp>
        <p:nvSpPr>
          <p:cNvPr id="10" name="New shape"/>
          <p:cNvSpPr/>
          <p:nvPr/>
        </p:nvSpPr>
        <p:spPr>
          <a:xfrm>
            <a:off x="457200" y="306895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09181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10 % punten hoger.</a:t>
            </a:r>
          </a:p>
        </p:txBody>
      </p:sp>
      <p:sp>
        <p:nvSpPr>
          <p:cNvPr id="12" name="New shape"/>
          <p:cNvSpPr/>
          <p:nvPr/>
        </p:nvSpPr>
        <p:spPr>
          <a:xfrm>
            <a:off x="457200" y="35547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57759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20 % punten hoger.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Voorbeeldresultaat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20 % punten hoger</a:t>
            </a:r>
          </a:p>
        </p:txBody>
      </p:sp>
      <p:grpSp>
        <p:nvGrpSpPr>
          <p:cNvPr id="27" name="Group 26"/>
          <p:cNvGrpSpPr/>
          <p:nvPr/>
        </p:nvGrpSpPr>
        <p:grpSpPr>
          <a:xfrm rot="18900000">
            <a:off x="6282532" y="1906890"/>
            <a:ext cx="504523" cy="171450"/>
            <a:chOff x="5801519" y="1436688"/>
            <a:chExt cx="504523"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29021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C55C7"/>
                  </a:solidFill>
                  <a:latin typeface="Poppins"/>
                </a:rPr>
                <a:t>Huidig</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46125" y="1837760"/>
            <a:ext cx="748967" cy="150019"/>
            <a:chOff x="7687469" y="1447403"/>
            <a:chExt cx="748967"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527510"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Organisatie</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Significantie (*)</a:t>
            </a:r>
          </a:p>
        </p:txBody>
      </p:sp>
      <p:sp>
        <p:nvSpPr>
          <p:cNvPr id="37"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Significantie helpt je identificeren of het waargenomen verschil tussen twee scores niet aan toeval te wijten is. Als een score gemarkeerd is met een asterisk, geeft dit aan dat het verschil tussen deze score en de score van Huidig significant is. Het weerspiegelt een realistisch verschil dat aandacht verdient.</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Waar je staat</a:t>
            </a:r>
          </a:p>
        </p:txBody>
      </p:sp>
      <p:sp>
        <p:nvSpPr>
          <p:cNvPr id="3" name="New shape"/>
          <p:cNvSpPr txBox="1"/>
          <p:nvPr/>
        </p:nvSpPr>
        <p:spPr>
          <a:xfrm>
            <a:off x="457200" y="1028700"/>
            <a:ext cx="3793331"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Bevlogenheid van medewerkers en de kwaliteit van de prestatieomgeving zijn cruciaal voor topprestaties, innovatiekracht en een hoog aanpassingsvermogen.</a:t>
            </a:r>
          </a:p>
        </p:txBody>
      </p:sp>
      <p:sp>
        <p:nvSpPr>
          <p:cNvPr id="4" name="New shape"/>
          <p:cNvSpPr txBox="1"/>
          <p:nvPr/>
        </p:nvSpPr>
        <p:spPr>
          <a:xfrm>
            <a:off x="742950" y="153162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Effectief</a:t>
            </a:r>
          </a:p>
        </p:txBody>
      </p:sp>
      <p:sp>
        <p:nvSpPr>
          <p:cNvPr id="5" name="New shape"/>
          <p:cNvSpPr/>
          <p:nvPr/>
        </p:nvSpPr>
        <p:spPr>
          <a:xfrm>
            <a:off x="457200" y="1531620"/>
            <a:ext cx="171450" cy="171450"/>
          </a:xfrm>
          <a:prstGeom prst="roundRect">
            <a:avLst/>
          </a:prstGeom>
          <a:solidFill>
            <a:srgbClr val="2DAC6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742950" y="1680210"/>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Dankzij een sterke prestatieomgeving komt bevlogenheid volledig tot zijn recht. Focus op het behouden en verder uitbouwen van je sterke punten!</a:t>
            </a:r>
          </a:p>
        </p:txBody>
      </p:sp>
      <p:sp>
        <p:nvSpPr>
          <p:cNvPr id="7" name="New shape"/>
          <p:cNvSpPr txBox="1"/>
          <p:nvPr/>
        </p:nvSpPr>
        <p:spPr>
          <a:xfrm>
            <a:off x="742950" y="208597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Niet effectief</a:t>
            </a:r>
          </a:p>
        </p:txBody>
      </p:sp>
      <p:sp>
        <p:nvSpPr>
          <p:cNvPr id="8" name="New shape"/>
          <p:cNvSpPr/>
          <p:nvPr/>
        </p:nvSpPr>
        <p:spPr>
          <a:xfrm>
            <a:off x="457200" y="2085975"/>
            <a:ext cx="171450" cy="171450"/>
          </a:xfrm>
          <a:prstGeom prst="roundRect">
            <a:avLst/>
          </a:prstGeom>
          <a:solidFill>
            <a:srgbClr val="D01F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742950" y="2234565"/>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Richt je op continue verbetering van de prestatieomgeving, met extra aandacht voor thema’s die van belang zijn voor bevlogenheid en prestaties.</a:t>
            </a:r>
          </a:p>
        </p:txBody>
      </p:sp>
      <p:sp>
        <p:nvSpPr>
          <p:cNvPr id="10" name="New shape"/>
          <p:cNvSpPr txBox="1"/>
          <p:nvPr/>
        </p:nvSpPr>
        <p:spPr>
          <a:xfrm>
            <a:off x="742950" y="264033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Onderbenut</a:t>
            </a:r>
          </a:p>
        </p:txBody>
      </p:sp>
      <p:sp>
        <p:nvSpPr>
          <p:cNvPr id="11" name="New shape"/>
          <p:cNvSpPr/>
          <p:nvPr/>
        </p:nvSpPr>
        <p:spPr>
          <a:xfrm>
            <a:off x="457200" y="2640330"/>
            <a:ext cx="171450" cy="171450"/>
          </a:xfrm>
          <a:prstGeom prst="roundRect">
            <a:avLst/>
          </a:prstGeom>
          <a:solidFill>
            <a:srgbClr val="FFA11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742950" y="2788920"/>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Mensen zijn bevlogen, maar presteren nog niet optimaal. Verbeter de prestatieomgeving zodat de groep kan uitblinken.</a:t>
            </a:r>
          </a:p>
        </p:txBody>
      </p:sp>
      <p:sp>
        <p:nvSpPr>
          <p:cNvPr id="13" name="New shape"/>
          <p:cNvSpPr txBox="1"/>
          <p:nvPr/>
        </p:nvSpPr>
        <p:spPr>
          <a:xfrm>
            <a:off x="742950" y="319468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Afgehaakt</a:t>
            </a:r>
          </a:p>
        </p:txBody>
      </p:sp>
      <p:sp>
        <p:nvSpPr>
          <p:cNvPr id="14" name="New shape"/>
          <p:cNvSpPr/>
          <p:nvPr/>
        </p:nvSpPr>
        <p:spPr>
          <a:xfrm>
            <a:off x="457200" y="3194685"/>
            <a:ext cx="171450" cy="171450"/>
          </a:xfrm>
          <a:prstGeom prst="roundRect">
            <a:avLst/>
          </a:prstGeom>
          <a:solidFill>
            <a:srgbClr val="CFD4D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742950" y="3343275"/>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Behoud een effectieve prestatieomgeving en bekijk waar je de drijfveren van bevlogenheid verder kunt versterken.</a:t>
            </a:r>
          </a:p>
        </p:txBody>
      </p:sp>
      <p:sp>
        <p:nvSpPr>
          <p:cNvPr id="16" name="New shape"/>
          <p:cNvSpPr/>
          <p:nvPr/>
        </p:nvSpPr>
        <p:spPr>
          <a:xfrm flipH="1">
            <a:off x="4536281" y="1028700"/>
            <a:ext cx="0" cy="34861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p:nvPr/>
        </p:nvSpPr>
        <p:spPr>
          <a:xfrm>
            <a:off x="5557838" y="1028700"/>
            <a:ext cx="1478756" cy="1478756"/>
          </a:xfrm>
          <a:prstGeom prst="roundRect">
            <a:avLst>
              <a:gd name="adj" fmla="val 3000"/>
            </a:avLst>
          </a:prstGeom>
          <a:gradFill>
            <a:gsLst>
              <a:gs pos="70000">
                <a:srgbClr val="CFD4DC"/>
              </a:gs>
              <a:gs pos="0">
                <a:srgbClr val="FFFFFF"/>
              </a:gs>
            </a:gsLst>
            <a:lin ang="135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7065169" y="1028700"/>
            <a:ext cx="1478756" cy="1478756"/>
          </a:xfrm>
          <a:prstGeom prst="roundRect">
            <a:avLst>
              <a:gd name="adj" fmla="val 3000"/>
            </a:avLst>
          </a:prstGeom>
          <a:gradFill>
            <a:gsLst>
              <a:gs pos="70000">
                <a:srgbClr val="2DAC6F"/>
              </a:gs>
              <a:gs pos="0">
                <a:srgbClr val="FFFFFF"/>
              </a:gs>
            </a:gsLst>
            <a:lin ang="189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5557838" y="2536031"/>
            <a:ext cx="1478756" cy="1478756"/>
          </a:xfrm>
          <a:prstGeom prst="roundRect">
            <a:avLst>
              <a:gd name="adj" fmla="val 3000"/>
            </a:avLst>
          </a:prstGeom>
          <a:gradFill>
            <a:gsLst>
              <a:gs pos="70000">
                <a:srgbClr val="D01F1F"/>
              </a:gs>
              <a:gs pos="0">
                <a:srgbClr val="FFFFFF"/>
              </a:gs>
            </a:gsLst>
            <a:lin ang="81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7065169" y="2536031"/>
            <a:ext cx="1478756" cy="1478756"/>
          </a:xfrm>
          <a:prstGeom prst="roundRect">
            <a:avLst>
              <a:gd name="adj" fmla="val 3000"/>
            </a:avLst>
          </a:prstGeom>
          <a:gradFill>
            <a:gsLst>
              <a:gs pos="70000">
                <a:srgbClr val="FFA113"/>
              </a:gs>
              <a:gs pos="0">
                <a:srgbClr val="FFFFFF"/>
              </a:gs>
            </a:gsLst>
            <a:lin ang="27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30066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0</a:t>
            </a:r>
          </a:p>
        </p:txBody>
      </p:sp>
      <p:sp>
        <p:nvSpPr>
          <p:cNvPr id="22" name="New shape"/>
          <p:cNvSpPr txBox="1"/>
          <p:nvPr/>
        </p:nvSpPr>
        <p:spPr>
          <a:xfrm>
            <a:off x="568540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a:t>
            </a:r>
          </a:p>
        </p:txBody>
      </p:sp>
      <p:sp>
        <p:nvSpPr>
          <p:cNvPr id="23" name="New shape"/>
          <p:cNvSpPr txBox="1"/>
          <p:nvPr/>
        </p:nvSpPr>
        <p:spPr>
          <a:xfrm>
            <a:off x="5898697"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20</a:t>
            </a:r>
          </a:p>
        </p:txBody>
      </p:sp>
      <p:sp>
        <p:nvSpPr>
          <p:cNvPr id="24" name="New shape"/>
          <p:cNvSpPr txBox="1"/>
          <p:nvPr/>
        </p:nvSpPr>
        <p:spPr>
          <a:xfrm>
            <a:off x="611198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30</a:t>
            </a:r>
          </a:p>
        </p:txBody>
      </p:sp>
      <p:sp>
        <p:nvSpPr>
          <p:cNvPr id="25" name="New shape"/>
          <p:cNvSpPr txBox="1"/>
          <p:nvPr/>
        </p:nvSpPr>
        <p:spPr>
          <a:xfrm>
            <a:off x="6325281"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40</a:t>
            </a:r>
          </a:p>
        </p:txBody>
      </p:sp>
      <p:sp>
        <p:nvSpPr>
          <p:cNvPr id="26" name="New shape"/>
          <p:cNvSpPr txBox="1"/>
          <p:nvPr/>
        </p:nvSpPr>
        <p:spPr>
          <a:xfrm>
            <a:off x="653857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50</a:t>
            </a:r>
          </a:p>
        </p:txBody>
      </p:sp>
      <p:sp>
        <p:nvSpPr>
          <p:cNvPr id="27" name="New shape"/>
          <p:cNvSpPr txBox="1"/>
          <p:nvPr/>
        </p:nvSpPr>
        <p:spPr>
          <a:xfrm>
            <a:off x="675186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60</a:t>
            </a:r>
          </a:p>
        </p:txBody>
      </p:sp>
      <p:sp>
        <p:nvSpPr>
          <p:cNvPr id="28" name="New shape"/>
          <p:cNvSpPr txBox="1"/>
          <p:nvPr/>
        </p:nvSpPr>
        <p:spPr>
          <a:xfrm>
            <a:off x="6965156"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70</a:t>
            </a:r>
          </a:p>
        </p:txBody>
      </p:sp>
      <p:sp>
        <p:nvSpPr>
          <p:cNvPr id="29" name="New shape"/>
          <p:cNvSpPr txBox="1"/>
          <p:nvPr/>
        </p:nvSpPr>
        <p:spPr>
          <a:xfrm>
            <a:off x="746283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80</a:t>
            </a:r>
          </a:p>
        </p:txBody>
      </p:sp>
      <p:sp>
        <p:nvSpPr>
          <p:cNvPr id="30" name="New shape"/>
          <p:cNvSpPr txBox="1"/>
          <p:nvPr/>
        </p:nvSpPr>
        <p:spPr>
          <a:xfrm>
            <a:off x="796051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90</a:t>
            </a:r>
          </a:p>
        </p:txBody>
      </p:sp>
      <p:sp>
        <p:nvSpPr>
          <p:cNvPr id="31" name="New shape"/>
          <p:cNvSpPr txBox="1"/>
          <p:nvPr/>
        </p:nvSpPr>
        <p:spPr>
          <a:xfrm>
            <a:off x="8458200"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100</a:t>
            </a:r>
          </a:p>
        </p:txBody>
      </p:sp>
      <p:sp>
        <p:nvSpPr>
          <p:cNvPr id="32" name="New shape"/>
          <p:cNvSpPr txBox="1"/>
          <p:nvPr/>
        </p:nvSpPr>
        <p:spPr>
          <a:xfrm>
            <a:off x="5300662" y="38045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a:t>
            </a:r>
          </a:p>
        </p:txBody>
      </p:sp>
      <p:sp>
        <p:nvSpPr>
          <p:cNvPr id="33" name="New shape"/>
          <p:cNvSpPr txBox="1"/>
          <p:nvPr/>
        </p:nvSpPr>
        <p:spPr>
          <a:xfrm>
            <a:off x="5300662" y="35942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20</a:t>
            </a:r>
          </a:p>
        </p:txBody>
      </p:sp>
      <p:sp>
        <p:nvSpPr>
          <p:cNvPr id="34" name="New shape"/>
          <p:cNvSpPr txBox="1"/>
          <p:nvPr/>
        </p:nvSpPr>
        <p:spPr>
          <a:xfrm>
            <a:off x="5300662" y="3383924"/>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30</a:t>
            </a:r>
          </a:p>
        </p:txBody>
      </p:sp>
      <p:sp>
        <p:nvSpPr>
          <p:cNvPr id="35" name="New shape"/>
          <p:cNvSpPr txBox="1"/>
          <p:nvPr/>
        </p:nvSpPr>
        <p:spPr>
          <a:xfrm>
            <a:off x="5300662" y="3173636"/>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40</a:t>
            </a:r>
          </a:p>
        </p:txBody>
      </p:sp>
      <p:sp>
        <p:nvSpPr>
          <p:cNvPr id="36" name="New shape"/>
          <p:cNvSpPr txBox="1"/>
          <p:nvPr/>
        </p:nvSpPr>
        <p:spPr>
          <a:xfrm>
            <a:off x="5300662" y="2963348"/>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50</a:t>
            </a:r>
          </a:p>
        </p:txBody>
      </p:sp>
      <p:sp>
        <p:nvSpPr>
          <p:cNvPr id="37" name="New shape"/>
          <p:cNvSpPr txBox="1"/>
          <p:nvPr/>
        </p:nvSpPr>
        <p:spPr>
          <a:xfrm>
            <a:off x="5300662" y="275306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60</a:t>
            </a:r>
          </a:p>
        </p:txBody>
      </p:sp>
      <p:sp>
        <p:nvSpPr>
          <p:cNvPr id="38" name="New shape"/>
          <p:cNvSpPr txBox="1"/>
          <p:nvPr/>
        </p:nvSpPr>
        <p:spPr>
          <a:xfrm>
            <a:off x="5300662" y="254277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70</a:t>
            </a:r>
          </a:p>
        </p:txBody>
      </p:sp>
      <p:sp>
        <p:nvSpPr>
          <p:cNvPr id="39" name="New shape"/>
          <p:cNvSpPr txBox="1"/>
          <p:nvPr/>
        </p:nvSpPr>
        <p:spPr>
          <a:xfrm>
            <a:off x="5300662" y="2058385"/>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80</a:t>
            </a:r>
          </a:p>
        </p:txBody>
      </p:sp>
      <p:sp>
        <p:nvSpPr>
          <p:cNvPr id="40" name="New shape"/>
          <p:cNvSpPr txBox="1"/>
          <p:nvPr/>
        </p:nvSpPr>
        <p:spPr>
          <a:xfrm>
            <a:off x="5300662" y="154354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90</a:t>
            </a:r>
          </a:p>
        </p:txBody>
      </p:sp>
      <p:sp>
        <p:nvSpPr>
          <p:cNvPr id="41" name="New shape"/>
          <p:cNvSpPr txBox="1"/>
          <p:nvPr/>
        </p:nvSpPr>
        <p:spPr>
          <a:xfrm>
            <a:off x="5300662" y="10287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100</a:t>
            </a:r>
          </a:p>
        </p:txBody>
      </p:sp>
      <p:grpSp>
        <p:nvGrpSpPr>
          <p:cNvPr id="46" name="Group 45"/>
          <p:cNvGrpSpPr/>
          <p:nvPr/>
        </p:nvGrpSpPr>
        <p:grpSpPr>
          <a:xfrm>
            <a:off x="4786312" y="1285875"/>
            <a:ext cx="428625" cy="200025"/>
            <a:chOff x="4151312" y="650875"/>
            <a:chExt cx="428625" cy="200025"/>
          </a:xfrm>
        </p:grpSpPr>
        <p:sp>
          <p:nvSpPr>
            <p:cNvPr id="47" name="New shape"/>
            <p:cNvSpPr/>
            <p:nvPr/>
          </p:nvSpPr>
          <p:spPr>
            <a:xfrm>
              <a:off x="4151312" y="650875"/>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8" name="New picture"/>
            <p:cNvPicPr/>
            <p:nvPr/>
          </p:nvPicPr>
          <p:blipFill>
            <a:blip>
              <a:extLst>
                <a:ext uri="{96DAC541-7B7A-43D3-8B79-37D633B846F1}">
                  <asvg:svgBlip xmlns:asvg="http://schemas.microsoft.com/office/drawing/2016/SVG/main" r:embed="rId2"/>
                </a:ext>
              </a:extLst>
            </a:blip>
            <a:stretch>
              <a:fillRect/>
            </a:stretch>
          </p:blipFill>
          <p:spPr>
            <a:xfrm>
              <a:off x="4208462" y="698381"/>
              <a:ext cx="105013" cy="105013"/>
            </a:xfrm>
            <a:prstGeom prst="rect">
              <a:avLst/>
            </a:prstGeom>
          </p:spPr>
        </p:pic>
        <p:sp>
          <p:nvSpPr>
            <p:cNvPr id="49" name="New shape"/>
            <p:cNvSpPr txBox="1"/>
            <p:nvPr/>
          </p:nvSpPr>
          <p:spPr>
            <a:xfrm>
              <a:off x="4351338" y="69373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72</a:t>
              </a:r>
            </a:p>
          </p:txBody>
        </p:sp>
      </p:grpSp>
      <p:grpSp>
        <p:nvGrpSpPr>
          <p:cNvPr id="50" name="Group 49"/>
          <p:cNvGrpSpPr/>
          <p:nvPr/>
        </p:nvGrpSpPr>
        <p:grpSpPr>
          <a:xfrm>
            <a:off x="6886575" y="4321969"/>
            <a:ext cx="428625" cy="200025"/>
            <a:chOff x="6251575" y="3686969"/>
            <a:chExt cx="428625" cy="200025"/>
          </a:xfrm>
        </p:grpSpPr>
        <p:sp>
          <p:nvSpPr>
            <p:cNvPr id="51" name="New shape"/>
            <p:cNvSpPr/>
            <p:nvPr/>
          </p:nvSpPr>
          <p:spPr>
            <a:xfrm>
              <a:off x="6251575" y="3686969"/>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2"/>
                </a:ext>
              </a:extLst>
            </a:blip>
            <a:stretch>
              <a:fillRect/>
            </a:stretch>
          </p:blipFill>
          <p:spPr>
            <a:xfrm>
              <a:off x="6308725" y="3734475"/>
              <a:ext cx="105013" cy="105013"/>
            </a:xfrm>
            <a:prstGeom prst="rect">
              <a:avLst/>
            </a:prstGeom>
          </p:spPr>
        </p:pic>
        <p:sp>
          <p:nvSpPr>
            <p:cNvPr id="53" name="New shape"/>
            <p:cNvSpPr txBox="1"/>
            <p:nvPr/>
          </p:nvSpPr>
          <p:spPr>
            <a:xfrm>
              <a:off x="645160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70</a:t>
              </a:r>
            </a:p>
          </p:txBody>
        </p:sp>
      </p:grpSp>
      <p:sp>
        <p:nvSpPr>
          <p:cNvPr id="54" name="New shape"/>
          <p:cNvSpPr/>
          <p:nvPr/>
        </p:nvSpPr>
        <p:spPr>
          <a:xfrm flipH="1">
            <a:off x="7050881" y="1028700"/>
            <a:ext cx="0" cy="2986088"/>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5" name="New shape"/>
          <p:cNvSpPr/>
          <p:nvPr/>
        </p:nvSpPr>
        <p:spPr>
          <a:xfrm>
            <a:off x="5557838" y="2521744"/>
            <a:ext cx="2986088"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pSp>
        <p:nvGrpSpPr>
          <p:cNvPr id="60" name="Group 59"/>
          <p:cNvGrpSpPr/>
          <p:nvPr/>
        </p:nvGrpSpPr>
        <p:grpSpPr>
          <a:xfrm>
            <a:off x="4786312" y="1543050"/>
            <a:ext cx="428625" cy="200025"/>
            <a:chOff x="4151312" y="908050"/>
            <a:chExt cx="428625" cy="200025"/>
          </a:xfrm>
        </p:grpSpPr>
        <p:sp>
          <p:nvSpPr>
            <p:cNvPr id="61" name="New shape"/>
            <p:cNvSpPr/>
            <p:nvPr/>
          </p:nvSpPr>
          <p:spPr>
            <a:xfrm>
              <a:off x="4151312" y="908050"/>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2" name="New picture"/>
            <p:cNvPicPr/>
            <p:nvPr/>
          </p:nvPicPr>
          <p:blipFill>
            <a:blip>
              <a:extLst>
                <a:ext uri="{96DAC541-7B7A-43D3-8B79-37D633B846F1}">
                  <asvg:svgBlip xmlns:asvg="http://schemas.microsoft.com/office/drawing/2016/SVG/main" r:embed="rId3"/>
                </a:ext>
              </a:extLst>
            </a:blip>
            <a:stretch>
              <a:fillRect/>
            </a:stretch>
          </p:blipFill>
          <p:spPr>
            <a:xfrm>
              <a:off x="4208462" y="955556"/>
              <a:ext cx="105013" cy="105013"/>
            </a:xfrm>
            <a:prstGeom prst="rect">
              <a:avLst/>
            </a:prstGeom>
          </p:spPr>
        </p:pic>
        <p:sp>
          <p:nvSpPr>
            <p:cNvPr id="63" name="New shape"/>
            <p:cNvSpPr txBox="1"/>
            <p:nvPr/>
          </p:nvSpPr>
          <p:spPr>
            <a:xfrm>
              <a:off x="4351338" y="95091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71</a:t>
              </a:r>
            </a:p>
          </p:txBody>
        </p:sp>
      </p:grpSp>
      <p:grpSp>
        <p:nvGrpSpPr>
          <p:cNvPr id="64" name="Group 63"/>
          <p:cNvGrpSpPr/>
          <p:nvPr/>
        </p:nvGrpSpPr>
        <p:grpSpPr>
          <a:xfrm>
            <a:off x="7315200" y="4321969"/>
            <a:ext cx="428625" cy="200025"/>
            <a:chOff x="6680200" y="3686969"/>
            <a:chExt cx="428625" cy="200025"/>
          </a:xfrm>
        </p:grpSpPr>
        <p:sp>
          <p:nvSpPr>
            <p:cNvPr id="65" name="New shape"/>
            <p:cNvSpPr/>
            <p:nvPr/>
          </p:nvSpPr>
          <p:spPr>
            <a:xfrm>
              <a:off x="6680200"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6" name="New picture"/>
            <p:cNvPicPr/>
            <p:nvPr/>
          </p:nvPicPr>
          <p:blipFill>
            <a:blip>
              <a:extLst>
                <a:ext uri="{96DAC541-7B7A-43D3-8B79-37D633B846F1}">
                  <asvg:svgBlip xmlns:asvg="http://schemas.microsoft.com/office/drawing/2016/SVG/main" r:embed="rId3"/>
                </a:ext>
              </a:extLst>
            </a:blip>
            <a:stretch>
              <a:fillRect/>
            </a:stretch>
          </p:blipFill>
          <p:spPr>
            <a:xfrm>
              <a:off x="6737350" y="3734475"/>
              <a:ext cx="105013" cy="105013"/>
            </a:xfrm>
            <a:prstGeom prst="rect">
              <a:avLst/>
            </a:prstGeom>
          </p:spPr>
        </p:pic>
        <p:sp>
          <p:nvSpPr>
            <p:cNvPr id="67" name="New shape"/>
            <p:cNvSpPr txBox="1"/>
            <p:nvPr/>
          </p:nvSpPr>
          <p:spPr>
            <a:xfrm>
              <a:off x="688022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79</a:t>
              </a:r>
            </a:p>
          </p:txBody>
        </p:sp>
      </p:grpSp>
      <p:grpSp>
        <p:nvGrpSpPr>
          <p:cNvPr id="72" name="Group 71"/>
          <p:cNvGrpSpPr/>
          <p:nvPr/>
        </p:nvGrpSpPr>
        <p:grpSpPr>
          <a:xfrm>
            <a:off x="4786312" y="1800225"/>
            <a:ext cx="428625" cy="200025"/>
            <a:chOff x="4151312" y="1165225"/>
            <a:chExt cx="428625" cy="200025"/>
          </a:xfrm>
        </p:grpSpPr>
        <p:sp>
          <p:nvSpPr>
            <p:cNvPr id="73" name="New shape"/>
            <p:cNvSpPr/>
            <p:nvPr/>
          </p:nvSpPr>
          <p:spPr>
            <a:xfrm>
              <a:off x="4151312" y="1165225"/>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4" name="New picture"/>
            <p:cNvPicPr/>
            <p:nvPr/>
          </p:nvPicPr>
          <p:blipFill>
            <a:blip>
              <a:extLst>
                <a:ext uri="{96DAC541-7B7A-43D3-8B79-37D633B846F1}">
                  <asvg:svgBlip xmlns:asvg="http://schemas.microsoft.com/office/drawing/2016/SVG/main" r:embed="rId4"/>
                </a:ext>
              </a:extLst>
            </a:blip>
            <a:stretch>
              <a:fillRect/>
            </a:stretch>
          </p:blipFill>
          <p:spPr>
            <a:xfrm>
              <a:off x="4208462" y="1212731"/>
              <a:ext cx="105013" cy="105013"/>
            </a:xfrm>
            <a:prstGeom prst="rect">
              <a:avLst/>
            </a:prstGeom>
          </p:spPr>
        </p:pic>
        <p:sp>
          <p:nvSpPr>
            <p:cNvPr id="75" name="New shape"/>
            <p:cNvSpPr txBox="1"/>
            <p:nvPr/>
          </p:nvSpPr>
          <p:spPr>
            <a:xfrm>
              <a:off x="4351338" y="120808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80</a:t>
              </a:r>
            </a:p>
          </p:txBody>
        </p:sp>
      </p:grpSp>
      <p:grpSp>
        <p:nvGrpSpPr>
          <p:cNvPr id="76" name="Group 75"/>
          <p:cNvGrpSpPr/>
          <p:nvPr/>
        </p:nvGrpSpPr>
        <p:grpSpPr>
          <a:xfrm>
            <a:off x="7743825" y="4321969"/>
            <a:ext cx="428625" cy="200025"/>
            <a:chOff x="7108825" y="3686969"/>
            <a:chExt cx="428625" cy="200025"/>
          </a:xfrm>
        </p:grpSpPr>
        <p:sp>
          <p:nvSpPr>
            <p:cNvPr id="77" name="New shape"/>
            <p:cNvSpPr/>
            <p:nvPr/>
          </p:nvSpPr>
          <p:spPr>
            <a:xfrm>
              <a:off x="7108825"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8" name="New picture"/>
            <p:cNvPicPr/>
            <p:nvPr/>
          </p:nvPicPr>
          <p:blipFill>
            <a:blip>
              <a:extLst>
                <a:ext uri="{96DAC541-7B7A-43D3-8B79-37D633B846F1}">
                  <asvg:svgBlip xmlns:asvg="http://schemas.microsoft.com/office/drawing/2016/SVG/main" r:embed="rId4"/>
                </a:ext>
              </a:extLst>
            </a:blip>
            <a:stretch>
              <a:fillRect/>
            </a:stretch>
          </p:blipFill>
          <p:spPr>
            <a:xfrm>
              <a:off x="7165975" y="3734475"/>
              <a:ext cx="105013" cy="105013"/>
            </a:xfrm>
            <a:prstGeom prst="rect">
              <a:avLst/>
            </a:prstGeom>
          </p:spPr>
        </p:pic>
        <p:sp>
          <p:nvSpPr>
            <p:cNvPr id="79" name="New shape"/>
            <p:cNvSpPr txBox="1"/>
            <p:nvPr/>
          </p:nvSpPr>
          <p:spPr>
            <a:xfrm>
              <a:off x="730885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92</a:t>
              </a:r>
            </a:p>
          </p:txBody>
        </p:sp>
      </p:grpSp>
      <p:grpSp>
        <p:nvGrpSpPr>
          <p:cNvPr id="84" name="Group 83"/>
          <p:cNvGrpSpPr/>
          <p:nvPr/>
        </p:nvGrpSpPr>
        <p:grpSpPr>
          <a:xfrm>
            <a:off x="4786312" y="1028700"/>
            <a:ext cx="428625" cy="200025"/>
            <a:chOff x="4151312" y="393700"/>
            <a:chExt cx="428625" cy="200025"/>
          </a:xfrm>
        </p:grpSpPr>
        <p:sp>
          <p:nvSpPr>
            <p:cNvPr id="85" name="New shape"/>
            <p:cNvSpPr/>
            <p:nvPr/>
          </p:nvSpPr>
          <p:spPr>
            <a:xfrm>
              <a:off x="4151312" y="393700"/>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6" name="New picture"/>
            <p:cNvPicPr/>
            <p:nvPr/>
          </p:nvPicPr>
          <p:blipFill>
            <a:blip>
              <a:extLst>
                <a:ext uri="{96DAC541-7B7A-43D3-8B79-37D633B846F1}">
                  <asvg:svgBlip xmlns:asvg="http://schemas.microsoft.com/office/drawing/2016/SVG/main" r:embed="rId5"/>
                </a:ext>
              </a:extLst>
            </a:blip>
            <a:stretch>
              <a:fillRect/>
            </a:stretch>
          </p:blipFill>
          <p:spPr>
            <a:xfrm>
              <a:off x="4208462" y="433705"/>
              <a:ext cx="100012" cy="120015"/>
            </a:xfrm>
            <a:prstGeom prst="rect">
              <a:avLst/>
            </a:prstGeom>
          </p:spPr>
        </p:pic>
        <p:sp>
          <p:nvSpPr>
            <p:cNvPr id="87" name="New shape"/>
            <p:cNvSpPr txBox="1"/>
            <p:nvPr/>
          </p:nvSpPr>
          <p:spPr>
            <a:xfrm>
              <a:off x="4351338" y="43656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71</a:t>
              </a:r>
            </a:p>
          </p:txBody>
        </p:sp>
      </p:grpSp>
      <p:grpSp>
        <p:nvGrpSpPr>
          <p:cNvPr id="88" name="Group 87"/>
          <p:cNvGrpSpPr/>
          <p:nvPr/>
        </p:nvGrpSpPr>
        <p:grpSpPr>
          <a:xfrm>
            <a:off x="6457950" y="4321969"/>
            <a:ext cx="428625" cy="200025"/>
            <a:chOff x="5822950" y="3686969"/>
            <a:chExt cx="428625" cy="200025"/>
          </a:xfrm>
        </p:grpSpPr>
        <p:sp>
          <p:nvSpPr>
            <p:cNvPr id="89" name="New shape"/>
            <p:cNvSpPr/>
            <p:nvPr/>
          </p:nvSpPr>
          <p:spPr>
            <a:xfrm>
              <a:off x="5822950" y="3686969"/>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5880100" y="3726974"/>
              <a:ext cx="100012" cy="120015"/>
            </a:xfrm>
            <a:prstGeom prst="rect">
              <a:avLst/>
            </a:prstGeom>
          </p:spPr>
        </p:pic>
        <p:sp>
          <p:nvSpPr>
            <p:cNvPr id="91" name="New shape"/>
            <p:cNvSpPr txBox="1"/>
            <p:nvPr/>
          </p:nvSpPr>
          <p:spPr>
            <a:xfrm>
              <a:off x="602297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70</a:t>
              </a:r>
            </a:p>
          </p:txBody>
        </p:sp>
      </p:grpSp>
      <p:grpSp>
        <p:nvGrpSpPr>
          <p:cNvPr id="42" name="Group 41"/>
          <p:cNvGrpSpPr/>
          <p:nvPr/>
        </p:nvGrpSpPr>
        <p:grpSpPr>
          <a:xfrm>
            <a:off x="6950869" y="2213084"/>
            <a:ext cx="200025" cy="257175"/>
            <a:chOff x="6315869" y="1578084"/>
            <a:chExt cx="200025" cy="257175"/>
          </a:xfrm>
        </p:grpSpPr>
        <p:sp>
          <p:nvSpPr>
            <p:cNvPr id="43" name="New shape"/>
            <p:cNvSpPr/>
            <p:nvPr/>
          </p:nvSpPr>
          <p:spPr>
            <a:xfrm>
              <a:off x="6315869" y="1578084"/>
              <a:ext cx="20002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4" name="New shape"/>
            <p:cNvSpPr/>
            <p:nvPr/>
          </p:nvSpPr>
          <p:spPr>
            <a:xfrm rot="10800000">
              <a:off x="6373019" y="1785253"/>
              <a:ext cx="85725" cy="50006"/>
            </a:xfrm>
            <a:prstGeom prst="triangl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2"/>
                </a:ext>
              </a:extLst>
            </a:blip>
            <a:stretch>
              <a:fillRect/>
            </a:stretch>
          </p:blipFill>
          <p:spPr>
            <a:xfrm>
              <a:off x="6363376" y="1625590"/>
              <a:ext cx="105013" cy="105013"/>
            </a:xfrm>
            <a:prstGeom prst="rect">
              <a:avLst/>
            </a:prstGeom>
          </p:spPr>
        </p:pic>
      </p:grpSp>
      <p:grpSp>
        <p:nvGrpSpPr>
          <p:cNvPr id="56" name="Group 55"/>
          <p:cNvGrpSpPr/>
          <p:nvPr/>
        </p:nvGrpSpPr>
        <p:grpSpPr>
          <a:xfrm>
            <a:off x="7398782" y="2264569"/>
            <a:ext cx="200025" cy="257175"/>
            <a:chOff x="6763782" y="1629569"/>
            <a:chExt cx="200025" cy="257175"/>
          </a:xfrm>
        </p:grpSpPr>
        <p:sp>
          <p:nvSpPr>
            <p:cNvPr id="57" name="New shape"/>
            <p:cNvSpPr/>
            <p:nvPr/>
          </p:nvSpPr>
          <p:spPr>
            <a:xfrm>
              <a:off x="6763782" y="1629569"/>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rot="10800000">
              <a:off x="6820932" y="1836738"/>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9" name="New picture"/>
            <p:cNvPicPr/>
            <p:nvPr/>
          </p:nvPicPr>
          <p:blipFill>
            <a:blip>
              <a:extLst>
                <a:ext uri="{96DAC541-7B7A-43D3-8B79-37D633B846F1}">
                  <asvg:svgBlip xmlns:asvg="http://schemas.microsoft.com/office/drawing/2016/SVG/main" r:embed="rId3"/>
                </a:ext>
              </a:extLst>
            </a:blip>
            <a:stretch>
              <a:fillRect/>
            </a:stretch>
          </p:blipFill>
          <p:spPr>
            <a:xfrm>
              <a:off x="6811287" y="1677075"/>
              <a:ext cx="105013" cy="105013"/>
            </a:xfrm>
            <a:prstGeom prst="rect">
              <a:avLst/>
            </a:prstGeom>
          </p:spPr>
        </p:pic>
      </p:grpSp>
      <p:grpSp>
        <p:nvGrpSpPr>
          <p:cNvPr id="68" name="Group 67"/>
          <p:cNvGrpSpPr/>
          <p:nvPr/>
        </p:nvGrpSpPr>
        <p:grpSpPr>
          <a:xfrm>
            <a:off x="8045767" y="1801210"/>
            <a:ext cx="200025" cy="257175"/>
            <a:chOff x="7410767" y="1166210"/>
            <a:chExt cx="200025" cy="257175"/>
          </a:xfrm>
        </p:grpSpPr>
        <p:sp>
          <p:nvSpPr>
            <p:cNvPr id="69" name="New shape"/>
            <p:cNvSpPr/>
            <p:nvPr/>
          </p:nvSpPr>
          <p:spPr>
            <a:xfrm>
              <a:off x="7410767" y="1166210"/>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0800000">
              <a:off x="7467917" y="1373379"/>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1" name="New picture"/>
            <p:cNvPicPr/>
            <p:nvPr/>
          </p:nvPicPr>
          <p:blipFill>
            <a:blip>
              <a:extLst>
                <a:ext uri="{96DAC541-7B7A-43D3-8B79-37D633B846F1}">
                  <asvg:svgBlip xmlns:asvg="http://schemas.microsoft.com/office/drawing/2016/SVG/main" r:embed="rId4"/>
                </a:ext>
              </a:extLst>
            </a:blip>
            <a:stretch>
              <a:fillRect/>
            </a:stretch>
          </p:blipFill>
          <p:spPr>
            <a:xfrm>
              <a:off x="7458273" y="1213716"/>
              <a:ext cx="105013" cy="105013"/>
            </a:xfrm>
            <a:prstGeom prst="rect">
              <a:avLst/>
            </a:prstGeom>
          </p:spPr>
        </p:pic>
      </p:grpSp>
      <p:grpSp>
        <p:nvGrpSpPr>
          <p:cNvPr id="80" name="Group 79"/>
          <p:cNvGrpSpPr/>
          <p:nvPr/>
        </p:nvGrpSpPr>
        <p:grpSpPr>
          <a:xfrm>
            <a:off x="6950869" y="2264569"/>
            <a:ext cx="200025" cy="257175"/>
            <a:chOff x="6315869" y="1629569"/>
            <a:chExt cx="200025" cy="257175"/>
          </a:xfrm>
        </p:grpSpPr>
        <p:sp>
          <p:nvSpPr>
            <p:cNvPr id="81" name="New shape"/>
            <p:cNvSpPr/>
            <p:nvPr/>
          </p:nvSpPr>
          <p:spPr>
            <a:xfrm>
              <a:off x="6315869" y="1629569"/>
              <a:ext cx="20002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0800000">
              <a:off x="6373019" y="1836738"/>
              <a:ext cx="85725" cy="50006"/>
            </a:xfrm>
            <a:prstGeom prst="triangle">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3" name="New picture"/>
            <p:cNvPicPr/>
            <p:nvPr/>
          </p:nvPicPr>
          <p:blipFill>
            <a:blip>
              <a:extLst>
                <a:ext uri="{96DAC541-7B7A-43D3-8B79-37D633B846F1}">
                  <asvg:svgBlip xmlns:asvg="http://schemas.microsoft.com/office/drawing/2016/SVG/main" r:embed="rId5"/>
                </a:ext>
              </a:extLst>
            </a:blip>
            <a:stretch>
              <a:fillRect/>
            </a:stretch>
          </p:blipFill>
          <p:spPr>
            <a:xfrm>
              <a:off x="6365875" y="1669574"/>
              <a:ext cx="100012" cy="120015"/>
            </a:xfrm>
            <a:prstGeom prst="rect">
              <a:avLst/>
            </a:prstGeom>
          </p:spPr>
        </p:pic>
      </p:grpSp>
      <p:sp>
        <p:nvSpPr>
          <p:cNvPr id="92" name="New shape"/>
          <p:cNvSpPr txBox="1"/>
          <p:nvPr/>
        </p:nvSpPr>
        <p:spPr>
          <a:xfrm>
            <a:off x="4786312" y="77152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1" i="0">
                <a:solidFill>
                  <a:srgbClr val="192743"/>
                </a:solidFill>
                <a:latin typeface="Poppins"/>
              </a:rPr>
              <a:t>Prestatieomgeving</a:t>
            </a:r>
          </a:p>
        </p:txBody>
      </p:sp>
      <p:sp>
        <p:nvSpPr>
          <p:cNvPr id="93" name="New shape"/>
          <p:cNvSpPr txBox="1"/>
          <p:nvPr/>
        </p:nvSpPr>
        <p:spPr>
          <a:xfrm>
            <a:off x="5586412" y="437197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1" i="0">
                <a:solidFill>
                  <a:srgbClr val="192743"/>
                </a:solidFill>
                <a:latin typeface="Poppins"/>
              </a:rPr>
              <a:t>Bevlogenheid</a:t>
            </a:r>
          </a:p>
        </p:txBody>
      </p:sp>
      <p:pic>
        <p:nvPicPr>
          <p:cNvPr id="94" name="New picture"/>
          <p:cNvPicPr/>
          <p:nvPr/>
        </p:nvPicPr>
        <p:blipFill>
          <a:blip>
            <a:extLst>
              <a:ext uri="{96DAC541-7B7A-43D3-8B79-37D633B846F1}">
                <asvg:svgBlip xmlns:asvg="http://schemas.microsoft.com/office/drawing/2016/SVG/main" r:embed="rId6"/>
              </a:ext>
            </a:extLst>
          </a:blip>
          <a:stretch>
            <a:fillRect/>
          </a:stretch>
        </p:blipFill>
        <p:spPr>
          <a:xfrm>
            <a:off x="178594" y="4883467"/>
            <a:ext cx="100012" cy="120015"/>
          </a:xfrm>
          <a:prstGeom prst="rect">
            <a:avLst/>
          </a:prstGeom>
        </p:spPr>
      </p:pic>
      <p:sp>
        <p:nvSpPr>
          <p:cNvPr id="95" name="New shape"/>
          <p:cNvSpPr txBox="1"/>
          <p:nvPr/>
        </p:nvSpPr>
        <p:spPr>
          <a:xfrm>
            <a:off x="350044"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1C55C7"/>
                </a:solidFill>
                <a:latin typeface="Poppins"/>
              </a:rPr>
              <a:t>Huidig</a:t>
            </a:r>
            <a:r>
              <a:rPr sz="675" b="0" i="0" dirty="0">
                <a:solidFill>
                  <a:srgbClr val="1C55C7"/>
                </a:solidFill>
                <a:latin typeface="Poppins"/>
              </a:rPr>
              <a:t>: </a:t>
            </a:r>
            <a:r>
              <a:rPr lang="en-US" sz="675" b="0" i="0" dirty="0">
                <a:solidFill>
                  <a:srgbClr val="1C55C7"/>
                </a:solidFill>
                <a:latin typeface="Poppins"/>
              </a:rPr>
              <a:t>Team IT</a:t>
            </a:r>
            <a:endParaRPr sz="675" b="0" i="0" dirty="0">
              <a:solidFill>
                <a:srgbClr val="1C55C7"/>
              </a:solidFill>
              <a:latin typeface="Poppins"/>
            </a:endParaRP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1300162" y="4890969"/>
            <a:ext cx="105013" cy="105013"/>
          </a:xfrm>
          <a:prstGeom prst="rect">
            <a:avLst/>
          </a:prstGeom>
        </p:spPr>
      </p:pic>
      <p:sp>
        <p:nvSpPr>
          <p:cNvPr id="97" name="New shape"/>
          <p:cNvSpPr txBox="1"/>
          <p:nvPr/>
        </p:nvSpPr>
        <p:spPr>
          <a:xfrm>
            <a:off x="1476613"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546178"/>
                </a:solidFill>
                <a:latin typeface="Poppins"/>
              </a:rPr>
              <a:t>Vorig onderzoek</a:t>
            </a:r>
          </a:p>
        </p:txBody>
      </p:sp>
      <p:sp>
        <p:nvSpPr>
          <p:cNvPr id="98" name="New shape"/>
          <p:cNvSpPr/>
          <p:nvPr/>
        </p:nvSpPr>
        <p:spPr>
          <a:xfrm>
            <a:off x="2319576" y="4943475"/>
            <a:ext cx="142875"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9" name="New shape"/>
          <p:cNvSpPr txBox="1"/>
          <p:nvPr/>
        </p:nvSpPr>
        <p:spPr>
          <a:xfrm>
            <a:off x="2519601"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pic>
        <p:nvPicPr>
          <p:cNvPr id="100" name="New picture"/>
          <p:cNvPicPr/>
          <p:nvPr/>
        </p:nvPicPr>
        <p:blipFill>
          <a:blip>
            <a:extLst>
              <a:ext uri="{96DAC541-7B7A-43D3-8B79-37D633B846F1}">
                <asvg:svgBlip xmlns:asvg="http://schemas.microsoft.com/office/drawing/2016/SVG/main" r:embed="rId7"/>
              </a:ext>
            </a:extLst>
          </a:blip>
          <a:stretch>
            <a:fillRect/>
          </a:stretch>
        </p:blipFill>
        <p:spPr>
          <a:xfrm>
            <a:off x="3469720" y="4890969"/>
            <a:ext cx="105013" cy="105013"/>
          </a:xfrm>
          <a:prstGeom prst="rect">
            <a:avLst/>
          </a:prstGeom>
        </p:spPr>
      </p:pic>
      <p:sp>
        <p:nvSpPr>
          <p:cNvPr id="101" name="New shape"/>
          <p:cNvSpPr txBox="1"/>
          <p:nvPr/>
        </p:nvSpPr>
        <p:spPr>
          <a:xfrm>
            <a:off x="3646170"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pic>
        <p:nvPicPr>
          <p:cNvPr id="102" name="New picture"/>
          <p:cNvPicPr/>
          <p:nvPr/>
        </p:nvPicPr>
        <p:blipFill>
          <a:blip>
            <a:extLst>
              <a:ext uri="{96DAC541-7B7A-43D3-8B79-37D633B846F1}">
                <asvg:svgBlip xmlns:asvg="http://schemas.microsoft.com/office/drawing/2016/SVG/main" r:embed="rId3"/>
              </a:ext>
            </a:extLst>
          </a:blip>
          <a:stretch>
            <a:fillRect/>
          </a:stretch>
        </p:blipFill>
        <p:spPr>
          <a:xfrm>
            <a:off x="4596289" y="4890969"/>
            <a:ext cx="105013" cy="105013"/>
          </a:xfrm>
          <a:prstGeom prst="rect">
            <a:avLst/>
          </a:prstGeom>
        </p:spPr>
      </p:pic>
      <p:sp>
        <p:nvSpPr>
          <p:cNvPr id="103" name="New shape"/>
          <p:cNvSpPr txBox="1"/>
          <p:nvPr/>
        </p:nvSpPr>
        <p:spPr>
          <a:xfrm>
            <a:off x="4772740"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pic>
        <p:nvPicPr>
          <p:cNvPr id="104" name="New picture"/>
          <p:cNvPicPr/>
          <p:nvPr/>
        </p:nvPicPr>
        <p:blipFill>
          <a:blip>
            <a:extLst>
              <a:ext uri="{96DAC541-7B7A-43D3-8B79-37D633B846F1}">
                <asvg:svgBlip xmlns:asvg="http://schemas.microsoft.com/office/drawing/2016/SVG/main" r:embed="rId4"/>
              </a:ext>
            </a:extLst>
          </a:blip>
          <a:stretch>
            <a:fillRect/>
          </a:stretch>
        </p:blipFill>
        <p:spPr>
          <a:xfrm>
            <a:off x="5722858" y="4890969"/>
            <a:ext cx="105013" cy="105013"/>
          </a:xfrm>
          <a:prstGeom prst="rect">
            <a:avLst/>
          </a:prstGeom>
        </p:spPr>
      </p:pic>
      <p:sp>
        <p:nvSpPr>
          <p:cNvPr id="105" name="New shape"/>
          <p:cNvSpPr txBox="1"/>
          <p:nvPr/>
        </p:nvSpPr>
        <p:spPr>
          <a:xfrm>
            <a:off x="5899309"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15</a:t>
            </a:r>
          </a:p>
        </p:txBody>
      </p:sp>
      <p:sp>
        <p:nvSpPr>
          <p:cNvPr id="10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0"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685796"/>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900" b="1" i="0">
                          <a:solidFill>
                            <a:srgbClr val="192743"/>
                          </a:solidFill>
                          <a:latin typeface="Poppins"/>
                        </a:rPr>
                        <a:t>Bevlogenheid</a:t>
                      </a:r>
                    </a:p>
                    <a:p>
                      <a:pPr>
                        <a:spcBef>
                          <a:spcPct val="40000"/>
                        </a:spcBef>
                        <a:spcAft>
                          <a:spcPct val="40000"/>
                        </a:spcAft>
                      </a:pPr>
                      <a:r>
                        <a:rPr sz="788" i="0">
                          <a:solidFill>
                            <a:srgbClr val="546178"/>
                          </a:solidFill>
                          <a:latin typeface="Poppins"/>
                        </a:rPr>
                        <a:t>Beschrijft de mate waarin medewerkers intrinsiek verbonden zijn met de organisatie waarvoor ze werken en hun werk.</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900" b="1" i="0">
                          <a:solidFill>
                            <a:srgbClr val="192743"/>
                          </a:solidFill>
                          <a:latin typeface="Poppins"/>
                        </a:rPr>
                        <a:t>Prestatieomgeving</a:t>
                      </a:r>
                    </a:p>
                    <a:p>
                      <a:pPr>
                        <a:spcBef>
                          <a:spcPct val="40000"/>
                        </a:spcBef>
                        <a:spcAft>
                          <a:spcPct val="40000"/>
                        </a:spcAft>
                      </a:pPr>
                      <a:r>
                        <a:rPr sz="788" i="0">
                          <a:solidFill>
                            <a:srgbClr val="546178"/>
                          </a:solidFill>
                          <a:latin typeface="Poppins"/>
                        </a:rPr>
                        <a:t>Beschrijft belangrijke basisvoorwaarden die medewerkers in staat stellen effectief en efficiënt te werken.</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Leiderschap bij verandering</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Richting geven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Medewerkers faciliteren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Systemen beheren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3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46434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Bevlogenheid</a:t>
            </a:r>
          </a:p>
        </p:txBody>
      </p:sp>
      <p:sp>
        <p:nvSpPr>
          <p:cNvPr id="3" name="New shape"/>
          <p:cNvSpPr txBox="1"/>
          <p:nvPr/>
        </p:nvSpPr>
        <p:spPr>
          <a:xfrm>
            <a:off x="717011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7305842" y="857250"/>
            <a:ext cx="105013" cy="105013"/>
          </a:xfrm>
          <a:prstGeom prst="rect">
            <a:avLst/>
          </a:prstGeom>
        </p:spPr>
      </p:pic>
      <p:sp>
        <p:nvSpPr>
          <p:cNvPr id="5" name="New shape"/>
          <p:cNvSpPr txBox="1"/>
          <p:nvPr/>
        </p:nvSpPr>
        <p:spPr>
          <a:xfrm>
            <a:off x="7559874"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6" name="New picture"/>
          <p:cNvPicPr/>
          <p:nvPr/>
        </p:nvPicPr>
        <p:blipFill>
          <a:blip>
            <a:extLst>
              <a:ext uri="{96DAC541-7B7A-43D3-8B79-37D633B846F1}">
                <asvg:svgBlip xmlns:asvg="http://schemas.microsoft.com/office/drawing/2016/SVG/main" r:embed="rId3"/>
              </a:ext>
            </a:extLst>
          </a:blip>
          <a:stretch>
            <a:fillRect/>
          </a:stretch>
        </p:blipFill>
        <p:spPr>
          <a:xfrm>
            <a:off x="7695605" y="857250"/>
            <a:ext cx="105013" cy="105013"/>
          </a:xfrm>
          <a:prstGeom prst="rect">
            <a:avLst/>
          </a:prstGeom>
        </p:spPr>
      </p:pic>
      <p:sp>
        <p:nvSpPr>
          <p:cNvPr id="7" name="New shape"/>
          <p:cNvSpPr txBox="1"/>
          <p:nvPr/>
        </p:nvSpPr>
        <p:spPr>
          <a:xfrm>
            <a:off x="7949638"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8" name="New picture"/>
          <p:cNvPicPr/>
          <p:nvPr/>
        </p:nvPicPr>
        <p:blipFill>
          <a:blip>
            <a:extLst>
              <a:ext uri="{96DAC541-7B7A-43D3-8B79-37D633B846F1}">
                <asvg:svgBlip xmlns:asvg="http://schemas.microsoft.com/office/drawing/2016/SVG/main" r:embed="rId2"/>
              </a:ext>
            </a:extLst>
          </a:blip>
          <a:stretch>
            <a:fillRect/>
          </a:stretch>
        </p:blipFill>
        <p:spPr>
          <a:xfrm>
            <a:off x="8085369" y="857250"/>
            <a:ext cx="105013" cy="105013"/>
          </a:xfrm>
          <a:prstGeom prst="rect">
            <a:avLst/>
          </a:prstGeom>
        </p:spPr>
      </p:pic>
      <p:sp>
        <p:nvSpPr>
          <p:cNvPr id="9" name="New shape"/>
          <p:cNvSpPr txBox="1"/>
          <p:nvPr/>
        </p:nvSpPr>
        <p:spPr>
          <a:xfrm>
            <a:off x="833940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0" name="New picture"/>
          <p:cNvPicPr/>
          <p:nvPr/>
        </p:nvPicPr>
        <p:blipFill>
          <a:blip>
            <a:extLst>
              <a:ext uri="{96DAC541-7B7A-43D3-8B79-37D633B846F1}">
                <asvg:svgBlip xmlns:asvg="http://schemas.microsoft.com/office/drawing/2016/SVG/main" r:embed="rId4"/>
              </a:ext>
            </a:extLst>
          </a:blip>
          <a:stretch>
            <a:fillRect/>
          </a:stretch>
        </p:blipFill>
        <p:spPr>
          <a:xfrm>
            <a:off x="8475132" y="857250"/>
            <a:ext cx="105013" cy="105013"/>
          </a:xfrm>
          <a:prstGeom prst="rect">
            <a:avLst/>
          </a:prstGeom>
        </p:spPr>
      </p:pic>
      <p:sp>
        <p:nvSpPr>
          <p:cNvPr id="11" name="New shape"/>
          <p:cNvSpPr txBox="1"/>
          <p:nvPr/>
        </p:nvSpPr>
        <p:spPr>
          <a:xfrm>
            <a:off x="457200" y="10287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heb plezier in mijn werk</a:t>
            </a:r>
          </a:p>
        </p:txBody>
      </p:sp>
      <p:sp>
        <p:nvSpPr>
          <p:cNvPr id="12" name="New shape"/>
          <p:cNvSpPr/>
          <p:nvPr/>
        </p:nvSpPr>
        <p:spPr>
          <a:xfrm>
            <a:off x="4000500" y="1028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5"/>
              </a:ext>
            </a:extLst>
          </a:blip>
          <a:stretch>
            <a:fillRect/>
          </a:stretch>
        </p:blipFill>
        <p:spPr>
          <a:xfrm>
            <a:off x="4079081" y="1071562"/>
            <a:ext cx="71438" cy="85725"/>
          </a:xfrm>
          <a:prstGeom prst="rect">
            <a:avLst/>
          </a:prstGeom>
        </p:spPr>
      </p:pic>
      <p:sp>
        <p:nvSpPr>
          <p:cNvPr id="14" name="New shape"/>
          <p:cNvSpPr/>
          <p:nvPr/>
        </p:nvSpPr>
        <p:spPr>
          <a:xfrm>
            <a:off x="4243388" y="1028700"/>
            <a:ext cx="1676827"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15" name="New shape"/>
          <p:cNvSpPr/>
          <p:nvPr/>
        </p:nvSpPr>
        <p:spPr>
          <a:xfrm>
            <a:off x="5934502" y="10287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6" name="New shape"/>
          <p:cNvSpPr/>
          <p:nvPr/>
        </p:nvSpPr>
        <p:spPr>
          <a:xfrm>
            <a:off x="6263194" y="1028700"/>
            <a:ext cx="628810"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17" name="New shape"/>
          <p:cNvSpPr txBox="1"/>
          <p:nvPr/>
        </p:nvSpPr>
        <p:spPr>
          <a:xfrm>
            <a:off x="7149179"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18" name="New shape"/>
          <p:cNvSpPr txBox="1"/>
          <p:nvPr/>
        </p:nvSpPr>
        <p:spPr>
          <a:xfrm>
            <a:off x="7538943"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19" name="New shape"/>
          <p:cNvSpPr txBox="1"/>
          <p:nvPr/>
        </p:nvSpPr>
        <p:spPr>
          <a:xfrm>
            <a:off x="7928706"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85</a:t>
            </a:r>
          </a:p>
        </p:txBody>
      </p:sp>
      <p:sp>
        <p:nvSpPr>
          <p:cNvPr id="20" name="New shape"/>
          <p:cNvSpPr txBox="1"/>
          <p:nvPr/>
        </p:nvSpPr>
        <p:spPr>
          <a:xfrm>
            <a:off x="8318470"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98</a:t>
            </a:r>
          </a:p>
        </p:txBody>
      </p:sp>
      <p:sp>
        <p:nvSpPr>
          <p:cNvPr id="21" name="New shape"/>
          <p:cNvSpPr/>
          <p:nvPr/>
        </p:nvSpPr>
        <p:spPr>
          <a:xfrm>
            <a:off x="4000500" y="12573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2" name="New picture"/>
          <p:cNvPicPr/>
          <p:nvPr/>
        </p:nvPicPr>
        <p:blipFill>
          <a:blip>
            <a:extLst>
              <a:ext uri="{96DAC541-7B7A-43D3-8B79-37D633B846F1}">
                <asvg:svgBlip xmlns:asvg="http://schemas.microsoft.com/office/drawing/2016/SVG/main" r:embed="rId6"/>
              </a:ext>
            </a:extLst>
          </a:blip>
          <a:stretch>
            <a:fillRect/>
          </a:stretch>
        </p:blipFill>
        <p:spPr>
          <a:xfrm>
            <a:off x="4079081" y="1305520"/>
            <a:ext cx="75009" cy="75009"/>
          </a:xfrm>
          <a:prstGeom prst="rect">
            <a:avLst/>
          </a:prstGeom>
        </p:spPr>
      </p:pic>
      <p:sp>
        <p:nvSpPr>
          <p:cNvPr id="23" name="New shape"/>
          <p:cNvSpPr/>
          <p:nvPr/>
        </p:nvSpPr>
        <p:spPr>
          <a:xfrm>
            <a:off x="4243388" y="12573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24" name="New shape"/>
          <p:cNvSpPr/>
          <p:nvPr/>
        </p:nvSpPr>
        <p:spPr>
          <a:xfrm>
            <a:off x="6117904" y="12573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5" name="New shape"/>
          <p:cNvSpPr/>
          <p:nvPr/>
        </p:nvSpPr>
        <p:spPr>
          <a:xfrm>
            <a:off x="6472797" y="12573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26" name="New shape"/>
          <p:cNvSpPr/>
          <p:nvPr/>
        </p:nvSpPr>
        <p:spPr>
          <a:xfrm>
            <a:off x="457200" y="15430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457200" y="16573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Mijn werk geeft mij energie</a:t>
            </a:r>
          </a:p>
        </p:txBody>
      </p:sp>
      <p:sp>
        <p:nvSpPr>
          <p:cNvPr id="28" name="New shape"/>
          <p:cNvSpPr/>
          <p:nvPr/>
        </p:nvSpPr>
        <p:spPr>
          <a:xfrm>
            <a:off x="4000500" y="1657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5"/>
              </a:ext>
            </a:extLst>
          </a:blip>
          <a:stretch>
            <a:fillRect/>
          </a:stretch>
        </p:blipFill>
        <p:spPr>
          <a:xfrm>
            <a:off x="4079081" y="1700212"/>
            <a:ext cx="71438" cy="85725"/>
          </a:xfrm>
          <a:prstGeom prst="rect">
            <a:avLst/>
          </a:prstGeom>
        </p:spPr>
      </p:pic>
      <p:sp>
        <p:nvSpPr>
          <p:cNvPr id="30" name="New shape"/>
          <p:cNvSpPr/>
          <p:nvPr/>
        </p:nvSpPr>
        <p:spPr>
          <a:xfrm>
            <a:off x="4243388" y="16573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31" name="New shape"/>
          <p:cNvSpPr/>
          <p:nvPr/>
        </p:nvSpPr>
        <p:spPr>
          <a:xfrm>
            <a:off x="6144105" y="165735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6573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33" name="New shape"/>
          <p:cNvSpPr txBox="1"/>
          <p:nvPr/>
        </p:nvSpPr>
        <p:spPr>
          <a:xfrm>
            <a:off x="7149179"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34" name="New shape"/>
          <p:cNvSpPr txBox="1"/>
          <p:nvPr/>
        </p:nvSpPr>
        <p:spPr>
          <a:xfrm>
            <a:off x="7538943"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35" name="New shape"/>
          <p:cNvSpPr txBox="1"/>
          <p:nvPr/>
        </p:nvSpPr>
        <p:spPr>
          <a:xfrm>
            <a:off x="7928706"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52</a:t>
            </a:r>
          </a:p>
        </p:txBody>
      </p:sp>
      <p:sp>
        <p:nvSpPr>
          <p:cNvPr id="36" name="New shape"/>
          <p:cNvSpPr txBox="1"/>
          <p:nvPr/>
        </p:nvSpPr>
        <p:spPr>
          <a:xfrm>
            <a:off x="8318470"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37" name="New shape"/>
          <p:cNvSpPr/>
          <p:nvPr/>
        </p:nvSpPr>
        <p:spPr>
          <a:xfrm>
            <a:off x="4000500" y="18859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4079081" y="1934170"/>
            <a:ext cx="75009" cy="75009"/>
          </a:xfrm>
          <a:prstGeom prst="rect">
            <a:avLst/>
          </a:prstGeom>
        </p:spPr>
      </p:pic>
      <p:sp>
        <p:nvSpPr>
          <p:cNvPr id="39" name="New shape"/>
          <p:cNvSpPr/>
          <p:nvPr/>
        </p:nvSpPr>
        <p:spPr>
          <a:xfrm>
            <a:off x="4243388" y="1885950"/>
            <a:ext cx="17292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66%</a:t>
            </a:r>
          </a:p>
        </p:txBody>
      </p:sp>
      <p:sp>
        <p:nvSpPr>
          <p:cNvPr id="40" name="New shape"/>
          <p:cNvSpPr/>
          <p:nvPr/>
        </p:nvSpPr>
        <p:spPr>
          <a:xfrm>
            <a:off x="5986902" y="18859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1" name="New shape"/>
          <p:cNvSpPr/>
          <p:nvPr/>
        </p:nvSpPr>
        <p:spPr>
          <a:xfrm>
            <a:off x="6420396" y="18859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42" name="New shape"/>
          <p:cNvSpPr/>
          <p:nvPr/>
        </p:nvSpPr>
        <p:spPr>
          <a:xfrm>
            <a:off x="457200" y="21717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457200" y="22860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Ik ben trots op </a:t>
            </a:r>
            <a:r>
              <a:rPr lang="en-US" sz="788" b="0" i="0" dirty="0">
                <a:solidFill>
                  <a:srgbClr val="546178"/>
                </a:solidFill>
                <a:latin typeface="Poppins"/>
              </a:rPr>
              <a:t>Team IT</a:t>
            </a:r>
            <a:endParaRPr sz="788" b="0" i="0" dirty="0">
              <a:solidFill>
                <a:srgbClr val="546178"/>
              </a:solidFill>
              <a:latin typeface="Poppins"/>
            </a:endParaRPr>
          </a:p>
        </p:txBody>
      </p:sp>
      <p:sp>
        <p:nvSpPr>
          <p:cNvPr id="44" name="New shape"/>
          <p:cNvSpPr/>
          <p:nvPr/>
        </p:nvSpPr>
        <p:spPr>
          <a:xfrm>
            <a:off x="4000500" y="22860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5"/>
              </a:ext>
            </a:extLst>
          </a:blip>
          <a:stretch>
            <a:fillRect/>
          </a:stretch>
        </p:blipFill>
        <p:spPr>
          <a:xfrm>
            <a:off x="4079081" y="2328862"/>
            <a:ext cx="71438" cy="85725"/>
          </a:xfrm>
          <a:prstGeom prst="rect">
            <a:avLst/>
          </a:prstGeom>
        </p:spPr>
      </p:pic>
      <p:sp>
        <p:nvSpPr>
          <p:cNvPr id="46" name="New shape"/>
          <p:cNvSpPr/>
          <p:nvPr/>
        </p:nvSpPr>
        <p:spPr>
          <a:xfrm>
            <a:off x="4243388" y="22860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47" name="New shape"/>
          <p:cNvSpPr/>
          <p:nvPr/>
        </p:nvSpPr>
        <p:spPr>
          <a:xfrm>
            <a:off x="6065504" y="228600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48" name="New shape"/>
          <p:cNvSpPr/>
          <p:nvPr/>
        </p:nvSpPr>
        <p:spPr>
          <a:xfrm>
            <a:off x="6315596" y="2286000"/>
            <a:ext cx="576409"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49" name="New shape"/>
          <p:cNvSpPr txBox="1"/>
          <p:nvPr/>
        </p:nvSpPr>
        <p:spPr>
          <a:xfrm>
            <a:off x="7149179"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0" name="New shape"/>
          <p:cNvSpPr txBox="1"/>
          <p:nvPr/>
        </p:nvSpPr>
        <p:spPr>
          <a:xfrm>
            <a:off x="7538943"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1" name="New shape"/>
          <p:cNvSpPr txBox="1"/>
          <p:nvPr/>
        </p:nvSpPr>
        <p:spPr>
          <a:xfrm>
            <a:off x="7928706"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2" name="New shape"/>
          <p:cNvSpPr txBox="1"/>
          <p:nvPr/>
        </p:nvSpPr>
        <p:spPr>
          <a:xfrm>
            <a:off x="8318470"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53" name="New shape"/>
          <p:cNvSpPr/>
          <p:nvPr/>
        </p:nvSpPr>
        <p:spPr>
          <a:xfrm>
            <a:off x="4000500" y="25146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6"/>
              </a:ext>
            </a:extLst>
          </a:blip>
          <a:stretch>
            <a:fillRect/>
          </a:stretch>
        </p:blipFill>
        <p:spPr>
          <a:xfrm>
            <a:off x="4079081" y="2562820"/>
            <a:ext cx="75009" cy="75009"/>
          </a:xfrm>
          <a:prstGeom prst="rect">
            <a:avLst/>
          </a:prstGeom>
        </p:spPr>
      </p:pic>
      <p:sp>
        <p:nvSpPr>
          <p:cNvPr id="55" name="New shape"/>
          <p:cNvSpPr/>
          <p:nvPr/>
        </p:nvSpPr>
        <p:spPr>
          <a:xfrm>
            <a:off x="4243388" y="25146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56" name="New shape"/>
          <p:cNvSpPr/>
          <p:nvPr/>
        </p:nvSpPr>
        <p:spPr>
          <a:xfrm>
            <a:off x="6144105" y="25146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7" name="New shape"/>
          <p:cNvSpPr/>
          <p:nvPr/>
        </p:nvSpPr>
        <p:spPr>
          <a:xfrm>
            <a:off x="6525199" y="25146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8" name="New shape"/>
          <p:cNvSpPr/>
          <p:nvPr/>
        </p:nvSpPr>
        <p:spPr>
          <a:xfrm>
            <a:off x="457200" y="28003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9" name="New shape"/>
          <p:cNvSpPr txBox="1"/>
          <p:nvPr/>
        </p:nvSpPr>
        <p:spPr>
          <a:xfrm>
            <a:off x="457200" y="29146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Ik </a:t>
            </a:r>
            <a:r>
              <a:rPr sz="788" b="0" i="0" dirty="0" err="1">
                <a:solidFill>
                  <a:srgbClr val="546178"/>
                </a:solidFill>
                <a:latin typeface="Poppins"/>
              </a:rPr>
              <a:t>heb</a:t>
            </a:r>
            <a:r>
              <a:rPr sz="788" b="0" i="0" dirty="0">
                <a:solidFill>
                  <a:srgbClr val="546178"/>
                </a:solidFill>
                <a:latin typeface="Poppins"/>
              </a:rPr>
              <a:t> het </a:t>
            </a:r>
            <a:r>
              <a:rPr sz="788" b="0" i="0" dirty="0" err="1">
                <a:solidFill>
                  <a:srgbClr val="546178"/>
                </a:solidFill>
                <a:latin typeface="Poppins"/>
              </a:rPr>
              <a:t>gevoel</a:t>
            </a:r>
            <a:r>
              <a:rPr sz="788" b="0" i="0" dirty="0">
                <a:solidFill>
                  <a:srgbClr val="546178"/>
                </a:solidFill>
                <a:latin typeface="Poppins"/>
              </a:rPr>
              <a:t> </a:t>
            </a:r>
            <a:r>
              <a:rPr sz="788" b="0" i="0" dirty="0" err="1">
                <a:solidFill>
                  <a:srgbClr val="546178"/>
                </a:solidFill>
                <a:latin typeface="Poppins"/>
              </a:rPr>
              <a:t>dat</a:t>
            </a:r>
            <a:r>
              <a:rPr sz="788" b="0" i="0" dirty="0">
                <a:solidFill>
                  <a:srgbClr val="546178"/>
                </a:solidFill>
                <a:latin typeface="Poppins"/>
              </a:rPr>
              <a:t> </a:t>
            </a:r>
            <a:r>
              <a:rPr sz="788" b="0" i="0" dirty="0" err="1">
                <a:solidFill>
                  <a:srgbClr val="546178"/>
                </a:solidFill>
                <a:latin typeface="Poppins"/>
              </a:rPr>
              <a:t>ik</a:t>
            </a:r>
            <a:r>
              <a:rPr sz="788" b="0" i="0" dirty="0">
                <a:solidFill>
                  <a:srgbClr val="546178"/>
                </a:solidFill>
                <a:latin typeface="Poppins"/>
              </a:rPr>
              <a:t> </a:t>
            </a:r>
            <a:r>
              <a:rPr sz="788" b="0" i="0" dirty="0" err="1">
                <a:solidFill>
                  <a:srgbClr val="546178"/>
                </a:solidFill>
                <a:latin typeface="Poppins"/>
              </a:rPr>
              <a:t>bij</a:t>
            </a:r>
            <a:r>
              <a:rPr sz="788" b="0" i="0" dirty="0">
                <a:solidFill>
                  <a:srgbClr val="546178"/>
                </a:solidFill>
                <a:latin typeface="Poppins"/>
              </a:rPr>
              <a:t> </a:t>
            </a:r>
            <a:r>
              <a:rPr lang="en-US" sz="788" b="0" i="0" dirty="0">
                <a:solidFill>
                  <a:srgbClr val="546178"/>
                </a:solidFill>
                <a:latin typeface="Poppins"/>
              </a:rPr>
              <a:t>Team IT</a:t>
            </a:r>
            <a:r>
              <a:rPr sz="788" b="0" i="0" dirty="0">
                <a:solidFill>
                  <a:srgbClr val="546178"/>
                </a:solidFill>
                <a:latin typeface="Poppins"/>
              </a:rPr>
              <a:t> pas</a:t>
            </a:r>
          </a:p>
        </p:txBody>
      </p:sp>
      <p:sp>
        <p:nvSpPr>
          <p:cNvPr id="60" name="New shape"/>
          <p:cNvSpPr/>
          <p:nvPr/>
        </p:nvSpPr>
        <p:spPr>
          <a:xfrm>
            <a:off x="4000500" y="29146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5"/>
              </a:ext>
            </a:extLst>
          </a:blip>
          <a:stretch>
            <a:fillRect/>
          </a:stretch>
        </p:blipFill>
        <p:spPr>
          <a:xfrm>
            <a:off x="4079081" y="2957512"/>
            <a:ext cx="71438" cy="85725"/>
          </a:xfrm>
          <a:prstGeom prst="rect">
            <a:avLst/>
          </a:prstGeom>
        </p:spPr>
      </p:pic>
      <p:sp>
        <p:nvSpPr>
          <p:cNvPr id="62" name="New shape"/>
          <p:cNvSpPr/>
          <p:nvPr/>
        </p:nvSpPr>
        <p:spPr>
          <a:xfrm>
            <a:off x="4243388" y="29146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63" name="New shape"/>
          <p:cNvSpPr/>
          <p:nvPr/>
        </p:nvSpPr>
        <p:spPr>
          <a:xfrm>
            <a:off x="6248907" y="29146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64" name="New shape"/>
          <p:cNvSpPr/>
          <p:nvPr/>
        </p:nvSpPr>
        <p:spPr>
          <a:xfrm>
            <a:off x="6498998" y="291465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65" name="New shape"/>
          <p:cNvSpPr txBox="1"/>
          <p:nvPr/>
        </p:nvSpPr>
        <p:spPr>
          <a:xfrm>
            <a:off x="7149179"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6" name="New shape"/>
          <p:cNvSpPr txBox="1"/>
          <p:nvPr/>
        </p:nvSpPr>
        <p:spPr>
          <a:xfrm>
            <a:off x="7538943"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67" name="New shape"/>
          <p:cNvSpPr txBox="1"/>
          <p:nvPr/>
        </p:nvSpPr>
        <p:spPr>
          <a:xfrm>
            <a:off x="7928706"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8" name="New shape"/>
          <p:cNvSpPr txBox="1"/>
          <p:nvPr/>
        </p:nvSpPr>
        <p:spPr>
          <a:xfrm>
            <a:off x="8318470"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69" name="New shape"/>
          <p:cNvSpPr/>
          <p:nvPr/>
        </p:nvSpPr>
        <p:spPr>
          <a:xfrm>
            <a:off x="4000500" y="31432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0" name="New picture"/>
          <p:cNvPicPr/>
          <p:nvPr/>
        </p:nvPicPr>
        <p:blipFill>
          <a:blip>
            <a:extLst>
              <a:ext uri="{96DAC541-7B7A-43D3-8B79-37D633B846F1}">
                <asvg:svgBlip xmlns:asvg="http://schemas.microsoft.com/office/drawing/2016/SVG/main" r:embed="rId6"/>
              </a:ext>
            </a:extLst>
          </a:blip>
          <a:stretch>
            <a:fillRect/>
          </a:stretch>
        </p:blipFill>
        <p:spPr>
          <a:xfrm>
            <a:off x="4079081" y="3191470"/>
            <a:ext cx="75009" cy="75009"/>
          </a:xfrm>
          <a:prstGeom prst="rect">
            <a:avLst/>
          </a:prstGeom>
        </p:spPr>
      </p:pic>
      <p:sp>
        <p:nvSpPr>
          <p:cNvPr id="71" name="New shape"/>
          <p:cNvSpPr/>
          <p:nvPr/>
        </p:nvSpPr>
        <p:spPr>
          <a:xfrm>
            <a:off x="4243388" y="3143250"/>
            <a:ext cx="18078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69%</a:t>
            </a:r>
          </a:p>
        </p:txBody>
      </p:sp>
      <p:sp>
        <p:nvSpPr>
          <p:cNvPr id="72" name="New shape"/>
          <p:cNvSpPr/>
          <p:nvPr/>
        </p:nvSpPr>
        <p:spPr>
          <a:xfrm>
            <a:off x="6065504" y="314325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73" name="New shape"/>
          <p:cNvSpPr/>
          <p:nvPr/>
        </p:nvSpPr>
        <p:spPr>
          <a:xfrm>
            <a:off x="6472797" y="31432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74" name="New shape"/>
          <p:cNvSpPr/>
          <p:nvPr/>
        </p:nvSpPr>
        <p:spPr>
          <a:xfrm>
            <a:off x="457200" y="34290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5"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78"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9"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0"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81"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3"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84"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5"/>
              </a:ext>
            </a:extLst>
          </a:blip>
          <a:stretch>
            <a:fillRect/>
          </a:stretch>
        </p:blipFill>
        <p:spPr>
          <a:xfrm>
            <a:off x="3286125" y="4883467"/>
            <a:ext cx="100012" cy="120015"/>
          </a:xfrm>
          <a:prstGeom prst="rect">
            <a:avLst/>
          </a:prstGeom>
        </p:spPr>
      </p:pic>
      <p:sp>
        <p:nvSpPr>
          <p:cNvPr id="86"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87" name="New picture"/>
          <p:cNvPicPr/>
          <p:nvPr/>
        </p:nvPicPr>
        <p:blipFill>
          <a:blip>
            <a:extLst>
              <a:ext uri="{96DAC541-7B7A-43D3-8B79-37D633B846F1}">
                <asvg:svgBlip xmlns:asvg="http://schemas.microsoft.com/office/drawing/2016/SVG/main" r:embed="rId6"/>
              </a:ext>
            </a:extLst>
          </a:blip>
          <a:stretch>
            <a:fillRect/>
          </a:stretch>
        </p:blipFill>
        <p:spPr>
          <a:xfrm>
            <a:off x="4350544" y="4890969"/>
            <a:ext cx="105013" cy="105013"/>
          </a:xfrm>
          <a:prstGeom prst="rect">
            <a:avLst/>
          </a:prstGeom>
        </p:spPr>
      </p:pic>
      <p:sp>
        <p:nvSpPr>
          <p:cNvPr id="88"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89"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90" name="New picture"/>
          <p:cNvPicPr/>
          <p:nvPr/>
        </p:nvPicPr>
        <p:blipFill>
          <a:blip>
            <a:extLst>
              <a:ext uri="{96DAC541-7B7A-43D3-8B79-37D633B846F1}">
                <asvg:svgBlip xmlns:asvg="http://schemas.microsoft.com/office/drawing/2016/SVG/main" r:embed="rId2"/>
              </a:ext>
            </a:extLst>
          </a:blip>
          <a:stretch>
            <a:fillRect/>
          </a:stretch>
        </p:blipFill>
        <p:spPr>
          <a:xfrm>
            <a:off x="5562838" y="4890969"/>
            <a:ext cx="105013" cy="105013"/>
          </a:xfrm>
          <a:prstGeom prst="rect">
            <a:avLst/>
          </a:prstGeom>
        </p:spPr>
      </p:pic>
      <p:sp>
        <p:nvSpPr>
          <p:cNvPr id="91"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92"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93" name="New picture"/>
          <p:cNvPicPr/>
          <p:nvPr/>
        </p:nvPicPr>
        <p:blipFill>
          <a:blip>
            <a:extLst>
              <a:ext uri="{96DAC541-7B7A-43D3-8B79-37D633B846F1}">
                <asvg:svgBlip xmlns:asvg="http://schemas.microsoft.com/office/drawing/2016/SVG/main" r:embed="rId3"/>
              </a:ext>
            </a:extLst>
          </a:blip>
          <a:stretch>
            <a:fillRect/>
          </a:stretch>
        </p:blipFill>
        <p:spPr>
          <a:xfrm>
            <a:off x="6775133" y="4890969"/>
            <a:ext cx="105013" cy="105013"/>
          </a:xfrm>
          <a:prstGeom prst="rect">
            <a:avLst/>
          </a:prstGeom>
        </p:spPr>
      </p:pic>
      <p:sp>
        <p:nvSpPr>
          <p:cNvPr id="94"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95"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7987427" y="4890969"/>
            <a:ext cx="105013" cy="105013"/>
          </a:xfrm>
          <a:prstGeom prst="rect">
            <a:avLst/>
          </a:prstGeom>
        </p:spPr>
      </p:pic>
      <p:sp>
        <p:nvSpPr>
          <p:cNvPr id="97"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98"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9" name="New picture"/>
          <p:cNvPicPr/>
          <p:nvPr/>
        </p:nvPicPr>
        <p:blipFill>
          <a:blip>
            <a:extLst>
              <a:ext uri="{96DAC541-7B7A-43D3-8B79-37D633B846F1}">
                <asvg:svgBlip xmlns:asvg="http://schemas.microsoft.com/office/drawing/2016/SVG/main" r:embed="rId4"/>
              </a:ext>
            </a:extLst>
          </a:blip>
          <a:stretch>
            <a:fillRect/>
          </a:stretch>
        </p:blipFill>
        <p:spPr>
          <a:xfrm>
            <a:off x="9199721" y="4890969"/>
            <a:ext cx="105013" cy="105013"/>
          </a:xfrm>
          <a:prstGeom prst="rect">
            <a:avLst/>
          </a:prstGeom>
        </p:spPr>
      </p:pic>
      <p:sp>
        <p:nvSpPr>
          <p:cNvPr id="100"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sp>
        <p:nvSpPr>
          <p:cNvPr id="10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3" name="New picture"/>
          <p:cNvPicPr/>
          <p:nvPr/>
        </p:nvPicPr>
        <p:blipFill>
          <a:blip>
            <a:extLst>
              <a:ext uri="{96DAC541-7B7A-43D3-8B79-37D633B846F1}">
                <asvg:svgBlip xmlns:asvg="http://schemas.microsoft.com/office/drawing/2016/SVG/main" r:embed="rId7"/>
              </a:ext>
            </a:extLst>
          </a:blip>
          <a:stretch>
            <a:fillRect/>
          </a:stretch>
        </p:blipFill>
        <p:spPr>
          <a:xfrm>
            <a:off x="8829675" y="147661"/>
            <a:ext cx="217884" cy="217884"/>
          </a:xfrm>
          <a:prstGeom prst="rect">
            <a:avLst/>
          </a:prstGeom>
        </p:spPr>
      </p:pic>
      <p:sp>
        <p:nvSpPr>
          <p:cNvPr id="10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6"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Prestatieomgeving</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Leiderschap bij verandering</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Binnen mijn team is het duidelijk hoe wij kunnen bijdragen aan het succes van de organisatie</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20397"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89</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31" name="New shape"/>
          <p:cNvSpPr/>
          <p:nvPr/>
        </p:nvSpPr>
        <p:spPr>
          <a:xfrm>
            <a:off x="6275107" y="14287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2" name="New shape"/>
          <p:cNvSpPr/>
          <p:nvPr/>
        </p:nvSpPr>
        <p:spPr>
          <a:xfrm>
            <a:off x="6551399" y="1428750"/>
            <a:ext cx="340605"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Mijn team ontwikkelt regelmatig goede ideeën voor verbetering</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9" name="New shape"/>
          <p:cNvSpPr/>
          <p:nvPr/>
        </p:nvSpPr>
        <p:spPr>
          <a:xfrm>
            <a:off x="6472798" y="182880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47" name="New shape"/>
          <p:cNvSpPr/>
          <p:nvPr/>
        </p:nvSpPr>
        <p:spPr>
          <a:xfrm>
            <a:off x="6275107" y="2057400"/>
            <a:ext cx="2096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8%</a:t>
            </a:r>
          </a:p>
        </p:txBody>
      </p:sp>
      <p:sp>
        <p:nvSpPr>
          <p:cNvPr id="48" name="New shape"/>
          <p:cNvSpPr/>
          <p:nvPr/>
        </p:nvSpPr>
        <p:spPr>
          <a:xfrm>
            <a:off x="6498998" y="205740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heb vertrouwen in mijn leidinggevende</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55" name="New shape"/>
          <p:cNvSpPr/>
          <p:nvPr/>
        </p:nvSpPr>
        <p:spPr>
          <a:xfrm>
            <a:off x="6394197"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64" name="New shape"/>
          <p:cNvSpPr/>
          <p:nvPr/>
        </p:nvSpPr>
        <p:spPr>
          <a:xfrm>
            <a:off x="6472798" y="26860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Mijn leidinggevende leidt veranderingen op een goede manier</a:t>
            </a: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70" name="New shape"/>
          <p:cNvSpPr/>
          <p:nvPr/>
        </p:nvSpPr>
        <p:spPr>
          <a:xfrm>
            <a:off x="6091704" y="30861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71" name="New shape"/>
          <p:cNvSpPr/>
          <p:nvPr/>
        </p:nvSpPr>
        <p:spPr>
          <a:xfrm>
            <a:off x="6420396" y="30861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79" name="New shape"/>
          <p:cNvSpPr/>
          <p:nvPr/>
        </p:nvSpPr>
        <p:spPr>
          <a:xfrm>
            <a:off x="6091704" y="331470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De </a:t>
            </a:r>
            <a:r>
              <a:rPr sz="788" b="0" i="0" dirty="0" err="1">
                <a:solidFill>
                  <a:srgbClr val="546178"/>
                </a:solidFill>
                <a:latin typeface="Poppins"/>
              </a:rPr>
              <a:t>cultuur</a:t>
            </a:r>
            <a:r>
              <a:rPr sz="788" b="0" i="0" dirty="0">
                <a:solidFill>
                  <a:srgbClr val="546178"/>
                </a:solidFill>
                <a:latin typeface="Poppins"/>
              </a:rPr>
              <a:t> van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spreekt</a:t>
            </a:r>
            <a:r>
              <a:rPr sz="788" b="0" i="0" dirty="0">
                <a:solidFill>
                  <a:srgbClr val="546178"/>
                </a:solidFill>
                <a:latin typeface="Poppins"/>
              </a:rPr>
              <a:t> </a:t>
            </a:r>
            <a:r>
              <a:rPr sz="788" b="0" i="0" dirty="0" err="1">
                <a:solidFill>
                  <a:srgbClr val="546178"/>
                </a:solidFill>
                <a:latin typeface="Poppins"/>
              </a:rPr>
              <a:t>mij</a:t>
            </a:r>
            <a:r>
              <a:rPr sz="788" b="0" i="0" dirty="0">
                <a:solidFill>
                  <a:srgbClr val="546178"/>
                </a:solidFill>
                <a:latin typeface="Poppins"/>
              </a:rPr>
              <a:t> </a:t>
            </a:r>
            <a:r>
              <a:rPr sz="788" b="0" i="0" dirty="0" err="1">
                <a:solidFill>
                  <a:srgbClr val="546178"/>
                </a:solidFill>
                <a:latin typeface="Poppins"/>
              </a:rPr>
              <a:t>aan</a:t>
            </a:r>
            <a:endParaRPr sz="788" b="0" i="0" dirty="0">
              <a:solidFill>
                <a:srgbClr val="546178"/>
              </a:solidFill>
              <a:latin typeface="Poppins"/>
            </a:endParaRP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86" name="New shape"/>
          <p:cNvSpPr/>
          <p:nvPr/>
        </p:nvSpPr>
        <p:spPr>
          <a:xfrm>
            <a:off x="6117904" y="37147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87" name="New shape"/>
          <p:cNvSpPr/>
          <p:nvPr/>
        </p:nvSpPr>
        <p:spPr>
          <a:xfrm>
            <a:off x="6472797" y="37147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88</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95" name="New shape"/>
          <p:cNvSpPr/>
          <p:nvPr/>
        </p:nvSpPr>
        <p:spPr>
          <a:xfrm>
            <a:off x="61179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420397" y="39433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Prestatieomgeving</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Richting geven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Ik </a:t>
            </a:r>
            <a:r>
              <a:rPr sz="788" b="0" i="0" dirty="0" err="1">
                <a:solidFill>
                  <a:srgbClr val="546178"/>
                </a:solidFill>
                <a:latin typeface="Poppins"/>
              </a:rPr>
              <a:t>sta</a:t>
            </a:r>
            <a:r>
              <a:rPr sz="788" b="0" i="0" dirty="0">
                <a:solidFill>
                  <a:srgbClr val="546178"/>
                </a:solidFill>
                <a:latin typeface="Poppins"/>
              </a:rPr>
              <a:t> achter de </a:t>
            </a:r>
            <a:r>
              <a:rPr sz="788" b="0" i="0" dirty="0" err="1">
                <a:solidFill>
                  <a:srgbClr val="546178"/>
                </a:solidFill>
                <a:latin typeface="Poppins"/>
              </a:rPr>
              <a:t>doelen</a:t>
            </a:r>
            <a:r>
              <a:rPr sz="788" b="0" i="0" dirty="0">
                <a:solidFill>
                  <a:srgbClr val="546178"/>
                </a:solidFill>
                <a:latin typeface="Poppins"/>
              </a:rPr>
              <a:t> </a:t>
            </a:r>
            <a:r>
              <a:rPr sz="788" b="0" i="0" dirty="0" err="1">
                <a:solidFill>
                  <a:srgbClr val="546178"/>
                </a:solidFill>
                <a:latin typeface="Poppins"/>
              </a:rPr>
              <a:t>en</a:t>
            </a:r>
            <a:r>
              <a:rPr sz="788" b="0" i="0" dirty="0">
                <a:solidFill>
                  <a:srgbClr val="546178"/>
                </a:solidFill>
                <a:latin typeface="Poppins"/>
              </a:rPr>
              <a:t> </a:t>
            </a:r>
            <a:r>
              <a:rPr sz="788" b="0" i="0" dirty="0" err="1">
                <a:solidFill>
                  <a:srgbClr val="546178"/>
                </a:solidFill>
                <a:latin typeface="Poppins"/>
              </a:rPr>
              <a:t>strategie</a:t>
            </a:r>
            <a:r>
              <a:rPr sz="788" b="0" i="0" dirty="0">
                <a:solidFill>
                  <a:srgbClr val="546178"/>
                </a:solidFill>
                <a:latin typeface="Poppins"/>
              </a:rPr>
              <a:t> van </a:t>
            </a:r>
            <a:r>
              <a:rPr lang="en-US" sz="788" b="0" i="0" dirty="0">
                <a:solidFill>
                  <a:srgbClr val="546178"/>
                </a:solidFill>
                <a:latin typeface="Poppins"/>
              </a:rPr>
              <a:t>Team IT</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23" name="New shape"/>
          <p:cNvSpPr/>
          <p:nvPr/>
        </p:nvSpPr>
        <p:spPr>
          <a:xfrm>
            <a:off x="6525199" y="120015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93</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De </a:t>
            </a:r>
            <a:r>
              <a:rPr sz="788" b="0" i="0" dirty="0" err="1">
                <a:solidFill>
                  <a:srgbClr val="546178"/>
                </a:solidFill>
                <a:latin typeface="Poppins"/>
              </a:rPr>
              <a:t>toekomstvisie</a:t>
            </a:r>
            <a:r>
              <a:rPr sz="788" b="0" i="0" dirty="0">
                <a:solidFill>
                  <a:srgbClr val="546178"/>
                </a:solidFill>
                <a:latin typeface="Poppins"/>
              </a:rPr>
              <a:t> van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inspireert</a:t>
            </a:r>
            <a:r>
              <a:rPr sz="788" b="0" i="0" dirty="0">
                <a:solidFill>
                  <a:srgbClr val="546178"/>
                </a:solidFill>
                <a:latin typeface="Poppins"/>
              </a:rPr>
              <a:t> me</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39" name="New shape"/>
          <p:cNvSpPr/>
          <p:nvPr/>
        </p:nvSpPr>
        <p:spPr>
          <a:xfrm>
            <a:off x="6498998" y="182880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55</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4454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8" name="New shape"/>
          <p:cNvSpPr/>
          <p:nvPr/>
        </p:nvSpPr>
        <p:spPr>
          <a:xfrm>
            <a:off x="6472797" y="20574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Binnen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worden</a:t>
            </a:r>
            <a:r>
              <a:rPr sz="788" b="0" i="0" dirty="0">
                <a:solidFill>
                  <a:srgbClr val="546178"/>
                </a:solidFill>
                <a:latin typeface="Poppins"/>
              </a:rPr>
              <a:t> </a:t>
            </a:r>
            <a:r>
              <a:rPr sz="788" b="0" i="0" dirty="0" err="1">
                <a:solidFill>
                  <a:srgbClr val="546178"/>
                </a:solidFill>
                <a:latin typeface="Poppins"/>
              </a:rPr>
              <a:t>medewerkers</a:t>
            </a:r>
            <a:r>
              <a:rPr sz="788" b="0" i="0" dirty="0">
                <a:solidFill>
                  <a:srgbClr val="546178"/>
                </a:solidFill>
                <a:latin typeface="Poppins"/>
              </a:rPr>
              <a:t> op </a:t>
            </a:r>
            <a:r>
              <a:rPr sz="788" b="0" i="0" dirty="0" err="1">
                <a:solidFill>
                  <a:srgbClr val="546178"/>
                </a:solidFill>
                <a:latin typeface="Poppins"/>
              </a:rPr>
              <a:t>een</a:t>
            </a:r>
            <a:r>
              <a:rPr sz="788" b="0" i="0" dirty="0">
                <a:solidFill>
                  <a:srgbClr val="546178"/>
                </a:solidFill>
                <a:latin typeface="Poppins"/>
              </a:rPr>
              <a:t> </a:t>
            </a:r>
            <a:r>
              <a:rPr sz="788" b="0" i="0" dirty="0" err="1">
                <a:solidFill>
                  <a:srgbClr val="546178"/>
                </a:solidFill>
                <a:latin typeface="Poppins"/>
              </a:rPr>
              <a:t>eerlijke</a:t>
            </a:r>
            <a:r>
              <a:rPr sz="788" b="0" i="0" dirty="0">
                <a:solidFill>
                  <a:srgbClr val="546178"/>
                </a:solidFill>
                <a:latin typeface="Poppins"/>
              </a:rPr>
              <a:t> </a:t>
            </a:r>
            <a:r>
              <a:rPr sz="788" b="0" i="0" dirty="0" err="1">
                <a:solidFill>
                  <a:srgbClr val="546178"/>
                </a:solidFill>
                <a:latin typeface="Poppins"/>
              </a:rPr>
              <a:t>manier</a:t>
            </a:r>
            <a:r>
              <a:rPr sz="788" b="0" i="0" dirty="0">
                <a:solidFill>
                  <a:srgbClr val="546178"/>
                </a:solidFill>
                <a:latin typeface="Poppins"/>
              </a:rPr>
              <a:t> </a:t>
            </a:r>
            <a:r>
              <a:rPr sz="788" b="0" i="0" dirty="0" err="1">
                <a:solidFill>
                  <a:srgbClr val="546178"/>
                </a:solidFill>
                <a:latin typeface="Poppins"/>
              </a:rPr>
              <a:t>behandeld</a:t>
            </a:r>
            <a:endParaRPr sz="788" b="0" i="0" dirty="0">
              <a:solidFill>
                <a:srgbClr val="546178"/>
              </a:solidFill>
              <a:latin typeface="Poppins"/>
            </a:endParaRP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7554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67%</a:t>
            </a:r>
          </a:p>
        </p:txBody>
      </p:sp>
      <p:sp>
        <p:nvSpPr>
          <p:cNvPr id="54" name="New shape"/>
          <p:cNvSpPr/>
          <p:nvPr/>
        </p:nvSpPr>
        <p:spPr>
          <a:xfrm>
            <a:off x="6013103"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394196"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63" name="New shape"/>
          <p:cNvSpPr/>
          <p:nvPr/>
        </p:nvSpPr>
        <p:spPr>
          <a:xfrm>
            <a:off x="6117904" y="26860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64" name="New shape"/>
          <p:cNvSpPr/>
          <p:nvPr/>
        </p:nvSpPr>
        <p:spPr>
          <a:xfrm>
            <a:off x="6446597" y="26860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7"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8"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69"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72"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3"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4"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75"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76"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77"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78"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79"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80"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81"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82"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83"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84"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85"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86"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87"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88"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89"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91"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Prestatieomgeving</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Medewerkers faciliteren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Mijn werkzaamheden sluiten aan bij wat ik goed kan</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22" name="New shape"/>
          <p:cNvSpPr/>
          <p:nvPr/>
        </p:nvSpPr>
        <p:spPr>
          <a:xfrm>
            <a:off x="6196506"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72798" y="12001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95</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31" name="New shape"/>
          <p:cNvSpPr/>
          <p:nvPr/>
        </p:nvSpPr>
        <p:spPr>
          <a:xfrm>
            <a:off x="6144105"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weet welke resultaten er van mij worden verwacht</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7292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38" name="New shape"/>
          <p:cNvSpPr/>
          <p:nvPr/>
        </p:nvSpPr>
        <p:spPr>
          <a:xfrm>
            <a:off x="5986902" y="1828800"/>
            <a:ext cx="3930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39" name="New shape"/>
          <p:cNvSpPr/>
          <p:nvPr/>
        </p:nvSpPr>
        <p:spPr>
          <a:xfrm>
            <a:off x="6394196" y="18288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48" name="New shape"/>
          <p:cNvSpPr/>
          <p:nvPr/>
        </p:nvSpPr>
        <p:spPr>
          <a:xfrm>
            <a:off x="6394196" y="20574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krijg regelmatig nuttige feedback over mijn functioneren</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55" name="New shape"/>
          <p:cNvSpPr/>
          <p:nvPr/>
        </p:nvSpPr>
        <p:spPr>
          <a:xfrm>
            <a:off x="6446597" y="24574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77</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63" name="New shape"/>
          <p:cNvSpPr/>
          <p:nvPr/>
        </p:nvSpPr>
        <p:spPr>
          <a:xfrm>
            <a:off x="6091704" y="26860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4" name="New shape"/>
          <p:cNvSpPr/>
          <p:nvPr/>
        </p:nvSpPr>
        <p:spPr>
          <a:xfrm>
            <a:off x="6525199" y="268605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Binnen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worden</a:t>
            </a:r>
            <a:r>
              <a:rPr sz="788" b="0" i="0" dirty="0">
                <a:solidFill>
                  <a:srgbClr val="546178"/>
                </a:solidFill>
                <a:latin typeface="Poppins"/>
              </a:rPr>
              <a:t> </a:t>
            </a:r>
            <a:r>
              <a:rPr sz="788" b="0" i="0" dirty="0" err="1">
                <a:solidFill>
                  <a:srgbClr val="546178"/>
                </a:solidFill>
                <a:latin typeface="Poppins"/>
              </a:rPr>
              <a:t>prestaties</a:t>
            </a:r>
            <a:r>
              <a:rPr sz="788" b="0" i="0" dirty="0">
                <a:solidFill>
                  <a:srgbClr val="546178"/>
                </a:solidFill>
                <a:latin typeface="Poppins"/>
              </a:rPr>
              <a:t> </a:t>
            </a:r>
            <a:r>
              <a:rPr sz="788" b="0" i="0" dirty="0" err="1">
                <a:solidFill>
                  <a:srgbClr val="546178"/>
                </a:solidFill>
                <a:latin typeface="Poppins"/>
              </a:rPr>
              <a:t>beloond</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70" name="New shape"/>
          <p:cNvSpPr/>
          <p:nvPr/>
        </p:nvSpPr>
        <p:spPr>
          <a:xfrm>
            <a:off x="6117904" y="30861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71" name="New shape"/>
          <p:cNvSpPr/>
          <p:nvPr/>
        </p:nvSpPr>
        <p:spPr>
          <a:xfrm>
            <a:off x="6394197" y="30861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40</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74</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79" name="New shape"/>
          <p:cNvSpPr/>
          <p:nvPr/>
        </p:nvSpPr>
        <p:spPr>
          <a:xfrm>
            <a:off x="6144105" y="3314700"/>
            <a:ext cx="2358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Wanneer ik het goed doe, word ik hiervoor gewaardeerd</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86" name="New shape"/>
          <p:cNvSpPr/>
          <p:nvPr/>
        </p:nvSpPr>
        <p:spPr>
          <a:xfrm>
            <a:off x="6091704" y="37147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87" name="New shape"/>
          <p:cNvSpPr/>
          <p:nvPr/>
        </p:nvSpPr>
        <p:spPr>
          <a:xfrm>
            <a:off x="6367997" y="3714750"/>
            <a:ext cx="5240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95" name="New shape"/>
          <p:cNvSpPr/>
          <p:nvPr/>
        </p:nvSpPr>
        <p:spPr>
          <a:xfrm>
            <a:off x="6144105" y="39433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96" name="New shape"/>
          <p:cNvSpPr/>
          <p:nvPr/>
        </p:nvSpPr>
        <p:spPr>
          <a:xfrm>
            <a:off x="6498998" y="394335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Prestatieomgeving</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Systemen beheren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beschik over voldoende middelen (apparatuur en materiaal) om mijn werk goed te kunnen doen</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2" name="New shape"/>
          <p:cNvSpPr/>
          <p:nvPr/>
        </p:nvSpPr>
        <p:spPr>
          <a:xfrm>
            <a:off x="6065504" y="12001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3" name="New shape"/>
          <p:cNvSpPr/>
          <p:nvPr/>
        </p:nvSpPr>
        <p:spPr>
          <a:xfrm>
            <a:off x="6420396"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73</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96</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46597" y="14287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De informatie die ik nodig heb kan ik goed vinden</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38" name="New shape"/>
          <p:cNvSpPr/>
          <p:nvPr/>
        </p:nvSpPr>
        <p:spPr>
          <a:xfrm>
            <a:off x="6065504" y="182880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9" name="New shape"/>
          <p:cNvSpPr/>
          <p:nvPr/>
        </p:nvSpPr>
        <p:spPr>
          <a:xfrm>
            <a:off x="6420396" y="18288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47" name="New shape"/>
          <p:cNvSpPr/>
          <p:nvPr/>
        </p:nvSpPr>
        <p:spPr>
          <a:xfrm>
            <a:off x="6091704" y="20574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48" name="New shape"/>
          <p:cNvSpPr/>
          <p:nvPr/>
        </p:nvSpPr>
        <p:spPr>
          <a:xfrm>
            <a:off x="6446597" y="205740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ervaar een goede samenwerking binnen mijn team</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54" name="New shape"/>
          <p:cNvSpPr/>
          <p:nvPr/>
        </p:nvSpPr>
        <p:spPr>
          <a:xfrm>
            <a:off x="6196506"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577599" y="2457450"/>
            <a:ext cx="314405"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12%</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92</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1834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64" name="New shape"/>
          <p:cNvSpPr/>
          <p:nvPr/>
        </p:nvSpPr>
        <p:spPr>
          <a:xfrm>
            <a:off x="6394197" y="26860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Binnen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zijn</a:t>
            </a:r>
            <a:r>
              <a:rPr sz="788" b="0" i="0" dirty="0">
                <a:solidFill>
                  <a:srgbClr val="546178"/>
                </a:solidFill>
                <a:latin typeface="Poppins"/>
              </a:rPr>
              <a:t> de </a:t>
            </a:r>
            <a:r>
              <a:rPr sz="788" b="0" i="0" dirty="0" err="1">
                <a:solidFill>
                  <a:srgbClr val="546178"/>
                </a:solidFill>
                <a:latin typeface="Poppins"/>
              </a:rPr>
              <a:t>werkprocessen</a:t>
            </a:r>
            <a:r>
              <a:rPr sz="788" b="0" i="0" dirty="0">
                <a:solidFill>
                  <a:srgbClr val="546178"/>
                </a:solidFill>
                <a:latin typeface="Poppins"/>
              </a:rPr>
              <a:t> </a:t>
            </a:r>
            <a:r>
              <a:rPr sz="788" b="0" i="0" dirty="0" err="1">
                <a:solidFill>
                  <a:srgbClr val="546178"/>
                </a:solidFill>
                <a:latin typeface="Poppins"/>
              </a:rPr>
              <a:t>goed</a:t>
            </a:r>
            <a:r>
              <a:rPr sz="788" b="0" i="0" dirty="0">
                <a:solidFill>
                  <a:srgbClr val="546178"/>
                </a:solidFill>
                <a:latin typeface="Poppins"/>
              </a:rPr>
              <a:t> </a:t>
            </a:r>
            <a:r>
              <a:rPr sz="788" b="0" i="0" dirty="0" err="1">
                <a:solidFill>
                  <a:srgbClr val="546178"/>
                </a:solidFill>
                <a:latin typeface="Poppins"/>
              </a:rPr>
              <a:t>georganiseerd</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70" name="New shape"/>
          <p:cNvSpPr/>
          <p:nvPr/>
        </p:nvSpPr>
        <p:spPr>
          <a:xfrm>
            <a:off x="6144105" y="308610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71" name="New shape"/>
          <p:cNvSpPr/>
          <p:nvPr/>
        </p:nvSpPr>
        <p:spPr>
          <a:xfrm>
            <a:off x="6525199" y="308610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44</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82</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79" name="New shape"/>
          <p:cNvSpPr/>
          <p:nvPr/>
        </p:nvSpPr>
        <p:spPr>
          <a:xfrm>
            <a:off x="6117904" y="331470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80" name="New shape"/>
          <p:cNvSpPr/>
          <p:nvPr/>
        </p:nvSpPr>
        <p:spPr>
          <a:xfrm>
            <a:off x="6525199" y="33147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Binnen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heb</a:t>
            </a:r>
            <a:r>
              <a:rPr sz="788" b="0" i="0" dirty="0">
                <a:solidFill>
                  <a:srgbClr val="546178"/>
                </a:solidFill>
                <a:latin typeface="Poppins"/>
              </a:rPr>
              <a:t> </a:t>
            </a:r>
            <a:r>
              <a:rPr sz="788" b="0" i="0" dirty="0" err="1">
                <a:solidFill>
                  <a:srgbClr val="546178"/>
                </a:solidFill>
                <a:latin typeface="Poppins"/>
              </a:rPr>
              <a:t>ik</a:t>
            </a:r>
            <a:r>
              <a:rPr sz="788" b="0" i="0" dirty="0">
                <a:solidFill>
                  <a:srgbClr val="546178"/>
                </a:solidFill>
                <a:latin typeface="Poppins"/>
              </a:rPr>
              <a:t> diverse </a:t>
            </a:r>
            <a:r>
              <a:rPr sz="788" b="0" i="0" dirty="0" err="1">
                <a:solidFill>
                  <a:srgbClr val="546178"/>
                </a:solidFill>
                <a:latin typeface="Poppins"/>
              </a:rPr>
              <a:t>mogelijkheden</a:t>
            </a:r>
            <a:r>
              <a:rPr sz="788" b="0" i="0" dirty="0">
                <a:solidFill>
                  <a:srgbClr val="546178"/>
                </a:solidFill>
                <a:latin typeface="Poppins"/>
              </a:rPr>
              <a:t> om </a:t>
            </a:r>
            <a:r>
              <a:rPr sz="788" b="0" i="0" dirty="0" err="1">
                <a:solidFill>
                  <a:srgbClr val="546178"/>
                </a:solidFill>
                <a:latin typeface="Poppins"/>
              </a:rPr>
              <a:t>mijzelf</a:t>
            </a:r>
            <a:r>
              <a:rPr sz="788" b="0" i="0" dirty="0">
                <a:solidFill>
                  <a:srgbClr val="546178"/>
                </a:solidFill>
                <a:latin typeface="Poppins"/>
              </a:rPr>
              <a:t> </a:t>
            </a:r>
            <a:r>
              <a:rPr sz="788" b="0" i="0" dirty="0" err="1">
                <a:solidFill>
                  <a:srgbClr val="546178"/>
                </a:solidFill>
                <a:latin typeface="Poppins"/>
              </a:rPr>
              <a:t>te</a:t>
            </a:r>
            <a:r>
              <a:rPr sz="788" b="0" i="0" dirty="0">
                <a:solidFill>
                  <a:srgbClr val="546178"/>
                </a:solidFill>
                <a:latin typeface="Poppins"/>
              </a:rPr>
              <a:t> </a:t>
            </a:r>
            <a:r>
              <a:rPr sz="788" b="0" i="0" dirty="0" err="1">
                <a:solidFill>
                  <a:srgbClr val="546178"/>
                </a:solidFill>
                <a:latin typeface="Poppins"/>
              </a:rPr>
              <a:t>ontwikkelen</a:t>
            </a:r>
            <a:endParaRPr sz="788" b="0" i="0" dirty="0">
              <a:solidFill>
                <a:srgbClr val="546178"/>
              </a:solidFill>
              <a:latin typeface="Poppins"/>
            </a:endParaRP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86" name="New shape"/>
          <p:cNvSpPr/>
          <p:nvPr/>
        </p:nvSpPr>
        <p:spPr>
          <a:xfrm>
            <a:off x="6248907" y="3714750"/>
            <a:ext cx="183403"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87" name="New shape"/>
          <p:cNvSpPr/>
          <p:nvPr/>
        </p:nvSpPr>
        <p:spPr>
          <a:xfrm>
            <a:off x="6446597" y="37147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95" name="New shape"/>
          <p:cNvSpPr/>
          <p:nvPr/>
        </p:nvSpPr>
        <p:spPr>
          <a:xfrm>
            <a:off x="60917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394197" y="39433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714375"/>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Thema's</a:t>
            </a:r>
          </a:p>
        </p:txBody>
      </p:sp>
      <p:sp>
        <p:nvSpPr>
          <p:cNvPr id="5" name="New shape"/>
          <p:cNvSpPr txBox="1"/>
          <p:nvPr/>
        </p:nvSpPr>
        <p:spPr>
          <a:xfrm>
            <a:off x="457200" y="1230154"/>
            <a:ext cx="6286500" cy="6172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Binnen thema's worden verschillende gerelateerde vragen gecombineerd tot één score. Ze meten verschillende aspecten die belangrijk zijn voor het succes van de organisatie.</a:t>
            </a:r>
          </a:p>
        </p:txBody>
      </p:sp>
      <p:sp>
        <p:nvSpPr>
          <p:cNvPr id="6" name="New shape"/>
          <p:cNvSpPr txBox="1"/>
          <p:nvPr/>
        </p:nvSpPr>
        <p:spPr>
          <a:xfrm>
            <a:off x="457200" y="21331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7" name="New shape"/>
          <p:cNvSpPr txBox="1"/>
          <p:nvPr/>
        </p:nvSpPr>
        <p:spPr>
          <a:xfrm>
            <a:off x="792956" y="21331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Werkgeverschap</a:t>
            </a:r>
          </a:p>
        </p:txBody>
      </p:sp>
      <p:sp>
        <p:nvSpPr>
          <p:cNvPr id="8" name="New shape"/>
          <p:cNvSpPr txBox="1"/>
          <p:nvPr/>
        </p:nvSpPr>
        <p:spPr>
          <a:xfrm>
            <a:off x="457200" y="251031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9" name="New shape"/>
          <p:cNvSpPr txBox="1"/>
          <p:nvPr/>
        </p:nvSpPr>
        <p:spPr>
          <a:xfrm>
            <a:off x="792956" y="251031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Bevlogenheid</a:t>
            </a:r>
          </a:p>
        </p:txBody>
      </p:sp>
      <p:sp>
        <p:nvSpPr>
          <p:cNvPr id="10" name="New shape"/>
          <p:cNvSpPr txBox="1"/>
          <p:nvPr/>
        </p:nvSpPr>
        <p:spPr>
          <a:xfrm>
            <a:off x="457200" y="288750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11" name="New shape"/>
          <p:cNvSpPr txBox="1"/>
          <p:nvPr/>
        </p:nvSpPr>
        <p:spPr>
          <a:xfrm>
            <a:off x="792956" y="2887504"/>
            <a:ext cx="2143125"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Leiderschap bij verandering</a:t>
            </a:r>
          </a:p>
        </p:txBody>
      </p:sp>
      <p:sp>
        <p:nvSpPr>
          <p:cNvPr id="12" name="New shape"/>
          <p:cNvSpPr txBox="1"/>
          <p:nvPr/>
        </p:nvSpPr>
        <p:spPr>
          <a:xfrm>
            <a:off x="457200" y="347043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3" name="New shape"/>
          <p:cNvSpPr txBox="1"/>
          <p:nvPr/>
        </p:nvSpPr>
        <p:spPr>
          <a:xfrm>
            <a:off x="792956" y="347043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Medewerkers faciliteren</a:t>
            </a:r>
          </a:p>
        </p:txBody>
      </p:sp>
      <p:sp>
        <p:nvSpPr>
          <p:cNvPr id="14" name="New shape"/>
          <p:cNvSpPr txBox="1"/>
          <p:nvPr/>
        </p:nvSpPr>
        <p:spPr>
          <a:xfrm>
            <a:off x="457200" y="38476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5" name="New shape"/>
          <p:cNvSpPr txBox="1"/>
          <p:nvPr/>
        </p:nvSpPr>
        <p:spPr>
          <a:xfrm>
            <a:off x="792956" y="38476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Systemen beheren</a:t>
            </a:r>
          </a:p>
        </p:txBody>
      </p:sp>
      <p:sp>
        <p:nvSpPr>
          <p:cNvPr id="16" name="New shape"/>
          <p:cNvSpPr txBox="1"/>
          <p:nvPr/>
        </p:nvSpPr>
        <p:spPr>
          <a:xfrm>
            <a:off x="457200" y="422481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7" name="New shape"/>
          <p:cNvSpPr txBox="1"/>
          <p:nvPr/>
        </p:nvSpPr>
        <p:spPr>
          <a:xfrm>
            <a:off x="792956" y="422481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Prestatieomgeving</a:t>
            </a:r>
          </a:p>
        </p:txBody>
      </p:sp>
      <p:sp>
        <p:nvSpPr>
          <p:cNvPr id="18" name="New shape"/>
          <p:cNvSpPr txBox="1"/>
          <p:nvPr/>
        </p:nvSpPr>
        <p:spPr>
          <a:xfrm>
            <a:off x="3086100" y="21331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9" name="New shape"/>
          <p:cNvSpPr txBox="1"/>
          <p:nvPr/>
        </p:nvSpPr>
        <p:spPr>
          <a:xfrm>
            <a:off x="3421856" y="21331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Richting geven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Werkgeverschap</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Bevlogenheid</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Leiderschap bij verandering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Medewerkers faciliteren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Systemen beheren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Prestatieomgeving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Richting geven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3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23</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Werkgeverschap</a:t>
            </a:r>
          </a:p>
        </p:txBody>
      </p:sp>
      <p:sp>
        <p:nvSpPr>
          <p:cNvPr id="4"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Organisaties die werk maken van werkgeverschap bieden hun medewerkers een werkomgeving waarin zij zich thuis en geaccepteerd voelen. Zo'n werkomgeving leidt ertoe dat je medewerkers zich meer verbonden voelen met hun collega's en je organisatie. </a:t>
            </a:r>
          </a:p>
        </p:txBody>
      </p:sp>
      <p:sp>
        <p:nvSpPr>
          <p:cNvPr id="5"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7"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8"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9"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66%</a:t>
            </a:r>
          </a:p>
        </p:txBody>
      </p:sp>
      <p:sp>
        <p:nvSpPr>
          <p:cNvPr id="10"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1"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2"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88%</a:t>
            </a:r>
          </a:p>
        </p:txBody>
      </p:sp>
      <p:sp>
        <p:nvSpPr>
          <p:cNvPr id="13"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16"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Ik ben </a:t>
                      </a:r>
                      <a:r>
                        <a:rPr sz="788" b="0" i="0" dirty="0" err="1">
                          <a:solidFill>
                            <a:srgbClr val="192743"/>
                          </a:solidFill>
                          <a:latin typeface="Poppins"/>
                        </a:rPr>
                        <a:t>tevreden</a:t>
                      </a:r>
                      <a:r>
                        <a:rPr sz="788" b="0" i="0" dirty="0">
                          <a:solidFill>
                            <a:srgbClr val="192743"/>
                          </a:solidFill>
                          <a:latin typeface="Poppins"/>
                        </a:rPr>
                        <a:t> over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word </a:t>
                      </a:r>
                      <a:r>
                        <a:rPr sz="788" b="0" i="0" dirty="0" err="1">
                          <a:solidFill>
                            <a:srgbClr val="192743"/>
                          </a:solidFill>
                          <a:latin typeface="Poppins"/>
                        </a:rPr>
                        <a:t>gewaardeerd</a:t>
                      </a:r>
                      <a:r>
                        <a:rPr sz="788" b="0" i="0" dirty="0">
                          <a:solidFill>
                            <a:srgbClr val="192743"/>
                          </a:solidFill>
                          <a:latin typeface="Poppins"/>
                        </a:rPr>
                        <a:t> door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gebruikt</a:t>
                      </a:r>
                      <a:r>
                        <a:rPr sz="788" b="0" i="0" dirty="0">
                          <a:solidFill>
                            <a:srgbClr val="192743"/>
                          </a:solidFill>
                          <a:latin typeface="Poppins"/>
                        </a:rPr>
                        <a:t> de </a:t>
                      </a:r>
                      <a:r>
                        <a:rPr sz="788" b="0" i="0" dirty="0" err="1">
                          <a:solidFill>
                            <a:srgbClr val="192743"/>
                          </a:solidFill>
                          <a:latin typeface="Poppins"/>
                        </a:rPr>
                        <a:t>ideeën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suggesties</a:t>
                      </a:r>
                      <a:r>
                        <a:rPr sz="788" b="0" i="0" dirty="0">
                          <a:solidFill>
                            <a:srgbClr val="192743"/>
                          </a:solidFill>
                          <a:latin typeface="Poppins"/>
                        </a:rPr>
                        <a:t> van </a:t>
                      </a:r>
                      <a:r>
                        <a:rPr sz="788" b="0" i="0" dirty="0" err="1">
                          <a:solidFill>
                            <a:srgbClr val="192743"/>
                          </a:solidFill>
                          <a:latin typeface="Poppins"/>
                        </a:rPr>
                        <a:t>medewerkers</a:t>
                      </a:r>
                      <a:r>
                        <a:rPr sz="788" b="0" i="0" dirty="0">
                          <a:solidFill>
                            <a:srgbClr val="192743"/>
                          </a:solidFill>
                          <a:latin typeface="Poppins"/>
                        </a:rPr>
                        <a:t> om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verbeteren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7" name="Group 16"/>
          <p:cNvGrpSpPr/>
          <p:nvPr/>
        </p:nvGrpSpPr>
        <p:grpSpPr>
          <a:xfrm rot="18900000">
            <a:off x="5134921" y="851958"/>
            <a:ext cx="1471613" cy="240649"/>
            <a:chOff x="4722812" y="793750"/>
            <a:chExt cx="1471613" cy="240649"/>
          </a:xfrm>
        </p:grpSpPr>
        <p:pic>
          <p:nvPicPr>
            <p:cNvPr id="18" name="New picture"/>
            <p:cNvPicPr/>
            <p:nvPr/>
          </p:nvPicPr>
          <p:blipFill>
            <a:blip>
              <a:extLst>
                <a:ext uri="{96DAC541-7B7A-43D3-8B79-37D633B846F1}">
                  <asvg:svgBlip xmlns:asvg="http://schemas.microsoft.com/office/drawing/2016/SVG/main" r:embed="rId3"/>
                </a:ext>
              </a:extLst>
            </a:blip>
            <a:stretch>
              <a:fillRect/>
            </a:stretch>
          </p:blipFill>
          <p:spPr>
            <a:xfrm>
              <a:off x="4722812" y="856615"/>
              <a:ext cx="114300" cy="137160"/>
            </a:xfrm>
            <a:prstGeom prst="rect">
              <a:avLst/>
            </a:prstGeom>
          </p:spPr>
        </p:pic>
        <p:sp>
          <p:nvSpPr>
            <p:cNvPr id="19"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0"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1" name="Group 20"/>
          <p:cNvGrpSpPr/>
          <p:nvPr/>
        </p:nvGrpSpPr>
        <p:grpSpPr>
          <a:xfrm rot="18900000">
            <a:off x="5612274" y="929050"/>
            <a:ext cx="1477327" cy="120015"/>
            <a:chOff x="5237162" y="776605"/>
            <a:chExt cx="1477327" cy="120015"/>
          </a:xfrm>
        </p:grpSpPr>
        <p:pic>
          <p:nvPicPr>
            <p:cNvPr id="22" name="New picture"/>
            <p:cNvPicPr/>
            <p:nvPr/>
          </p:nvPicPr>
          <p:blipFill>
            <a:blip>
              <a:extLst>
                <a:ext uri="{96DAC541-7B7A-43D3-8B79-37D633B846F1}">
                  <asvg:svgBlip xmlns:asvg="http://schemas.microsoft.com/office/drawing/2016/SVG/main" r:embed="rId4"/>
                </a:ext>
              </a:extLst>
            </a:blip>
            <a:stretch>
              <a:fillRect/>
            </a:stretch>
          </p:blipFill>
          <p:spPr>
            <a:xfrm>
              <a:off x="5237162" y="776605"/>
              <a:ext cx="120015" cy="120015"/>
            </a:xfrm>
            <a:prstGeom prst="rect">
              <a:avLst/>
            </a:prstGeom>
          </p:spPr>
        </p:pic>
        <p:sp>
          <p:nvSpPr>
            <p:cNvPr id="23"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4" name="Group 23"/>
          <p:cNvGrpSpPr/>
          <p:nvPr/>
        </p:nvGrpSpPr>
        <p:grpSpPr>
          <a:xfrm rot="18900000">
            <a:off x="6126624" y="929049"/>
            <a:ext cx="1477328" cy="120015"/>
            <a:chOff x="5751512" y="776605"/>
            <a:chExt cx="1477328" cy="120015"/>
          </a:xfrm>
        </p:grpSpPr>
        <p:pic>
          <p:nvPicPr>
            <p:cNvPr id="25" name="New picture"/>
            <p:cNvPicPr/>
            <p:nvPr/>
          </p:nvPicPr>
          <p:blipFill>
            <a:blip>
              <a:extLst>
                <a:ext uri="{96DAC541-7B7A-43D3-8B79-37D633B846F1}">
                  <asvg:svgBlip xmlns:asvg="http://schemas.microsoft.com/office/drawing/2016/SVG/main" r:embed="rId5"/>
                </a:ext>
              </a:extLst>
            </a:blip>
            <a:stretch>
              <a:fillRect/>
            </a:stretch>
          </p:blipFill>
          <p:spPr>
            <a:xfrm>
              <a:off x="5751512" y="776605"/>
              <a:ext cx="120015" cy="120015"/>
            </a:xfrm>
            <a:prstGeom prst="rect">
              <a:avLst/>
            </a:prstGeom>
          </p:spPr>
        </p:pic>
        <p:sp>
          <p:nvSpPr>
            <p:cNvPr id="26"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7" name="Group 26"/>
          <p:cNvGrpSpPr/>
          <p:nvPr/>
        </p:nvGrpSpPr>
        <p:grpSpPr>
          <a:xfrm rot="18900000">
            <a:off x="6640973" y="929049"/>
            <a:ext cx="1477328" cy="120015"/>
            <a:chOff x="6265862" y="776605"/>
            <a:chExt cx="1477328" cy="120015"/>
          </a:xfrm>
        </p:grpSpPr>
        <p:pic>
          <p:nvPicPr>
            <p:cNvPr id="28" name="New picture"/>
            <p:cNvPicPr/>
            <p:nvPr/>
          </p:nvPicPr>
          <p:blipFill>
            <a:blip>
              <a:extLst>
                <a:ext uri="{96DAC541-7B7A-43D3-8B79-37D633B846F1}">
                  <asvg:svgBlip xmlns:asvg="http://schemas.microsoft.com/office/drawing/2016/SVG/main" r:embed="rId6"/>
                </a:ext>
              </a:extLst>
            </a:blip>
            <a:stretch>
              <a:fillRect/>
            </a:stretch>
          </p:blipFill>
          <p:spPr>
            <a:xfrm>
              <a:off x="6265862" y="776605"/>
              <a:ext cx="120015" cy="120015"/>
            </a:xfrm>
            <a:prstGeom prst="rect">
              <a:avLst/>
            </a:prstGeom>
          </p:spPr>
        </p:pic>
        <p:sp>
          <p:nvSpPr>
            <p:cNvPr id="29"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0" name="Group 29"/>
          <p:cNvGrpSpPr/>
          <p:nvPr/>
        </p:nvGrpSpPr>
        <p:grpSpPr>
          <a:xfrm rot="18900000">
            <a:off x="7155324" y="929050"/>
            <a:ext cx="1477327" cy="120015"/>
            <a:chOff x="6780212" y="776605"/>
            <a:chExt cx="1477327" cy="120015"/>
          </a:xfrm>
        </p:grpSpPr>
        <p:pic>
          <p:nvPicPr>
            <p:cNvPr id="31" name="New picture"/>
            <p:cNvPicPr/>
            <p:nvPr/>
          </p:nvPicPr>
          <p:blipFill>
            <a:blip>
              <a:extLst>
                <a:ext uri="{96DAC541-7B7A-43D3-8B79-37D633B846F1}">
                  <asvg:svgBlip xmlns:asvg="http://schemas.microsoft.com/office/drawing/2016/SVG/main" r:embed="rId5"/>
                </a:ext>
              </a:extLst>
            </a:blip>
            <a:stretch>
              <a:fillRect/>
            </a:stretch>
          </p:blipFill>
          <p:spPr>
            <a:xfrm>
              <a:off x="6780212" y="776605"/>
              <a:ext cx="120015" cy="120015"/>
            </a:xfrm>
            <a:prstGeom prst="rect">
              <a:avLst/>
            </a:prstGeom>
          </p:spPr>
        </p:pic>
        <p:sp>
          <p:nvSpPr>
            <p:cNvPr id="32"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3" name="Group 32"/>
          <p:cNvGrpSpPr/>
          <p:nvPr/>
        </p:nvGrpSpPr>
        <p:grpSpPr>
          <a:xfrm rot="18900000">
            <a:off x="7669674" y="929050"/>
            <a:ext cx="1477327" cy="120015"/>
            <a:chOff x="7294562" y="776605"/>
            <a:chExt cx="1477327"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7294562" y="776605"/>
              <a:ext cx="120015" cy="120015"/>
            </a:xfrm>
            <a:prstGeom prst="rect">
              <a:avLst/>
            </a:prstGeom>
          </p:spPr>
        </p:pic>
        <p:sp>
          <p:nvSpPr>
            <p:cNvPr id="35"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6"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37"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38"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9"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1"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2"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3"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4"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5"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24</a:t>
            </a:r>
          </a:p>
        </p:txBody>
      </p:sp>
      <p:sp>
        <p:nvSpPr>
          <p:cNvPr id="46"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Bevlogenheid</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Bevlogenheid gaat over de mate waarin je medewerkers geïnspireerd raken door en energie krijgen van hun werk. Het heeft ook betrekking op hun positieve relatie met jouw organisatie. Bevlogen medewerkers ervaren hun werk als betekenisvol en dankbaar, zijn trots op hun baan en voelen zich binnen jouw organisatie op hun plek.</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70%</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79%</a:t>
            </a:r>
          </a:p>
        </p:txBody>
      </p:sp>
      <p:sp>
        <p:nvSpPr>
          <p:cNvPr id="18" name="New shape"/>
          <p:cNvSpPr txBox="1"/>
          <p:nvPr/>
        </p:nvSpPr>
        <p:spPr>
          <a:xfrm>
            <a:off x="7715250" y="1657350"/>
            <a:ext cx="514350" cy="34290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92%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plezier</a:t>
                      </a:r>
                      <a:r>
                        <a:rPr sz="788" b="0" i="0" dirty="0">
                          <a:solidFill>
                            <a:srgbClr val="192743"/>
                          </a:solidFill>
                          <a:latin typeface="Poppins"/>
                        </a:rPr>
                        <a:t> in </a:t>
                      </a:r>
                      <a:r>
                        <a:rPr sz="788" b="0" i="0" dirty="0" err="1">
                          <a:solidFill>
                            <a:srgbClr val="192743"/>
                          </a:solidFill>
                          <a:latin typeface="Poppins"/>
                        </a:rPr>
                        <a:t>mijn</a:t>
                      </a:r>
                      <a:r>
                        <a:rPr sz="788" b="0" i="0" dirty="0">
                          <a:solidFill>
                            <a:srgbClr val="192743"/>
                          </a:solidFill>
                          <a:latin typeface="Poppins"/>
                        </a:rPr>
                        <a:t> </a:t>
                      </a:r>
                      <a:r>
                        <a:rPr sz="788" b="0" i="0" dirty="0" err="1">
                          <a:solidFill>
                            <a:srgbClr val="192743"/>
                          </a:solidFill>
                          <a:latin typeface="Poppins"/>
                        </a:rPr>
                        <a:t>werk</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Mijn werk geeft mij energie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ben trots op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het </a:t>
                      </a:r>
                      <a:r>
                        <a:rPr sz="788" b="0" i="0" dirty="0" err="1">
                          <a:solidFill>
                            <a:srgbClr val="192743"/>
                          </a:solidFill>
                          <a:latin typeface="Poppins"/>
                        </a:rPr>
                        <a:t>gevoel</a:t>
                      </a:r>
                      <a:r>
                        <a:rPr sz="788" b="0" i="0" dirty="0">
                          <a:solidFill>
                            <a:srgbClr val="192743"/>
                          </a:solidFill>
                          <a:latin typeface="Poppins"/>
                        </a:rPr>
                        <a:t> </a:t>
                      </a:r>
                      <a:r>
                        <a:rPr sz="788" b="0" i="0" dirty="0" err="1">
                          <a:solidFill>
                            <a:srgbClr val="192743"/>
                          </a:solidFill>
                          <a:latin typeface="Poppins"/>
                        </a:rPr>
                        <a:t>dat</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lang="en-US" sz="788" b="0" i="0" dirty="0">
                          <a:solidFill>
                            <a:srgbClr val="192743"/>
                          </a:solidFill>
                          <a:latin typeface="Poppins"/>
                        </a:rPr>
                        <a:t>Team IT</a:t>
                      </a:r>
                      <a:r>
                        <a:rPr sz="788" b="0" i="0" dirty="0">
                          <a:solidFill>
                            <a:srgbClr val="192743"/>
                          </a:solidFill>
                          <a:latin typeface="Poppins"/>
                        </a:rPr>
                        <a:t> pas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Leiderschap bij verandering</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Leiderschap bij verandering is bedoeld om werknemers te laten weten wat er moet veranderen, waarom en hoe, en hun steun te krijgen voor de noodzakelijke veranderingen. Hiervoor moeten managers hun teams bij het proces betrekken, zodat ze de veranderingen begrijpen en er vertrouwen in hebben.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74%</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75%</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85%</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Binnen </a:t>
                      </a:r>
                      <a:r>
                        <a:rPr sz="788" b="0" i="0" dirty="0" err="1">
                          <a:solidFill>
                            <a:srgbClr val="192743"/>
                          </a:solidFill>
                          <a:latin typeface="Poppins"/>
                        </a:rPr>
                        <a:t>mijn</a:t>
                      </a:r>
                      <a:r>
                        <a:rPr sz="788" b="0" i="0" dirty="0">
                          <a:solidFill>
                            <a:srgbClr val="192743"/>
                          </a:solidFill>
                          <a:latin typeface="Poppins"/>
                        </a:rPr>
                        <a:t> team is het </a:t>
                      </a:r>
                      <a:r>
                        <a:rPr sz="788" b="0" i="0" dirty="0" err="1">
                          <a:solidFill>
                            <a:srgbClr val="192743"/>
                          </a:solidFill>
                          <a:latin typeface="Poppins"/>
                        </a:rPr>
                        <a:t>duidelijk</a:t>
                      </a:r>
                      <a:r>
                        <a:rPr sz="788" b="0" i="0" dirty="0">
                          <a:solidFill>
                            <a:srgbClr val="192743"/>
                          </a:solidFill>
                          <a:latin typeface="Poppins"/>
                        </a:rPr>
                        <a:t> hoe </a:t>
                      </a:r>
                      <a:r>
                        <a:rPr sz="788" b="0" i="0" dirty="0" err="1">
                          <a:solidFill>
                            <a:srgbClr val="192743"/>
                          </a:solidFill>
                          <a:latin typeface="Poppins"/>
                        </a:rPr>
                        <a:t>wij</a:t>
                      </a:r>
                      <a:r>
                        <a:rPr sz="788" b="0" i="0" dirty="0">
                          <a:solidFill>
                            <a:srgbClr val="192743"/>
                          </a:solidFill>
                          <a:latin typeface="Poppins"/>
                        </a:rPr>
                        <a:t> </a:t>
                      </a:r>
                      <a:r>
                        <a:rPr sz="788" b="0" i="0" dirty="0" err="1">
                          <a:solidFill>
                            <a:srgbClr val="192743"/>
                          </a:solidFill>
                          <a:latin typeface="Poppins"/>
                        </a:rPr>
                        <a:t>kunnen</a:t>
                      </a:r>
                      <a:r>
                        <a:rPr sz="788" b="0" i="0" dirty="0">
                          <a:solidFill>
                            <a:srgbClr val="192743"/>
                          </a:solidFill>
                          <a:latin typeface="Poppins"/>
                        </a:rPr>
                        <a:t> </a:t>
                      </a:r>
                      <a:r>
                        <a:rPr sz="788" b="0" i="0" dirty="0" err="1">
                          <a:solidFill>
                            <a:srgbClr val="192743"/>
                          </a:solidFill>
                          <a:latin typeface="Poppins"/>
                        </a:rPr>
                        <a:t>bijdragen</a:t>
                      </a:r>
                      <a:r>
                        <a:rPr sz="788" b="0" i="0" dirty="0">
                          <a:solidFill>
                            <a:srgbClr val="192743"/>
                          </a:solidFill>
                          <a:latin typeface="Poppins"/>
                        </a:rPr>
                        <a:t> </a:t>
                      </a:r>
                      <a:r>
                        <a:rPr sz="788" b="0" i="0" dirty="0" err="1">
                          <a:solidFill>
                            <a:srgbClr val="192743"/>
                          </a:solidFill>
                          <a:latin typeface="Poppins"/>
                        </a:rPr>
                        <a:t>aan</a:t>
                      </a:r>
                      <a:r>
                        <a:rPr sz="788" b="0" i="0" dirty="0">
                          <a:solidFill>
                            <a:srgbClr val="192743"/>
                          </a:solidFill>
                          <a:latin typeface="Poppins"/>
                        </a:rPr>
                        <a:t> het </a:t>
                      </a:r>
                      <a:r>
                        <a:rPr sz="788" b="0" i="0" dirty="0" err="1">
                          <a:solidFill>
                            <a:srgbClr val="192743"/>
                          </a:solidFill>
                          <a:latin typeface="Poppins"/>
                        </a:rPr>
                        <a:t>succes</a:t>
                      </a:r>
                      <a:r>
                        <a:rPr sz="788" b="0" i="0" dirty="0">
                          <a:solidFill>
                            <a:srgbClr val="192743"/>
                          </a:solidFill>
                          <a:latin typeface="Poppins"/>
                        </a:rPr>
                        <a:t> van de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heb vertrouwen in mijn leidinggevende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Medewerkers faciliteren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Mensenmanagement zorgt ervoor dat werknemers de verwachtingen van het bedrijf kennen en hun kennis en vaardigheden op basis hiervan kunnen toepassen. Dit omvat constructieve feedback en erkenning, om te laten zien dat goede prestaties worden onderkend en beloond in het bedrijf.</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69%</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Mijn </a:t>
                      </a:r>
                      <a:r>
                        <a:rPr sz="788" b="0" i="0" dirty="0" err="1">
                          <a:solidFill>
                            <a:srgbClr val="192743"/>
                          </a:solidFill>
                          <a:latin typeface="Poppins"/>
                        </a:rPr>
                        <a:t>werkzaamheden</a:t>
                      </a:r>
                      <a:r>
                        <a:rPr sz="788" b="0" i="0" dirty="0">
                          <a:solidFill>
                            <a:srgbClr val="192743"/>
                          </a:solidFill>
                          <a:latin typeface="Poppins"/>
                        </a:rPr>
                        <a:t> </a:t>
                      </a:r>
                      <a:r>
                        <a:rPr sz="788" b="0" i="0" dirty="0" err="1">
                          <a:solidFill>
                            <a:srgbClr val="192743"/>
                          </a:solidFill>
                          <a:latin typeface="Poppins"/>
                        </a:rPr>
                        <a:t>sluiten</a:t>
                      </a:r>
                      <a:r>
                        <a:rPr sz="788" b="0" i="0" dirty="0">
                          <a:solidFill>
                            <a:srgbClr val="192743"/>
                          </a:solidFill>
                          <a:latin typeface="Poppins"/>
                        </a:rPr>
                        <a:t> </a:t>
                      </a:r>
                      <a:r>
                        <a:rPr sz="788" b="0" i="0" dirty="0" err="1">
                          <a:solidFill>
                            <a:srgbClr val="192743"/>
                          </a:solidFill>
                          <a:latin typeface="Poppins"/>
                        </a:rPr>
                        <a:t>aan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wat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kan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Systemen beheren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Goed beheerde systemen stellen werknemers in staat om de verwachte prestaties te leveren door ze de nodige werkomstandigheden te bieden. Dit omvat goede werkinstrumenten, effectieve werkprocessen, goede samenwerking op verschillende niveaus en de beschikbaarheid van ontwikkelingsmogelijkheden.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73%</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67%</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78%</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8117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beschik</a:t>
                      </a:r>
                      <a:r>
                        <a:rPr sz="788" b="0" i="0" dirty="0">
                          <a:solidFill>
                            <a:srgbClr val="192743"/>
                          </a:solidFill>
                          <a:latin typeface="Poppins"/>
                        </a:rPr>
                        <a:t> over </a:t>
                      </a:r>
                      <a:r>
                        <a:rPr sz="788" b="0" i="0" dirty="0" err="1">
                          <a:solidFill>
                            <a:srgbClr val="192743"/>
                          </a:solidFill>
                          <a:latin typeface="Poppins"/>
                        </a:rPr>
                        <a:t>voldoende</a:t>
                      </a:r>
                      <a:r>
                        <a:rPr sz="788" b="0" i="0" dirty="0">
                          <a:solidFill>
                            <a:srgbClr val="192743"/>
                          </a:solidFill>
                          <a:latin typeface="Poppins"/>
                        </a:rPr>
                        <a:t> </a:t>
                      </a:r>
                      <a:r>
                        <a:rPr sz="788" b="0" i="0" dirty="0" err="1">
                          <a:solidFill>
                            <a:srgbClr val="192743"/>
                          </a:solidFill>
                          <a:latin typeface="Poppins"/>
                        </a:rPr>
                        <a:t>middelen</a:t>
                      </a:r>
                      <a:r>
                        <a:rPr sz="788" b="0" i="0" dirty="0">
                          <a:solidFill>
                            <a:srgbClr val="192743"/>
                          </a:solidFill>
                          <a:latin typeface="Poppins"/>
                        </a:rPr>
                        <a:t> (</a:t>
                      </a:r>
                      <a:r>
                        <a:rPr sz="788" b="0" i="0" dirty="0" err="1">
                          <a:solidFill>
                            <a:srgbClr val="192743"/>
                          </a:solidFill>
                          <a:latin typeface="Poppins"/>
                        </a:rPr>
                        <a:t>apparatuur</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materiaal</a:t>
                      </a:r>
                      <a:r>
                        <a:rPr sz="788" b="0" i="0" dirty="0">
                          <a:solidFill>
                            <a:srgbClr val="192743"/>
                          </a:solidFill>
                          <a:latin typeface="Poppins"/>
                        </a:rPr>
                        <a:t>) om </a:t>
                      </a:r>
                      <a:r>
                        <a:rPr sz="788" b="0" i="0" dirty="0" err="1">
                          <a:solidFill>
                            <a:srgbClr val="192743"/>
                          </a:solidFill>
                          <a:latin typeface="Poppins"/>
                        </a:rPr>
                        <a:t>mijn</a:t>
                      </a:r>
                      <a:r>
                        <a:rPr sz="788" b="0" i="0" dirty="0">
                          <a:solidFill>
                            <a:srgbClr val="192743"/>
                          </a:solidFill>
                          <a:latin typeface="Poppins"/>
                        </a:rPr>
                        <a:t> </a:t>
                      </a:r>
                      <a:r>
                        <a:rPr sz="788" b="0" i="0" dirty="0" err="1">
                          <a:solidFill>
                            <a:srgbClr val="192743"/>
                          </a:solidFill>
                          <a:latin typeface="Poppins"/>
                        </a:rPr>
                        <a:t>werk</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kunnen</a:t>
                      </a:r>
                      <a:r>
                        <a:rPr sz="788" b="0" i="0" dirty="0">
                          <a:solidFill>
                            <a:srgbClr val="192743"/>
                          </a:solidFill>
                          <a:latin typeface="Poppins"/>
                        </a:rPr>
                        <a:t> </a:t>
                      </a:r>
                      <a:r>
                        <a:rPr sz="788" b="0" i="0" dirty="0" err="1">
                          <a:solidFill>
                            <a:srgbClr val="192743"/>
                          </a:solidFill>
                          <a:latin typeface="Poppins"/>
                        </a:rPr>
                        <a:t>doen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Prestatieomgeving</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Een prestatieomgeving verwijst naar de omstandigheden die werknemers in staat stellen om efficiënt en effectief te werken. Deze biedt de juiste omstandigheden voor optimale prestaties. Medewerkers en managers hebben zo'n omgeving nodig om hun potentieel individueel en binnen de teams volledig te benutten.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beschik over voldoende middelen (apparatuur en materiaal) om mijn werk goed te kunnen doen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werkzaamheden sluiten aan bij wat ik goed kan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Binnen mijn team is het duidelijk hoe wij kunnen bijdragen aan het succes van de organisatie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Prestatieomgeving</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21"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22"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23"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29" name="New Table"/>
          <p:cNvGraphicFramePr>
            <a:graphicFrameLocks noGrp="1"/>
          </p:cNvGraphicFramePr>
          <p:nvPr/>
        </p:nvGraphicFramePr>
        <p:xfrm>
          <a:off x="457200" y="2114550"/>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vertrouwen</a:t>
                      </a:r>
                      <a:r>
                        <a:rPr sz="788" b="0" i="0" dirty="0">
                          <a:solidFill>
                            <a:srgbClr val="192743"/>
                          </a:solidFill>
                          <a:latin typeface="Poppins"/>
                        </a:rPr>
                        <a:t> in </a:t>
                      </a:r>
                      <a:r>
                        <a:rPr sz="788" b="0" i="0" dirty="0" err="1">
                          <a:solidFill>
                            <a:srgbClr val="192743"/>
                          </a:solidFill>
                          <a:latin typeface="Poppins"/>
                        </a:rPr>
                        <a:t>mijn</a:t>
                      </a:r>
                      <a:r>
                        <a:rPr sz="788" b="0" i="0" dirty="0">
                          <a:solidFill>
                            <a:srgbClr val="192743"/>
                          </a:solidFill>
                          <a:latin typeface="Poppins"/>
                        </a:rPr>
                        <a:t> </a:t>
                      </a:r>
                      <a:r>
                        <a:rPr sz="788" b="0" i="0" dirty="0" err="1">
                          <a:solidFill>
                            <a:srgbClr val="192743"/>
                          </a:solidFill>
                          <a:latin typeface="Poppins"/>
                        </a:rPr>
                        <a:t>leidinggevende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40" name="Group 39"/>
          <p:cNvGrpSpPr/>
          <p:nvPr/>
        </p:nvGrpSpPr>
        <p:grpSpPr>
          <a:xfrm rot="18900000">
            <a:off x="6640973" y="886187"/>
            <a:ext cx="1477328" cy="120015"/>
            <a:chOff x="6265862" y="733743"/>
            <a:chExt cx="1477328" cy="120015"/>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Prestatieomgeving</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21"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22"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23"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29"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40" name="Group 39"/>
          <p:cNvGrpSpPr/>
          <p:nvPr/>
        </p:nvGrpSpPr>
        <p:grpSpPr>
          <a:xfrm rot="18900000">
            <a:off x="6640973" y="886187"/>
            <a:ext cx="1477328" cy="120015"/>
            <a:chOff x="6265862" y="733743"/>
            <a:chExt cx="1477328" cy="120015"/>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Richting geven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Richting geven is bedoeld om werknemers enthousiast te maken voor de visie van het bedrijf, bekend te maken met en te overtuigen van de strategie van het bedrijf, en het gevoel te geven dat ze op een eerlijke en rechtvaardige manier worden behandeld binnen het algemene 'ecosysteem' van hun bedrijf.</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68%</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Resultaten op de vragen</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dirty="0">
                <a:solidFill>
                  <a:srgbClr val="000000"/>
                </a:solidFill>
                <a:latin typeface="Poppins"/>
              </a:rPr>
              <a:t>De </a:t>
            </a:r>
            <a:r>
              <a:rPr sz="1350" b="0" i="0" dirty="0" err="1">
                <a:solidFill>
                  <a:srgbClr val="000000"/>
                </a:solidFill>
                <a:latin typeface="Poppins"/>
              </a:rPr>
              <a:t>volgende</a:t>
            </a:r>
            <a:r>
              <a:rPr sz="1350" b="0" i="0" dirty="0">
                <a:solidFill>
                  <a:srgbClr val="000000"/>
                </a:solidFill>
                <a:latin typeface="Poppins"/>
              </a:rPr>
              <a:t> </a:t>
            </a:r>
            <a:r>
              <a:rPr sz="1350" b="0" i="0" dirty="0" err="1">
                <a:solidFill>
                  <a:srgbClr val="000000"/>
                </a:solidFill>
                <a:latin typeface="Poppins"/>
              </a:rPr>
              <a:t>vragen</a:t>
            </a:r>
            <a:r>
              <a:rPr sz="1350" b="0" i="0" dirty="0">
                <a:solidFill>
                  <a:srgbClr val="000000"/>
                </a:solidFill>
                <a:latin typeface="Poppins"/>
              </a:rPr>
              <a:t> </a:t>
            </a:r>
            <a:r>
              <a:rPr sz="1350" b="0" i="0" dirty="0" err="1">
                <a:solidFill>
                  <a:srgbClr val="000000"/>
                </a:solidFill>
                <a:latin typeface="Poppins"/>
              </a:rPr>
              <a:t>en</a:t>
            </a:r>
            <a:r>
              <a:rPr sz="1350" b="0" i="0" dirty="0">
                <a:solidFill>
                  <a:srgbClr val="000000"/>
                </a:solidFill>
                <a:latin typeface="Poppins"/>
              </a:rPr>
              <a:t> de </a:t>
            </a:r>
            <a:r>
              <a:rPr sz="1350" b="0" i="0" dirty="0" err="1">
                <a:solidFill>
                  <a:srgbClr val="000000"/>
                </a:solidFill>
                <a:latin typeface="Poppins"/>
              </a:rPr>
              <a:t>bijbehorende</a:t>
            </a:r>
            <a:r>
              <a:rPr sz="1350" b="0" i="0" dirty="0">
                <a:solidFill>
                  <a:srgbClr val="000000"/>
                </a:solidFill>
                <a:latin typeface="Poppins"/>
              </a:rPr>
              <a:t> scores </a:t>
            </a:r>
            <a:r>
              <a:rPr sz="1350" b="0" i="0" dirty="0" err="1">
                <a:solidFill>
                  <a:srgbClr val="000000"/>
                </a:solidFill>
                <a:latin typeface="Poppins"/>
              </a:rPr>
              <a:t>zijn</a:t>
            </a:r>
            <a:r>
              <a:rPr sz="1350" b="0" i="0" dirty="0">
                <a:solidFill>
                  <a:srgbClr val="000000"/>
                </a:solidFill>
                <a:latin typeface="Poppins"/>
              </a:rPr>
              <a:t> </a:t>
            </a:r>
            <a:r>
              <a:rPr sz="1350" b="0" i="0" dirty="0" err="1">
                <a:solidFill>
                  <a:srgbClr val="000000"/>
                </a:solidFill>
                <a:latin typeface="Poppins"/>
              </a:rPr>
              <a:t>ingedeeld</a:t>
            </a:r>
            <a:r>
              <a:rPr sz="1350" b="0" i="0" dirty="0">
                <a:solidFill>
                  <a:srgbClr val="000000"/>
                </a:solidFill>
                <a:latin typeface="Poppins"/>
              </a:rPr>
              <a:t> in </a:t>
            </a:r>
            <a:r>
              <a:rPr sz="1350" b="0" i="0" dirty="0" err="1">
                <a:solidFill>
                  <a:srgbClr val="000000"/>
                </a:solidFill>
                <a:latin typeface="Poppins"/>
              </a:rPr>
              <a:t>specifieke</a:t>
            </a:r>
            <a:r>
              <a:rPr sz="1350" b="0" i="0" dirty="0">
                <a:solidFill>
                  <a:srgbClr val="000000"/>
                </a:solidFill>
                <a:latin typeface="Poppins"/>
              </a:rPr>
              <a:t> topics die relevant </a:t>
            </a:r>
            <a:r>
              <a:rPr sz="1350" b="0" i="0" dirty="0" err="1">
                <a:solidFill>
                  <a:srgbClr val="000000"/>
                </a:solidFill>
                <a:latin typeface="Poppins"/>
              </a:rPr>
              <a:t>zijn</a:t>
            </a:r>
            <a:r>
              <a:rPr sz="1350" b="0" i="0" dirty="0">
                <a:solidFill>
                  <a:srgbClr val="000000"/>
                </a:solidFill>
                <a:latin typeface="Poppins"/>
              </a:rPr>
              <a:t> </a:t>
            </a:r>
            <a:r>
              <a:rPr sz="1350" b="0" i="0" dirty="0" err="1">
                <a:solidFill>
                  <a:srgbClr val="000000"/>
                </a:solidFill>
                <a:latin typeface="Poppins"/>
              </a:rPr>
              <a:t>voor</a:t>
            </a:r>
            <a:r>
              <a:rPr sz="1350" b="0" i="0" dirty="0">
                <a:solidFill>
                  <a:srgbClr val="000000"/>
                </a:solidFill>
                <a:latin typeface="Poppins"/>
              </a:rPr>
              <a:t> </a:t>
            </a:r>
            <a:r>
              <a:rPr lang="en-US" sz="1350" b="0" i="0" dirty="0">
                <a:solidFill>
                  <a:srgbClr val="000000"/>
                </a:solidFill>
                <a:latin typeface="Poppins"/>
              </a:rPr>
              <a:t>Team IT</a:t>
            </a:r>
            <a:r>
              <a:rPr sz="1350" b="0" i="0" dirty="0">
                <a:solidFill>
                  <a:srgbClr val="000000"/>
                </a:solidFill>
                <a:latin typeface="Poppins"/>
              </a:rPr>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Werkplezier</a:t>
            </a:r>
          </a:p>
        </p:txBody>
      </p:sp>
      <p:sp>
        <p:nvSpPr>
          <p:cNvPr id="3"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heb plezier in mijn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5134921" y="859102"/>
            <a:ext cx="1471613" cy="240649"/>
            <a:chOff x="472281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15"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612274" y="936193"/>
            <a:ext cx="1477327" cy="120015"/>
            <a:chOff x="5237162" y="78374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19"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0" name="Group 19"/>
          <p:cNvGrpSpPr/>
          <p:nvPr/>
        </p:nvGrpSpPr>
        <p:grpSpPr>
          <a:xfrm rot="18900000">
            <a:off x="6126624" y="936193"/>
            <a:ext cx="1477328" cy="120015"/>
            <a:chOff x="5751512" y="78374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2"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3" name="Group 22"/>
          <p:cNvGrpSpPr/>
          <p:nvPr/>
        </p:nvGrpSpPr>
        <p:grpSpPr>
          <a:xfrm rot="18900000">
            <a:off x="6640973" y="936193"/>
            <a:ext cx="1477328" cy="120015"/>
            <a:chOff x="6265862" y="78374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25"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26" name="Group 25"/>
          <p:cNvGrpSpPr/>
          <p:nvPr/>
        </p:nvGrpSpPr>
        <p:grpSpPr>
          <a:xfrm rot="18900000">
            <a:off x="7155324" y="936193"/>
            <a:ext cx="1477327" cy="120015"/>
            <a:chOff x="6780212" y="78374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28"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936193"/>
            <a:ext cx="1477327" cy="120015"/>
            <a:chOff x="7294562" y="78374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1"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34</a:t>
            </a:r>
          </a:p>
        </p:txBody>
      </p:sp>
      <p:sp>
        <p:nvSpPr>
          <p:cNvPr id="3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Werkmogelijkheden</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beschik over voldoende middelen (apparatuur en materiaal) om mijn werk goed te kunnen doen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Werkvermogen</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Mijn werkzaamheden sluiten aan bij wat ik goed kan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Op mijn werk voel ik me fit en energiek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balans tussen werk en privé</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heb voldoende tijd om mijn taken naar behoren uit te voeren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Mijn werk geeft mij energie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vind mijn werkdruk</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Veel 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Goed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Veel 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Ik ervaar een acceptabele werkdruk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Ik kan goed omgaan met spanningen op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(3)</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480566"/>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kan een goede balans houden tussen werken en ontspannen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heb het gevoel dat ik het werken zoals ik het nu doe de komende drie maanden kan blijven volhouden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De tijd vliegt als ik aan het werk ben</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Ik heb het afgelopen jaar te maken gehad met ongewenst gedrag door collega's (zoals verbaal geweld, fysiek geweld, ongewenste intimiteiten, pesten, discriminatie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(4)</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heb het afgelopen jaar te maken gehad met ongewenst gedrag door klanten (zoals verbale agressie, fysiek misbruik, seksuele intimidatie, pesten, discriminatie enz.)</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Teamsamenwerking en prestatie</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Binnen mijn team is het duidelijk hoe wij kunnen bijdragen aan het succes van de organisatie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Teamleiderschap</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heb vertrouwen in mijn leidinggevende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Organisatiestrategie</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10287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Communicatie en samenwerking binnen organisatie</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Organisatiecultuur</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ben </a:t>
                      </a:r>
                      <a:r>
                        <a:rPr sz="788" b="0" i="0" dirty="0" err="1">
                          <a:solidFill>
                            <a:srgbClr val="192743"/>
                          </a:solidFill>
                          <a:latin typeface="Poppins"/>
                        </a:rPr>
                        <a:t>tevreden</a:t>
                      </a:r>
                      <a:r>
                        <a:rPr sz="788" b="0" i="0" dirty="0">
                          <a:solidFill>
                            <a:srgbClr val="192743"/>
                          </a:solidFill>
                          <a:latin typeface="Poppins"/>
                        </a:rPr>
                        <a:t> over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Ik ben trots op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het </a:t>
                      </a:r>
                      <a:r>
                        <a:rPr sz="788" b="0" i="0" dirty="0" err="1">
                          <a:solidFill>
                            <a:srgbClr val="192743"/>
                          </a:solidFill>
                          <a:latin typeface="Poppins"/>
                        </a:rPr>
                        <a:t>gevoel</a:t>
                      </a:r>
                      <a:r>
                        <a:rPr sz="788" b="0" i="0" dirty="0">
                          <a:solidFill>
                            <a:srgbClr val="192743"/>
                          </a:solidFill>
                          <a:latin typeface="Poppins"/>
                        </a:rPr>
                        <a:t> </a:t>
                      </a:r>
                      <a:r>
                        <a:rPr sz="788" b="0" i="0" dirty="0" err="1">
                          <a:solidFill>
                            <a:srgbClr val="192743"/>
                          </a:solidFill>
                          <a:latin typeface="Poppins"/>
                        </a:rPr>
                        <a:t>dat</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lang="en-US" sz="788" b="0" i="0" dirty="0">
                          <a:solidFill>
                            <a:srgbClr val="192743"/>
                          </a:solidFill>
                          <a:latin typeface="Poppins"/>
                        </a:rPr>
                        <a:t>Team IT</a:t>
                      </a:r>
                      <a:r>
                        <a:rPr sz="788" b="0" i="0" dirty="0">
                          <a:solidFill>
                            <a:srgbClr val="192743"/>
                          </a:solidFill>
                          <a:latin typeface="Poppins"/>
                        </a:rPr>
                        <a:t> pas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word </a:t>
                      </a:r>
                      <a:r>
                        <a:rPr sz="788" b="0" i="0" dirty="0" err="1">
                          <a:solidFill>
                            <a:srgbClr val="192743"/>
                          </a:solidFill>
                          <a:latin typeface="Poppins"/>
                        </a:rPr>
                        <a:t>gewaardeerd</a:t>
                      </a:r>
                      <a:r>
                        <a:rPr sz="788" b="0" i="0" dirty="0">
                          <a:solidFill>
                            <a:srgbClr val="192743"/>
                          </a:solidFill>
                          <a:latin typeface="Poppins"/>
                        </a:rPr>
                        <a:t> door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en actie</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gebruikt</a:t>
                      </a:r>
                      <a:r>
                        <a:rPr sz="788" b="0" i="0" dirty="0">
                          <a:solidFill>
                            <a:srgbClr val="192743"/>
                          </a:solidFill>
                          <a:latin typeface="Poppins"/>
                        </a:rPr>
                        <a:t> de </a:t>
                      </a:r>
                      <a:r>
                        <a:rPr sz="788" b="0" i="0" dirty="0" err="1">
                          <a:solidFill>
                            <a:srgbClr val="192743"/>
                          </a:solidFill>
                          <a:latin typeface="Poppins"/>
                        </a:rPr>
                        <a:t>ideeën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suggesties</a:t>
                      </a:r>
                      <a:r>
                        <a:rPr sz="788" b="0" i="0" dirty="0">
                          <a:solidFill>
                            <a:srgbClr val="192743"/>
                          </a:solidFill>
                          <a:latin typeface="Poppins"/>
                        </a:rPr>
                        <a:t> van </a:t>
                      </a:r>
                      <a:r>
                        <a:rPr sz="788" b="0" i="0" dirty="0" err="1">
                          <a:solidFill>
                            <a:srgbClr val="192743"/>
                          </a:solidFill>
                          <a:latin typeface="Poppins"/>
                        </a:rPr>
                        <a:t>medewerkers</a:t>
                      </a:r>
                      <a:r>
                        <a:rPr sz="788" b="0" i="0" dirty="0">
                          <a:solidFill>
                            <a:srgbClr val="192743"/>
                          </a:solidFill>
                          <a:latin typeface="Poppins"/>
                        </a:rPr>
                        <a:t> om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verbeteren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Groei en ontwikkeling</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Nader bekijken: Groepsscores</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Laten we de scores van alle groepen over de verschillende thema's en topics die je hebt gekozen nader bekijken.</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Groepen vergelijken</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Verschillen in scores en hoe de resultaten worden vergeleken</a:t>
            </a:r>
          </a:p>
        </p:txBody>
      </p:sp>
      <p:sp>
        <p:nvSpPr>
          <p:cNvPr id="4" name="New shape"/>
          <p:cNvSpPr/>
          <p:nvPr/>
        </p:nvSpPr>
        <p:spPr>
          <a:xfrm>
            <a:off x="457200" y="16116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944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groepsscore is ten minste 20 % punten hoger.</a:t>
            </a:r>
          </a:p>
        </p:txBody>
      </p:sp>
      <p:sp>
        <p:nvSpPr>
          <p:cNvPr id="6" name="New shape"/>
          <p:cNvSpPr/>
          <p:nvPr/>
        </p:nvSpPr>
        <p:spPr>
          <a:xfrm>
            <a:off x="457200" y="209740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8027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groepsscore is ten minste 10 % punten hoger.</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0604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Niet relevant omdat het verschil kleiner is dan 10 % punten.</a:t>
            </a:r>
          </a:p>
        </p:txBody>
      </p:sp>
      <p:sp>
        <p:nvSpPr>
          <p:cNvPr id="10" name="New shape"/>
          <p:cNvSpPr/>
          <p:nvPr/>
        </p:nvSpPr>
        <p:spPr>
          <a:xfrm>
            <a:off x="457200" y="306895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15182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groepsscore is ten minste 10 % punten lager.</a:t>
            </a:r>
          </a:p>
        </p:txBody>
      </p:sp>
      <p:sp>
        <p:nvSpPr>
          <p:cNvPr id="12" name="New shape"/>
          <p:cNvSpPr/>
          <p:nvPr/>
        </p:nvSpPr>
        <p:spPr>
          <a:xfrm>
            <a:off x="457200" y="35547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6375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groepsscore is ten minste 20 % punten lager.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Voorbeeldresultaat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Groep A heeft 20 % punten hoger gescoord</a:t>
            </a:r>
          </a:p>
        </p:txBody>
      </p:sp>
      <p:grpSp>
        <p:nvGrpSpPr>
          <p:cNvPr id="27" name="Group 26"/>
          <p:cNvGrpSpPr/>
          <p:nvPr/>
        </p:nvGrpSpPr>
        <p:grpSpPr>
          <a:xfrm rot="18900000">
            <a:off x="6278411" y="1896939"/>
            <a:ext cx="534988" cy="171450"/>
            <a:chOff x="5801519" y="1436688"/>
            <a:chExt cx="534988"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61805"/>
              <a:ext cx="320675"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C55C7"/>
                  </a:solidFill>
                  <a:latin typeface="Poppins"/>
                </a:rPr>
                <a:t>Huidig</a:t>
              </a:r>
            </a:p>
          </p:txBody>
        </p:sp>
      </p:grpSp>
      <p:grpSp>
        <p:nvGrpSpPr>
          <p:cNvPr id="30" name="Group 29"/>
          <p:cNvGrpSpPr/>
          <p:nvPr/>
        </p:nvGrpSpPr>
        <p:grpSpPr>
          <a:xfrm rot="18900000">
            <a:off x="7254336" y="1940968"/>
            <a:ext cx="477091" cy="121215"/>
            <a:chOff x="6744494" y="1461805"/>
            <a:chExt cx="405654" cy="121215"/>
          </a:xfrm>
        </p:grpSpPr>
        <p:sp>
          <p:nvSpPr>
            <p:cNvPr id="31" name="New shape"/>
            <p:cNvSpPr txBox="1"/>
            <p:nvPr/>
          </p:nvSpPr>
          <p:spPr>
            <a:xfrm>
              <a:off x="6744494" y="1461805"/>
              <a:ext cx="40565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Groep A</a:t>
              </a:r>
            </a:p>
          </p:txBody>
        </p:sp>
      </p:grpSp>
      <p:grpSp>
        <p:nvGrpSpPr>
          <p:cNvPr id="32" name="Group 31"/>
          <p:cNvGrpSpPr/>
          <p:nvPr/>
        </p:nvGrpSpPr>
        <p:grpSpPr>
          <a:xfrm rot="18900000">
            <a:off x="8197962" y="1942539"/>
            <a:ext cx="472281" cy="121215"/>
            <a:chOff x="7687469" y="1461805"/>
            <a:chExt cx="400844" cy="121215"/>
          </a:xfrm>
        </p:grpSpPr>
        <p:sp>
          <p:nvSpPr>
            <p:cNvPr id="33" name="New shape"/>
            <p:cNvSpPr txBox="1"/>
            <p:nvPr/>
          </p:nvSpPr>
          <p:spPr>
            <a:xfrm>
              <a:off x="7687469" y="1461805"/>
              <a:ext cx="40084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Groep B</a:t>
              </a:r>
            </a:p>
          </p:txBody>
        </p:sp>
      </p:grpSp>
      <p:sp>
        <p:nvSpPr>
          <p:cNvPr id="34"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Significantie (*)</a:t>
            </a:r>
          </a:p>
        </p:txBody>
      </p:sp>
      <p:sp>
        <p:nvSpPr>
          <p:cNvPr id="35"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Significantie helpt je identificeren of het waargenomen verschil tussen twee scores niet aan toeval te wijten is. Als een score gemarkeerd is met een asterisk, geeft dit aan dat het verschil tussen deze score en de score van Huidig significant is. Het weerspiegelt een realistisch verschil dat aandacht verdient.</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50</a:t>
            </a:r>
          </a:p>
        </p:txBody>
      </p:sp>
      <p:pic>
        <p:nvPicPr>
          <p:cNvPr id="37" name="New picture"/>
          <p:cNvPicPr/>
          <p:nvPr/>
        </p:nvPicPr>
        <p:blipFill>
          <a:blip>
            <a:extLst>
              <a:ext uri="{96DAC541-7B7A-43D3-8B79-37D633B846F1}">
                <asvg:svgBlip xmlns:asvg="http://schemas.microsoft.com/office/drawing/2016/SVG/main" r:embed="rId3"/>
              </a:ext>
            </a:extLst>
          </a:blip>
          <a:stretch>
            <a:fillRect/>
          </a:stretch>
        </p:blipFill>
        <p:spPr>
          <a:xfrm>
            <a:off x="8829675" y="147661"/>
            <a:ext cx="217884" cy="217884"/>
          </a:xfrm>
          <a:prstGeom prst="rect">
            <a:avLst/>
          </a:prstGeom>
        </p:spPr>
      </p:pic>
      <p:sp>
        <p:nvSpPr>
          <p:cNvPr id="39"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Thema's vergeleken per groep</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Werkgeverschap</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Bevlogenheid</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Leiderschap bij verandering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Medewerkers faciliteren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Systemen beheren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Prestatieomgeving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Richting geven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Thema's vergeleken per groep</a:t>
            </a:r>
          </a:p>
        </p:txBody>
      </p:sp>
      <p:sp>
        <p:nvSpPr>
          <p:cNvPr id="3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3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51</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Werkplezier (1)</a:t>
            </a:r>
          </a:p>
        </p:txBody>
      </p:sp>
      <p:sp>
        <p:nvSpPr>
          <p:cNvPr id="3"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heb plezier in mijn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4620571" y="859102"/>
            <a:ext cx="1471613" cy="240649"/>
            <a:chOff x="420846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15"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114162" y="975395"/>
            <a:ext cx="1357312" cy="120015"/>
            <a:chOff x="4722812" y="783749"/>
            <a:chExt cx="1285875" cy="120015"/>
          </a:xfrm>
        </p:grpSpPr>
        <p:sp>
          <p:nvSpPr>
            <p:cNvPr id="18"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628512" y="975395"/>
            <a:ext cx="1357312" cy="120015"/>
            <a:chOff x="5237162" y="783749"/>
            <a:chExt cx="1285875" cy="120015"/>
          </a:xfrm>
        </p:grpSpPr>
        <p:sp>
          <p:nvSpPr>
            <p:cNvPr id="20"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6142862" y="975395"/>
            <a:ext cx="1357312" cy="120015"/>
            <a:chOff x="5751512" y="783749"/>
            <a:chExt cx="1285875" cy="120015"/>
          </a:xfrm>
        </p:grpSpPr>
        <p:sp>
          <p:nvSpPr>
            <p:cNvPr id="22"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657212" y="975395"/>
            <a:ext cx="1357312" cy="120015"/>
            <a:chOff x="6265862" y="783749"/>
            <a:chExt cx="1285875" cy="120015"/>
          </a:xfrm>
        </p:grpSpPr>
        <p:sp>
          <p:nvSpPr>
            <p:cNvPr id="24"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7171562" y="975395"/>
            <a:ext cx="1357312" cy="120015"/>
            <a:chOff x="6780212" y="783749"/>
            <a:chExt cx="1285875" cy="120015"/>
          </a:xfrm>
        </p:grpSpPr>
        <p:sp>
          <p:nvSpPr>
            <p:cNvPr id="26"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685912" y="975395"/>
            <a:ext cx="1357312" cy="120015"/>
            <a:chOff x="7294562" y="783749"/>
            <a:chExt cx="1285875" cy="120015"/>
          </a:xfrm>
        </p:grpSpPr>
        <p:sp>
          <p:nvSpPr>
            <p:cNvPr id="28"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
        <p:nvSpPr>
          <p:cNvPr id="29"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52</a:t>
            </a:r>
          </a:p>
        </p:txBody>
      </p:sp>
      <p:sp>
        <p:nvSpPr>
          <p:cNvPr id="30"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Werkplezier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heb plezier in mijn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Werkmogelijkheden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beschik over voldoende middelen (apparatuur en materiaal) om mijn werk goed te kunnen doen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Werkmogelijkheden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beschik over voldoende middelen (apparatuur en materiaal) om mijn werk goed te kunnen doen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Werkvermogen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Mijn werkzaamheden sluiten aan bij wat ik goed kan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Werkvermogen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Mijn werkzaamheden sluiten aan bij wat ik goed kan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Op mijn werk voel ik me fit en energiek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balans tussen werk en privé</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heb voldoende tijd om mijn taken naar behoren uit te voeren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Mijn werk geeft mij energie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Op mijn werk voel ik me fit en energiek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balans tussen werk en privé</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heb voldoende tijd om mijn taken naar behoren uit te voeren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Mijn werk geeft mij energie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(3)</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vind mijn werkdruk</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Veel 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Goed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Veel 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Ik ervaar een acceptabele werkdruk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Ik kan goed omgaan met spanningen op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(4)</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vind mijn werkdruk</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Veel 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Goed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Veel 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Ik ervaar een acceptabele werkdruk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Ik kan goed omgaan met spanningen op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(5)</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314895"/>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kan een goede balans houden tussen werken en ontspannen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heb het gevoel dat ik het werken zoals ik het nu doe de komende drie maanden kan blijven volhouden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De tijd vliegt als ik aan het werk ben</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Ik heb het afgelopen jaar te maken gehad met ongewenst gedrag door collega's (zoals verbaal geweld, fysiek geweld, ongewenste intimiteiten, pesten, discriminatie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(6)</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kan een goede balans houden tussen werken en ontspannen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heb het gevoel dat ik het werken zoals ik het nu doe de komende drie maanden kan blijven volhouden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De tijd vliegt als ik aan het werk ben</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Ik heb het afgelopen jaar te maken gehad met ongewenst gedrag door collega's (zoals verbaal geweld, fysiek geweld, ongewenste intimiteiten, pesten, discriminatie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(7)</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931862"/>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heb het afgelopen jaar te maken gehad met ongewenst gedrag door klanten (zoals verbale agressie, fysiek misbruik, seksuele intimidatie, pesten, discriminatie enz.)</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(8)</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heb het afgelopen jaar te maken gehad met ongewenst gedrag door klanten (zoals verbale agressie, fysiek misbruik, seksuele intimidatie, pesten, discriminatie enz.)</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Teamsamenwerking en prestatie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24028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Binnen mijn team is het duidelijk hoe wij kunnen bijdragen aan het succes van de organisatie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Teamsamenwerking en prestatie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Binnen mijn team is het duidelijk hoe wij kunnen bijdragen aan het succes van de organisatie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Teamleiderschap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heb vertrouwen in mijn leidinggevende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Teamleiderschap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heb vertrouwen in mijn leidinggevende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Organisatiestrategie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Organisatiestrategie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10287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Communicatie en samenwerking binnen organisatie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10287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Communicatie en samenwerking binnen organisatie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Organisatiecultuur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Ik ben </a:t>
                      </a:r>
                      <a:r>
                        <a:rPr sz="788" b="0" i="0" dirty="0" err="1">
                          <a:solidFill>
                            <a:srgbClr val="192743"/>
                          </a:solidFill>
                          <a:latin typeface="Poppins"/>
                        </a:rPr>
                        <a:t>tevreden</a:t>
                      </a:r>
                      <a:r>
                        <a:rPr sz="788" b="0" i="0" dirty="0">
                          <a:solidFill>
                            <a:srgbClr val="192743"/>
                          </a:solidFill>
                          <a:latin typeface="Poppins"/>
                        </a:rPr>
                        <a:t> over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Ik ben trots op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het </a:t>
                      </a:r>
                      <a:r>
                        <a:rPr sz="788" b="0" i="0" dirty="0" err="1">
                          <a:solidFill>
                            <a:srgbClr val="192743"/>
                          </a:solidFill>
                          <a:latin typeface="Poppins"/>
                        </a:rPr>
                        <a:t>gevoel</a:t>
                      </a:r>
                      <a:r>
                        <a:rPr sz="788" b="0" i="0" dirty="0">
                          <a:solidFill>
                            <a:srgbClr val="192743"/>
                          </a:solidFill>
                          <a:latin typeface="Poppins"/>
                        </a:rPr>
                        <a:t> </a:t>
                      </a:r>
                      <a:r>
                        <a:rPr sz="788" b="0" i="0" dirty="0" err="1">
                          <a:solidFill>
                            <a:srgbClr val="192743"/>
                          </a:solidFill>
                          <a:latin typeface="Poppins"/>
                        </a:rPr>
                        <a:t>dat</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lang="en-US" sz="788" b="0" i="0" dirty="0">
                          <a:solidFill>
                            <a:srgbClr val="192743"/>
                          </a:solidFill>
                          <a:latin typeface="Poppins"/>
                        </a:rPr>
                        <a:t>Team IT</a:t>
                      </a:r>
                      <a:r>
                        <a:rPr sz="788" b="0" i="0" dirty="0">
                          <a:solidFill>
                            <a:srgbClr val="192743"/>
                          </a:solidFill>
                          <a:latin typeface="Poppins"/>
                        </a:rPr>
                        <a:t> pas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word </a:t>
                      </a:r>
                      <a:r>
                        <a:rPr sz="788" b="0" i="0" dirty="0" err="1">
                          <a:solidFill>
                            <a:srgbClr val="192743"/>
                          </a:solidFill>
                          <a:latin typeface="Poppins"/>
                        </a:rPr>
                        <a:t>gewaardeerd</a:t>
                      </a:r>
                      <a:r>
                        <a:rPr sz="788" b="0" i="0" dirty="0">
                          <a:solidFill>
                            <a:srgbClr val="192743"/>
                          </a:solidFill>
                          <a:latin typeface="Poppins"/>
                        </a:rPr>
                        <a:t> door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50%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Organisatiecultuur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Ik ben </a:t>
                      </a:r>
                      <a:r>
                        <a:rPr sz="788" b="0" i="0" dirty="0" err="1">
                          <a:solidFill>
                            <a:srgbClr val="192743"/>
                          </a:solidFill>
                          <a:latin typeface="Poppins"/>
                        </a:rPr>
                        <a:t>tevreden</a:t>
                      </a:r>
                      <a:r>
                        <a:rPr sz="788" b="0" i="0" dirty="0">
                          <a:solidFill>
                            <a:srgbClr val="192743"/>
                          </a:solidFill>
                          <a:latin typeface="Poppins"/>
                        </a:rPr>
                        <a:t> over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Ik ben trots op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het </a:t>
                      </a:r>
                      <a:r>
                        <a:rPr sz="788" b="0" i="0" dirty="0" err="1">
                          <a:solidFill>
                            <a:srgbClr val="192743"/>
                          </a:solidFill>
                          <a:latin typeface="Poppins"/>
                        </a:rPr>
                        <a:t>gevoel</a:t>
                      </a:r>
                      <a:r>
                        <a:rPr sz="788" b="0" i="0" dirty="0">
                          <a:solidFill>
                            <a:srgbClr val="192743"/>
                          </a:solidFill>
                          <a:latin typeface="Poppins"/>
                        </a:rPr>
                        <a:t> </a:t>
                      </a:r>
                      <a:r>
                        <a:rPr sz="788" b="0" i="0" dirty="0" err="1">
                          <a:solidFill>
                            <a:srgbClr val="192743"/>
                          </a:solidFill>
                          <a:latin typeface="Poppins"/>
                        </a:rPr>
                        <a:t>dat</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lang="en-US" sz="788" b="0" i="0" dirty="0">
                          <a:solidFill>
                            <a:srgbClr val="192743"/>
                          </a:solidFill>
                          <a:latin typeface="Poppins"/>
                        </a:rPr>
                        <a:t>Team IT</a:t>
                      </a:r>
                      <a:r>
                        <a:rPr sz="788" b="0" i="0" dirty="0">
                          <a:solidFill>
                            <a:srgbClr val="192743"/>
                          </a:solidFill>
                          <a:latin typeface="Poppins"/>
                        </a:rPr>
                        <a:t> pas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word </a:t>
                      </a:r>
                      <a:r>
                        <a:rPr sz="788" b="0" i="0" dirty="0" err="1">
                          <a:solidFill>
                            <a:srgbClr val="192743"/>
                          </a:solidFill>
                          <a:latin typeface="Poppins"/>
                        </a:rPr>
                        <a:t>gewaardeerd</a:t>
                      </a:r>
                      <a:r>
                        <a:rPr sz="788" b="0" i="0" dirty="0">
                          <a:solidFill>
                            <a:srgbClr val="192743"/>
                          </a:solidFill>
                          <a:latin typeface="Poppins"/>
                        </a:rPr>
                        <a:t> door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en actie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gebruikt</a:t>
                      </a:r>
                      <a:r>
                        <a:rPr sz="788" b="0" i="0" dirty="0">
                          <a:solidFill>
                            <a:srgbClr val="192743"/>
                          </a:solidFill>
                          <a:latin typeface="Poppins"/>
                        </a:rPr>
                        <a:t> de </a:t>
                      </a:r>
                      <a:r>
                        <a:rPr sz="788" b="0" i="0" dirty="0" err="1">
                          <a:solidFill>
                            <a:srgbClr val="192743"/>
                          </a:solidFill>
                          <a:latin typeface="Poppins"/>
                        </a:rPr>
                        <a:t>ideeën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suggesties</a:t>
                      </a:r>
                      <a:r>
                        <a:rPr sz="788" b="0" i="0" dirty="0">
                          <a:solidFill>
                            <a:srgbClr val="192743"/>
                          </a:solidFill>
                          <a:latin typeface="Poppins"/>
                        </a:rPr>
                        <a:t> van </a:t>
                      </a:r>
                      <a:r>
                        <a:rPr sz="788" b="0" i="0" dirty="0" err="1">
                          <a:solidFill>
                            <a:srgbClr val="192743"/>
                          </a:solidFill>
                          <a:latin typeface="Poppins"/>
                        </a:rPr>
                        <a:t>medewerkers</a:t>
                      </a:r>
                      <a:r>
                        <a:rPr sz="788" b="0" i="0" dirty="0">
                          <a:solidFill>
                            <a:srgbClr val="192743"/>
                          </a:solidFill>
                          <a:latin typeface="Poppins"/>
                        </a:rPr>
                        <a:t> om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verbeteren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en actie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gebruikt</a:t>
                      </a:r>
                      <a:r>
                        <a:rPr sz="788" b="0" i="0" dirty="0">
                          <a:solidFill>
                            <a:srgbClr val="192743"/>
                          </a:solidFill>
                          <a:latin typeface="Poppins"/>
                        </a:rPr>
                        <a:t> de </a:t>
                      </a:r>
                      <a:r>
                        <a:rPr sz="788" b="0" i="0" dirty="0" err="1">
                          <a:solidFill>
                            <a:srgbClr val="192743"/>
                          </a:solidFill>
                          <a:latin typeface="Poppins"/>
                        </a:rPr>
                        <a:t>ideeën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suggesties</a:t>
                      </a:r>
                      <a:r>
                        <a:rPr sz="788" b="0" i="0" dirty="0">
                          <a:solidFill>
                            <a:srgbClr val="192743"/>
                          </a:solidFill>
                          <a:latin typeface="Poppins"/>
                        </a:rPr>
                        <a:t> van </a:t>
                      </a:r>
                      <a:r>
                        <a:rPr sz="788" b="0" i="0" dirty="0" err="1">
                          <a:solidFill>
                            <a:srgbClr val="192743"/>
                          </a:solidFill>
                          <a:latin typeface="Poppins"/>
                        </a:rPr>
                        <a:t>medewerkers</a:t>
                      </a:r>
                      <a:r>
                        <a:rPr sz="788" b="0" i="0" dirty="0">
                          <a:solidFill>
                            <a:srgbClr val="192743"/>
                          </a:solidFill>
                          <a:latin typeface="Poppins"/>
                        </a:rPr>
                        <a:t> om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verbeteren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Groei en ontwikkeling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Groei en ontwikkeling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66878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1970961"/>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Onderwerpen die je medewerkers noemen</a:t>
            </a:r>
          </a:p>
        </p:txBody>
      </p:sp>
      <p:sp>
        <p:nvSpPr>
          <p:cNvPr id="5" name="New shape"/>
          <p:cNvSpPr txBox="1"/>
          <p:nvPr/>
        </p:nvSpPr>
        <p:spPr>
          <a:xfrm>
            <a:off x="457200" y="2966799"/>
            <a:ext cx="628650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Ontdek waar ze het meest trots op zijn en waar ze ruimte zien voor groei.</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4740080"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err="1">
                <a:solidFill>
                  <a:srgbClr val="192743"/>
                </a:solidFill>
                <a:latin typeface="Poppins"/>
              </a:rPr>
              <a:t>Onderwerpen</a:t>
            </a:r>
            <a:r>
              <a:rPr sz="2250" b="1" i="0" dirty="0">
                <a:solidFill>
                  <a:srgbClr val="192743"/>
                </a:solidFill>
                <a:latin typeface="Poppins"/>
              </a:rPr>
              <a:t> </a:t>
            </a:r>
            <a:r>
              <a:rPr sz="2250" b="1" i="0" dirty="0" err="1">
                <a:solidFill>
                  <a:srgbClr val="192743"/>
                </a:solidFill>
                <a:latin typeface="Poppins"/>
              </a:rPr>
              <a:t>voor</a:t>
            </a:r>
            <a:r>
              <a:rPr sz="2250" b="1" i="0" dirty="0">
                <a:solidFill>
                  <a:srgbClr val="192743"/>
                </a:solidFill>
                <a:latin typeface="Poppins"/>
              </a:rPr>
              <a:t> </a:t>
            </a:r>
            <a:r>
              <a:rPr lang="en-US" sz="2250" b="1" i="0" dirty="0">
                <a:solidFill>
                  <a:srgbClr val="192743"/>
                </a:solidFill>
                <a:latin typeface="Poppins"/>
              </a:rPr>
              <a:t>Team IT</a:t>
            </a:r>
            <a:endParaRPr sz="2250" b="1" i="0" dirty="0">
              <a:solidFill>
                <a:srgbClr val="192743"/>
              </a:solidFill>
              <a:latin typeface="Poppins"/>
            </a:endParaRPr>
          </a:p>
        </p:txBody>
      </p:sp>
      <p:sp>
        <p:nvSpPr>
          <p:cNvPr id="3" name="New shape"/>
          <p:cNvSpPr txBox="1"/>
          <p:nvPr/>
        </p:nvSpPr>
        <p:spPr>
          <a:xfrm>
            <a:off x="457200" y="838007"/>
            <a:ext cx="1543692"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err="1">
                <a:solidFill>
                  <a:srgbClr val="546178"/>
                </a:solidFill>
                <a:latin typeface="Poppins"/>
              </a:rPr>
              <a:t>Gekozen</a:t>
            </a:r>
            <a:r>
              <a:rPr sz="900" b="0" i="0" dirty="0">
                <a:solidFill>
                  <a:srgbClr val="546178"/>
                </a:solidFill>
                <a:latin typeface="Poppins"/>
              </a:rPr>
              <a:t> door </a:t>
            </a:r>
            <a:r>
              <a:rPr lang="en-US" sz="900" b="0" i="0" dirty="0">
                <a:solidFill>
                  <a:srgbClr val="546178"/>
                </a:solidFill>
                <a:latin typeface="Poppins"/>
              </a:rPr>
              <a:t>Team IT</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Wat springt er voor jou in positieve zin uit?</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 als werkgever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cultuur</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visie en doelen</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Klantfocus binnen mijn organisatie</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Communicatie binnen mijn organisatie</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Samenwerking binnen mijn organisatie</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180148"/>
            <a:ext cx="3214688"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Wat heb je gezien dat anders of beter kan? En vergeet vooral niet om jouw tip te geven om dit ook beter te doen.</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 als werkgever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visie en doelen</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cultuur</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Teamdynamiek (sfeer, )</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Klantfocus binnen mijn organisatie</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Samenwerking binnen mijn organisatie</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respondenten</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83</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2314115"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Onderwerpen die je medewerkers noemen</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9219</Words>
  <Application>Microsoft Macintosh PowerPoint</Application>
  <PresentationFormat>On-screen Show (16:9)</PresentationFormat>
  <Paragraphs>3347</Paragraphs>
  <Slides>83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2026-06-29T13:16:12Z</cp:lastPrinted>
  <dcterms:created xsi:type="dcterms:W3CDTF">2026-06-29T13:16:12Z</dcterms:created>
  <dcterms:modified xsi:type="dcterms:W3CDTF">2026-06-30T12:07:37Z</dcterms:modified>
</cp:coreProperties>
</file>