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4" r:id="rId16"/>
    <p:sldId id="307" r:id="rId17"/>
    <p:sldId id="310" r:id="rId18"/>
    <p:sldId id="313" r:id="rId19"/>
    <p:sldId id="316" r:id="rId20"/>
    <p:sldId id="319" r:id="rId21"/>
  </p:sldIdLst>
  <p:sldSz cx="9144000" cy="5143500" type="screen16x9"/>
  <p:notesSz cx="6858000" cy="9144000"/>
  <p:embeddedFontLst>
    <p:embeddedFont>
      <p:font typeface="Poppins" pitchFamily="2" charset="77"/>
      <p:regular r:id="rId22"/>
      <p:bold r:id="rId23"/>
    </p:embeddedFont>
  </p:embeddedFontLst>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5E08764E-A118-4438-AAEF-B5859F4365C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8790DD68-9E9B-4F84-9737-778864AE03EC}"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599C8926-6D9A-446B-B286-715ABA32F916}"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41316DC9-9493-435B-B5B4-B1DBF701C0BF}"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CF52B85A-690F-4D89-96DD-6CBE9F6FF59B}"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62962918-5430-47EB-A212-EBD250961E84}"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A7808930-89F9-4852-AF2A-320DB82967DB}"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812CEEEA-545A-4DF7-A632-3A730203B714}"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B289CA7E-3DC2-46A7-861D-54A0B1451489}"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191BFC8E-221A-4277-BA9C-22F5532E98D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7A17CF7-06A4-4C9B-ACA6-E30780D720C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18.xml"/><Relationship Id="rId5" Type="http://schemas.openxmlformats.org/officeDocument/2006/relationships/slide" Target="slide15.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7.sv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21.svg"/><Relationship Id="rId5" Type="http://schemas.openxmlformats.org/officeDocument/2006/relationships/image" Target="../media/image16.svg"/><Relationship Id="rId10" Type="http://schemas.openxmlformats.org/officeDocument/2006/relationships/image" Target="../media/image20.svg"/><Relationship Id="rId4" Type="http://schemas.openxmlformats.org/officeDocument/2006/relationships/image" Target="../media/image15.sv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7.sv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5.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8.svg"/><Relationship Id="rId7" Type="http://schemas.openxmlformats.org/officeDocument/2006/relationships/image" Target="../media/image22.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18.sv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778794"/>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Zusammenfassung für Führungskräfte</a:t>
            </a:r>
          </a:p>
        </p:txBody>
      </p:sp>
      <p:sp>
        <p:nvSpPr>
          <p:cNvPr id="4" name="New shape"/>
          <p:cNvSpPr txBox="1"/>
          <p:nvPr/>
        </p:nvSpPr>
        <p:spPr>
          <a:xfrm>
            <a:off x="457200" y="2774632"/>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2700" b="0" i="0" dirty="0">
                <a:solidFill>
                  <a:srgbClr val="192743"/>
                </a:solidFill>
                <a:latin typeface="Poppins"/>
              </a:rPr>
              <a:t>Team IT</a:t>
            </a:r>
            <a:endParaRPr sz="2700" b="0" i="0" dirty="0">
              <a:solidFill>
                <a:srgbClr val="192743"/>
              </a:solidFill>
              <a:latin typeface="Poppins"/>
            </a:endParaRPr>
          </a:p>
        </p:txBody>
      </p:sp>
      <p:sp>
        <p:nvSpPr>
          <p:cNvPr id="5"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6"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Inhalt</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Die wichtigsten Ergebnisse</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Im Fokus: Indizes mit den niedrigsten Ergebnissen</a:t>
            </a:r>
          </a:p>
        </p:txBody>
      </p:sp>
      <p:sp>
        <p:nvSpPr>
          <p:cNvPr id="8" name="New shape"/>
          <p:cNvSpPr txBox="1"/>
          <p:nvPr/>
        </p:nvSpPr>
        <p:spPr>
          <a:xfrm>
            <a:off x="457200" y="221742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21742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Ergebnisse verstehen</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Beteiligungsquote</a:t>
            </a:r>
          </a:p>
        </p:txBody>
      </p:sp>
      <p:sp>
        <p:nvSpPr>
          <p:cNvPr id="12"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13"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14"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15"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Die wichtigsten Eckdaten Ihrer Befragung</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Der Beginn Ihrer Listening Journey!</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Sehen wir uns die Ergebnisse an!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Befragungszeitraum</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Fragen wurden ingesamt gefragt</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zu Indizes wie:</a:t>
            </a:r>
          </a:p>
        </p:txBody>
      </p:sp>
      <p:sp>
        <p:nvSpPr>
          <p:cNvPr id="23" name="New shape"/>
          <p:cNvSpPr txBox="1"/>
          <p:nvPr/>
        </p:nvSpPr>
        <p:spPr>
          <a:xfrm>
            <a:off x="1285875" y="3500438"/>
            <a:ext cx="135886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Arbeitgeberkompetenz</a:t>
            </a:r>
          </a:p>
        </p:txBody>
      </p:sp>
      <p:sp>
        <p:nvSpPr>
          <p:cNvPr id="25" name="New shape"/>
          <p:cNvSpPr txBox="1"/>
          <p:nvPr/>
        </p:nvSpPr>
        <p:spPr>
          <a:xfrm>
            <a:off x="2716181" y="3500438"/>
            <a:ext cx="81532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Engagement</a:t>
            </a:r>
          </a:p>
        </p:txBody>
      </p:sp>
      <p:sp>
        <p:nvSpPr>
          <p:cNvPr id="27" name="New shape"/>
          <p:cNvSpPr txBox="1"/>
          <p:nvPr/>
        </p:nvSpPr>
        <p:spPr>
          <a:xfrm>
            <a:off x="1605764" y="3746954"/>
            <a:ext cx="1360472"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Veränderung gestalten</a:t>
            </a:r>
          </a:p>
        </p:txBody>
      </p:sp>
      <p:sp>
        <p:nvSpPr>
          <p:cNvPr id="29" name="New shape"/>
          <p:cNvSpPr txBox="1"/>
          <p:nvPr/>
        </p:nvSpPr>
        <p:spPr>
          <a:xfrm>
            <a:off x="1737241" y="3993471"/>
            <a:ext cx="109751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Mitarbeiter führen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und mehr...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2867C9"/>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haben teilgenommen!</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Die wichtigsten Ergebnisse</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Aktuell</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Team IT</a:t>
              </a:r>
              <a:endParaRPr sz="788" b="0" i="0" dirty="0">
                <a:solidFill>
                  <a:srgbClr val="2867C9"/>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1047636"/>
            <a:ext cx="1477328" cy="240030"/>
            <a:chOff x="6265862" y="89519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89519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3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Aktuell</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Team IT</a:t>
              </a:r>
              <a:endParaRPr sz="788" b="0" i="0" dirty="0">
                <a:solidFill>
                  <a:srgbClr val="2867C9"/>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3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und Benchmark-Vergleich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Der eNPS gibt an, inwieweit Ihre Mitarbeitenden Ihr Unternehmen als guten Arbeitgeber empfehlen würden.</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162288" y="1428750"/>
            <a:ext cx="675799" cy="171450"/>
            <a:chOff x="-120650" y="793750"/>
            <a:chExt cx="67579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7" y="810209"/>
              <a:ext cx="43291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Passive</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195241" y="1428750"/>
            <a:ext cx="1124744" cy="171450"/>
            <a:chOff x="2136775" y="793750"/>
            <a:chExt cx="1124744"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Promotor:innen</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595541" y="1428750"/>
            <a:ext cx="1124744" cy="171450"/>
            <a:chOff x="4537075" y="793750"/>
            <a:chExt cx="1124744"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Detraktor:innen</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2867C9"/>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Aktuell</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International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Ergebnisse nicht verfügbar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International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Aufschlüsselung nach 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der eNPS-Ergebnisse zwischen allen Ihren Befragungsgruppen.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2867C9"/>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2867C9"/>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025843" y="4897041"/>
            <a:ext cx="114300" cy="121444"/>
          </a:xfrm>
          <a:prstGeom prst="rect">
            <a:avLst/>
          </a:prstGeom>
        </p:spPr>
      </p:pic>
      <p:sp>
        <p:nvSpPr>
          <p:cNvPr id="49" name="New shape"/>
          <p:cNvSpPr txBox="1"/>
          <p:nvPr/>
        </p:nvSpPr>
        <p:spPr>
          <a:xfrm>
            <a:off x="121158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Die größten Differenzen im Vergleich zur letzten Befragung</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Höher als bei der letzten Befragung</a:t>
              </a:r>
            </a:p>
          </p:txBody>
        </p:sp>
      </p:grpSp>
      <p:grpSp>
        <p:nvGrpSpPr>
          <p:cNvPr id="6" name="Group 5"/>
          <p:cNvGrpSpPr/>
          <p:nvPr/>
        </p:nvGrpSpPr>
        <p:grpSpPr>
          <a:xfrm>
            <a:off x="4857750" y="1085850"/>
            <a:ext cx="2871788" cy="342900"/>
            <a:chOff x="4222750" y="450850"/>
            <a:chExt cx="2871788" cy="34290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450850"/>
              <a:ext cx="2514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Niedriger als bei der letzten Befragung</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6047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63690"/>
            <a:ext cx="165021" cy="165021"/>
          </a:xfrm>
          <a:prstGeom prst="rect">
            <a:avLst/>
          </a:prstGeom>
        </p:spPr>
      </p:pic>
      <p:sp>
        <p:nvSpPr>
          <p:cNvPr id="11" name="New shape"/>
          <p:cNvSpPr txBox="1"/>
          <p:nvPr/>
        </p:nvSpPr>
        <p:spPr>
          <a:xfrm>
            <a:off x="457200" y="1746250"/>
            <a:ext cx="2662588"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a:t>
            </a:r>
            <a:r>
              <a:rPr sz="900" b="0" i="0" dirty="0" err="1">
                <a:solidFill>
                  <a:srgbClr val="192743"/>
                </a:solidFill>
                <a:latin typeface="Poppins"/>
              </a:rPr>
              <a:t>glaube</a:t>
            </a:r>
            <a:r>
              <a:rPr sz="900" b="0" i="0" dirty="0">
                <a:solidFill>
                  <a:srgbClr val="192743"/>
                </a:solidFill>
                <a:latin typeface="Poppins"/>
              </a:rPr>
              <a:t>, </a:t>
            </a:r>
            <a:r>
              <a:rPr sz="900" b="0" i="0" dirty="0" err="1">
                <a:solidFill>
                  <a:srgbClr val="192743"/>
                </a:solidFill>
                <a:latin typeface="Poppins"/>
              </a:rPr>
              <a:t>dass</a:t>
            </a:r>
            <a:r>
              <a:rPr sz="900" b="0" i="0" dirty="0">
                <a:solidFill>
                  <a:srgbClr val="192743"/>
                </a:solidFill>
                <a:latin typeface="Poppins"/>
              </a:rPr>
              <a:t> ich gut </a:t>
            </a:r>
            <a:r>
              <a:rPr sz="900" b="0" i="0" dirty="0" err="1">
                <a:solidFill>
                  <a:srgbClr val="192743"/>
                </a:solidFill>
                <a:latin typeface="Poppins"/>
              </a:rPr>
              <a:t>zu</a:t>
            </a:r>
            <a:r>
              <a:rPr sz="900" b="0" i="0" dirty="0">
                <a:solidFill>
                  <a:srgbClr val="192743"/>
                </a:solidFill>
                <a:latin typeface="Poppins"/>
              </a:rPr>
              <a:t> </a:t>
            </a:r>
            <a:r>
              <a:rPr lang="en-US" sz="900" b="0" i="0" dirty="0">
                <a:solidFill>
                  <a:srgbClr val="192743"/>
                </a:solidFill>
                <a:latin typeface="Poppins"/>
              </a:rPr>
              <a:t>Team IT</a:t>
            </a:r>
            <a:r>
              <a:rPr sz="900" b="0" i="0" dirty="0">
                <a:solidFill>
                  <a:srgbClr val="192743"/>
                </a:solidFill>
                <a:latin typeface="Poppins"/>
              </a:rPr>
              <a:t> passe</a:t>
            </a:r>
          </a:p>
        </p:txBody>
      </p:sp>
      <p:sp>
        <p:nvSpPr>
          <p:cNvPr id="12" name="New shape"/>
          <p:cNvSpPr/>
          <p:nvPr/>
        </p:nvSpPr>
        <p:spPr>
          <a:xfrm>
            <a:off x="3073336" y="1803400"/>
            <a:ext cx="269939"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3400425" y="16605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605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15" name="New shape"/>
          <p:cNvSpPr txBox="1"/>
          <p:nvPr/>
        </p:nvSpPr>
        <p:spPr>
          <a:xfrm>
            <a:off x="457200" y="2260600"/>
            <a:ext cx="28725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Die </a:t>
            </a:r>
            <a:r>
              <a:rPr sz="900" b="0" i="0" dirty="0" err="1">
                <a:solidFill>
                  <a:srgbClr val="192743"/>
                </a:solidFill>
                <a:latin typeface="Poppins"/>
              </a:rPr>
              <a:t>Zukunftsvision</a:t>
            </a:r>
            <a:r>
              <a:rPr sz="900" b="0" i="0" dirty="0">
                <a:solidFill>
                  <a:srgbClr val="192743"/>
                </a:solidFill>
                <a:latin typeface="Poppins"/>
              </a:rPr>
              <a:t> von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inspiriert</a:t>
            </a:r>
            <a:r>
              <a:rPr sz="900" b="0" i="0" dirty="0">
                <a:solidFill>
                  <a:srgbClr val="192743"/>
                </a:solidFill>
                <a:latin typeface="Poppins"/>
              </a:rPr>
              <a:t> </a:t>
            </a:r>
            <a:r>
              <a:rPr sz="900" b="0" i="0" dirty="0" err="1">
                <a:solidFill>
                  <a:srgbClr val="192743"/>
                </a:solidFill>
                <a:latin typeface="Poppins"/>
              </a:rPr>
              <a:t>mich</a:t>
            </a:r>
            <a:endParaRPr sz="900" b="0" i="0" dirty="0">
              <a:solidFill>
                <a:srgbClr val="192743"/>
              </a:solidFill>
              <a:latin typeface="Poppins"/>
            </a:endParaRPr>
          </a:p>
        </p:txBody>
      </p:sp>
      <p:sp>
        <p:nvSpPr>
          <p:cNvPr id="16" name="New shape"/>
          <p:cNvSpPr/>
          <p:nvPr/>
        </p:nvSpPr>
        <p:spPr>
          <a:xfrm>
            <a:off x="3283379" y="2317750"/>
            <a:ext cx="5989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748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748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20" name="New shape"/>
          <p:cNvSpPr txBox="1"/>
          <p:nvPr/>
        </p:nvSpPr>
        <p:spPr>
          <a:xfrm>
            <a:off x="457200" y="26892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gute Möglichkeiten, mich beruflich und persönlich weiterzuentwickeln</a:t>
            </a:r>
          </a:p>
        </p:txBody>
      </p:sp>
      <p:sp>
        <p:nvSpPr>
          <p:cNvPr id="21" name="New shape"/>
          <p:cNvSpPr txBox="1"/>
          <p:nvPr/>
        </p:nvSpPr>
        <p:spPr>
          <a:xfrm>
            <a:off x="3400425" y="26892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22" name="New shape"/>
          <p:cNvSpPr txBox="1"/>
          <p:nvPr/>
        </p:nvSpPr>
        <p:spPr>
          <a:xfrm>
            <a:off x="3886200" y="26892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3" name="New shape"/>
          <p:cNvSpPr txBox="1"/>
          <p:nvPr/>
        </p:nvSpPr>
        <p:spPr>
          <a:xfrm>
            <a:off x="457200" y="3289300"/>
            <a:ext cx="158573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motiviert mich</a:t>
            </a:r>
          </a:p>
        </p:txBody>
      </p:sp>
      <p:sp>
        <p:nvSpPr>
          <p:cNvPr id="24" name="New shape"/>
          <p:cNvSpPr/>
          <p:nvPr/>
        </p:nvSpPr>
        <p:spPr>
          <a:xfrm>
            <a:off x="2100088" y="3346450"/>
            <a:ext cx="12431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2035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6" name="New shape"/>
          <p:cNvSpPr txBox="1"/>
          <p:nvPr/>
        </p:nvSpPr>
        <p:spPr>
          <a:xfrm>
            <a:off x="3886200" y="32035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8" name="New shape"/>
          <p:cNvSpPr txBox="1"/>
          <p:nvPr/>
        </p:nvSpPr>
        <p:spPr>
          <a:xfrm>
            <a:off x="457200" y="37179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Meine Fähigkeiten und Kenntnisse passen zu meinem Job</a:t>
            </a:r>
          </a:p>
        </p:txBody>
      </p:sp>
      <p:sp>
        <p:nvSpPr>
          <p:cNvPr id="29" name="New shape"/>
          <p:cNvSpPr txBox="1"/>
          <p:nvPr/>
        </p:nvSpPr>
        <p:spPr>
          <a:xfrm>
            <a:off x="3400425" y="37179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30" name="New shape"/>
          <p:cNvSpPr txBox="1"/>
          <p:nvPr/>
        </p:nvSpPr>
        <p:spPr>
          <a:xfrm>
            <a:off x="3886200" y="37179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6047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63690"/>
            <a:ext cx="165021" cy="165021"/>
          </a:xfrm>
          <a:prstGeom prst="rect">
            <a:avLst/>
          </a:prstGeom>
        </p:spPr>
      </p:pic>
      <p:sp>
        <p:nvSpPr>
          <p:cNvPr id="33" name="New shape"/>
          <p:cNvSpPr txBox="1"/>
          <p:nvPr/>
        </p:nvSpPr>
        <p:spPr>
          <a:xfrm>
            <a:off x="4857750" y="1746250"/>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macht mir Spaß</a:t>
            </a:r>
          </a:p>
        </p:txBody>
      </p:sp>
      <p:sp>
        <p:nvSpPr>
          <p:cNvPr id="34" name="New shape"/>
          <p:cNvSpPr/>
          <p:nvPr/>
        </p:nvSpPr>
        <p:spPr>
          <a:xfrm>
            <a:off x="6603254" y="1803400"/>
            <a:ext cx="114057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5" name="New shape"/>
          <p:cNvSpPr txBox="1"/>
          <p:nvPr/>
        </p:nvSpPr>
        <p:spPr>
          <a:xfrm>
            <a:off x="7800975" y="16605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36" name="New shape"/>
          <p:cNvSpPr txBox="1"/>
          <p:nvPr/>
        </p:nvSpPr>
        <p:spPr>
          <a:xfrm>
            <a:off x="8286750" y="16605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38" name="New shape"/>
          <p:cNvSpPr txBox="1"/>
          <p:nvPr/>
        </p:nvSpPr>
        <p:spPr>
          <a:xfrm>
            <a:off x="4857750" y="21748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Mein Team </a:t>
            </a:r>
            <a:r>
              <a:rPr sz="900" b="0" i="0" dirty="0" err="1">
                <a:solidFill>
                  <a:srgbClr val="192743"/>
                </a:solidFill>
                <a:latin typeface="Poppins"/>
              </a:rPr>
              <a:t>weiß</a:t>
            </a:r>
            <a:r>
              <a:rPr sz="900" b="0" i="0" dirty="0">
                <a:solidFill>
                  <a:srgbClr val="192743"/>
                </a:solidFill>
                <a:latin typeface="Poppins"/>
              </a:rPr>
              <a:t>, was </a:t>
            </a:r>
            <a:r>
              <a:rPr sz="900" b="0" i="0" dirty="0" err="1">
                <a:solidFill>
                  <a:srgbClr val="192743"/>
                </a:solidFill>
                <a:latin typeface="Poppins"/>
              </a:rPr>
              <a:t>getan</a:t>
            </a:r>
            <a:r>
              <a:rPr sz="900" b="0" i="0" dirty="0">
                <a:solidFill>
                  <a:srgbClr val="192743"/>
                </a:solidFill>
                <a:latin typeface="Poppins"/>
              </a:rPr>
              <a:t> </a:t>
            </a:r>
            <a:r>
              <a:rPr sz="900" b="0" i="0" dirty="0" err="1">
                <a:solidFill>
                  <a:srgbClr val="192743"/>
                </a:solidFill>
                <a:latin typeface="Poppins"/>
              </a:rPr>
              <a:t>werden</a:t>
            </a:r>
            <a:r>
              <a:rPr sz="900" b="0" i="0" dirty="0">
                <a:solidFill>
                  <a:srgbClr val="192743"/>
                </a:solidFill>
                <a:latin typeface="Poppins"/>
              </a:rPr>
              <a:t> muss, um </a:t>
            </a:r>
            <a:r>
              <a:rPr sz="900" b="0" i="0" dirty="0" err="1">
                <a:solidFill>
                  <a:srgbClr val="192743"/>
                </a:solidFill>
                <a:latin typeface="Poppins"/>
              </a:rPr>
              <a:t>zum</a:t>
            </a:r>
            <a:r>
              <a:rPr sz="900" b="0" i="0" dirty="0">
                <a:solidFill>
                  <a:srgbClr val="192743"/>
                </a:solidFill>
                <a:latin typeface="Poppins"/>
              </a:rPr>
              <a:t> </a:t>
            </a:r>
            <a:r>
              <a:rPr sz="900" b="0" i="0" dirty="0" err="1">
                <a:solidFill>
                  <a:srgbClr val="192743"/>
                </a:solidFill>
                <a:latin typeface="Poppins"/>
              </a:rPr>
              <a:t>Erfolg</a:t>
            </a:r>
            <a:r>
              <a:rPr sz="900" b="0" i="0" dirty="0">
                <a:solidFill>
                  <a:srgbClr val="192743"/>
                </a:solidFill>
                <a:latin typeface="Poppins"/>
              </a:rPr>
              <a:t> von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beizutragen</a:t>
            </a:r>
            <a:endParaRPr sz="900" b="0" i="0" dirty="0">
              <a:solidFill>
                <a:srgbClr val="192743"/>
              </a:solidFill>
              <a:latin typeface="Poppins"/>
            </a:endParaRPr>
          </a:p>
        </p:txBody>
      </p:sp>
      <p:sp>
        <p:nvSpPr>
          <p:cNvPr id="39" name="New shape"/>
          <p:cNvSpPr txBox="1"/>
          <p:nvPr/>
        </p:nvSpPr>
        <p:spPr>
          <a:xfrm>
            <a:off x="7800975" y="21748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40" name="New shape"/>
          <p:cNvSpPr txBox="1"/>
          <p:nvPr/>
        </p:nvSpPr>
        <p:spPr>
          <a:xfrm>
            <a:off x="8286750" y="21748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-5%</a:t>
            </a:r>
          </a:p>
        </p:txBody>
      </p:sp>
      <p:sp>
        <p:nvSpPr>
          <p:cNvPr id="42" name="New shape"/>
          <p:cNvSpPr txBox="1"/>
          <p:nvPr/>
        </p:nvSpPr>
        <p:spPr>
          <a:xfrm>
            <a:off x="4857750" y="26892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err="1">
                <a:solidFill>
                  <a:srgbClr val="192743"/>
                </a:solidFill>
                <a:latin typeface="Poppins"/>
              </a:rPr>
              <a:t>Innerhalb</a:t>
            </a:r>
            <a:r>
              <a:rPr sz="900" b="0" i="0" dirty="0">
                <a:solidFill>
                  <a:srgbClr val="192743"/>
                </a:solidFill>
                <a:latin typeface="Poppins"/>
              </a:rPr>
              <a:t> von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werden</a:t>
            </a:r>
            <a:r>
              <a:rPr sz="900" b="0" i="0" dirty="0">
                <a:solidFill>
                  <a:srgbClr val="192743"/>
                </a:solidFill>
                <a:latin typeface="Poppins"/>
              </a:rPr>
              <a:t> die </a:t>
            </a:r>
            <a:r>
              <a:rPr sz="900" b="0" i="0" dirty="0" err="1">
                <a:solidFill>
                  <a:srgbClr val="192743"/>
                </a:solidFill>
                <a:latin typeface="Poppins"/>
              </a:rPr>
              <a:t>Mitarbeitenden</a:t>
            </a:r>
            <a:r>
              <a:rPr sz="900" b="0" i="0" dirty="0">
                <a:solidFill>
                  <a:srgbClr val="192743"/>
                </a:solidFill>
                <a:latin typeface="Poppins"/>
              </a:rPr>
              <a:t> fair </a:t>
            </a:r>
            <a:r>
              <a:rPr sz="900" b="0" i="0" dirty="0" err="1">
                <a:solidFill>
                  <a:srgbClr val="192743"/>
                </a:solidFill>
                <a:latin typeface="Poppins"/>
              </a:rPr>
              <a:t>behandelt</a:t>
            </a:r>
            <a:endParaRPr sz="900" b="0" i="0" dirty="0">
              <a:solidFill>
                <a:srgbClr val="192743"/>
              </a:solidFill>
              <a:latin typeface="Poppins"/>
            </a:endParaRPr>
          </a:p>
        </p:txBody>
      </p:sp>
      <p:sp>
        <p:nvSpPr>
          <p:cNvPr id="43" name="New shape"/>
          <p:cNvSpPr txBox="1"/>
          <p:nvPr/>
        </p:nvSpPr>
        <p:spPr>
          <a:xfrm>
            <a:off x="7800975" y="26892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44" name="New shape"/>
          <p:cNvSpPr txBox="1"/>
          <p:nvPr/>
        </p:nvSpPr>
        <p:spPr>
          <a:xfrm>
            <a:off x="8286750" y="26892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a:t>
            </a:r>
          </a:p>
        </p:txBody>
      </p:sp>
      <p:sp>
        <p:nvSpPr>
          <p:cNvPr id="45" name="New shape"/>
          <p:cNvSpPr txBox="1"/>
          <p:nvPr/>
        </p:nvSpPr>
        <p:spPr>
          <a:xfrm>
            <a:off x="4857750" y="3289300"/>
            <a:ext cx="27651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war </a:t>
            </a:r>
            <a:r>
              <a:rPr sz="900" b="0" i="0" dirty="0" err="1">
                <a:solidFill>
                  <a:srgbClr val="192743"/>
                </a:solidFill>
                <a:latin typeface="Poppins"/>
              </a:rPr>
              <a:t>stolz</a:t>
            </a:r>
            <a:r>
              <a:rPr sz="900" b="0" i="0" dirty="0">
                <a:solidFill>
                  <a:srgbClr val="192743"/>
                </a:solidFill>
                <a:latin typeface="Poppins"/>
              </a:rPr>
              <a:t> </a:t>
            </a:r>
            <a:r>
              <a:rPr sz="900" b="0" i="0" dirty="0" err="1">
                <a:solidFill>
                  <a:srgbClr val="192743"/>
                </a:solidFill>
                <a:latin typeface="Poppins"/>
              </a:rPr>
              <a:t>darauf</a:t>
            </a:r>
            <a:r>
              <a:rPr sz="900" b="0" i="0" dirty="0">
                <a:solidFill>
                  <a:srgbClr val="192743"/>
                </a:solidFill>
                <a:latin typeface="Poppins"/>
              </a:rPr>
              <a:t>, für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zu</a:t>
            </a:r>
            <a:r>
              <a:rPr sz="900" b="0" i="0" dirty="0">
                <a:solidFill>
                  <a:srgbClr val="192743"/>
                </a:solidFill>
                <a:latin typeface="Poppins"/>
              </a:rPr>
              <a:t> </a:t>
            </a:r>
            <a:r>
              <a:rPr sz="900" b="0" i="0" dirty="0" err="1">
                <a:solidFill>
                  <a:srgbClr val="192743"/>
                </a:solidFill>
                <a:latin typeface="Poppins"/>
              </a:rPr>
              <a:t>arbeiten</a:t>
            </a:r>
            <a:endParaRPr sz="900" b="0" i="0" dirty="0">
              <a:solidFill>
                <a:srgbClr val="192743"/>
              </a:solidFill>
              <a:latin typeface="Poppins"/>
            </a:endParaRPr>
          </a:p>
        </p:txBody>
      </p:sp>
      <p:sp>
        <p:nvSpPr>
          <p:cNvPr id="46" name="New shape"/>
          <p:cNvSpPr/>
          <p:nvPr/>
        </p:nvSpPr>
        <p:spPr>
          <a:xfrm>
            <a:off x="7576503" y="3346450"/>
            <a:ext cx="16732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a:off x="7800975" y="32035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8" name="New shape"/>
          <p:cNvSpPr txBox="1"/>
          <p:nvPr/>
        </p:nvSpPr>
        <p:spPr>
          <a:xfrm>
            <a:off x="8286750" y="32035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0" name="New shape"/>
          <p:cNvSpPr txBox="1"/>
          <p:nvPr/>
        </p:nvSpPr>
        <p:spPr>
          <a:xfrm>
            <a:off x="4857750" y="37179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 Team erarbeitet regelmäßig neue und gute Verbesserungsvorschläge</a:t>
            </a:r>
          </a:p>
        </p:txBody>
      </p:sp>
      <p:sp>
        <p:nvSpPr>
          <p:cNvPr id="51" name="New shape"/>
          <p:cNvSpPr txBox="1"/>
          <p:nvPr/>
        </p:nvSpPr>
        <p:spPr>
          <a:xfrm>
            <a:off x="7800975" y="37179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52" name="New shape"/>
          <p:cNvSpPr txBox="1"/>
          <p:nvPr/>
        </p:nvSpPr>
        <p:spPr>
          <a:xfrm>
            <a:off x="8286750" y="37179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3" name="New shape"/>
          <p:cNvSpPr/>
          <p:nvPr/>
        </p:nvSpPr>
        <p:spPr>
          <a:xfrm flipH="1">
            <a:off x="4572000" y="1574800"/>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Aktuell</a:t>
            </a:r>
            <a:r>
              <a:rPr sz="675" b="0" i="0" dirty="0">
                <a:solidFill>
                  <a:srgbClr val="2867C9"/>
                </a:solidFill>
                <a:latin typeface="Poppins"/>
              </a:rPr>
              <a:t>: </a:t>
            </a:r>
            <a:r>
              <a:rPr lang="en-US" sz="675" b="0" i="0" dirty="0">
                <a:solidFill>
                  <a:srgbClr val="2867C9"/>
                </a:solidFill>
                <a:latin typeface="Poppins"/>
              </a:rPr>
              <a:t>Team IT</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9</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Größte Unterschiede im Vergleich zur Benchmark</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Höher als die Benchmark</a:t>
              </a:r>
            </a:p>
          </p:txBody>
        </p:sp>
      </p:grpSp>
      <p:grpSp>
        <p:nvGrpSpPr>
          <p:cNvPr id="6" name="Group 5"/>
          <p:cNvGrpSpPr/>
          <p:nvPr/>
        </p:nvGrpSpPr>
        <p:grpSpPr>
          <a:xfrm>
            <a:off x="4857750" y="1114425"/>
            <a:ext cx="2871788" cy="285750"/>
            <a:chOff x="4222750" y="479425"/>
            <a:chExt cx="2871788" cy="28575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Niedriger als die Benchmark</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0332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06540"/>
            <a:ext cx="165021" cy="165021"/>
          </a:xfrm>
          <a:prstGeom prst="rect">
            <a:avLst/>
          </a:prstGeom>
        </p:spPr>
      </p:pic>
      <p:sp>
        <p:nvSpPr>
          <p:cNvPr id="12" name="New shape"/>
          <p:cNvSpPr txBox="1"/>
          <p:nvPr/>
        </p:nvSpPr>
        <p:spPr>
          <a:xfrm>
            <a:off x="45720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gute Möglichkeiten, mich beruflich und persönlich weiterzuentwickeln</a:t>
            </a:r>
          </a:p>
        </p:txBody>
      </p:sp>
      <p:sp>
        <p:nvSpPr>
          <p:cNvPr id="13" name="New shape"/>
          <p:cNvSpPr txBox="1"/>
          <p:nvPr/>
        </p:nvSpPr>
        <p:spPr>
          <a:xfrm>
            <a:off x="340042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033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5" name="New shape"/>
          <p:cNvSpPr txBox="1"/>
          <p:nvPr/>
        </p:nvSpPr>
        <p:spPr>
          <a:xfrm>
            <a:off x="457200" y="2203450"/>
            <a:ext cx="28725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Die </a:t>
            </a:r>
            <a:r>
              <a:rPr sz="900" b="0" i="0" dirty="0" err="1">
                <a:solidFill>
                  <a:srgbClr val="192743"/>
                </a:solidFill>
                <a:latin typeface="Poppins"/>
              </a:rPr>
              <a:t>Zukunftsvision</a:t>
            </a:r>
            <a:r>
              <a:rPr sz="900" b="0" i="0" dirty="0">
                <a:solidFill>
                  <a:srgbClr val="192743"/>
                </a:solidFill>
                <a:latin typeface="Poppins"/>
              </a:rPr>
              <a:t> von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inspiriert</a:t>
            </a:r>
            <a:r>
              <a:rPr sz="900" b="0" i="0" dirty="0">
                <a:solidFill>
                  <a:srgbClr val="192743"/>
                </a:solidFill>
                <a:latin typeface="Poppins"/>
              </a:rPr>
              <a:t> </a:t>
            </a:r>
            <a:r>
              <a:rPr sz="900" b="0" i="0" dirty="0" err="1">
                <a:solidFill>
                  <a:srgbClr val="192743"/>
                </a:solidFill>
                <a:latin typeface="Poppins"/>
              </a:rPr>
              <a:t>mich</a:t>
            </a:r>
            <a:endParaRPr sz="900" b="0" i="0" dirty="0">
              <a:solidFill>
                <a:srgbClr val="192743"/>
              </a:solidFill>
              <a:latin typeface="Poppins"/>
            </a:endParaRPr>
          </a:p>
        </p:txBody>
      </p:sp>
      <p:sp>
        <p:nvSpPr>
          <p:cNvPr id="16" name="New shape"/>
          <p:cNvSpPr/>
          <p:nvPr/>
        </p:nvSpPr>
        <p:spPr>
          <a:xfrm>
            <a:off x="3283379" y="2260600"/>
            <a:ext cx="5989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177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9" name="New shape"/>
          <p:cNvSpPr txBox="1"/>
          <p:nvPr/>
        </p:nvSpPr>
        <p:spPr>
          <a:xfrm>
            <a:off x="457200" y="2717800"/>
            <a:ext cx="158573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motiviert mich</a:t>
            </a:r>
          </a:p>
        </p:txBody>
      </p:sp>
      <p:sp>
        <p:nvSpPr>
          <p:cNvPr id="20" name="New shape"/>
          <p:cNvSpPr/>
          <p:nvPr/>
        </p:nvSpPr>
        <p:spPr>
          <a:xfrm>
            <a:off x="2100088" y="2774950"/>
            <a:ext cx="12431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40042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2" name="New shape"/>
          <p:cNvSpPr txBox="1"/>
          <p:nvPr/>
        </p:nvSpPr>
        <p:spPr>
          <a:xfrm>
            <a:off x="3886200" y="26320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23" name="New shape"/>
          <p:cNvSpPr txBox="1"/>
          <p:nvPr/>
        </p:nvSpPr>
        <p:spPr>
          <a:xfrm>
            <a:off x="457200" y="3232150"/>
            <a:ext cx="2180084"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Bei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wird</a:t>
            </a:r>
            <a:r>
              <a:rPr sz="900" b="0" i="0" dirty="0">
                <a:solidFill>
                  <a:srgbClr val="192743"/>
                </a:solidFill>
                <a:latin typeface="Poppins"/>
              </a:rPr>
              <a:t> </a:t>
            </a:r>
            <a:r>
              <a:rPr sz="900" b="0" i="0" dirty="0" err="1">
                <a:solidFill>
                  <a:srgbClr val="192743"/>
                </a:solidFill>
                <a:latin typeface="Poppins"/>
              </a:rPr>
              <a:t>Leistung</a:t>
            </a:r>
            <a:r>
              <a:rPr sz="900" b="0" i="0" dirty="0">
                <a:solidFill>
                  <a:srgbClr val="192743"/>
                </a:solidFill>
                <a:latin typeface="Poppins"/>
              </a:rPr>
              <a:t> </a:t>
            </a:r>
            <a:r>
              <a:rPr sz="900" b="0" i="0" dirty="0" err="1">
                <a:solidFill>
                  <a:srgbClr val="192743"/>
                </a:solidFill>
                <a:latin typeface="Poppins"/>
              </a:rPr>
              <a:t>belohnt</a:t>
            </a:r>
            <a:endParaRPr sz="900" b="0" i="0" dirty="0">
              <a:solidFill>
                <a:srgbClr val="192743"/>
              </a:solidFill>
              <a:latin typeface="Poppins"/>
            </a:endParaRPr>
          </a:p>
        </p:txBody>
      </p:sp>
      <p:sp>
        <p:nvSpPr>
          <p:cNvPr id="24" name="New shape"/>
          <p:cNvSpPr/>
          <p:nvPr/>
        </p:nvSpPr>
        <p:spPr>
          <a:xfrm>
            <a:off x="2590721" y="3289300"/>
            <a:ext cx="75255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71%</a:t>
            </a:r>
          </a:p>
        </p:txBody>
      </p:sp>
      <p:sp>
        <p:nvSpPr>
          <p:cNvPr id="26" name="New shape"/>
          <p:cNvSpPr txBox="1"/>
          <p:nvPr/>
        </p:nvSpPr>
        <p:spPr>
          <a:xfrm>
            <a:off x="3886200" y="31464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28" name="New shape"/>
          <p:cNvSpPr txBox="1"/>
          <p:nvPr/>
        </p:nvSpPr>
        <p:spPr>
          <a:xfrm>
            <a:off x="45720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erhalte regelmäßig nützliches Feedback zu meiner Leistung</a:t>
            </a:r>
          </a:p>
        </p:txBody>
      </p:sp>
      <p:sp>
        <p:nvSpPr>
          <p:cNvPr id="29" name="New shape"/>
          <p:cNvSpPr txBox="1"/>
          <p:nvPr/>
        </p:nvSpPr>
        <p:spPr>
          <a:xfrm>
            <a:off x="340042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30" name="New shape"/>
          <p:cNvSpPr txBox="1"/>
          <p:nvPr/>
        </p:nvSpPr>
        <p:spPr>
          <a:xfrm>
            <a:off x="3886200" y="36607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0332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06540"/>
            <a:ext cx="165021" cy="165021"/>
          </a:xfrm>
          <a:prstGeom prst="rect">
            <a:avLst/>
          </a:prstGeom>
        </p:spPr>
      </p:pic>
      <p:sp>
        <p:nvSpPr>
          <p:cNvPr id="34" name="New shape"/>
          <p:cNvSpPr txBox="1"/>
          <p:nvPr/>
        </p:nvSpPr>
        <p:spPr>
          <a:xfrm>
            <a:off x="485775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weiß, welche Arbeitsergebnisse von mir erwartet werden</a:t>
            </a:r>
          </a:p>
        </p:txBody>
      </p:sp>
      <p:sp>
        <p:nvSpPr>
          <p:cNvPr id="35" name="New shape"/>
          <p:cNvSpPr txBox="1"/>
          <p:nvPr/>
        </p:nvSpPr>
        <p:spPr>
          <a:xfrm>
            <a:off x="780097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36" name="New shape"/>
          <p:cNvSpPr txBox="1"/>
          <p:nvPr/>
        </p:nvSpPr>
        <p:spPr>
          <a:xfrm>
            <a:off x="8286750" y="16033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-25%</a:t>
            </a:r>
          </a:p>
        </p:txBody>
      </p:sp>
      <p:sp>
        <p:nvSpPr>
          <p:cNvPr id="37" name="New shape"/>
          <p:cNvSpPr txBox="1"/>
          <p:nvPr/>
        </p:nvSpPr>
        <p:spPr>
          <a:xfrm>
            <a:off x="4857750" y="2203450"/>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macht mir Spaß</a:t>
            </a:r>
          </a:p>
        </p:txBody>
      </p:sp>
      <p:sp>
        <p:nvSpPr>
          <p:cNvPr id="38" name="New shape"/>
          <p:cNvSpPr/>
          <p:nvPr/>
        </p:nvSpPr>
        <p:spPr>
          <a:xfrm>
            <a:off x="6603254" y="2260600"/>
            <a:ext cx="114057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9" name="New shape"/>
          <p:cNvSpPr txBox="1"/>
          <p:nvPr/>
        </p:nvSpPr>
        <p:spPr>
          <a:xfrm>
            <a:off x="780097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40" name="New shape"/>
          <p:cNvSpPr txBox="1"/>
          <p:nvPr/>
        </p:nvSpPr>
        <p:spPr>
          <a:xfrm>
            <a:off x="8286750" y="21177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42" name="New shape"/>
          <p:cNvSpPr txBox="1"/>
          <p:nvPr/>
        </p:nvSpPr>
        <p:spPr>
          <a:xfrm>
            <a:off x="4857750" y="2632075"/>
            <a:ext cx="288607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die Arbeitsmittel, die ich brauche, um gute Arbeit zu leisten  (z.B. Werkzeuge, Geräte, Software, Materialien, usw.)</a:t>
            </a:r>
          </a:p>
        </p:txBody>
      </p:sp>
      <p:sp>
        <p:nvSpPr>
          <p:cNvPr id="43" name="New shape"/>
          <p:cNvSpPr txBox="1"/>
          <p:nvPr/>
        </p:nvSpPr>
        <p:spPr>
          <a:xfrm>
            <a:off x="7800975" y="2632075"/>
            <a:ext cx="457200" cy="41148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4" name="New shape"/>
          <p:cNvSpPr txBox="1"/>
          <p:nvPr/>
        </p:nvSpPr>
        <p:spPr>
          <a:xfrm>
            <a:off x="8286750" y="2632075"/>
            <a:ext cx="457200" cy="41148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46" name="New shape"/>
          <p:cNvSpPr txBox="1"/>
          <p:nvPr/>
        </p:nvSpPr>
        <p:spPr>
          <a:xfrm>
            <a:off x="4857750" y="327215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Meine Fähigkeiten und Kenntnisse passen zu meinem Job</a:t>
            </a:r>
          </a:p>
        </p:txBody>
      </p:sp>
      <p:sp>
        <p:nvSpPr>
          <p:cNvPr id="47" name="New shape"/>
          <p:cNvSpPr txBox="1"/>
          <p:nvPr/>
        </p:nvSpPr>
        <p:spPr>
          <a:xfrm>
            <a:off x="7800975" y="327215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48" name="New shape"/>
          <p:cNvSpPr txBox="1"/>
          <p:nvPr/>
        </p:nvSpPr>
        <p:spPr>
          <a:xfrm>
            <a:off x="8286750" y="327215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50" name="New shape"/>
          <p:cNvSpPr txBox="1"/>
          <p:nvPr/>
        </p:nvSpPr>
        <p:spPr>
          <a:xfrm>
            <a:off x="4857750" y="378650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Wichtige Informationen sind für mich leicht zugänglich</a:t>
            </a:r>
          </a:p>
        </p:txBody>
      </p:sp>
      <p:sp>
        <p:nvSpPr>
          <p:cNvPr id="51" name="New shape"/>
          <p:cNvSpPr txBox="1"/>
          <p:nvPr/>
        </p:nvSpPr>
        <p:spPr>
          <a:xfrm>
            <a:off x="7800975" y="378650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52" name="New shape"/>
          <p:cNvSpPr txBox="1"/>
          <p:nvPr/>
        </p:nvSpPr>
        <p:spPr>
          <a:xfrm>
            <a:off x="8286750" y="378650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53" name="New shape"/>
          <p:cNvSpPr/>
          <p:nvPr/>
        </p:nvSpPr>
        <p:spPr>
          <a:xfrm flipH="1">
            <a:off x="4572000" y="1517650"/>
            <a:ext cx="0" cy="269748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Aktuell</a:t>
            </a:r>
            <a:r>
              <a:rPr sz="675" b="0" i="0" dirty="0">
                <a:solidFill>
                  <a:srgbClr val="2867C9"/>
                </a:solidFill>
                <a:latin typeface="Poppins"/>
              </a:rPr>
              <a:t>: </a:t>
            </a:r>
            <a:r>
              <a:rPr lang="en-US" sz="675" b="0" i="0" dirty="0">
                <a:solidFill>
                  <a:srgbClr val="2867C9"/>
                </a:solidFill>
                <a:latin typeface="Poppins"/>
              </a:rPr>
              <a:t>Team IT</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36724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Themen</a:t>
            </a:r>
            <a:r>
              <a:rPr sz="2250" b="1" i="0" dirty="0">
                <a:solidFill>
                  <a:srgbClr val="192743"/>
                </a:solidFill>
                <a:latin typeface="Poppins"/>
              </a:rPr>
              <a:t> für </a:t>
            </a:r>
            <a:r>
              <a:rPr lang="en-US" sz="2250" b="1" i="0" dirty="0">
                <a:solidFill>
                  <a:srgbClr val="192743"/>
                </a:solidFill>
                <a:latin typeface="Poppins"/>
              </a:rPr>
              <a:t>Team IT</a:t>
            </a:r>
            <a:endParaRPr sz="2250" b="1" i="0" dirty="0">
              <a:solidFill>
                <a:srgbClr val="192743"/>
              </a:solidFill>
              <a:latin typeface="Poppins"/>
            </a:endParaRPr>
          </a:p>
        </p:txBody>
      </p:sp>
      <p:sp>
        <p:nvSpPr>
          <p:cNvPr id="3" name="New shape"/>
          <p:cNvSpPr txBox="1"/>
          <p:nvPr/>
        </p:nvSpPr>
        <p:spPr>
          <a:xfrm>
            <a:off x="457200" y="838007"/>
            <a:ext cx="167353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Ausgewählt</a:t>
            </a:r>
            <a:r>
              <a:rPr sz="900" b="0" i="0" dirty="0">
                <a:solidFill>
                  <a:srgbClr val="546178"/>
                </a:solidFill>
                <a:latin typeface="Poppins"/>
              </a:rPr>
              <a:t> von </a:t>
            </a:r>
            <a:r>
              <a:rPr lang="en-US" sz="900" b="0" i="0" dirty="0">
                <a:solidFill>
                  <a:srgbClr val="546178"/>
                </a:solidFill>
                <a:latin typeface="Poppins"/>
              </a:rPr>
              <a:t>Team IT</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sticht für Sie wirklich positiv hervor?</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Kommunikation in meinem Unternehmen</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haben Sie gesehen oder erlebt, das verbessert werden könnte? Vergessen Sie nicht, uns einen Vorschlag dazu zu geben.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Teamdynamik (Atmosphäre, Vertrauen)</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Befragte</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Im Fokus: Indizes mit den niedrigsten Ergebnissen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Verteilung der Antworten</a:t>
            </a:r>
          </a:p>
        </p:txBody>
      </p:sp>
      <p:sp>
        <p:nvSpPr>
          <p:cNvPr id="3"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Engagement</a:t>
            </a:r>
          </a:p>
        </p:txBody>
      </p:sp>
      <p:sp>
        <p:nvSpPr>
          <p:cNvPr id="5" name="New shape"/>
          <p:cNvSpPr txBox="1"/>
          <p:nvPr/>
        </p:nvSpPr>
        <p:spPr>
          <a:xfrm>
            <a:off x="528638" y="1580940"/>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Meine Arbeit macht mir Spaß</a:t>
            </a:r>
          </a:p>
        </p:txBody>
      </p:sp>
      <p:sp>
        <p:nvSpPr>
          <p:cNvPr id="6" name="New shape"/>
          <p:cNvSpPr/>
          <p:nvPr/>
        </p:nvSpPr>
        <p:spPr>
          <a:xfrm>
            <a:off x="5757862" y="1549051"/>
            <a:ext cx="175564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7" name="New shape"/>
          <p:cNvSpPr/>
          <p:nvPr/>
        </p:nvSpPr>
        <p:spPr>
          <a:xfrm>
            <a:off x="7527798" y="15490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8" name="New shape"/>
          <p:cNvSpPr/>
          <p:nvPr/>
        </p:nvSpPr>
        <p:spPr>
          <a:xfrm>
            <a:off x="7871269" y="1549051"/>
            <a:ext cx="65836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9" name="New shape"/>
          <p:cNvSpPr txBox="1"/>
          <p:nvPr/>
        </p:nvSpPr>
        <p:spPr>
          <a:xfrm>
            <a:off x="5729288" y="14165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10" name="New shape"/>
          <p:cNvSpPr txBox="1"/>
          <p:nvPr/>
        </p:nvSpPr>
        <p:spPr>
          <a:xfrm>
            <a:off x="7836694" y="14165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11"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528638" y="2038141"/>
            <a:ext cx="158573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Meine Arbeit motiviert mich</a:t>
            </a:r>
          </a:p>
        </p:txBody>
      </p:sp>
      <p:sp>
        <p:nvSpPr>
          <p:cNvPr id="13" name="New shape"/>
          <p:cNvSpPr/>
          <p:nvPr/>
        </p:nvSpPr>
        <p:spPr>
          <a:xfrm>
            <a:off x="5757862" y="20062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14" name="New shape"/>
          <p:cNvSpPr/>
          <p:nvPr/>
        </p:nvSpPr>
        <p:spPr>
          <a:xfrm>
            <a:off x="7747254" y="20062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5" name="New shape"/>
          <p:cNvSpPr/>
          <p:nvPr/>
        </p:nvSpPr>
        <p:spPr>
          <a:xfrm>
            <a:off x="8090725" y="20062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6" name="New shape"/>
          <p:cNvSpPr txBox="1"/>
          <p:nvPr/>
        </p:nvSpPr>
        <p:spPr>
          <a:xfrm>
            <a:off x="5729288" y="18737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17" name="New shape"/>
          <p:cNvSpPr txBox="1"/>
          <p:nvPr/>
        </p:nvSpPr>
        <p:spPr>
          <a:xfrm>
            <a:off x="7836694" y="18737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18"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528638" y="2495357"/>
            <a:ext cx="27651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Ich war </a:t>
            </a:r>
            <a:r>
              <a:rPr sz="900" b="0" i="0" dirty="0" err="1">
                <a:solidFill>
                  <a:srgbClr val="192743"/>
                </a:solidFill>
                <a:latin typeface="Poppins"/>
              </a:rPr>
              <a:t>stolz</a:t>
            </a:r>
            <a:r>
              <a:rPr sz="900" b="0" i="0" dirty="0">
                <a:solidFill>
                  <a:srgbClr val="192743"/>
                </a:solidFill>
                <a:latin typeface="Poppins"/>
              </a:rPr>
              <a:t> </a:t>
            </a:r>
            <a:r>
              <a:rPr sz="900" b="0" i="0" dirty="0" err="1">
                <a:solidFill>
                  <a:srgbClr val="192743"/>
                </a:solidFill>
                <a:latin typeface="Poppins"/>
              </a:rPr>
              <a:t>darauf</a:t>
            </a:r>
            <a:r>
              <a:rPr sz="900" b="0" i="0" dirty="0">
                <a:solidFill>
                  <a:srgbClr val="192743"/>
                </a:solidFill>
                <a:latin typeface="Poppins"/>
              </a:rPr>
              <a:t>, für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zu</a:t>
            </a:r>
            <a:r>
              <a:rPr sz="900" b="0" i="0" dirty="0">
                <a:solidFill>
                  <a:srgbClr val="192743"/>
                </a:solidFill>
                <a:latin typeface="Poppins"/>
              </a:rPr>
              <a:t> </a:t>
            </a:r>
            <a:r>
              <a:rPr sz="900" b="0" i="0" dirty="0" err="1">
                <a:solidFill>
                  <a:srgbClr val="192743"/>
                </a:solidFill>
                <a:latin typeface="Poppins"/>
              </a:rPr>
              <a:t>arbeiten</a:t>
            </a:r>
            <a:endParaRPr sz="900" b="0" i="0" dirty="0">
              <a:solidFill>
                <a:srgbClr val="192743"/>
              </a:solidFill>
              <a:latin typeface="Poppins"/>
            </a:endParaRPr>
          </a:p>
        </p:txBody>
      </p:sp>
      <p:sp>
        <p:nvSpPr>
          <p:cNvPr id="20" name="New shape"/>
          <p:cNvSpPr/>
          <p:nvPr/>
        </p:nvSpPr>
        <p:spPr>
          <a:xfrm>
            <a:off x="5757863" y="2463451"/>
            <a:ext cx="189280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1" name="New shape"/>
          <p:cNvSpPr/>
          <p:nvPr/>
        </p:nvSpPr>
        <p:spPr>
          <a:xfrm>
            <a:off x="7664958" y="24634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2" name="New shape"/>
          <p:cNvSpPr/>
          <p:nvPr/>
        </p:nvSpPr>
        <p:spPr>
          <a:xfrm>
            <a:off x="7926133" y="2463451"/>
            <a:ext cx="60350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23" name="New shape"/>
          <p:cNvSpPr txBox="1"/>
          <p:nvPr/>
        </p:nvSpPr>
        <p:spPr>
          <a:xfrm>
            <a:off x="5729288" y="23309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24" name="New shape"/>
          <p:cNvSpPr txBox="1"/>
          <p:nvPr/>
        </p:nvSpPr>
        <p:spPr>
          <a:xfrm>
            <a:off x="7836694" y="23309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25"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528638" y="2952557"/>
            <a:ext cx="2662588"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Ich </a:t>
            </a:r>
            <a:r>
              <a:rPr sz="900" b="0" i="0" dirty="0" err="1">
                <a:solidFill>
                  <a:srgbClr val="192743"/>
                </a:solidFill>
                <a:latin typeface="Poppins"/>
              </a:rPr>
              <a:t>glaube</a:t>
            </a:r>
            <a:r>
              <a:rPr sz="900" b="0" i="0" dirty="0">
                <a:solidFill>
                  <a:srgbClr val="192743"/>
                </a:solidFill>
                <a:latin typeface="Poppins"/>
              </a:rPr>
              <a:t>, </a:t>
            </a:r>
            <a:r>
              <a:rPr sz="900" b="0" i="0" dirty="0" err="1">
                <a:solidFill>
                  <a:srgbClr val="192743"/>
                </a:solidFill>
                <a:latin typeface="Poppins"/>
              </a:rPr>
              <a:t>dass</a:t>
            </a:r>
            <a:r>
              <a:rPr sz="900" b="0" i="0" dirty="0">
                <a:solidFill>
                  <a:srgbClr val="192743"/>
                </a:solidFill>
                <a:latin typeface="Poppins"/>
              </a:rPr>
              <a:t> ich gut </a:t>
            </a:r>
            <a:r>
              <a:rPr sz="900" b="0" i="0" dirty="0" err="1">
                <a:solidFill>
                  <a:srgbClr val="192743"/>
                </a:solidFill>
                <a:latin typeface="Poppins"/>
              </a:rPr>
              <a:t>zu</a:t>
            </a:r>
            <a:r>
              <a:rPr sz="900" b="0" i="0" dirty="0">
                <a:solidFill>
                  <a:srgbClr val="192743"/>
                </a:solidFill>
                <a:latin typeface="Poppins"/>
              </a:rPr>
              <a:t> </a:t>
            </a:r>
            <a:r>
              <a:rPr lang="en-US" sz="900" b="0" i="0" dirty="0">
                <a:solidFill>
                  <a:srgbClr val="192743"/>
                </a:solidFill>
                <a:latin typeface="Poppins"/>
              </a:rPr>
              <a:t>Team IT</a:t>
            </a:r>
            <a:r>
              <a:rPr sz="900" b="0" i="0" dirty="0">
                <a:solidFill>
                  <a:srgbClr val="192743"/>
                </a:solidFill>
                <a:latin typeface="Poppins"/>
              </a:rPr>
              <a:t> passe</a:t>
            </a:r>
          </a:p>
        </p:txBody>
      </p:sp>
      <p:sp>
        <p:nvSpPr>
          <p:cNvPr id="27" name="New shape"/>
          <p:cNvSpPr/>
          <p:nvPr/>
        </p:nvSpPr>
        <p:spPr>
          <a:xfrm>
            <a:off x="5757862" y="2920651"/>
            <a:ext cx="208483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28" name="New shape"/>
          <p:cNvSpPr/>
          <p:nvPr/>
        </p:nvSpPr>
        <p:spPr>
          <a:xfrm>
            <a:off x="7856982" y="29206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9" name="New shape"/>
          <p:cNvSpPr/>
          <p:nvPr/>
        </p:nvSpPr>
        <p:spPr>
          <a:xfrm>
            <a:off x="8118158" y="2920651"/>
            <a:ext cx="41148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30" name="New shape"/>
          <p:cNvSpPr txBox="1"/>
          <p:nvPr/>
        </p:nvSpPr>
        <p:spPr>
          <a:xfrm>
            <a:off x="5729288" y="27881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31" name="New shape"/>
          <p:cNvSpPr txBox="1"/>
          <p:nvPr/>
        </p:nvSpPr>
        <p:spPr>
          <a:xfrm>
            <a:off x="7836694" y="27881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32"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3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36" name="New shape"/>
          <p:cNvSpPr txBox="1"/>
          <p:nvPr/>
        </p:nvSpPr>
        <p:spPr>
          <a:xfrm flipV="1">
            <a:off x="0" y="0"/>
            <a:ext cx="263960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Im Fokus: Indizes mit den niedrigsten Ergebnissen</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txBox="1"/>
          <p:nvPr/>
        </p:nvSpPr>
        <p:spPr>
          <a:xfrm flipV="1">
            <a:off x="0" y="0"/>
            <a:ext cx="263960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Im Fokus: Indizes mit den niedrigsten Ergebnissen</a:t>
            </a:r>
          </a:p>
        </p:txBody>
      </p:sp>
      <p:sp>
        <p:nvSpPr>
          <p:cNvPr id="6"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Verteilung der Antworten</a:t>
            </a:r>
          </a:p>
        </p:txBody>
      </p:sp>
      <p:sp>
        <p:nvSpPr>
          <p:cNvPr id="7"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Mitarbeiter führen</a:t>
            </a:r>
          </a:p>
        </p:txBody>
      </p:sp>
      <p:sp>
        <p:nvSpPr>
          <p:cNvPr id="9" name="New shape"/>
          <p:cNvSpPr txBox="1"/>
          <p:nvPr/>
        </p:nvSpPr>
        <p:spPr>
          <a:xfrm>
            <a:off x="528638" y="1580940"/>
            <a:ext cx="3327003"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Meine Fähigkeiten und Kenntnisse passen zu meinem Job</a:t>
            </a:r>
          </a:p>
        </p:txBody>
      </p:sp>
      <p:sp>
        <p:nvSpPr>
          <p:cNvPr id="10" name="New shape"/>
          <p:cNvSpPr/>
          <p:nvPr/>
        </p:nvSpPr>
        <p:spPr>
          <a:xfrm>
            <a:off x="5757862" y="1549051"/>
            <a:ext cx="202996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11" name="New shape"/>
          <p:cNvSpPr/>
          <p:nvPr/>
        </p:nvSpPr>
        <p:spPr>
          <a:xfrm>
            <a:off x="7802118" y="15490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12" name="New shape"/>
          <p:cNvSpPr/>
          <p:nvPr/>
        </p:nvSpPr>
        <p:spPr>
          <a:xfrm>
            <a:off x="8090726" y="15490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3" name="New shape"/>
          <p:cNvSpPr txBox="1"/>
          <p:nvPr/>
        </p:nvSpPr>
        <p:spPr>
          <a:xfrm>
            <a:off x="5729288" y="14165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14" name="New shape"/>
          <p:cNvSpPr txBox="1"/>
          <p:nvPr/>
        </p:nvSpPr>
        <p:spPr>
          <a:xfrm>
            <a:off x="7836694" y="14165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15"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txBox="1"/>
          <p:nvPr/>
        </p:nvSpPr>
        <p:spPr>
          <a:xfrm>
            <a:off x="528638" y="2038141"/>
            <a:ext cx="3464893"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Ich weiß, welche Arbeitsergebnisse von mir erwartet werden</a:t>
            </a:r>
          </a:p>
        </p:txBody>
      </p:sp>
      <p:sp>
        <p:nvSpPr>
          <p:cNvPr id="17" name="New shape"/>
          <p:cNvSpPr/>
          <p:nvPr/>
        </p:nvSpPr>
        <p:spPr>
          <a:xfrm>
            <a:off x="5757863" y="2006251"/>
            <a:ext cx="181051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18" name="New shape"/>
          <p:cNvSpPr/>
          <p:nvPr/>
        </p:nvSpPr>
        <p:spPr>
          <a:xfrm>
            <a:off x="7582661" y="2006251"/>
            <a:ext cx="41148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19" name="New shape"/>
          <p:cNvSpPr/>
          <p:nvPr/>
        </p:nvSpPr>
        <p:spPr>
          <a:xfrm>
            <a:off x="8008429" y="20062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20" name="New shape"/>
          <p:cNvSpPr txBox="1"/>
          <p:nvPr/>
        </p:nvSpPr>
        <p:spPr>
          <a:xfrm>
            <a:off x="5729288" y="18737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21" name="New shape"/>
          <p:cNvSpPr txBox="1"/>
          <p:nvPr/>
        </p:nvSpPr>
        <p:spPr>
          <a:xfrm>
            <a:off x="7836694" y="18737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22"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528638" y="2495341"/>
            <a:ext cx="363485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Ich erhalte regelmäßig nützliches Feedback zu meiner Leistung</a:t>
            </a:r>
          </a:p>
        </p:txBody>
      </p:sp>
      <p:sp>
        <p:nvSpPr>
          <p:cNvPr id="24" name="New shape"/>
          <p:cNvSpPr/>
          <p:nvPr/>
        </p:nvSpPr>
        <p:spPr>
          <a:xfrm>
            <a:off x="5757862" y="24634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5" name="New shape"/>
          <p:cNvSpPr/>
          <p:nvPr/>
        </p:nvSpPr>
        <p:spPr>
          <a:xfrm>
            <a:off x="7747254" y="2463451"/>
            <a:ext cx="301752"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26" name="New shape"/>
          <p:cNvSpPr/>
          <p:nvPr/>
        </p:nvSpPr>
        <p:spPr>
          <a:xfrm>
            <a:off x="8063293" y="2463451"/>
            <a:ext cx="46634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27" name="New shape"/>
          <p:cNvSpPr txBox="1"/>
          <p:nvPr/>
        </p:nvSpPr>
        <p:spPr>
          <a:xfrm>
            <a:off x="5729288" y="23309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28" name="New shape"/>
          <p:cNvSpPr txBox="1"/>
          <p:nvPr/>
        </p:nvSpPr>
        <p:spPr>
          <a:xfrm>
            <a:off x="7836694" y="23309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29"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0" name="New shape"/>
          <p:cNvSpPr txBox="1"/>
          <p:nvPr/>
        </p:nvSpPr>
        <p:spPr>
          <a:xfrm>
            <a:off x="528638" y="2952557"/>
            <a:ext cx="2180084"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Bei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wird</a:t>
            </a:r>
            <a:r>
              <a:rPr sz="900" b="0" i="0" dirty="0">
                <a:solidFill>
                  <a:srgbClr val="192743"/>
                </a:solidFill>
                <a:latin typeface="Poppins"/>
              </a:rPr>
              <a:t> </a:t>
            </a:r>
            <a:r>
              <a:rPr sz="900" b="0" i="0" dirty="0" err="1">
                <a:solidFill>
                  <a:srgbClr val="192743"/>
                </a:solidFill>
                <a:latin typeface="Poppins"/>
              </a:rPr>
              <a:t>Leistung</a:t>
            </a:r>
            <a:r>
              <a:rPr sz="900" b="0" i="0" dirty="0">
                <a:solidFill>
                  <a:srgbClr val="192743"/>
                </a:solidFill>
                <a:latin typeface="Poppins"/>
              </a:rPr>
              <a:t> </a:t>
            </a:r>
            <a:r>
              <a:rPr sz="900" b="0" i="0" dirty="0" err="1">
                <a:solidFill>
                  <a:srgbClr val="192743"/>
                </a:solidFill>
                <a:latin typeface="Poppins"/>
              </a:rPr>
              <a:t>belohnt</a:t>
            </a:r>
            <a:endParaRPr sz="900" b="0" i="0" dirty="0">
              <a:solidFill>
                <a:srgbClr val="192743"/>
              </a:solidFill>
              <a:latin typeface="Poppins"/>
            </a:endParaRPr>
          </a:p>
        </p:txBody>
      </p:sp>
      <p:sp>
        <p:nvSpPr>
          <p:cNvPr id="31" name="New shape"/>
          <p:cNvSpPr/>
          <p:nvPr/>
        </p:nvSpPr>
        <p:spPr>
          <a:xfrm>
            <a:off x="5757862" y="2920651"/>
            <a:ext cx="194767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32" name="New shape"/>
          <p:cNvSpPr/>
          <p:nvPr/>
        </p:nvSpPr>
        <p:spPr>
          <a:xfrm>
            <a:off x="7719822" y="29206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3" name="New shape"/>
          <p:cNvSpPr/>
          <p:nvPr/>
        </p:nvSpPr>
        <p:spPr>
          <a:xfrm>
            <a:off x="8008430" y="29206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34" name="New shape"/>
          <p:cNvSpPr txBox="1"/>
          <p:nvPr/>
        </p:nvSpPr>
        <p:spPr>
          <a:xfrm>
            <a:off x="5729288" y="27881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35" name="New shape"/>
          <p:cNvSpPr txBox="1"/>
          <p:nvPr/>
        </p:nvSpPr>
        <p:spPr>
          <a:xfrm>
            <a:off x="7836694" y="27881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36"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7" name="New shape"/>
          <p:cNvSpPr txBox="1"/>
          <p:nvPr/>
        </p:nvSpPr>
        <p:spPr>
          <a:xfrm>
            <a:off x="528638" y="3409741"/>
            <a:ext cx="350016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Wenn ich gute Arbeit leiste, erhalte ich Lob und Anerkennung</a:t>
            </a:r>
          </a:p>
        </p:txBody>
      </p:sp>
      <p:sp>
        <p:nvSpPr>
          <p:cNvPr id="38" name="New shape"/>
          <p:cNvSpPr/>
          <p:nvPr/>
        </p:nvSpPr>
        <p:spPr>
          <a:xfrm>
            <a:off x="5757862" y="3377851"/>
            <a:ext cx="1920240"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39" name="New shape"/>
          <p:cNvSpPr/>
          <p:nvPr/>
        </p:nvSpPr>
        <p:spPr>
          <a:xfrm>
            <a:off x="7692390" y="33778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40" name="New shape"/>
          <p:cNvSpPr/>
          <p:nvPr/>
        </p:nvSpPr>
        <p:spPr>
          <a:xfrm>
            <a:off x="7980998" y="3377851"/>
            <a:ext cx="54864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41" name="New shape"/>
          <p:cNvSpPr txBox="1"/>
          <p:nvPr/>
        </p:nvSpPr>
        <p:spPr>
          <a:xfrm>
            <a:off x="5729288" y="32453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42" name="New shape"/>
          <p:cNvSpPr txBox="1"/>
          <p:nvPr/>
        </p:nvSpPr>
        <p:spPr>
          <a:xfrm>
            <a:off x="7836694" y="32453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43" name="New shape"/>
          <p:cNvSpPr/>
          <p:nvPr/>
        </p:nvSpPr>
        <p:spPr>
          <a:xfrm>
            <a:off x="528638" y="36504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Ergebnisse verstehen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Verglichene Elemente und Ergebnis-Berechnung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Top-2-Box oder Positiv-Ergebnisbereich</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Bei der Top-2-Box-Berechnung werden für das Abschlussergebnis je Frage die Prozentsätze der Personen kombiniert, die entweder „Stimme voll zu“ oder „Stimme eher zu“ ausgewählt haben.</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Mögliche Antworten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Prozentuale Verteilung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Top-2-Box</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Teils-Teils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Neutral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Nein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Stimme überhaupt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Fragenergebnis</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Teilnehmende:r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Teilnehmende:r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Teilnehmende:r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von 3 = 67 %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Index-Ergebnis</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Der Prozentsatz aller Personen, die bei den Fragen aller Indizes mit „Stimme eher zu“ oder „Stimme voll zu“ geantwortet haben.</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Teilnehmende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Index-Frage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Index-Frage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von 4 = 75 %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123504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Ergebnisse verstehen</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4286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Ergebnisunterschiede und Ergebnisvergleiche</a:t>
            </a:r>
          </a:p>
        </p:txBody>
      </p:sp>
      <p:sp>
        <p:nvSpPr>
          <p:cNvPr id="4" name="New shape"/>
          <p:cNvSpPr/>
          <p:nvPr/>
        </p:nvSpPr>
        <p:spPr>
          <a:xfrm>
            <a:off x="457200" y="140589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4287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niedriger.</a:t>
            </a:r>
          </a:p>
        </p:txBody>
      </p:sp>
      <p:sp>
        <p:nvSpPr>
          <p:cNvPr id="6" name="New shape"/>
          <p:cNvSpPr/>
          <p:nvPr/>
        </p:nvSpPr>
        <p:spPr>
          <a:xfrm>
            <a:off x="457200" y="189166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191452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niedriger.</a:t>
            </a:r>
          </a:p>
        </p:txBody>
      </p:sp>
      <p:sp>
        <p:nvSpPr>
          <p:cNvPr id="8" name="New shape"/>
          <p:cNvSpPr/>
          <p:nvPr/>
        </p:nvSpPr>
        <p:spPr>
          <a:xfrm>
            <a:off x="457200" y="237744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46030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Nicht relevant, da die Differenz kleiner als 10 % Punkte ist.</a:t>
            </a:r>
          </a:p>
        </p:txBody>
      </p:sp>
      <p:sp>
        <p:nvSpPr>
          <p:cNvPr id="10" name="New shape"/>
          <p:cNvSpPr/>
          <p:nvPr/>
        </p:nvSpPr>
        <p:spPr>
          <a:xfrm>
            <a:off x="457200" y="286321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288607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höher.</a:t>
            </a:r>
          </a:p>
        </p:txBody>
      </p:sp>
      <p:sp>
        <p:nvSpPr>
          <p:cNvPr id="12" name="New shape"/>
          <p:cNvSpPr/>
          <p:nvPr/>
        </p:nvSpPr>
        <p:spPr>
          <a:xfrm>
            <a:off x="457200" y="334899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3718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höher.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Beispielergebnis</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2867C9"/>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2867C9"/>
                </a:solidFill>
                <a:latin typeface="Poppins"/>
              </a:rPr>
              <a:t>um 20 % Punkte höher</a:t>
            </a:r>
          </a:p>
        </p:txBody>
      </p:sp>
      <p:grpSp>
        <p:nvGrpSpPr>
          <p:cNvPr id="27" name="Group 26"/>
          <p:cNvGrpSpPr/>
          <p:nvPr/>
        </p:nvGrpSpPr>
        <p:grpSpPr>
          <a:xfrm rot="18900000">
            <a:off x="6279278" y="1899034"/>
            <a:ext cx="528574" cy="171450"/>
            <a:chOff x="5801519" y="1436688"/>
            <a:chExt cx="528574"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31426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2867C9"/>
                  </a:solidFill>
                  <a:latin typeface="Poppins"/>
                </a:rPr>
                <a:t>Aktuell</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34410" y="1809479"/>
            <a:ext cx="835549" cy="150019"/>
            <a:chOff x="7687469" y="1447403"/>
            <a:chExt cx="835549"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6140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Unternehmen</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Signifikanz (*)</a:t>
            </a:r>
          </a:p>
        </p:txBody>
      </p:sp>
      <p:sp>
        <p:nvSpPr>
          <p:cNvPr id="37" name="New shape"/>
          <p:cNvSpPr txBox="1"/>
          <p:nvPr/>
        </p:nvSpPr>
        <p:spPr>
          <a:xfrm>
            <a:off x="4029075" y="4254817"/>
            <a:ext cx="4029075" cy="72009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Anhand der Signifikanz kann man feststellen, ob der Unterschied zwischen zwei Ergebnissen bedeutsam ist oder auf Zufall beruht. Ein Ergebnis, das mit einem Sternchen markiert wurde, bedeutet, dass der Unterschied zwischen diesem Ergebnis und dem Ergebnis von Aktuell als signifikant betrachtet werden kann. Es symbolisiert demnach einen Unterschied, dem Beachtung geschenkt werden sollte.</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123504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Ergebnisse verstehen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Beteiligungsquote</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und 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Ihre insgesamte Beteiligungsquote im Vergleich zu vorherigen Befragungen und zu der Benchmark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968693" y="4897041"/>
            <a:ext cx="114300" cy="121444"/>
          </a:xfrm>
          <a:prstGeom prst="rect">
            <a:avLst/>
          </a:prstGeom>
        </p:spPr>
      </p:pic>
      <p:sp>
        <p:nvSpPr>
          <p:cNvPr id="26"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07630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Beteiligungsquote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pro Befragungsgruppe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Erfahren Sie, wie viele Mitarbeitende die Befragung in all Ihren Befragungsgruppen abgeschlossen haben.</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968693" y="4897041"/>
            <a:ext cx="114300" cy="121444"/>
          </a:xfrm>
          <a:prstGeom prst="rect">
            <a:avLst/>
          </a:prstGeom>
        </p:spPr>
      </p:pic>
      <p:sp>
        <p:nvSpPr>
          <p:cNvPr id="55"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07630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Beteiligungsquote</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1726</Words>
  <Application>Microsoft Macintosh PowerPoint</Application>
  <PresentationFormat>On-screen Show (16:9)</PresentationFormat>
  <Paragraphs>570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2026-06-29T13:19:32Z</cp:lastPrinted>
  <dcterms:created xsi:type="dcterms:W3CDTF">2026-06-29T13:19:32Z</dcterms:created>
  <dcterms:modified xsi:type="dcterms:W3CDTF">2026-06-30T12:04:29Z</dcterms:modified>
</cp:coreProperties>
</file>