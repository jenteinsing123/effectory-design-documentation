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3872C15B-477A-4CA6-8079-17F9F62BC1AE}"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A495112F-C151-4BC7-8D83-04E5B479165D}"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138CDE66-46DD-4A91-984A-368BE0F7F9F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A370CEBA-5B8A-424F-AA34-A079C814B01D}"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27DA0446-4373-4302-AF2C-E3873D951DE9}"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AEC67913-2A29-41D2-8256-183C284FEFE6}"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883E0CB2-70E7-4580-89CA-E2462342F8DF}"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43AB3091-A17C-4FE4-B00A-33EC4A09219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EA3A9EAC-3198-4229-AEA9-FB0505184A8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40EA8C6-4A17-4A66-B4C2-5660C21CF718}"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ACE3D8F-06B6-40C3-96B8-F293C5EBDF60}"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The Your Voice - 2024 (Top 2 Box) results for </a:t>
            </a:r>
            <a:r>
              <a:rPr lang="en-US" sz="3150" b="1" i="0" dirty="0">
                <a:solidFill>
                  <a:srgbClr val="000000"/>
                </a:solidFill>
                <a:latin typeface="Poppins"/>
              </a:rPr>
              <a:t>Team IT</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Survey period</a:t>
            </a:r>
            <a:r>
              <a:rPr sz="788" b="0" i="0">
                <a:solidFill>
                  <a:srgbClr val="192743"/>
                </a:solidFill>
                <a:latin typeface="Poppins"/>
              </a:rPr>
              <a:t> May 03, 2024 - May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Content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Reading the results</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Employee Net Promoter Score</a:t>
            </a:r>
          </a:p>
        </p:txBody>
      </p:sp>
      <p:sp>
        <p:nvSpPr>
          <p:cNvPr id="8" name="New shape"/>
          <p:cNvSpPr txBox="1"/>
          <p:nvPr/>
        </p:nvSpPr>
        <p:spPr>
          <a:xfrm>
            <a:off x="457200" y="20116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0116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Organizational Effectiveness - Overall profile</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Themes</a:t>
            </a:r>
          </a:p>
        </p:txBody>
      </p:sp>
      <p:sp>
        <p:nvSpPr>
          <p:cNvPr id="12" name="New shape"/>
          <p:cNvSpPr txBox="1"/>
          <p:nvPr/>
        </p:nvSpPr>
        <p:spPr>
          <a:xfrm>
            <a:off x="457200" y="29718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29718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Question performance</a:t>
            </a:r>
          </a:p>
        </p:txBody>
      </p:sp>
      <p:sp>
        <p:nvSpPr>
          <p:cNvPr id="14" name="New shape"/>
          <p:cNvSpPr txBox="1"/>
          <p:nvPr/>
        </p:nvSpPr>
        <p:spPr>
          <a:xfrm>
            <a:off x="457200" y="33489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3489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Deep dive: Group scores</a:t>
            </a:r>
          </a:p>
        </p:txBody>
      </p:sp>
      <p:sp>
        <p:nvSpPr>
          <p:cNvPr id="16" name="New shape"/>
          <p:cNvSpPr txBox="1"/>
          <p:nvPr/>
        </p:nvSpPr>
        <p:spPr>
          <a:xfrm>
            <a:off x="457200" y="37261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372618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Topics your employees point out</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Survey period</a:t>
            </a:r>
            <a:r>
              <a:rPr sz="788" b="0" i="0">
                <a:solidFill>
                  <a:srgbClr val="192743"/>
                </a:solidFill>
                <a:latin typeface="Poppins"/>
              </a:rPr>
              <a:t> May 03, 2024 - May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Reading the results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Your survey cornerstones</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Start of your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Let's see the results!</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Survey period</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May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May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Questions were asked in total</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 themes such as:</a:t>
            </a:r>
          </a:p>
        </p:txBody>
      </p:sp>
      <p:sp>
        <p:nvSpPr>
          <p:cNvPr id="23" name="New shape"/>
          <p:cNvSpPr txBox="1"/>
          <p:nvPr/>
        </p:nvSpPr>
        <p:spPr>
          <a:xfrm>
            <a:off x="1285875" y="3500438"/>
            <a:ext cx="121296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Employer Excellence</a:t>
            </a:r>
          </a:p>
        </p:txBody>
      </p:sp>
      <p:sp>
        <p:nvSpPr>
          <p:cNvPr id="25" name="New shape"/>
          <p:cNvSpPr txBox="1"/>
          <p:nvPr/>
        </p:nvSpPr>
        <p:spPr>
          <a:xfrm>
            <a:off x="2570274"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285875" y="3746954"/>
            <a:ext cx="99329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Leading Change</a:t>
            </a:r>
          </a:p>
        </p:txBody>
      </p:sp>
      <p:sp>
        <p:nvSpPr>
          <p:cNvPr id="29" name="New shape"/>
          <p:cNvSpPr txBox="1"/>
          <p:nvPr/>
        </p:nvSpPr>
        <p:spPr>
          <a:xfrm>
            <a:off x="2350612" y="3746954"/>
            <a:ext cx="105743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Managing people</a:t>
            </a:r>
          </a:p>
        </p:txBody>
      </p:sp>
      <p:sp>
        <p:nvSpPr>
          <p:cNvPr id="31" name="New shape"/>
          <p:cNvSpPr txBox="1"/>
          <p:nvPr/>
        </p:nvSpPr>
        <p:spPr>
          <a:xfrm>
            <a:off x="1713992" y="3993471"/>
            <a:ext cx="1144016"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Managing systems</a:t>
            </a:r>
          </a:p>
        </p:txBody>
      </p:sp>
      <p:sp>
        <p:nvSpPr>
          <p:cNvPr id="33"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and more...</a:t>
            </a:r>
          </a:p>
        </p:txBody>
      </p:sp>
      <p:sp>
        <p:nvSpPr>
          <p:cNvPr id="34"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6"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7"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Have responded!</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Icons</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These icons represent your selected comparison 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Current survey</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Current survey scores are marked in blue and compared to one or more items below.</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Previous survey</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Shows the scores of your previous survey.</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compares the current scores to those from your selected benchmark, which can be industry-specific, country-specific or custom-specific.</a:t>
            </a:r>
          </a:p>
        </p:txBody>
      </p:sp>
      <p:grpSp>
        <p:nvGrpSpPr>
          <p:cNvPr id="16" name="Group 15"/>
          <p:cNvGrpSpPr/>
          <p:nvPr/>
        </p:nvGrpSpPr>
        <p:grpSpPr>
          <a:xfrm>
            <a:off x="457200" y="3186112"/>
            <a:ext cx="3876199" cy="120015"/>
            <a:chOff x="-177800" y="2551112"/>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566114"/>
              <a:ext cx="90011" cy="90011"/>
            </a:xfrm>
            <a:prstGeom prst="rect">
              <a:avLst/>
            </a:prstGeom>
          </p:spPr>
        </p:pic>
        <p:sp>
          <p:nvSpPr>
            <p:cNvPr id="18" name="New shape"/>
            <p:cNvSpPr txBox="1"/>
            <p:nvPr/>
          </p:nvSpPr>
          <p:spPr>
            <a:xfrm>
              <a:off x="-16351" y="2551112"/>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 3 Benchmark</a:t>
              </a:r>
            </a:p>
          </p:txBody>
        </p:sp>
      </p:grpSp>
      <p:sp>
        <p:nvSpPr>
          <p:cNvPr id="19" name="New shape"/>
          <p:cNvSpPr txBox="1"/>
          <p:nvPr/>
        </p:nvSpPr>
        <p:spPr>
          <a:xfrm>
            <a:off x="457200" y="333756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Shows the scores of the top three performing companies in your selected benchmark.</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Response Rate &amp; Comparison</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Your overall response rate compared to the previous and benchmark 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Previous survey</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170718" y="4897041"/>
            <a:ext cx="114300" cy="121444"/>
          </a:xfrm>
          <a:prstGeom prst="rect">
            <a:avLst/>
          </a:prstGeom>
        </p:spPr>
      </p:pic>
      <p:sp>
        <p:nvSpPr>
          <p:cNvPr id="26" name="New shape"/>
          <p:cNvSpPr txBox="1"/>
          <p:nvPr/>
        </p:nvSpPr>
        <p:spPr>
          <a:xfrm>
            <a:off x="135645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Response rate per group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See how many employees completed the survey in all of your groups.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170718" y="4897041"/>
            <a:ext cx="114300" cy="121444"/>
          </a:xfrm>
          <a:prstGeom prst="rect">
            <a:avLst/>
          </a:prstGeom>
        </p:spPr>
      </p:pic>
      <p:sp>
        <p:nvSpPr>
          <p:cNvPr id="55" name="New shape"/>
          <p:cNvSpPr txBox="1"/>
          <p:nvPr/>
        </p:nvSpPr>
        <p:spPr>
          <a:xfrm>
            <a:off x="135645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Questions that stand out</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Highest scores</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Lowest scores</a:t>
            </a:r>
          </a:p>
        </p:txBody>
      </p:sp>
      <p:sp>
        <p:nvSpPr>
          <p:cNvPr id="7" name="New shape"/>
          <p:cNvSpPr txBox="1"/>
          <p:nvPr/>
        </p:nvSpPr>
        <p:spPr>
          <a:xfrm>
            <a:off x="457200" y="1757362"/>
            <a:ext cx="176971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 feel that I fit in at </a:t>
            </a:r>
            <a:r>
              <a:rPr lang="en-US" sz="900" b="0" i="0" dirty="0">
                <a:solidFill>
                  <a:srgbClr val="192743"/>
                </a:solidFill>
                <a:latin typeface="Poppins"/>
              </a:rPr>
              <a:t>Team IT</a:t>
            </a:r>
            <a:endParaRPr sz="900" b="0" i="0" dirty="0">
              <a:solidFill>
                <a:srgbClr val="192743"/>
              </a:solidFill>
              <a:latin typeface="Poppins"/>
            </a:endParaRPr>
          </a:p>
        </p:txBody>
      </p:sp>
      <p:sp>
        <p:nvSpPr>
          <p:cNvPr id="8" name="New shape"/>
          <p:cNvSpPr/>
          <p:nvPr/>
        </p:nvSpPr>
        <p:spPr>
          <a:xfrm>
            <a:off x="2180257" y="1814512"/>
            <a:ext cx="164879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190801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can cope well with my workload</a:t>
            </a:r>
          </a:p>
        </p:txBody>
      </p:sp>
      <p:sp>
        <p:nvSpPr>
          <p:cNvPr id="11" name="New shape"/>
          <p:cNvSpPr/>
          <p:nvPr/>
        </p:nvSpPr>
        <p:spPr>
          <a:xfrm>
            <a:off x="2422366" y="2328862"/>
            <a:ext cx="140668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 have good opportunities to develop myself professionally and personally</a:t>
            </a: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6" name="New shape"/>
          <p:cNvSpPr txBox="1"/>
          <p:nvPr/>
        </p:nvSpPr>
        <p:spPr>
          <a:xfrm>
            <a:off x="457200" y="3300412"/>
            <a:ext cx="329653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My team regularly develops good ideas for improvement</a:t>
            </a:r>
          </a:p>
        </p:txBody>
      </p:sp>
      <p:sp>
        <p:nvSpPr>
          <p:cNvPr id="17" name="New shape"/>
          <p:cNvSpPr/>
          <p:nvPr/>
        </p:nvSpPr>
        <p:spPr>
          <a:xfrm>
            <a:off x="3810889" y="3357562"/>
            <a:ext cx="1816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93830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The vision for the future of </a:t>
            </a:r>
            <a:r>
              <a:rPr lang="en-US" sz="900" b="0" i="0" dirty="0">
                <a:solidFill>
                  <a:srgbClr val="192743"/>
                </a:solidFill>
                <a:latin typeface="Poppins"/>
              </a:rPr>
              <a:t>Team IT</a:t>
            </a:r>
            <a:r>
              <a:rPr sz="900" b="0" i="0" dirty="0">
                <a:solidFill>
                  <a:srgbClr val="192743"/>
                </a:solidFill>
                <a:latin typeface="Poppins"/>
              </a:rPr>
              <a:t> inspires me</a:t>
            </a:r>
          </a:p>
        </p:txBody>
      </p:sp>
      <p:sp>
        <p:nvSpPr>
          <p:cNvPr id="20" name="New shape"/>
          <p:cNvSpPr/>
          <p:nvPr/>
        </p:nvSpPr>
        <p:spPr>
          <a:xfrm>
            <a:off x="3349117" y="3871912"/>
            <a:ext cx="47993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6707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enjoy doing my work / tasks</a:t>
            </a:r>
          </a:p>
        </p:txBody>
      </p:sp>
      <p:sp>
        <p:nvSpPr>
          <p:cNvPr id="23" name="New shape"/>
          <p:cNvSpPr/>
          <p:nvPr/>
        </p:nvSpPr>
        <p:spPr>
          <a:xfrm>
            <a:off x="6592760" y="1814512"/>
            <a:ext cx="164398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5" name="New shape"/>
          <p:cNvSpPr txBox="1"/>
          <p:nvPr/>
        </p:nvSpPr>
        <p:spPr>
          <a:xfrm>
            <a:off x="4864894" y="2271712"/>
            <a:ext cx="2703290"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know what results are expected of me at work</a:t>
            </a:r>
          </a:p>
        </p:txBody>
      </p:sp>
      <p:sp>
        <p:nvSpPr>
          <p:cNvPr id="26" name="New shape"/>
          <p:cNvSpPr/>
          <p:nvPr/>
        </p:nvSpPr>
        <p:spPr>
          <a:xfrm>
            <a:off x="7625334" y="2328862"/>
            <a:ext cx="61141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8" name="New shape"/>
          <p:cNvSpPr txBox="1"/>
          <p:nvPr/>
        </p:nvSpPr>
        <p:spPr>
          <a:xfrm>
            <a:off x="4864894" y="2786062"/>
            <a:ext cx="341760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Within </a:t>
            </a:r>
            <a:r>
              <a:rPr lang="en-US" sz="900" b="0" i="0" dirty="0">
                <a:solidFill>
                  <a:srgbClr val="192743"/>
                </a:solidFill>
                <a:latin typeface="Poppins"/>
              </a:rPr>
              <a:t>Team IT</a:t>
            </a:r>
            <a:r>
              <a:rPr sz="900" b="0" i="0" dirty="0">
                <a:solidFill>
                  <a:srgbClr val="192743"/>
                </a:solidFill>
                <a:latin typeface="Poppins"/>
              </a:rPr>
              <a:t> employees are treated in a fair manner</a:t>
            </a:r>
          </a:p>
        </p:txBody>
      </p:sp>
      <p:sp>
        <p:nvSpPr>
          <p:cNvPr id="29" name="New shape"/>
          <p:cNvSpPr/>
          <p:nvPr/>
        </p:nvSpPr>
        <p:spPr>
          <a:xfrm>
            <a:off x="8236220" y="2843212"/>
            <a:ext cx="52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198291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 am proud to work at </a:t>
            </a:r>
            <a:r>
              <a:rPr lang="en-US" sz="900" b="0" i="0" dirty="0">
                <a:solidFill>
                  <a:srgbClr val="192743"/>
                </a:solidFill>
                <a:latin typeface="Poppins"/>
              </a:rPr>
              <a:t>Team IT</a:t>
            </a:r>
            <a:endParaRPr sz="900" b="0" i="0" dirty="0">
              <a:solidFill>
                <a:srgbClr val="192743"/>
              </a:solidFill>
              <a:latin typeface="Poppins"/>
            </a:endParaRPr>
          </a:p>
        </p:txBody>
      </p:sp>
      <p:sp>
        <p:nvSpPr>
          <p:cNvPr id="32" name="New shape"/>
          <p:cNvSpPr/>
          <p:nvPr/>
        </p:nvSpPr>
        <p:spPr>
          <a:xfrm>
            <a:off x="6801200" y="3357562"/>
            <a:ext cx="143554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Team IT</a:t>
            </a:r>
            <a:r>
              <a:rPr sz="900" b="0" i="0" dirty="0">
                <a:solidFill>
                  <a:srgbClr val="192743"/>
                </a:solidFill>
                <a:latin typeface="Poppins"/>
              </a:rPr>
              <a:t> uses employees' ideas and suggestions to improve</a:t>
            </a: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Employee Net Promoter Score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&amp; Benchmark comparison</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 eNPS shows you to what extent your employees would recommend your organisation as a good employer.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31824" y="1428750"/>
            <a:ext cx="736727" cy="171450"/>
            <a:chOff x="-120650" y="793750"/>
            <a:chExt cx="736727"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9383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Passives</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38743" y="1428750"/>
            <a:ext cx="837740" cy="171450"/>
            <a:chOff x="2136775" y="793750"/>
            <a:chExt cx="837740"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9485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Promoters</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2629" y="1428750"/>
            <a:ext cx="850567" cy="171450"/>
            <a:chOff x="4537075" y="793750"/>
            <a:chExt cx="850567"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60767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Detractors</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Previous survey</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Global Index</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results unavailable</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Global Index</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How likely is it that you would recommend </a:t>
            </a:r>
            <a:r>
              <a:rPr lang="en-US" sz="788" b="0" i="0" dirty="0">
                <a:solidFill>
                  <a:srgbClr val="192743"/>
                </a:solidFill>
                <a:latin typeface="Poppins"/>
              </a:rPr>
              <a:t>Team IT</a:t>
            </a:r>
            <a:r>
              <a:rPr sz="788" b="0" i="0" dirty="0">
                <a:solidFill>
                  <a:srgbClr val="192743"/>
                </a:solidFill>
                <a:latin typeface="Poppins"/>
              </a:rPr>
              <a:t> as an employer to others?</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Breakdown per group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 eNPS score compared between all of your groups.</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227868" y="4897041"/>
            <a:ext cx="114300" cy="121444"/>
          </a:xfrm>
          <a:prstGeom prst="rect">
            <a:avLst/>
          </a:prstGeom>
        </p:spPr>
      </p:pic>
      <p:sp>
        <p:nvSpPr>
          <p:cNvPr id="49" name="New shape"/>
          <p:cNvSpPr txBox="1"/>
          <p:nvPr/>
        </p:nvSpPr>
        <p:spPr>
          <a:xfrm>
            <a:off x="141360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Organizational Effectiveness - Overall profile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Reading the results</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Compared items and score calculation</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Top-two box or "Yes" scoring</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With a top-two box calculation, the final score per question combines the percentages of people that have selected either "strongly agree" or "agree".</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Possible answers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Percentage distribution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Strongly 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Yes %</a:t>
                      </a:r>
                    </a:p>
                    <a:p>
                      <a:pPr algn="ctr"/>
                      <a:r>
                        <a:rPr sz="788" b="1" i="0">
                          <a:solidFill>
                            <a:srgbClr val="30B3AF"/>
                          </a:solidFill>
                          <a:latin typeface="Poppins"/>
                        </a:rPr>
                        <a:t>Top-two 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Neither agree nor 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No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Strongly 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Question score example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Participant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Participant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Strongly 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Participant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Yes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out of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Theme score example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The percentage of people that "agree" or "strongly agree" across all theme questions.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Participants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Theme question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Theme question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Yes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out of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Reading the results</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Score differences and how the results are compared</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lower by at least 20 % points.</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lower by at least 10 % points.</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66048"/>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Not relevant since difference is smaller than 10 % points.</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higher by at least 10 % points.</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higher by at least 20 % points.</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Example result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Higher by 20 % points</a:t>
            </a:r>
          </a:p>
        </p:txBody>
      </p:sp>
      <p:grpSp>
        <p:nvGrpSpPr>
          <p:cNvPr id="27" name="Group 26"/>
          <p:cNvGrpSpPr/>
          <p:nvPr/>
        </p:nvGrpSpPr>
        <p:grpSpPr>
          <a:xfrm rot="18900000">
            <a:off x="6275374" y="1889607"/>
            <a:ext cx="557434" cy="171450"/>
            <a:chOff x="5801519" y="1436688"/>
            <a:chExt cx="55743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4312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Current</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8099" y="1818382"/>
            <a:ext cx="808292" cy="150019"/>
            <a:chOff x="7687469" y="1447403"/>
            <a:chExt cx="808292"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8683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Organisation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Significance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Significance helps identify whether the difference between two scores is meaningful and not due to random chance. A score marked with an asterisk indicates that the difference between this score and Current’s score is considered significant. It reflects a real difference worth paying attention to.</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Where you stand</a:t>
            </a:r>
          </a:p>
        </p:txBody>
      </p:sp>
      <p:sp>
        <p:nvSpPr>
          <p:cNvPr id="3" name="New shape"/>
          <p:cNvSpPr txBox="1"/>
          <p:nvPr/>
        </p:nvSpPr>
        <p:spPr>
          <a:xfrm>
            <a:off x="457200" y="1028700"/>
            <a:ext cx="3793331"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Employee engagement and the quality of the performance environment are crucial for top performance, innovative strength, and high adaptability.</a:t>
            </a:r>
          </a:p>
        </p:txBody>
      </p:sp>
      <p:sp>
        <p:nvSpPr>
          <p:cNvPr id="4" name="New shape"/>
          <p:cNvSpPr txBox="1"/>
          <p:nvPr/>
        </p:nvSpPr>
        <p:spPr>
          <a:xfrm>
            <a:off x="742950" y="141160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Effective</a:t>
            </a:r>
          </a:p>
        </p:txBody>
      </p:sp>
      <p:sp>
        <p:nvSpPr>
          <p:cNvPr id="5" name="New shape"/>
          <p:cNvSpPr/>
          <p:nvPr/>
        </p:nvSpPr>
        <p:spPr>
          <a:xfrm>
            <a:off x="457200" y="1411605"/>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56019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Engagement can unfold its full potential thanks to the excellent performance environment. Focus on maintaining and consolidating your strengths!</a:t>
            </a:r>
          </a:p>
        </p:txBody>
      </p:sp>
      <p:sp>
        <p:nvSpPr>
          <p:cNvPr id="7" name="New shape"/>
          <p:cNvSpPr txBox="1"/>
          <p:nvPr/>
        </p:nvSpPr>
        <p:spPr>
          <a:xfrm>
            <a:off x="742950" y="196596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Ineffective</a:t>
            </a:r>
          </a:p>
        </p:txBody>
      </p:sp>
      <p:sp>
        <p:nvSpPr>
          <p:cNvPr id="8" name="New shape"/>
          <p:cNvSpPr/>
          <p:nvPr/>
        </p:nvSpPr>
        <p:spPr>
          <a:xfrm>
            <a:off x="457200" y="1965960"/>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11455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Focus on the continuous improvement of the performance environment, especially with issues of particular importance to engagement and performance.</a:t>
            </a:r>
          </a:p>
        </p:txBody>
      </p:sp>
      <p:sp>
        <p:nvSpPr>
          <p:cNvPr id="10" name="New shape"/>
          <p:cNvSpPr txBox="1"/>
          <p:nvPr/>
        </p:nvSpPr>
        <p:spPr>
          <a:xfrm>
            <a:off x="742950" y="252031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Not fully utilized</a:t>
            </a:r>
          </a:p>
        </p:txBody>
      </p:sp>
      <p:sp>
        <p:nvSpPr>
          <p:cNvPr id="11" name="New shape"/>
          <p:cNvSpPr/>
          <p:nvPr/>
        </p:nvSpPr>
        <p:spPr>
          <a:xfrm>
            <a:off x="457200" y="2520315"/>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66890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People are engaged but struggle to perform at their best. Improve their performance environment to make the group thrive.</a:t>
            </a:r>
          </a:p>
        </p:txBody>
      </p:sp>
      <p:sp>
        <p:nvSpPr>
          <p:cNvPr id="13" name="New shape"/>
          <p:cNvSpPr txBox="1"/>
          <p:nvPr/>
        </p:nvSpPr>
        <p:spPr>
          <a:xfrm>
            <a:off x="742950" y="307467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Detached</a:t>
            </a:r>
          </a:p>
        </p:txBody>
      </p:sp>
      <p:sp>
        <p:nvSpPr>
          <p:cNvPr id="14" name="New shape"/>
          <p:cNvSpPr/>
          <p:nvPr/>
        </p:nvSpPr>
        <p:spPr>
          <a:xfrm>
            <a:off x="457200" y="3074670"/>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22326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Maintain your good performance environment and review your drivers of employee engagement for opportunities to boost it.</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Performance environment</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Engagement</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a:solidFill>
                  <a:srgbClr val="1C55C7"/>
                </a:solidFill>
                <a:latin typeface="Poppins"/>
              </a:rPr>
              <a:t>Current: </a:t>
            </a:r>
            <a:r>
              <a:rPr lang="en-US" sz="675" b="0" i="0" dirty="0">
                <a:solidFill>
                  <a:srgbClr val="1C55C7"/>
                </a:solidFill>
                <a:latin typeface="Poppins"/>
              </a:rPr>
              <a:t>Team IT</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Previous survey</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Engagement</a:t>
                      </a:r>
                    </a:p>
                    <a:p>
                      <a:pPr>
                        <a:spcBef>
                          <a:spcPct val="40000"/>
                        </a:spcBef>
                        <a:spcAft>
                          <a:spcPct val="40000"/>
                        </a:spcAft>
                      </a:pPr>
                      <a:r>
                        <a:rPr sz="788" i="0">
                          <a:solidFill>
                            <a:srgbClr val="546178"/>
                          </a:solidFill>
                          <a:latin typeface="Poppins"/>
                        </a:rPr>
                        <a:t>Describes the extent to which employees are intrinsically tied to the organization they work for and their work.</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Performance environment</a:t>
                      </a:r>
                    </a:p>
                    <a:p>
                      <a:pPr>
                        <a:spcBef>
                          <a:spcPct val="40000"/>
                        </a:spcBef>
                        <a:spcAft>
                          <a:spcPct val="40000"/>
                        </a:spcAft>
                      </a:pPr>
                      <a:r>
                        <a:rPr sz="788" i="0">
                          <a:solidFill>
                            <a:srgbClr val="546178"/>
                          </a:solidFill>
                          <a:latin typeface="Poppins"/>
                        </a:rPr>
                        <a:t>Describes important basic conditions which enable employees to work effectively and efficiently.</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Leading Change</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Providing direction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Managing people</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Managing systems</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3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Engagement</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enjoy doing my work / tasks</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Doing my work gives me energy</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am proud to work at </a:t>
            </a:r>
            <a:r>
              <a:rPr lang="en-US" sz="788" b="0" i="0" dirty="0">
                <a:solidFill>
                  <a:srgbClr val="546178"/>
                </a:solidFill>
                <a:latin typeface="Poppins"/>
              </a:rPr>
              <a:t>Team IT</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feel that I fit in at </a:t>
            </a:r>
            <a:r>
              <a:rPr lang="en-US" sz="788" b="0" i="0" dirty="0">
                <a:solidFill>
                  <a:srgbClr val="546178"/>
                </a:solidFill>
                <a:latin typeface="Poppins"/>
              </a:rPr>
              <a:t>Team IT</a:t>
            </a:r>
            <a:endParaRPr sz="788" b="0" i="0" dirty="0">
              <a:solidFill>
                <a:srgbClr val="546178"/>
              </a:solidFill>
              <a:latin typeface="Poppins"/>
            </a:endParaRP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Leading Change</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My team understands what needs to be done to contribute to the success of </a:t>
            </a:r>
            <a:r>
              <a:rPr lang="en-US" sz="788" b="0" i="0" dirty="0">
                <a:solidFill>
                  <a:srgbClr val="546178"/>
                </a:solidFill>
                <a:latin typeface="Poppins"/>
              </a:rPr>
              <a:t>Team IT</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team regularly develops good ideas for improvement</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have confidence in my manager</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manager leads changes in an exemplary manner</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identify with the culture of </a:t>
            </a:r>
            <a:r>
              <a:rPr lang="en-US" sz="788" b="0" i="0" dirty="0">
                <a:solidFill>
                  <a:srgbClr val="546178"/>
                </a:solidFill>
                <a:latin typeface="Poppins"/>
              </a:rPr>
              <a:t>Team IT</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Providing direction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supported the objectives of </a:t>
            </a:r>
            <a:r>
              <a:rPr lang="en-US" sz="788" b="0" i="0" dirty="0">
                <a:solidFill>
                  <a:srgbClr val="546178"/>
                </a:solidFill>
                <a:latin typeface="Poppins"/>
              </a:rPr>
              <a:t>Team IT</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The vision for the future of </a:t>
            </a:r>
            <a:r>
              <a:rPr lang="en-US" sz="788" b="0" i="0" dirty="0">
                <a:solidFill>
                  <a:srgbClr val="546178"/>
                </a:solidFill>
                <a:latin typeface="Poppins"/>
              </a:rPr>
              <a:t>Team IT</a:t>
            </a:r>
            <a:r>
              <a:rPr sz="788" b="0" i="0" dirty="0">
                <a:solidFill>
                  <a:srgbClr val="546178"/>
                </a:solidFill>
                <a:latin typeface="Poppins"/>
              </a:rPr>
              <a:t> inspires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Team IT</a:t>
            </a:r>
            <a:r>
              <a:rPr sz="788" b="0" i="0" dirty="0">
                <a:solidFill>
                  <a:srgbClr val="546178"/>
                </a:solidFill>
                <a:latin typeface="Poppins"/>
              </a:rPr>
              <a:t> employees are treated in a fair manner</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Managing people</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skills and abilities fit in well with my job</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know what results are expected of me at work</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am regularly given useful performance feedback</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Team IT</a:t>
            </a:r>
            <a:r>
              <a:rPr sz="788" b="0" i="0" dirty="0">
                <a:solidFill>
                  <a:srgbClr val="546178"/>
                </a:solidFill>
                <a:latin typeface="Poppins"/>
              </a:rPr>
              <a:t> performance is rewarded</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receive praise and recognition when I perform well</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Managing systems</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am provided with good work resources (tools, devices, software, materials, etc.) to do my job well</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Important information is readily accessible for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In my team we collaborate well</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Team IT</a:t>
            </a:r>
            <a:r>
              <a:rPr sz="788" b="0" i="0" dirty="0">
                <a:solidFill>
                  <a:srgbClr val="546178"/>
                </a:solidFill>
                <a:latin typeface="Poppins"/>
              </a:rPr>
              <a:t> work processes are well </a:t>
            </a:r>
            <a:r>
              <a:rPr sz="788" b="0" i="0" dirty="0" err="1">
                <a:solidFill>
                  <a:srgbClr val="546178"/>
                </a:solidFill>
                <a:latin typeface="Poppins"/>
              </a:rPr>
              <a:t>organised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have good opportunities to develop myself professionally and personally</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Themes</a:t>
            </a:r>
          </a:p>
        </p:txBody>
      </p:sp>
      <p:sp>
        <p:nvSpPr>
          <p:cNvPr id="5" name="New shape"/>
          <p:cNvSpPr txBox="1"/>
          <p:nvPr/>
        </p:nvSpPr>
        <p:spPr>
          <a:xfrm>
            <a:off x="457200" y="1230154"/>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Themes combine several related questions into one score. They measure different aspects that are important to organisational success.</a:t>
            </a:r>
          </a:p>
        </p:txBody>
      </p:sp>
      <p:sp>
        <p:nvSpPr>
          <p:cNvPr id="6" name="New shape"/>
          <p:cNvSpPr txBox="1"/>
          <p:nvPr/>
        </p:nvSpPr>
        <p:spPr>
          <a:xfrm>
            <a:off x="457200" y="192738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192738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Employer Excellence</a:t>
            </a:r>
          </a:p>
        </p:txBody>
      </p:sp>
      <p:sp>
        <p:nvSpPr>
          <p:cNvPr id="8" name="New shape"/>
          <p:cNvSpPr txBox="1"/>
          <p:nvPr/>
        </p:nvSpPr>
        <p:spPr>
          <a:xfrm>
            <a:off x="457200" y="230457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30457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Engagement</a:t>
            </a:r>
          </a:p>
        </p:txBody>
      </p:sp>
      <p:sp>
        <p:nvSpPr>
          <p:cNvPr id="10" name="New shape"/>
          <p:cNvSpPr txBox="1"/>
          <p:nvPr/>
        </p:nvSpPr>
        <p:spPr>
          <a:xfrm>
            <a:off x="457200" y="268176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68176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Leading Change</a:t>
            </a:r>
          </a:p>
        </p:txBody>
      </p:sp>
      <p:sp>
        <p:nvSpPr>
          <p:cNvPr id="12" name="New shape"/>
          <p:cNvSpPr txBox="1"/>
          <p:nvPr/>
        </p:nvSpPr>
        <p:spPr>
          <a:xfrm>
            <a:off x="457200" y="305895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05895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Managing people</a:t>
            </a:r>
          </a:p>
        </p:txBody>
      </p:sp>
      <p:sp>
        <p:nvSpPr>
          <p:cNvPr id="14" name="New shape"/>
          <p:cNvSpPr txBox="1"/>
          <p:nvPr/>
        </p:nvSpPr>
        <p:spPr>
          <a:xfrm>
            <a:off x="457200" y="343614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43614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Managing systems</a:t>
            </a:r>
          </a:p>
        </p:txBody>
      </p:sp>
      <p:sp>
        <p:nvSpPr>
          <p:cNvPr id="16" name="New shape"/>
          <p:cNvSpPr txBox="1"/>
          <p:nvPr/>
        </p:nvSpPr>
        <p:spPr>
          <a:xfrm>
            <a:off x="457200" y="381333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381333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Performance environment</a:t>
            </a:r>
          </a:p>
        </p:txBody>
      </p:sp>
      <p:sp>
        <p:nvSpPr>
          <p:cNvPr id="18" name="New shape"/>
          <p:cNvSpPr txBox="1"/>
          <p:nvPr/>
        </p:nvSpPr>
        <p:spPr>
          <a:xfrm>
            <a:off x="457200" y="439626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792956" y="439626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Providing direction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Employer Excellence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Leading Change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Managing people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Managing systems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Performance environment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Providing direction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3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Employer Excellence</a:t>
            </a:r>
          </a:p>
        </p:txBody>
      </p:sp>
      <p:sp>
        <p:nvSpPr>
          <p:cNvPr id="4"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Organisations that work on employer excellence provide their employees with a work environment where they feel at home and accepted. Such a work environment enhances your employees' feeling of being connected with their colleagues and your organization. </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lang="en-US" sz="788" b="0" i="0" dirty="0">
                          <a:solidFill>
                            <a:srgbClr val="192743"/>
                          </a:solidFill>
                          <a:latin typeface="Poppins"/>
                        </a:rPr>
                        <a:t>Team IT</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Team IT</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7" name="Group 26"/>
          <p:cNvGrpSpPr/>
          <p:nvPr/>
        </p:nvGrpSpPr>
        <p:grpSpPr>
          <a:xfrm rot="18900000">
            <a:off x="6640973" y="929049"/>
            <a:ext cx="1477328" cy="120015"/>
            <a:chOff x="6265862" y="776605"/>
            <a:chExt cx="1477328" cy="120015"/>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37"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8"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9"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Engagement</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Engagement is the degree to which your employees are inspired and energised by their work. It also refers to their positive connection to your organisation. Engaged employees experience their work as meaningful and rewarding, are proud of their jobs, and feel that they fit in at the organisation.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Leading Change</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Leading Change should aim to let employees know what has to be changed, why, and how, and to obtain their backing for the necessary changes. For this, managers need to involve their teams in the process so that they understand and trust them.</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Managing people</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People management ensures employees know the company’s expectations and can apply their knowledge and skills accordingly. This includes constructive feedback and recognition to show that good performance is acknowledged and well-rewarded in the company.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Managing systems</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Well-managed systems enable employees to reach the expected performance by providing them with the necessary working conditions. This includes good working tools, effective work processes, good collaboration on different levels, and the availability of development opportunities.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A performance environment refers to the conditions that enable employees to work efficiently and effectively. It provides the right circumstances for optimal performance. Employees and managers need such an environment to fully utilize their potential individually and within the teams.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21"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22"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23"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21"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22"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23"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Providing direction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Providing Direction should aim to make employees enthusiastic about the company’s vision, familiar with and convinced by the company’s strategy, and feel treated in a fair and just manner within the overall “ecosystem” of their company. Then, the employees will also be willing to go along with strategically necessary changes.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Question performance</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The following questions and their scores are </a:t>
            </a:r>
            <a:r>
              <a:rPr sz="1350" b="0" i="0" dirty="0" err="1">
                <a:solidFill>
                  <a:srgbClr val="000000"/>
                </a:solidFill>
                <a:latin typeface="Poppins"/>
              </a:rPr>
              <a:t>categorised</a:t>
            </a:r>
            <a:r>
              <a:rPr sz="1350" b="0" i="0" dirty="0">
                <a:solidFill>
                  <a:srgbClr val="000000"/>
                </a:solidFill>
                <a:latin typeface="Poppins"/>
              </a:rPr>
              <a:t> under specific topics that are relevant for </a:t>
            </a:r>
            <a:r>
              <a:rPr lang="en-US" sz="1350" b="0" i="0" dirty="0">
                <a:solidFill>
                  <a:srgbClr val="000000"/>
                </a:solidFill>
                <a:latin typeface="Poppins"/>
              </a:rPr>
              <a:t>Team IT</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a:t>
            </a:r>
          </a:p>
        </p:txBody>
      </p:sp>
      <p:sp>
        <p:nvSpPr>
          <p:cNvPr id="3"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936193"/>
            <a:ext cx="1477328" cy="120015"/>
            <a:chOff x="6265862" y="78374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(3)</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(4)</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Team IT</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Deep dive: Group scores</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Let’s take a closer look and dive into the scores of all groups on the different themes and topics you have chosen.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Comparing groups</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Score differences and how the results are compared</a:t>
            </a:r>
          </a:p>
        </p:txBody>
      </p:sp>
      <p:sp>
        <p:nvSpPr>
          <p:cNvPr id="4" name="New shape"/>
          <p:cNvSpPr/>
          <p:nvPr/>
        </p:nvSpPr>
        <p:spPr>
          <a:xfrm>
            <a:off x="457200" y="16116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higher by at least 20 % points.</a:t>
            </a:r>
          </a:p>
        </p:txBody>
      </p:sp>
      <p:sp>
        <p:nvSpPr>
          <p:cNvPr id="6" name="New shape"/>
          <p:cNvSpPr/>
          <p:nvPr/>
        </p:nvSpPr>
        <p:spPr>
          <a:xfrm>
            <a:off x="457200" y="209740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higher by at least 10 % points.</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66048"/>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Not relevant since difference is smaller than 10 % points.</a:t>
            </a:r>
          </a:p>
        </p:txBody>
      </p:sp>
      <p:sp>
        <p:nvSpPr>
          <p:cNvPr id="10" name="New shape"/>
          <p:cNvSpPr/>
          <p:nvPr/>
        </p:nvSpPr>
        <p:spPr>
          <a:xfrm>
            <a:off x="457200" y="306895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lower by at least 10 % points.</a:t>
            </a:r>
          </a:p>
        </p:txBody>
      </p:sp>
      <p:sp>
        <p:nvSpPr>
          <p:cNvPr id="12" name="New shape"/>
          <p:cNvSpPr/>
          <p:nvPr/>
        </p:nvSpPr>
        <p:spPr>
          <a:xfrm>
            <a:off x="457200" y="35547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lower by at least 20 % points.</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Example result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Group A scored higher by 20 % points</a:t>
            </a:r>
          </a:p>
        </p:txBody>
      </p:sp>
      <p:grpSp>
        <p:nvGrpSpPr>
          <p:cNvPr id="27" name="Group 26"/>
          <p:cNvGrpSpPr/>
          <p:nvPr/>
        </p:nvGrpSpPr>
        <p:grpSpPr>
          <a:xfrm rot="18900000">
            <a:off x="6270384" y="1877561"/>
            <a:ext cx="594313" cy="171450"/>
            <a:chOff x="5801519" y="1436688"/>
            <a:chExt cx="59431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8000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Current</a:t>
              </a:r>
            </a:p>
          </p:txBody>
        </p:sp>
      </p:grpSp>
      <p:grpSp>
        <p:nvGrpSpPr>
          <p:cNvPr id="30" name="Group 29"/>
          <p:cNvGrpSpPr/>
          <p:nvPr/>
        </p:nvGrpSpPr>
        <p:grpSpPr>
          <a:xfrm rot="18900000">
            <a:off x="7254119" y="1940444"/>
            <a:ext cx="478695" cy="121215"/>
            <a:chOff x="6744494" y="1461805"/>
            <a:chExt cx="407257" cy="121215"/>
          </a:xfrm>
        </p:grpSpPr>
        <p:sp>
          <p:nvSpPr>
            <p:cNvPr id="31" name="New shape"/>
            <p:cNvSpPr txBox="1"/>
            <p:nvPr/>
          </p:nvSpPr>
          <p:spPr>
            <a:xfrm>
              <a:off x="6744494" y="1461805"/>
              <a:ext cx="4072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Group A</a:t>
              </a:r>
            </a:p>
          </p:txBody>
        </p:sp>
      </p:grpSp>
      <p:grpSp>
        <p:nvGrpSpPr>
          <p:cNvPr id="32" name="Group 31"/>
          <p:cNvGrpSpPr/>
          <p:nvPr/>
        </p:nvGrpSpPr>
        <p:grpSpPr>
          <a:xfrm rot="18900000">
            <a:off x="8197745" y="1942015"/>
            <a:ext cx="473885" cy="121215"/>
            <a:chOff x="7687469" y="1461805"/>
            <a:chExt cx="402447" cy="121215"/>
          </a:xfrm>
        </p:grpSpPr>
        <p:sp>
          <p:nvSpPr>
            <p:cNvPr id="33" name="New shape"/>
            <p:cNvSpPr txBox="1"/>
            <p:nvPr/>
          </p:nvSpPr>
          <p:spPr>
            <a:xfrm>
              <a:off x="7687469" y="1461805"/>
              <a:ext cx="40244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Group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Significance (*)</a:t>
            </a:r>
          </a:p>
        </p:txBody>
      </p:sp>
      <p:sp>
        <p:nvSpPr>
          <p:cNvPr id="35"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Significance helps identify whether the difference between two scores is meaningful and not due to random chance. A score marked with an asterisk indicates that the difference between this score and Current’s score is considered significant. It reflects a real difference worth paying attention to.</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Themes compared by group</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Employer Excellence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Leading Change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Managing people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Managing systems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Performance environment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Providing direction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Themes compared by group</a:t>
            </a:r>
          </a:p>
        </p:txBody>
      </p:sp>
      <p:sp>
        <p:nvSpPr>
          <p:cNvPr id="3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 (1)</a:t>
            </a:r>
          </a:p>
        </p:txBody>
      </p:sp>
      <p:sp>
        <p:nvSpPr>
          <p:cNvPr id="3"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(3)</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(4)</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(5)</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033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(6)</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(7)</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104424"/>
          <a:ext cx="7772400" cy="164611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(8)</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Team IT</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Team IT</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Team IT</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Team IT</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97096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Topics your employees point out</a:t>
            </a:r>
          </a:p>
        </p:txBody>
      </p:sp>
      <p:sp>
        <p:nvSpPr>
          <p:cNvPr id="5" name="New shape"/>
          <p:cNvSpPr txBox="1"/>
          <p:nvPr/>
        </p:nvSpPr>
        <p:spPr>
          <a:xfrm>
            <a:off x="457200" y="2966799"/>
            <a:ext cx="628650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See what they are most proud of and where they see room for growth.</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412794"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a:solidFill>
                  <a:srgbClr val="192743"/>
                </a:solidFill>
                <a:latin typeface="Poppins"/>
              </a:rPr>
              <a:t>Topics for </a:t>
            </a:r>
            <a:r>
              <a:rPr lang="en-US" sz="2250" b="1" i="0" dirty="0">
                <a:solidFill>
                  <a:srgbClr val="192743"/>
                </a:solidFill>
                <a:latin typeface="Poppins"/>
              </a:rPr>
              <a:t>Team IT</a:t>
            </a:r>
            <a:endParaRPr sz="2250" b="1" i="0" dirty="0">
              <a:solidFill>
                <a:srgbClr val="192743"/>
              </a:solidFill>
              <a:latin typeface="Poppins"/>
            </a:endParaRPr>
          </a:p>
        </p:txBody>
      </p:sp>
      <p:sp>
        <p:nvSpPr>
          <p:cNvPr id="3" name="New shape"/>
          <p:cNvSpPr txBox="1"/>
          <p:nvPr/>
        </p:nvSpPr>
        <p:spPr>
          <a:xfrm>
            <a:off x="457200" y="838007"/>
            <a:ext cx="136896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546178"/>
                </a:solidFill>
                <a:latin typeface="Poppins"/>
              </a:rPr>
              <a:t>Chosen by </a:t>
            </a:r>
            <a:r>
              <a:rPr lang="en-US" sz="900" b="0" i="0" dirty="0">
                <a:solidFill>
                  <a:srgbClr val="546178"/>
                </a:solidFill>
                <a:latin typeface="Poppins"/>
              </a:rPr>
              <a:t>Team IT</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What really stands out for you in a positive way?</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 as an employer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culture</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vision and goals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Customer focus within my organisation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Communication within my organisation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Collaboration within organisation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248727"/>
            <a:ext cx="3214688"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What did you see or experience that could be improved? Don't forget to give us your tip!</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 as an employer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vision and goals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culture</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team's dynamics (atmosphere, trust)</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Customer focus within my organisation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Collaboration within organisation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respondents</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801035"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Topics your employees point out</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9302</Words>
  <Application>Microsoft Macintosh PowerPoint</Application>
  <PresentationFormat>On-screen Show (16:9)</PresentationFormat>
  <Paragraphs>3348</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2026-06-26T13:16:00Z</cp:lastPrinted>
  <dcterms:created xsi:type="dcterms:W3CDTF">2026-06-26T13:16:00Z</dcterms:created>
  <dcterms:modified xsi:type="dcterms:W3CDTF">2026-06-30T12:07:14Z</dcterms:modified>
</cp:coreProperties>
</file>