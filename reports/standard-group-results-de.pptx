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1" r:id="rId16"/>
    <p:sldId id="304" r:id="rId17"/>
    <p:sldId id="307" r:id="rId18"/>
    <p:sldId id="310" r:id="rId19"/>
    <p:sldId id="313" r:id="rId20"/>
    <p:sldId id="316" r:id="rId21"/>
    <p:sldId id="319" r:id="rId22"/>
    <p:sldId id="322" r:id="rId23"/>
    <p:sldId id="331" r:id="rId24"/>
    <p:sldId id="334" r:id="rId25"/>
    <p:sldId id="337" r:id="rId26"/>
    <p:sldId id="340" r:id="rId27"/>
    <p:sldId id="343" r:id="rId28"/>
    <p:sldId id="346" r:id="rId29"/>
    <p:sldId id="349" r:id="rId30"/>
    <p:sldId id="352" r:id="rId31"/>
    <p:sldId id="355" r:id="rId32"/>
    <p:sldId id="358" r:id="rId33"/>
    <p:sldId id="361" r:id="rId34"/>
    <p:sldId id="370" r:id="rId35"/>
    <p:sldId id="373" r:id="rId36"/>
    <p:sldId id="376" r:id="rId37"/>
    <p:sldId id="379" r:id="rId38"/>
    <p:sldId id="382" r:id="rId39"/>
    <p:sldId id="385" r:id="rId40"/>
    <p:sldId id="388" r:id="rId41"/>
    <p:sldId id="391" r:id="rId42"/>
    <p:sldId id="394" r:id="rId43"/>
    <p:sldId id="397" r:id="rId44"/>
    <p:sldId id="400" r:id="rId45"/>
    <p:sldId id="403" r:id="rId46"/>
    <p:sldId id="406" r:id="rId47"/>
    <p:sldId id="409" r:id="rId48"/>
    <p:sldId id="412" r:id="rId49"/>
    <p:sldId id="415" r:id="rId50"/>
    <p:sldId id="418" r:id="rId51"/>
    <p:sldId id="421" r:id="rId52"/>
    <p:sldId id="424" r:id="rId53"/>
    <p:sldId id="427" r:id="rId54"/>
    <p:sldId id="430" r:id="rId55"/>
    <p:sldId id="433" r:id="rId56"/>
    <p:sldId id="436" r:id="rId57"/>
    <p:sldId id="439" r:id="rId58"/>
    <p:sldId id="442" r:id="rId59"/>
    <p:sldId id="445" r:id="rId60"/>
    <p:sldId id="448" r:id="rId61"/>
    <p:sldId id="457" r:id="rId62"/>
    <p:sldId id="451" r:id="rId63"/>
    <p:sldId id="460" r:id="rId64"/>
    <p:sldId id="454" r:id="rId65"/>
    <p:sldId id="463" r:id="rId66"/>
    <p:sldId id="466" r:id="rId67"/>
    <p:sldId id="469" r:id="rId68"/>
    <p:sldId id="472" r:id="rId69"/>
    <p:sldId id="475" r:id="rId70"/>
    <p:sldId id="478" r:id="rId71"/>
    <p:sldId id="481" r:id="rId72"/>
    <p:sldId id="484" r:id="rId73"/>
    <p:sldId id="487" r:id="rId74"/>
    <p:sldId id="490" r:id="rId75"/>
    <p:sldId id="493" r:id="rId76"/>
    <p:sldId id="496" r:id="rId77"/>
    <p:sldId id="499" r:id="rId78"/>
    <p:sldId id="502" r:id="rId79"/>
    <p:sldId id="505" r:id="rId80"/>
    <p:sldId id="508" r:id="rId81"/>
    <p:sldId id="511" r:id="rId82"/>
    <p:sldId id="514" r:id="rId83"/>
    <p:sldId id="517" r:id="rId84"/>
  </p:sldIdLst>
  <p:sldSz cx="9144000" cy="5143500" type="screen16x9"/>
  <p:notesSz cx="6858000" cy="9144000"/>
  <p:embeddedFontLst>
    <p:embeddedFont>
      <p:font typeface="Poppins" pitchFamily="2" charset="77"/>
      <p:regular r:id="rId85"/>
      <p:bold r:id="rId86"/>
      <p:italic r:id="rId87"/>
      <p:boldItalic r:id="rId88"/>
    </p:embeddedFont>
  </p:embeddedFontLst>
  <p:custDataLst>
    <p:tags r:id="rId8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1.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E563E4A3-59E4-4F98-92F5-213B6F318EFF}"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4974B014-2F5A-4023-957B-617808F2E3FC}"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511FA0E2-5137-452B-9262-C16CF40F3E45}"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96932221-6AA1-4AFD-AF95-0930365C6500}"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9B4E42CB-2883-4E06-A4F7-60C0E397D0B0}"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B09E3EAF-7220-49A3-B03C-8CFB60390E4B}"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E50DAF99-7672-453C-ABF6-A7829B6C4F4A}"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F2D49485-7999-4878-BA02-7B1FD3C3CB52}"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89B9B700-878B-4A4F-9E40-F47408FB29D8}"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A268566-3E80-4A5F-A813-CA2F0BFF476F}"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029349E-C695-41D0-9B04-7277C1D1FA4B}"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3.xml"/><Relationship Id="rId7" Type="http://schemas.openxmlformats.org/officeDocument/2006/relationships/slide" Target="slide3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9" Type="http://schemas.openxmlformats.org/officeDocument/2006/relationships/slide" Target="slide8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19.svg"/><Relationship Id="rId10" Type="http://schemas.openxmlformats.org/officeDocument/2006/relationships/image" Target="../media/image20.svg"/><Relationship Id="rId4" Type="http://schemas.openxmlformats.org/officeDocument/2006/relationships/image" Target="../media/image18.svg"/><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7.svg"/><Relationship Id="rId2"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1.sv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421606"/>
            <a:ext cx="6286500" cy="14401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dirty="0">
                <a:solidFill>
                  <a:srgbClr val="000000"/>
                </a:solidFill>
                <a:latin typeface="Poppins"/>
              </a:rPr>
              <a:t>Die </a:t>
            </a:r>
            <a:r>
              <a:rPr sz="3150" b="1" i="0" dirty="0" err="1">
                <a:solidFill>
                  <a:srgbClr val="000000"/>
                </a:solidFill>
                <a:latin typeface="Poppins"/>
              </a:rPr>
              <a:t>Ergebnisse</a:t>
            </a:r>
            <a:r>
              <a:rPr sz="3150" b="1" i="0" dirty="0">
                <a:solidFill>
                  <a:srgbClr val="000000"/>
                </a:solidFill>
                <a:latin typeface="Poppins"/>
              </a:rPr>
              <a:t> von Your Voice - 2024 (Top 2 Box) für </a:t>
            </a:r>
            <a:r>
              <a:rPr lang="en-US" sz="3150" b="1" i="0" dirty="0">
                <a:solidFill>
                  <a:srgbClr val="000000"/>
                </a:solidFill>
                <a:latin typeface="Poppins"/>
              </a:rPr>
              <a:t>Novanta B.V.</a:t>
            </a:r>
            <a:endParaRPr sz="3150" b="1" i="0" dirty="0">
              <a:solidFill>
                <a:srgbClr val="000000"/>
              </a:solidFill>
              <a:latin typeface="Poppins"/>
            </a:endParaRPr>
          </a:p>
        </p:txBody>
      </p:sp>
      <p:sp>
        <p:nvSpPr>
          <p:cNvPr id="4"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5"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Befragungszeitraum</a:t>
            </a:r>
            <a:r>
              <a:rPr sz="788" b="0" i="0">
                <a:solidFill>
                  <a:srgbClr val="192743"/>
                </a:solidFill>
                <a:latin typeface="Poppins"/>
              </a:rPr>
              <a:t> Mai 03, 2024 - Mai 08, 2024</a:t>
            </a:r>
          </a:p>
        </p:txBody>
      </p:sp>
      <p:sp>
        <p:nvSpPr>
          <p:cNvPr id="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Inhalt</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Interpretation der Ergebnisse</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Net Promotor Score für Mitarbeitende</a:t>
            </a:r>
          </a:p>
        </p:txBody>
      </p:sp>
      <p:sp>
        <p:nvSpPr>
          <p:cNvPr id="8" name="New shape"/>
          <p:cNvSpPr txBox="1"/>
          <p:nvPr/>
        </p:nvSpPr>
        <p:spPr>
          <a:xfrm>
            <a:off x="457200" y="221742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21742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Die Leistungsfähigkeit Ihres Unternehmens - Gesamtprofil</a:t>
            </a:r>
          </a:p>
        </p:txBody>
      </p:sp>
      <p:sp>
        <p:nvSpPr>
          <p:cNvPr id="10" name="New shape"/>
          <p:cNvSpPr txBox="1"/>
          <p:nvPr/>
        </p:nvSpPr>
        <p:spPr>
          <a:xfrm>
            <a:off x="457200" y="280035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80035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Indizes</a:t>
            </a:r>
          </a:p>
        </p:txBody>
      </p:sp>
      <p:sp>
        <p:nvSpPr>
          <p:cNvPr id="12" name="New shape"/>
          <p:cNvSpPr txBox="1"/>
          <p:nvPr/>
        </p:nvSpPr>
        <p:spPr>
          <a:xfrm>
            <a:off x="457200" y="317754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3" name="New shape">
            <a:hlinkClick r:id="rId7" action="ppaction://hlinksldjump"/>
          </p:cNvPr>
          <p:cNvSpPr txBox="1"/>
          <p:nvPr/>
        </p:nvSpPr>
        <p:spPr>
          <a:xfrm>
            <a:off x="835819" y="317754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Fragenergebnisse</a:t>
            </a:r>
          </a:p>
        </p:txBody>
      </p:sp>
      <p:sp>
        <p:nvSpPr>
          <p:cNvPr id="14" name="New shape"/>
          <p:cNvSpPr txBox="1"/>
          <p:nvPr/>
        </p:nvSpPr>
        <p:spPr>
          <a:xfrm>
            <a:off x="457200" y="355473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5" name="New shape">
            <a:hlinkClick r:id="rId8" action="ppaction://hlinksldjump"/>
          </p:cNvPr>
          <p:cNvSpPr txBox="1"/>
          <p:nvPr/>
        </p:nvSpPr>
        <p:spPr>
          <a:xfrm>
            <a:off x="835819" y="355473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Detaillierte Informationen: Gruppenergebnisse</a:t>
            </a:r>
          </a:p>
        </p:txBody>
      </p:sp>
      <p:sp>
        <p:nvSpPr>
          <p:cNvPr id="16" name="New shape"/>
          <p:cNvSpPr txBox="1"/>
          <p:nvPr/>
        </p:nvSpPr>
        <p:spPr>
          <a:xfrm>
            <a:off x="457200" y="413766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7" name="New shape">
            <a:hlinkClick r:id="rId9" action="ppaction://hlinksldjump"/>
          </p:cNvPr>
          <p:cNvSpPr txBox="1"/>
          <p:nvPr/>
        </p:nvSpPr>
        <p:spPr>
          <a:xfrm>
            <a:off x="835819" y="413766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Themen, auf die Ihre Mitarbeitenden hinweisen</a:t>
            </a:r>
          </a:p>
        </p:txBody>
      </p:sp>
      <p:sp>
        <p:nvSpPr>
          <p:cNvPr id="18"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19"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Befragungszeitraum</a:t>
            </a:r>
            <a:r>
              <a:rPr sz="788" b="0" i="0">
                <a:solidFill>
                  <a:srgbClr val="192743"/>
                </a:solidFill>
                <a:latin typeface="Poppins"/>
              </a:rPr>
              <a:t> Mai 03, 2024 - Mai 08, 2024</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2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Interpretation der Ergebnisse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Die wichtigsten Eckdaten Ihrer Befragung</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Der Beginn Ihrer Listening Journey!</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Sehen wir uns die Ergebnisse an!</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Befragungszeitraum</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Mai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Mai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Fragen wurden ingesamt gefragt</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zu Indizes wie:</a:t>
            </a:r>
          </a:p>
        </p:txBody>
      </p:sp>
      <p:sp>
        <p:nvSpPr>
          <p:cNvPr id="23" name="New shape"/>
          <p:cNvSpPr txBox="1"/>
          <p:nvPr/>
        </p:nvSpPr>
        <p:spPr>
          <a:xfrm>
            <a:off x="1285875" y="3500438"/>
            <a:ext cx="135886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Arbeitgeberkompetenz</a:t>
            </a:r>
          </a:p>
        </p:txBody>
      </p:sp>
      <p:sp>
        <p:nvSpPr>
          <p:cNvPr id="25" name="New shape"/>
          <p:cNvSpPr txBox="1"/>
          <p:nvPr/>
        </p:nvSpPr>
        <p:spPr>
          <a:xfrm>
            <a:off x="2716181" y="3500438"/>
            <a:ext cx="815324"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Engagement</a:t>
            </a:r>
          </a:p>
        </p:txBody>
      </p:sp>
      <p:sp>
        <p:nvSpPr>
          <p:cNvPr id="27" name="New shape"/>
          <p:cNvSpPr txBox="1"/>
          <p:nvPr/>
        </p:nvSpPr>
        <p:spPr>
          <a:xfrm>
            <a:off x="1605764" y="3746954"/>
            <a:ext cx="1360472"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Veränderung gestalten</a:t>
            </a:r>
          </a:p>
        </p:txBody>
      </p:sp>
      <p:sp>
        <p:nvSpPr>
          <p:cNvPr id="29" name="New shape"/>
          <p:cNvSpPr txBox="1"/>
          <p:nvPr/>
        </p:nvSpPr>
        <p:spPr>
          <a:xfrm>
            <a:off x="1737241" y="3993471"/>
            <a:ext cx="1097518"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Mitarbeiter führen</a:t>
            </a:r>
          </a:p>
        </p:txBody>
      </p:sp>
      <p:sp>
        <p:nvSpPr>
          <p:cNvPr id="31"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und mehr...</a:t>
            </a:r>
          </a:p>
        </p:txBody>
      </p:sp>
      <p:sp>
        <p:nvSpPr>
          <p:cNvPr id="32"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4"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1C55C7"/>
                </a:solidFill>
                <a:latin typeface="Poppins"/>
              </a:rPr>
              <a:t>291/365</a:t>
            </a:r>
          </a:p>
        </p:txBody>
      </p:sp>
      <p:sp>
        <p:nvSpPr>
          <p:cNvPr id="35"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haben teilgenommen!</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a:t>
            </a:r>
          </a:p>
        </p:txBody>
      </p:sp>
      <p:pic>
        <p:nvPicPr>
          <p:cNvPr id="37"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39"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Symbole</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Diese Symbole stehen für die möglichen Vergleichsbenchmarks.</a:t>
            </a:r>
          </a:p>
        </p:txBody>
      </p:sp>
      <p:grpSp>
        <p:nvGrpSpPr>
          <p:cNvPr id="4" name="Group 3"/>
          <p:cNvGrpSpPr/>
          <p:nvPr/>
        </p:nvGrpSpPr>
        <p:grpSpPr>
          <a:xfrm>
            <a:off x="457200" y="1368743"/>
            <a:ext cx="3871912" cy="120015"/>
            <a:chOff x="-177800" y="733743"/>
            <a:chExt cx="3871912" cy="120015"/>
          </a:xfrm>
        </p:grpSpPr>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177800" y="742315"/>
              <a:ext cx="85725" cy="102870"/>
            </a:xfrm>
            <a:prstGeom prst="rect">
              <a:avLst/>
            </a:prstGeom>
          </p:spPr>
        </p:pic>
        <p:sp>
          <p:nvSpPr>
            <p:cNvPr id="6" name="New shape"/>
            <p:cNvSpPr txBox="1"/>
            <p:nvPr/>
          </p:nvSpPr>
          <p:spPr>
            <a:xfrm>
              <a:off x="-20638" y="733743"/>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C55C7"/>
                  </a:solidFill>
                  <a:latin typeface="Poppins"/>
                </a:rPr>
                <a:t>Aktuelle Befragung</a:t>
              </a:r>
            </a:p>
          </p:txBody>
        </p:sp>
      </p:grpSp>
      <p:sp>
        <p:nvSpPr>
          <p:cNvPr id="7" name="New shape"/>
          <p:cNvSpPr txBox="1"/>
          <p:nvPr/>
        </p:nvSpPr>
        <p:spPr>
          <a:xfrm>
            <a:off x="457200" y="152019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C55C7"/>
                </a:solidFill>
                <a:latin typeface="Poppins"/>
              </a:rPr>
              <a:t>Die aktuellen Befragungsergebnisse sind blau markiert und werden mit einem oder mehreren der unten aufgeführten Elemente verglichen.</a:t>
            </a:r>
          </a:p>
        </p:txBody>
      </p:sp>
      <p:grpSp>
        <p:nvGrpSpPr>
          <p:cNvPr id="8" name="Group 7"/>
          <p:cNvGrpSpPr/>
          <p:nvPr/>
        </p:nvGrpSpPr>
        <p:grpSpPr>
          <a:xfrm>
            <a:off x="457200" y="2014538"/>
            <a:ext cx="3876199" cy="120015"/>
            <a:chOff x="-177800" y="1379538"/>
            <a:chExt cx="3876199" cy="120015"/>
          </a:xfrm>
        </p:grpSpPr>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177800" y="1394540"/>
              <a:ext cx="90011" cy="90011"/>
            </a:xfrm>
            <a:prstGeom prst="rect">
              <a:avLst/>
            </a:prstGeom>
          </p:spPr>
        </p:pic>
        <p:sp>
          <p:nvSpPr>
            <p:cNvPr id="10" name="New shape"/>
            <p:cNvSpPr txBox="1"/>
            <p:nvPr/>
          </p:nvSpPr>
          <p:spPr>
            <a:xfrm>
              <a:off x="-16351" y="1379538"/>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Vorherige Befragung</a:t>
              </a:r>
            </a:p>
          </p:txBody>
        </p:sp>
      </p:grpSp>
      <p:sp>
        <p:nvSpPr>
          <p:cNvPr id="11" name="New shape"/>
          <p:cNvSpPr txBox="1"/>
          <p:nvPr/>
        </p:nvSpPr>
        <p:spPr>
          <a:xfrm>
            <a:off x="457200" y="2165985"/>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zeigt die Ergebnisse der vorherigen Befragung an.</a:t>
            </a:r>
          </a:p>
        </p:txBody>
      </p:sp>
      <p:grpSp>
        <p:nvGrpSpPr>
          <p:cNvPr id="12" name="Group 11"/>
          <p:cNvGrpSpPr/>
          <p:nvPr/>
        </p:nvGrpSpPr>
        <p:grpSpPr>
          <a:xfrm>
            <a:off x="457200" y="2540317"/>
            <a:ext cx="3876199" cy="120015"/>
            <a:chOff x="-177800" y="1905317"/>
            <a:chExt cx="3876199" cy="120015"/>
          </a:xfrm>
        </p:grpSpPr>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177800" y="1920319"/>
              <a:ext cx="90011" cy="90011"/>
            </a:xfrm>
            <a:prstGeom prst="rect">
              <a:avLst/>
            </a:prstGeom>
          </p:spPr>
        </p:pic>
        <p:sp>
          <p:nvSpPr>
            <p:cNvPr id="14" name="New shape"/>
            <p:cNvSpPr txBox="1"/>
            <p:nvPr/>
          </p:nvSpPr>
          <p:spPr>
            <a:xfrm>
              <a:off x="-16351" y="1905317"/>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Benchmark</a:t>
              </a:r>
            </a:p>
          </p:txBody>
        </p:sp>
      </p:grpSp>
      <p:sp>
        <p:nvSpPr>
          <p:cNvPr id="15" name="New shape"/>
          <p:cNvSpPr txBox="1"/>
          <p:nvPr/>
        </p:nvSpPr>
        <p:spPr>
          <a:xfrm>
            <a:off x="457200" y="269176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vergleicht die aktuellen Ergebnisse mit denen Ihrer ausgewählten Benchmark, welche branchenspezifisch, landesspezifisch oder benutzerdefiniert sein kann.</a:t>
            </a:r>
          </a:p>
        </p:txBody>
      </p:sp>
      <p:grpSp>
        <p:nvGrpSpPr>
          <p:cNvPr id="16" name="Group 15"/>
          <p:cNvGrpSpPr/>
          <p:nvPr/>
        </p:nvGrpSpPr>
        <p:grpSpPr>
          <a:xfrm>
            <a:off x="457200" y="3306127"/>
            <a:ext cx="3876199" cy="120015"/>
            <a:chOff x="-177800" y="2671127"/>
            <a:chExt cx="3876199" cy="120015"/>
          </a:xfrm>
        </p:grpSpPr>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177800" y="2686130"/>
              <a:ext cx="90011" cy="90011"/>
            </a:xfrm>
            <a:prstGeom prst="rect">
              <a:avLst/>
            </a:prstGeom>
          </p:spPr>
        </p:pic>
        <p:sp>
          <p:nvSpPr>
            <p:cNvPr id="18" name="New shape"/>
            <p:cNvSpPr txBox="1"/>
            <p:nvPr/>
          </p:nvSpPr>
          <p:spPr>
            <a:xfrm>
              <a:off x="-16351" y="2671127"/>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Top-3-Benchmark</a:t>
              </a:r>
            </a:p>
          </p:txBody>
        </p:sp>
      </p:grpSp>
      <p:sp>
        <p:nvSpPr>
          <p:cNvPr id="19" name="New shape"/>
          <p:cNvSpPr txBox="1"/>
          <p:nvPr/>
        </p:nvSpPr>
        <p:spPr>
          <a:xfrm>
            <a:off x="457200" y="345757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zeigt die Ergebnisse der drei leistungsstärksten Unternehmen in Ihrer ausgewählten Benchmark an.</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pic>
        <p:nvPicPr>
          <p:cNvPr id="21"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23"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Beteiligungsquote und Vergleich</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Ihre insgesamte Beteiligungsquote im Vergleich zu vorherigen Befragungen und zu der Benchmark</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Aktuell</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Vorherige Befragung</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968693" y="4897041"/>
            <a:ext cx="114300" cy="121444"/>
          </a:xfrm>
          <a:prstGeom prst="rect">
            <a:avLst/>
          </a:prstGeom>
        </p:spPr>
      </p:pic>
      <p:sp>
        <p:nvSpPr>
          <p:cNvPr id="26" name="New shape"/>
          <p:cNvSpPr txBox="1"/>
          <p:nvPr/>
        </p:nvSpPr>
        <p:spPr>
          <a:xfrm>
            <a:off x="115443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Beteiligungsquote pro Befragungsgruppe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Erfahren Sie, wie viele Mitarbeitende die Befragung in all Ihren Befragungsgruppen abgeschlossen haben.</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Aktuell</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968693" y="4897041"/>
            <a:ext cx="114300" cy="121444"/>
          </a:xfrm>
          <a:prstGeom prst="rect">
            <a:avLst/>
          </a:prstGeom>
        </p:spPr>
      </p:pic>
      <p:sp>
        <p:nvSpPr>
          <p:cNvPr id="55" name="New shape"/>
          <p:cNvSpPr txBox="1"/>
          <p:nvPr/>
        </p:nvSpPr>
        <p:spPr>
          <a:xfrm>
            <a:off x="115443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Auffällige Fragen</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457200" y="1114425"/>
            <a:ext cx="285750" cy="285750"/>
          </a:xfrm>
          <a:prstGeom prst="rect">
            <a:avLst/>
          </a:prstGeom>
        </p:spPr>
      </p:pic>
      <p:sp>
        <p:nvSpPr>
          <p:cNvPr id="4" name="New shape"/>
          <p:cNvSpPr txBox="1"/>
          <p:nvPr/>
        </p:nvSpPr>
        <p:spPr>
          <a:xfrm>
            <a:off x="814388"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Höchste Ergebnisse</a:t>
            </a:r>
          </a:p>
        </p:txBody>
      </p:sp>
      <p:pic>
        <p:nvPicPr>
          <p:cNvPr id="5" name="New picture"/>
          <p:cNvPicPr/>
          <p:nvPr/>
        </p:nvPicPr>
        <p:blipFill>
          <a:blip>
            <a:extLst>
              <a:ext uri="{96DAC541-7B7A-43D3-8B79-37D633B846F1}">
                <asvg:svgBlip xmlns:asvg="http://schemas.microsoft.com/office/drawing/2016/SVG/main" r:embed="rId3"/>
              </a:ext>
            </a:extLst>
          </a:blip>
          <a:stretch>
            <a:fillRect/>
          </a:stretch>
        </p:blipFill>
        <p:spPr>
          <a:xfrm>
            <a:off x="4864894" y="1114425"/>
            <a:ext cx="285750" cy="285750"/>
          </a:xfrm>
          <a:prstGeom prst="rect">
            <a:avLst/>
          </a:prstGeom>
        </p:spPr>
      </p:pic>
      <p:sp>
        <p:nvSpPr>
          <p:cNvPr id="6" name="New shape"/>
          <p:cNvSpPr txBox="1"/>
          <p:nvPr/>
        </p:nvSpPr>
        <p:spPr>
          <a:xfrm>
            <a:off x="5222081"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Niedrigste Ergebnisse</a:t>
            </a:r>
          </a:p>
        </p:txBody>
      </p:sp>
      <p:sp>
        <p:nvSpPr>
          <p:cNvPr id="7" name="New shape"/>
          <p:cNvSpPr txBox="1"/>
          <p:nvPr/>
        </p:nvSpPr>
        <p:spPr>
          <a:xfrm>
            <a:off x="457200" y="1757362"/>
            <a:ext cx="2662588"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Ich </a:t>
            </a:r>
            <a:r>
              <a:rPr sz="900" b="0" i="0" dirty="0" err="1">
                <a:solidFill>
                  <a:srgbClr val="192743"/>
                </a:solidFill>
                <a:latin typeface="Poppins"/>
              </a:rPr>
              <a:t>glaube</a:t>
            </a:r>
            <a:r>
              <a:rPr sz="900" b="0" i="0" dirty="0">
                <a:solidFill>
                  <a:srgbClr val="192743"/>
                </a:solidFill>
                <a:latin typeface="Poppins"/>
              </a:rPr>
              <a:t>, </a:t>
            </a:r>
            <a:r>
              <a:rPr sz="900" b="0" i="0" dirty="0" err="1">
                <a:solidFill>
                  <a:srgbClr val="192743"/>
                </a:solidFill>
                <a:latin typeface="Poppins"/>
              </a:rPr>
              <a:t>dass</a:t>
            </a:r>
            <a:r>
              <a:rPr sz="900" b="0" i="0" dirty="0">
                <a:solidFill>
                  <a:srgbClr val="192743"/>
                </a:solidFill>
                <a:latin typeface="Poppins"/>
              </a:rPr>
              <a:t> ich gut </a:t>
            </a:r>
            <a:r>
              <a:rPr sz="900" b="0" i="0" dirty="0" err="1">
                <a:solidFill>
                  <a:srgbClr val="192743"/>
                </a:solidFill>
                <a:latin typeface="Poppins"/>
              </a:rPr>
              <a:t>zu</a:t>
            </a:r>
            <a:r>
              <a:rPr sz="900" b="0" i="0" dirty="0">
                <a:solidFill>
                  <a:srgbClr val="192743"/>
                </a:solidFill>
                <a:latin typeface="Poppins"/>
              </a:rPr>
              <a:t> </a:t>
            </a:r>
            <a:r>
              <a:rPr lang="en-US" sz="900" b="0" i="0" dirty="0">
                <a:solidFill>
                  <a:srgbClr val="192743"/>
                </a:solidFill>
                <a:latin typeface="Poppins"/>
              </a:rPr>
              <a:t>Novanta B.V.</a:t>
            </a:r>
            <a:r>
              <a:rPr sz="900" b="0" i="0" dirty="0">
                <a:solidFill>
                  <a:srgbClr val="192743"/>
                </a:solidFill>
                <a:latin typeface="Poppins"/>
              </a:rPr>
              <a:t> passe</a:t>
            </a:r>
          </a:p>
        </p:txBody>
      </p:sp>
      <p:sp>
        <p:nvSpPr>
          <p:cNvPr id="8" name="New shape"/>
          <p:cNvSpPr/>
          <p:nvPr/>
        </p:nvSpPr>
        <p:spPr>
          <a:xfrm>
            <a:off x="3073336" y="1814512"/>
            <a:ext cx="75571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 name="New shape"/>
          <p:cNvSpPr txBox="1"/>
          <p:nvPr/>
        </p:nvSpPr>
        <p:spPr>
          <a:xfrm>
            <a:off x="3886200"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0" name="New shape"/>
          <p:cNvSpPr txBox="1"/>
          <p:nvPr/>
        </p:nvSpPr>
        <p:spPr>
          <a:xfrm>
            <a:off x="457200" y="2271712"/>
            <a:ext cx="2809113"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Ich kann meine Arbeitsbelastung gut bewältigen</a:t>
            </a:r>
          </a:p>
        </p:txBody>
      </p:sp>
      <p:sp>
        <p:nvSpPr>
          <p:cNvPr id="11" name="New shape"/>
          <p:cNvSpPr/>
          <p:nvPr/>
        </p:nvSpPr>
        <p:spPr>
          <a:xfrm>
            <a:off x="3323463" y="2328862"/>
            <a:ext cx="5055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3886200"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75%</a:t>
            </a:r>
          </a:p>
        </p:txBody>
      </p:sp>
      <p:sp>
        <p:nvSpPr>
          <p:cNvPr id="14" name="New shape"/>
          <p:cNvSpPr txBox="1"/>
          <p:nvPr/>
        </p:nvSpPr>
        <p:spPr>
          <a:xfrm>
            <a:off x="457200"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habe gute Möglichkeiten, mich beruflich und persönlich weiterzuentwickeln</a:t>
            </a:r>
          </a:p>
        </p:txBody>
      </p:sp>
      <p:sp>
        <p:nvSpPr>
          <p:cNvPr id="15" name="New shape"/>
          <p:cNvSpPr txBox="1"/>
          <p:nvPr/>
        </p:nvSpPr>
        <p:spPr>
          <a:xfrm>
            <a:off x="3886200"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7" name="New shape"/>
          <p:cNvSpPr txBox="1"/>
          <p:nvPr/>
        </p:nvSpPr>
        <p:spPr>
          <a:xfrm>
            <a:off x="457200" y="3214687"/>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Mein Team erarbeitet regelmäßig neue und gute Verbesserungsvorschläge</a:t>
            </a:r>
          </a:p>
        </p:txBody>
      </p:sp>
      <p:sp>
        <p:nvSpPr>
          <p:cNvPr id="18" name="New shape"/>
          <p:cNvSpPr txBox="1"/>
          <p:nvPr/>
        </p:nvSpPr>
        <p:spPr>
          <a:xfrm>
            <a:off x="3886200"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9" name="New shape"/>
          <p:cNvSpPr txBox="1"/>
          <p:nvPr/>
        </p:nvSpPr>
        <p:spPr>
          <a:xfrm>
            <a:off x="457200" y="3814762"/>
            <a:ext cx="28725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Die </a:t>
            </a:r>
            <a:r>
              <a:rPr sz="900" b="0" i="0" dirty="0" err="1">
                <a:solidFill>
                  <a:srgbClr val="192743"/>
                </a:solidFill>
                <a:latin typeface="Poppins"/>
              </a:rPr>
              <a:t>Zukunftsvision</a:t>
            </a:r>
            <a:r>
              <a:rPr sz="900" b="0" i="0" dirty="0">
                <a:solidFill>
                  <a:srgbClr val="192743"/>
                </a:solidFill>
                <a:latin typeface="Poppins"/>
              </a:rPr>
              <a:t> von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inspiriert</a:t>
            </a:r>
            <a:r>
              <a:rPr sz="900" b="0" i="0" dirty="0">
                <a:solidFill>
                  <a:srgbClr val="192743"/>
                </a:solidFill>
                <a:latin typeface="Poppins"/>
              </a:rPr>
              <a:t> </a:t>
            </a:r>
            <a:r>
              <a:rPr sz="900" b="0" i="0" dirty="0" err="1">
                <a:solidFill>
                  <a:srgbClr val="192743"/>
                </a:solidFill>
                <a:latin typeface="Poppins"/>
              </a:rPr>
              <a:t>mich</a:t>
            </a:r>
            <a:endParaRPr sz="900" b="0" i="0" dirty="0">
              <a:solidFill>
                <a:srgbClr val="192743"/>
              </a:solidFill>
              <a:latin typeface="Poppins"/>
            </a:endParaRPr>
          </a:p>
        </p:txBody>
      </p:sp>
      <p:sp>
        <p:nvSpPr>
          <p:cNvPr id="20" name="New shape"/>
          <p:cNvSpPr/>
          <p:nvPr/>
        </p:nvSpPr>
        <p:spPr>
          <a:xfrm>
            <a:off x="3283379" y="3871912"/>
            <a:ext cx="54567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886200"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22" name="New shape"/>
          <p:cNvSpPr txBox="1"/>
          <p:nvPr/>
        </p:nvSpPr>
        <p:spPr>
          <a:xfrm>
            <a:off x="4864894" y="1757362"/>
            <a:ext cx="168835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macht mir Spaß</a:t>
            </a:r>
          </a:p>
        </p:txBody>
      </p:sp>
      <p:sp>
        <p:nvSpPr>
          <p:cNvPr id="23" name="New shape"/>
          <p:cNvSpPr/>
          <p:nvPr/>
        </p:nvSpPr>
        <p:spPr>
          <a:xfrm>
            <a:off x="6610398" y="1814512"/>
            <a:ext cx="162634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txBox="1"/>
          <p:nvPr/>
        </p:nvSpPr>
        <p:spPr>
          <a:xfrm>
            <a:off x="8293894"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26" name="New shape"/>
          <p:cNvSpPr txBox="1"/>
          <p:nvPr/>
        </p:nvSpPr>
        <p:spPr>
          <a:xfrm>
            <a:off x="4864894" y="218598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weiß, welche Arbeitsergebnisse von mir erwartet werden</a:t>
            </a:r>
          </a:p>
        </p:txBody>
      </p:sp>
      <p:sp>
        <p:nvSpPr>
          <p:cNvPr id="27" name="New shape"/>
          <p:cNvSpPr txBox="1"/>
          <p:nvPr/>
        </p:nvSpPr>
        <p:spPr>
          <a:xfrm>
            <a:off x="8293894"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29" name="New shape"/>
          <p:cNvSpPr txBox="1"/>
          <p:nvPr/>
        </p:nvSpPr>
        <p:spPr>
          <a:xfrm>
            <a:off x="4864894"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err="1">
                <a:solidFill>
                  <a:srgbClr val="192743"/>
                </a:solidFill>
                <a:latin typeface="Poppins"/>
              </a:rPr>
              <a:t>Innerhalb</a:t>
            </a:r>
            <a:r>
              <a:rPr sz="900" b="0" i="0" dirty="0">
                <a:solidFill>
                  <a:srgbClr val="192743"/>
                </a:solidFill>
                <a:latin typeface="Poppins"/>
              </a:rPr>
              <a:t> von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werden</a:t>
            </a:r>
            <a:r>
              <a:rPr sz="900" b="0" i="0" dirty="0">
                <a:solidFill>
                  <a:srgbClr val="192743"/>
                </a:solidFill>
                <a:latin typeface="Poppins"/>
              </a:rPr>
              <a:t> die </a:t>
            </a:r>
            <a:r>
              <a:rPr sz="900" b="0" i="0" dirty="0" err="1">
                <a:solidFill>
                  <a:srgbClr val="192743"/>
                </a:solidFill>
                <a:latin typeface="Poppins"/>
              </a:rPr>
              <a:t>Mitarbeitenden</a:t>
            </a:r>
            <a:r>
              <a:rPr sz="900" b="0" i="0" dirty="0">
                <a:solidFill>
                  <a:srgbClr val="192743"/>
                </a:solidFill>
                <a:latin typeface="Poppins"/>
              </a:rPr>
              <a:t> fair </a:t>
            </a:r>
            <a:r>
              <a:rPr sz="900" b="0" i="0" dirty="0" err="1">
                <a:solidFill>
                  <a:srgbClr val="192743"/>
                </a:solidFill>
                <a:latin typeface="Poppins"/>
              </a:rPr>
              <a:t>behandelt</a:t>
            </a:r>
            <a:endParaRPr sz="900" b="0" i="0" dirty="0">
              <a:solidFill>
                <a:srgbClr val="192743"/>
              </a:solidFill>
              <a:latin typeface="Poppins"/>
            </a:endParaRPr>
          </a:p>
        </p:txBody>
      </p:sp>
      <p:sp>
        <p:nvSpPr>
          <p:cNvPr id="30" name="New shape"/>
          <p:cNvSpPr txBox="1"/>
          <p:nvPr/>
        </p:nvSpPr>
        <p:spPr>
          <a:xfrm>
            <a:off x="8293894"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31" name="New shape"/>
          <p:cNvSpPr txBox="1"/>
          <p:nvPr/>
        </p:nvSpPr>
        <p:spPr>
          <a:xfrm>
            <a:off x="4864894" y="3300412"/>
            <a:ext cx="27651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Ich war </a:t>
            </a:r>
            <a:r>
              <a:rPr sz="900" b="0" i="0" dirty="0" err="1">
                <a:solidFill>
                  <a:srgbClr val="192743"/>
                </a:solidFill>
                <a:latin typeface="Poppins"/>
              </a:rPr>
              <a:t>stolz</a:t>
            </a:r>
            <a:r>
              <a:rPr sz="900" b="0" i="0" dirty="0">
                <a:solidFill>
                  <a:srgbClr val="192743"/>
                </a:solidFill>
                <a:latin typeface="Poppins"/>
              </a:rPr>
              <a:t> </a:t>
            </a:r>
            <a:r>
              <a:rPr sz="900" b="0" i="0" dirty="0" err="1">
                <a:solidFill>
                  <a:srgbClr val="192743"/>
                </a:solidFill>
                <a:latin typeface="Poppins"/>
              </a:rPr>
              <a:t>darauf</a:t>
            </a:r>
            <a:r>
              <a:rPr sz="900" b="0" i="0" dirty="0">
                <a:solidFill>
                  <a:srgbClr val="192743"/>
                </a:solidFill>
                <a:latin typeface="Poppins"/>
              </a:rPr>
              <a:t>, für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zu</a:t>
            </a:r>
            <a:r>
              <a:rPr sz="900" b="0" i="0" dirty="0">
                <a:solidFill>
                  <a:srgbClr val="192743"/>
                </a:solidFill>
                <a:latin typeface="Poppins"/>
              </a:rPr>
              <a:t> </a:t>
            </a:r>
            <a:r>
              <a:rPr sz="900" b="0" i="0" dirty="0" err="1">
                <a:solidFill>
                  <a:srgbClr val="192743"/>
                </a:solidFill>
                <a:latin typeface="Poppins"/>
              </a:rPr>
              <a:t>arbeiten</a:t>
            </a:r>
            <a:endParaRPr sz="900" b="0" i="0" dirty="0">
              <a:solidFill>
                <a:srgbClr val="192743"/>
              </a:solidFill>
              <a:latin typeface="Poppins"/>
            </a:endParaRPr>
          </a:p>
        </p:txBody>
      </p:sp>
      <p:sp>
        <p:nvSpPr>
          <p:cNvPr id="32" name="New shape"/>
          <p:cNvSpPr/>
          <p:nvPr/>
        </p:nvSpPr>
        <p:spPr>
          <a:xfrm>
            <a:off x="7583646" y="3357562"/>
            <a:ext cx="65309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8293894"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5" name="New shape"/>
          <p:cNvSpPr txBox="1"/>
          <p:nvPr/>
        </p:nvSpPr>
        <p:spPr>
          <a:xfrm>
            <a:off x="4864894" y="37290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nutzt</a:t>
            </a:r>
            <a:r>
              <a:rPr sz="900" b="0" i="0" dirty="0">
                <a:solidFill>
                  <a:srgbClr val="192743"/>
                </a:solidFill>
                <a:latin typeface="Poppins"/>
              </a:rPr>
              <a:t> Ideen und </a:t>
            </a:r>
            <a:r>
              <a:rPr sz="900" b="0" i="0" dirty="0" err="1">
                <a:solidFill>
                  <a:srgbClr val="192743"/>
                </a:solidFill>
                <a:latin typeface="Poppins"/>
              </a:rPr>
              <a:t>Vorschläge</a:t>
            </a:r>
            <a:r>
              <a:rPr sz="900" b="0" i="0" dirty="0">
                <a:solidFill>
                  <a:srgbClr val="192743"/>
                </a:solidFill>
                <a:latin typeface="Poppins"/>
              </a:rPr>
              <a:t> der </a:t>
            </a:r>
            <a:r>
              <a:rPr sz="900" b="0" i="0" dirty="0" err="1">
                <a:solidFill>
                  <a:srgbClr val="192743"/>
                </a:solidFill>
                <a:latin typeface="Poppins"/>
              </a:rPr>
              <a:t>Mitarbeitenden</a:t>
            </a:r>
            <a:r>
              <a:rPr sz="900" b="0" i="0" dirty="0">
                <a:solidFill>
                  <a:srgbClr val="192743"/>
                </a:solidFill>
                <a:latin typeface="Poppins"/>
              </a:rPr>
              <a:t> für </a:t>
            </a:r>
            <a:r>
              <a:rPr sz="900" b="0" i="0" dirty="0" err="1">
                <a:solidFill>
                  <a:srgbClr val="192743"/>
                </a:solidFill>
                <a:latin typeface="Poppins"/>
              </a:rPr>
              <a:t>Verbesserungen</a:t>
            </a:r>
            <a:endParaRPr sz="900" b="0" i="0" dirty="0">
              <a:solidFill>
                <a:srgbClr val="192743"/>
              </a:solidFill>
              <a:latin typeface="Poppins"/>
            </a:endParaRPr>
          </a:p>
        </p:txBody>
      </p:sp>
      <p:sp>
        <p:nvSpPr>
          <p:cNvPr id="36" name="New shape"/>
          <p:cNvSpPr txBox="1"/>
          <p:nvPr/>
        </p:nvSpPr>
        <p:spPr>
          <a:xfrm>
            <a:off x="8293894"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7" name="New shape"/>
          <p:cNvSpPr/>
          <p:nvPr/>
        </p:nvSpPr>
        <p:spPr>
          <a:xfrm flipH="1">
            <a:off x="4579144" y="1585912"/>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40"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Net Promotor Score für Mitarbeitende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und Benchmark-Vergleich</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Der eNPS gibt an, inwieweit Ihre Mitarbeitenden Ihr Unternehmen als guten Arbeitgeber empfehlen würden.</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162288" y="1428750"/>
            <a:ext cx="675799" cy="171450"/>
            <a:chOff x="-120650" y="793750"/>
            <a:chExt cx="675799"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7" y="810209"/>
              <a:ext cx="43291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Passive</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195241" y="1428750"/>
            <a:ext cx="1124744" cy="171450"/>
            <a:chOff x="2136775" y="793750"/>
            <a:chExt cx="1124744"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88185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Promotor:innen</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595541" y="1428750"/>
            <a:ext cx="1124744" cy="171450"/>
            <a:chOff x="4537075" y="793750"/>
            <a:chExt cx="1124744"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88185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Detraktor:innen</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1C55C7"/>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Aktuell</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Vorherige Befragung</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International</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Ergebnisse nicht verfügbar</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International</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203031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Net Promotor Score für Mitarbeitende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Aufschlüsselung nach Gruppe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der eNPS-Ergebnisse zwischen allen Ihren Befragungsgruppen.</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1C55C7"/>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1C55C7"/>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025843" y="4897041"/>
            <a:ext cx="114300" cy="121444"/>
          </a:xfrm>
          <a:prstGeom prst="rect">
            <a:avLst/>
          </a:prstGeom>
        </p:spPr>
      </p:pic>
      <p:sp>
        <p:nvSpPr>
          <p:cNvPr id="49" name="New shape"/>
          <p:cNvSpPr txBox="1"/>
          <p:nvPr/>
        </p:nvSpPr>
        <p:spPr>
          <a:xfrm>
            <a:off x="121158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203031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Net Promotor Score für Mitarbeitende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Die Leistungsfähigkeit Ihres Unternehmens - Gesamtprofil</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Interpretation der Ergebnisse</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Verglichene Elemente und Ergebnis-Berechnung</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Top-2-Box oder Positiv-Ergebnisbereich</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Bei der Top-2-Box-Berechnung werden für das Abschlussergebnis je Frage die Prozentsätze der Personen kombiniert, die entweder „Stimme voll zu“ oder „Stimme eher zu“ ausgewählt haben.</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Mögliche Antworten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Prozentuale Verteilung</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Stimme voll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Ja %</a:t>
                      </a:r>
                    </a:p>
                    <a:p>
                      <a:pPr algn="ctr"/>
                      <a:r>
                        <a:rPr sz="788" b="1" i="0">
                          <a:solidFill>
                            <a:srgbClr val="30B3AF"/>
                          </a:solidFill>
                          <a:latin typeface="Poppins"/>
                        </a:rPr>
                        <a:t>Top-2-Box</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Teils-Teils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Neutral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Nein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Stimme überhaupt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Beispiel für ein Fragenergebnis</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Teilnehmende:r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Teilnehmende:r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voll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Teilnehmende:r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von 3 = 67 %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Beispiel für ein Index-Ergebnis</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Der Prozentsatz aller Personen, die bei den Fragen aller Indizes mit „Stimme eher zu“ oder „Stimme voll zu“ geantwortet haben.</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Teilnehmende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Index-Frage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Index-Frage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von 4 = 75 %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Interpretation der Ergebnisse</a:t>
            </a:r>
          </a:p>
        </p:txBody>
      </p:sp>
      <p:sp>
        <p:nvSpPr>
          <p:cNvPr id="3" name="New shape"/>
          <p:cNvSpPr txBox="1"/>
          <p:nvPr/>
        </p:nvSpPr>
        <p:spPr>
          <a:xfrm>
            <a:off x="457200" y="857250"/>
            <a:ext cx="4286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Ergebnisunterschiede und Ergebnisvergleiche</a:t>
            </a:r>
          </a:p>
        </p:txBody>
      </p:sp>
      <p:sp>
        <p:nvSpPr>
          <p:cNvPr id="4" name="New shape"/>
          <p:cNvSpPr/>
          <p:nvPr/>
        </p:nvSpPr>
        <p:spPr>
          <a:xfrm>
            <a:off x="457200" y="140589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4287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20 % Punkte niedriger.</a:t>
            </a:r>
          </a:p>
        </p:txBody>
      </p:sp>
      <p:sp>
        <p:nvSpPr>
          <p:cNvPr id="6" name="New shape"/>
          <p:cNvSpPr/>
          <p:nvPr/>
        </p:nvSpPr>
        <p:spPr>
          <a:xfrm>
            <a:off x="457200" y="189166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191452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10 % Punkte niedriger.</a:t>
            </a:r>
          </a:p>
        </p:txBody>
      </p:sp>
      <p:sp>
        <p:nvSpPr>
          <p:cNvPr id="8" name="New shape"/>
          <p:cNvSpPr/>
          <p:nvPr/>
        </p:nvSpPr>
        <p:spPr>
          <a:xfrm>
            <a:off x="457200" y="237744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46030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Nicht relevant, da die Differenz kleiner als 10 % Punkte ist.</a:t>
            </a:r>
          </a:p>
        </p:txBody>
      </p:sp>
      <p:sp>
        <p:nvSpPr>
          <p:cNvPr id="10" name="New shape"/>
          <p:cNvSpPr/>
          <p:nvPr/>
        </p:nvSpPr>
        <p:spPr>
          <a:xfrm>
            <a:off x="457200" y="286321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288607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10 % Punkte höher.</a:t>
            </a:r>
          </a:p>
        </p:txBody>
      </p:sp>
      <p:sp>
        <p:nvSpPr>
          <p:cNvPr id="12" name="New shape"/>
          <p:cNvSpPr/>
          <p:nvPr/>
        </p:nvSpPr>
        <p:spPr>
          <a:xfrm>
            <a:off x="457200" y="334899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3718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20 % Punkte höher.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Beispielergebnis</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um 20 % Punkte höher</a:t>
            </a:r>
          </a:p>
        </p:txBody>
      </p:sp>
      <p:grpSp>
        <p:nvGrpSpPr>
          <p:cNvPr id="27" name="Group 26"/>
          <p:cNvGrpSpPr/>
          <p:nvPr/>
        </p:nvGrpSpPr>
        <p:grpSpPr>
          <a:xfrm rot="18900000">
            <a:off x="6279278" y="1899034"/>
            <a:ext cx="528574" cy="171450"/>
            <a:chOff x="5801519" y="1436688"/>
            <a:chExt cx="528574"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31426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C55C7"/>
                  </a:solidFill>
                  <a:latin typeface="Poppins"/>
                </a:rPr>
                <a:t>Aktuell</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34410" y="1809479"/>
            <a:ext cx="835549" cy="150019"/>
            <a:chOff x="7687469" y="1447403"/>
            <a:chExt cx="835549"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6140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Unternehmen</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Signifikanz (*)</a:t>
            </a:r>
          </a:p>
        </p:txBody>
      </p:sp>
      <p:sp>
        <p:nvSpPr>
          <p:cNvPr id="37" name="New shape"/>
          <p:cNvSpPr txBox="1"/>
          <p:nvPr/>
        </p:nvSpPr>
        <p:spPr>
          <a:xfrm>
            <a:off x="4029075" y="4254817"/>
            <a:ext cx="4029075" cy="72009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Anhand der Signifikanz kann man feststellen, ob der Unterschied zwischen zwei Ergebnissen bedeutsam ist oder auf Zufall beruht. Ein Ergebnis, das mit einem Sternchen markiert wurde, bedeutet, dass der Unterschied zwischen diesem Ergebnis und dem Ergebnis von Aktuell als signifikant betrachtet werden kann. Es symbolisiert demnach einen Unterschied, dem Beachtung geschenkt werden sollte.</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Der derzeitige Stand</a:t>
            </a:r>
          </a:p>
        </p:txBody>
      </p:sp>
      <p:sp>
        <p:nvSpPr>
          <p:cNvPr id="3" name="New shape"/>
          <p:cNvSpPr txBox="1"/>
          <p:nvPr/>
        </p:nvSpPr>
        <p:spPr>
          <a:xfrm>
            <a:off x="457200" y="1028700"/>
            <a:ext cx="3793331"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Das Engagement der Mitarbeitenden und die Qualität der Leistungsumgebung sind entscheidend für Spitzenleistungen, Innovationskraft und hohe Anpassungsfähigkeit.</a:t>
            </a:r>
          </a:p>
        </p:txBody>
      </p:sp>
      <p:sp>
        <p:nvSpPr>
          <p:cNvPr id="4" name="New shape"/>
          <p:cNvSpPr txBox="1"/>
          <p:nvPr/>
        </p:nvSpPr>
        <p:spPr>
          <a:xfrm>
            <a:off x="742950" y="153162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Effektiv</a:t>
            </a:r>
          </a:p>
        </p:txBody>
      </p:sp>
      <p:sp>
        <p:nvSpPr>
          <p:cNvPr id="5" name="New shape"/>
          <p:cNvSpPr/>
          <p:nvPr/>
        </p:nvSpPr>
        <p:spPr>
          <a:xfrm>
            <a:off x="457200" y="1531620"/>
            <a:ext cx="171450" cy="171450"/>
          </a:xfrm>
          <a:prstGeom prst="roundRect">
            <a:avLst/>
          </a:prstGeom>
          <a:solidFill>
            <a:srgbClr val="2DAC6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742950" y="1680210"/>
            <a:ext cx="3507581"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Da das Leistungsumfeld ausgezeichnet ist, sind die besten Voraussetzungen für Engagement gegeben. Arbeiten Sie daran, Ihre Stärken zu festigen und weiterzuentwickeln!</a:t>
            </a:r>
          </a:p>
        </p:txBody>
      </p:sp>
      <p:sp>
        <p:nvSpPr>
          <p:cNvPr id="7" name="New shape"/>
          <p:cNvSpPr txBox="1"/>
          <p:nvPr/>
        </p:nvSpPr>
        <p:spPr>
          <a:xfrm>
            <a:off x="742950" y="218884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Ineffektiv</a:t>
            </a:r>
          </a:p>
        </p:txBody>
      </p:sp>
      <p:sp>
        <p:nvSpPr>
          <p:cNvPr id="8" name="New shape"/>
          <p:cNvSpPr/>
          <p:nvPr/>
        </p:nvSpPr>
        <p:spPr>
          <a:xfrm>
            <a:off x="457200" y="2188845"/>
            <a:ext cx="171450" cy="171450"/>
          </a:xfrm>
          <a:prstGeom prst="roundRect">
            <a:avLst/>
          </a:prstGeom>
          <a:solidFill>
            <a:srgbClr val="D01F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742950" y="2337435"/>
            <a:ext cx="3507581"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Fokussieren Sie sich darauf, die Qualität des Leistungsumfeldes kontinuierlich zu verbessern – insbesondere in Bereichen, die entscheidend für Engagement und Leistung sind.</a:t>
            </a:r>
          </a:p>
        </p:txBody>
      </p:sp>
      <p:sp>
        <p:nvSpPr>
          <p:cNvPr id="10" name="New shape"/>
          <p:cNvSpPr txBox="1"/>
          <p:nvPr/>
        </p:nvSpPr>
        <p:spPr>
          <a:xfrm>
            <a:off x="742950" y="284607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Nicht vollständig genutzt</a:t>
            </a:r>
          </a:p>
        </p:txBody>
      </p:sp>
      <p:sp>
        <p:nvSpPr>
          <p:cNvPr id="11" name="New shape"/>
          <p:cNvSpPr/>
          <p:nvPr/>
        </p:nvSpPr>
        <p:spPr>
          <a:xfrm>
            <a:off x="457200" y="2846070"/>
            <a:ext cx="171450" cy="171450"/>
          </a:xfrm>
          <a:prstGeom prst="roundRect">
            <a:avLst/>
          </a:prstGeom>
          <a:solidFill>
            <a:srgbClr val="FFA11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742950" y="2994660"/>
            <a:ext cx="3507581"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Mitarbeitende sind zwar engagiert, haben aber Schwierigkeiten, ihr Bestes zu geben. Verbessern Sie die Qualität des Leistungsumfeldes, damit die Gruppe wachsen und sich weiterentwickeln kann.</a:t>
            </a:r>
          </a:p>
        </p:txBody>
      </p:sp>
      <p:sp>
        <p:nvSpPr>
          <p:cNvPr id="13" name="New shape"/>
          <p:cNvSpPr txBox="1"/>
          <p:nvPr/>
        </p:nvSpPr>
        <p:spPr>
          <a:xfrm>
            <a:off x="742950" y="350329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Distanziert</a:t>
            </a:r>
          </a:p>
        </p:txBody>
      </p:sp>
      <p:sp>
        <p:nvSpPr>
          <p:cNvPr id="14" name="New shape"/>
          <p:cNvSpPr/>
          <p:nvPr/>
        </p:nvSpPr>
        <p:spPr>
          <a:xfrm>
            <a:off x="457200" y="3503295"/>
            <a:ext cx="171450" cy="171450"/>
          </a:xfrm>
          <a:prstGeom prst="roundRect">
            <a:avLst/>
          </a:prstGeom>
          <a:solidFill>
            <a:srgbClr val="CFD4D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742950" y="3651885"/>
            <a:ext cx="3507581"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Ihre Qualität des Leistungsumfeldes ist hervorragend – machen Sie weiter so! Analysieren Sie die Bereiche, die das Mitarbeiter-Engagement besonders prägen, und nutzen Sie Chancen zur Verbesserung.</a:t>
            </a:r>
          </a:p>
        </p:txBody>
      </p:sp>
      <p:sp>
        <p:nvSpPr>
          <p:cNvPr id="16" name="New shape"/>
          <p:cNvSpPr/>
          <p:nvPr/>
        </p:nvSpPr>
        <p:spPr>
          <a:xfrm flipH="1">
            <a:off x="4536281" y="1028700"/>
            <a:ext cx="0" cy="34861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p:nvPr/>
        </p:nvSpPr>
        <p:spPr>
          <a:xfrm>
            <a:off x="5557838" y="1028700"/>
            <a:ext cx="1478756" cy="1478756"/>
          </a:xfrm>
          <a:prstGeom prst="roundRect">
            <a:avLst>
              <a:gd name="adj" fmla="val 3000"/>
            </a:avLst>
          </a:prstGeom>
          <a:gradFill>
            <a:gsLst>
              <a:gs pos="70000">
                <a:srgbClr val="CFD4DC"/>
              </a:gs>
              <a:gs pos="0">
                <a:srgbClr val="FFFFFF"/>
              </a:gs>
            </a:gsLst>
            <a:lin ang="135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7065169" y="1028700"/>
            <a:ext cx="1478756" cy="1478756"/>
          </a:xfrm>
          <a:prstGeom prst="roundRect">
            <a:avLst>
              <a:gd name="adj" fmla="val 3000"/>
            </a:avLst>
          </a:prstGeom>
          <a:gradFill>
            <a:gsLst>
              <a:gs pos="70000">
                <a:srgbClr val="2DAC6F"/>
              </a:gs>
              <a:gs pos="0">
                <a:srgbClr val="FFFFFF"/>
              </a:gs>
            </a:gsLst>
            <a:lin ang="189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5557838" y="2536031"/>
            <a:ext cx="1478756" cy="1478756"/>
          </a:xfrm>
          <a:prstGeom prst="roundRect">
            <a:avLst>
              <a:gd name="adj" fmla="val 3000"/>
            </a:avLst>
          </a:prstGeom>
          <a:gradFill>
            <a:gsLst>
              <a:gs pos="70000">
                <a:srgbClr val="D01F1F"/>
              </a:gs>
              <a:gs pos="0">
                <a:srgbClr val="FFFFFF"/>
              </a:gs>
            </a:gsLst>
            <a:lin ang="81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7065169" y="2536031"/>
            <a:ext cx="1478756" cy="1478756"/>
          </a:xfrm>
          <a:prstGeom prst="roundRect">
            <a:avLst>
              <a:gd name="adj" fmla="val 3000"/>
            </a:avLst>
          </a:prstGeom>
          <a:gradFill>
            <a:gsLst>
              <a:gs pos="70000">
                <a:srgbClr val="FFA113"/>
              </a:gs>
              <a:gs pos="0">
                <a:srgbClr val="FFFFFF"/>
              </a:gs>
            </a:gsLst>
            <a:lin ang="27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30066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0</a:t>
            </a:r>
          </a:p>
        </p:txBody>
      </p:sp>
      <p:sp>
        <p:nvSpPr>
          <p:cNvPr id="22" name="New shape"/>
          <p:cNvSpPr txBox="1"/>
          <p:nvPr/>
        </p:nvSpPr>
        <p:spPr>
          <a:xfrm>
            <a:off x="568540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a:t>
            </a:r>
          </a:p>
        </p:txBody>
      </p:sp>
      <p:sp>
        <p:nvSpPr>
          <p:cNvPr id="23" name="New shape"/>
          <p:cNvSpPr txBox="1"/>
          <p:nvPr/>
        </p:nvSpPr>
        <p:spPr>
          <a:xfrm>
            <a:off x="5898697"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20</a:t>
            </a:r>
          </a:p>
        </p:txBody>
      </p:sp>
      <p:sp>
        <p:nvSpPr>
          <p:cNvPr id="24" name="New shape"/>
          <p:cNvSpPr txBox="1"/>
          <p:nvPr/>
        </p:nvSpPr>
        <p:spPr>
          <a:xfrm>
            <a:off x="611198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30</a:t>
            </a:r>
          </a:p>
        </p:txBody>
      </p:sp>
      <p:sp>
        <p:nvSpPr>
          <p:cNvPr id="25" name="New shape"/>
          <p:cNvSpPr txBox="1"/>
          <p:nvPr/>
        </p:nvSpPr>
        <p:spPr>
          <a:xfrm>
            <a:off x="6325281"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40</a:t>
            </a:r>
          </a:p>
        </p:txBody>
      </p:sp>
      <p:sp>
        <p:nvSpPr>
          <p:cNvPr id="26" name="New shape"/>
          <p:cNvSpPr txBox="1"/>
          <p:nvPr/>
        </p:nvSpPr>
        <p:spPr>
          <a:xfrm>
            <a:off x="653857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50</a:t>
            </a:r>
          </a:p>
        </p:txBody>
      </p:sp>
      <p:sp>
        <p:nvSpPr>
          <p:cNvPr id="27" name="New shape"/>
          <p:cNvSpPr txBox="1"/>
          <p:nvPr/>
        </p:nvSpPr>
        <p:spPr>
          <a:xfrm>
            <a:off x="675186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60</a:t>
            </a:r>
          </a:p>
        </p:txBody>
      </p:sp>
      <p:sp>
        <p:nvSpPr>
          <p:cNvPr id="28" name="New shape"/>
          <p:cNvSpPr txBox="1"/>
          <p:nvPr/>
        </p:nvSpPr>
        <p:spPr>
          <a:xfrm>
            <a:off x="6965156"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70</a:t>
            </a:r>
          </a:p>
        </p:txBody>
      </p:sp>
      <p:sp>
        <p:nvSpPr>
          <p:cNvPr id="29" name="New shape"/>
          <p:cNvSpPr txBox="1"/>
          <p:nvPr/>
        </p:nvSpPr>
        <p:spPr>
          <a:xfrm>
            <a:off x="746283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80</a:t>
            </a:r>
          </a:p>
        </p:txBody>
      </p:sp>
      <p:sp>
        <p:nvSpPr>
          <p:cNvPr id="30" name="New shape"/>
          <p:cNvSpPr txBox="1"/>
          <p:nvPr/>
        </p:nvSpPr>
        <p:spPr>
          <a:xfrm>
            <a:off x="796051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90</a:t>
            </a:r>
          </a:p>
        </p:txBody>
      </p:sp>
      <p:sp>
        <p:nvSpPr>
          <p:cNvPr id="31" name="New shape"/>
          <p:cNvSpPr txBox="1"/>
          <p:nvPr/>
        </p:nvSpPr>
        <p:spPr>
          <a:xfrm>
            <a:off x="8458200"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100</a:t>
            </a:r>
          </a:p>
        </p:txBody>
      </p:sp>
      <p:sp>
        <p:nvSpPr>
          <p:cNvPr id="32" name="New shape"/>
          <p:cNvSpPr txBox="1"/>
          <p:nvPr/>
        </p:nvSpPr>
        <p:spPr>
          <a:xfrm>
            <a:off x="5300662" y="38045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a:t>
            </a:r>
          </a:p>
        </p:txBody>
      </p:sp>
      <p:sp>
        <p:nvSpPr>
          <p:cNvPr id="33" name="New shape"/>
          <p:cNvSpPr txBox="1"/>
          <p:nvPr/>
        </p:nvSpPr>
        <p:spPr>
          <a:xfrm>
            <a:off x="5300662" y="35942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20</a:t>
            </a:r>
          </a:p>
        </p:txBody>
      </p:sp>
      <p:sp>
        <p:nvSpPr>
          <p:cNvPr id="34" name="New shape"/>
          <p:cNvSpPr txBox="1"/>
          <p:nvPr/>
        </p:nvSpPr>
        <p:spPr>
          <a:xfrm>
            <a:off x="5300662" y="3383924"/>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30</a:t>
            </a:r>
          </a:p>
        </p:txBody>
      </p:sp>
      <p:sp>
        <p:nvSpPr>
          <p:cNvPr id="35" name="New shape"/>
          <p:cNvSpPr txBox="1"/>
          <p:nvPr/>
        </p:nvSpPr>
        <p:spPr>
          <a:xfrm>
            <a:off x="5300662" y="3173636"/>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40</a:t>
            </a:r>
          </a:p>
        </p:txBody>
      </p:sp>
      <p:sp>
        <p:nvSpPr>
          <p:cNvPr id="36" name="New shape"/>
          <p:cNvSpPr txBox="1"/>
          <p:nvPr/>
        </p:nvSpPr>
        <p:spPr>
          <a:xfrm>
            <a:off x="5300662" y="2963348"/>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50</a:t>
            </a:r>
          </a:p>
        </p:txBody>
      </p:sp>
      <p:sp>
        <p:nvSpPr>
          <p:cNvPr id="37" name="New shape"/>
          <p:cNvSpPr txBox="1"/>
          <p:nvPr/>
        </p:nvSpPr>
        <p:spPr>
          <a:xfrm>
            <a:off x="5300662" y="275306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60</a:t>
            </a:r>
          </a:p>
        </p:txBody>
      </p:sp>
      <p:sp>
        <p:nvSpPr>
          <p:cNvPr id="38" name="New shape"/>
          <p:cNvSpPr txBox="1"/>
          <p:nvPr/>
        </p:nvSpPr>
        <p:spPr>
          <a:xfrm>
            <a:off x="5300662" y="254277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70</a:t>
            </a:r>
          </a:p>
        </p:txBody>
      </p:sp>
      <p:sp>
        <p:nvSpPr>
          <p:cNvPr id="39" name="New shape"/>
          <p:cNvSpPr txBox="1"/>
          <p:nvPr/>
        </p:nvSpPr>
        <p:spPr>
          <a:xfrm>
            <a:off x="5300662" y="2058385"/>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80</a:t>
            </a:r>
          </a:p>
        </p:txBody>
      </p:sp>
      <p:sp>
        <p:nvSpPr>
          <p:cNvPr id="40" name="New shape"/>
          <p:cNvSpPr txBox="1"/>
          <p:nvPr/>
        </p:nvSpPr>
        <p:spPr>
          <a:xfrm>
            <a:off x="5300662" y="154354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90</a:t>
            </a:r>
          </a:p>
        </p:txBody>
      </p:sp>
      <p:sp>
        <p:nvSpPr>
          <p:cNvPr id="41" name="New shape"/>
          <p:cNvSpPr txBox="1"/>
          <p:nvPr/>
        </p:nvSpPr>
        <p:spPr>
          <a:xfrm>
            <a:off x="5300662" y="10287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100</a:t>
            </a:r>
          </a:p>
        </p:txBody>
      </p:sp>
      <p:grpSp>
        <p:nvGrpSpPr>
          <p:cNvPr id="46" name="Group 45"/>
          <p:cNvGrpSpPr/>
          <p:nvPr/>
        </p:nvGrpSpPr>
        <p:grpSpPr>
          <a:xfrm>
            <a:off x="4786312" y="1285875"/>
            <a:ext cx="428625" cy="200025"/>
            <a:chOff x="4151312" y="650875"/>
            <a:chExt cx="428625" cy="200025"/>
          </a:xfrm>
        </p:grpSpPr>
        <p:sp>
          <p:nvSpPr>
            <p:cNvPr id="47" name="New shape"/>
            <p:cNvSpPr/>
            <p:nvPr/>
          </p:nvSpPr>
          <p:spPr>
            <a:xfrm>
              <a:off x="4151312" y="650875"/>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8" name="New picture"/>
            <p:cNvPicPr/>
            <p:nvPr/>
          </p:nvPicPr>
          <p:blipFill>
            <a:blip>
              <a:extLst>
                <a:ext uri="{96DAC541-7B7A-43D3-8B79-37D633B846F1}">
                  <asvg:svgBlip xmlns:asvg="http://schemas.microsoft.com/office/drawing/2016/SVG/main" r:embed="rId2"/>
                </a:ext>
              </a:extLst>
            </a:blip>
            <a:stretch>
              <a:fillRect/>
            </a:stretch>
          </p:blipFill>
          <p:spPr>
            <a:xfrm>
              <a:off x="4208462" y="698381"/>
              <a:ext cx="105013" cy="105013"/>
            </a:xfrm>
            <a:prstGeom prst="rect">
              <a:avLst/>
            </a:prstGeom>
          </p:spPr>
        </p:pic>
        <p:sp>
          <p:nvSpPr>
            <p:cNvPr id="49" name="New shape"/>
            <p:cNvSpPr txBox="1"/>
            <p:nvPr/>
          </p:nvSpPr>
          <p:spPr>
            <a:xfrm>
              <a:off x="4351338" y="69373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72</a:t>
              </a:r>
            </a:p>
          </p:txBody>
        </p:sp>
      </p:grpSp>
      <p:grpSp>
        <p:nvGrpSpPr>
          <p:cNvPr id="50" name="Group 49"/>
          <p:cNvGrpSpPr/>
          <p:nvPr/>
        </p:nvGrpSpPr>
        <p:grpSpPr>
          <a:xfrm>
            <a:off x="6886575" y="4321969"/>
            <a:ext cx="428625" cy="200025"/>
            <a:chOff x="6251575" y="3686969"/>
            <a:chExt cx="428625" cy="200025"/>
          </a:xfrm>
        </p:grpSpPr>
        <p:sp>
          <p:nvSpPr>
            <p:cNvPr id="51" name="New shape"/>
            <p:cNvSpPr/>
            <p:nvPr/>
          </p:nvSpPr>
          <p:spPr>
            <a:xfrm>
              <a:off x="6251575" y="3686969"/>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2"/>
                </a:ext>
              </a:extLst>
            </a:blip>
            <a:stretch>
              <a:fillRect/>
            </a:stretch>
          </p:blipFill>
          <p:spPr>
            <a:xfrm>
              <a:off x="6308725" y="3734475"/>
              <a:ext cx="105013" cy="105013"/>
            </a:xfrm>
            <a:prstGeom prst="rect">
              <a:avLst/>
            </a:prstGeom>
          </p:spPr>
        </p:pic>
        <p:sp>
          <p:nvSpPr>
            <p:cNvPr id="53" name="New shape"/>
            <p:cNvSpPr txBox="1"/>
            <p:nvPr/>
          </p:nvSpPr>
          <p:spPr>
            <a:xfrm>
              <a:off x="645160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70</a:t>
              </a:r>
            </a:p>
          </p:txBody>
        </p:sp>
      </p:grpSp>
      <p:sp>
        <p:nvSpPr>
          <p:cNvPr id="54" name="New shape"/>
          <p:cNvSpPr/>
          <p:nvPr/>
        </p:nvSpPr>
        <p:spPr>
          <a:xfrm flipH="1">
            <a:off x="7050881" y="1028700"/>
            <a:ext cx="0" cy="2986088"/>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5" name="New shape"/>
          <p:cNvSpPr/>
          <p:nvPr/>
        </p:nvSpPr>
        <p:spPr>
          <a:xfrm>
            <a:off x="5557838" y="2521744"/>
            <a:ext cx="2986088"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pSp>
        <p:nvGrpSpPr>
          <p:cNvPr id="60" name="Group 59"/>
          <p:cNvGrpSpPr/>
          <p:nvPr/>
        </p:nvGrpSpPr>
        <p:grpSpPr>
          <a:xfrm>
            <a:off x="4786312" y="1543050"/>
            <a:ext cx="428625" cy="200025"/>
            <a:chOff x="4151312" y="908050"/>
            <a:chExt cx="428625" cy="200025"/>
          </a:xfrm>
        </p:grpSpPr>
        <p:sp>
          <p:nvSpPr>
            <p:cNvPr id="61" name="New shape"/>
            <p:cNvSpPr/>
            <p:nvPr/>
          </p:nvSpPr>
          <p:spPr>
            <a:xfrm>
              <a:off x="4151312" y="908050"/>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2" name="New picture"/>
            <p:cNvPicPr/>
            <p:nvPr/>
          </p:nvPicPr>
          <p:blipFill>
            <a:blip>
              <a:extLst>
                <a:ext uri="{96DAC541-7B7A-43D3-8B79-37D633B846F1}">
                  <asvg:svgBlip xmlns:asvg="http://schemas.microsoft.com/office/drawing/2016/SVG/main" r:embed="rId3"/>
                </a:ext>
              </a:extLst>
            </a:blip>
            <a:stretch>
              <a:fillRect/>
            </a:stretch>
          </p:blipFill>
          <p:spPr>
            <a:xfrm>
              <a:off x="4208462" y="955556"/>
              <a:ext cx="105013" cy="105013"/>
            </a:xfrm>
            <a:prstGeom prst="rect">
              <a:avLst/>
            </a:prstGeom>
          </p:spPr>
        </p:pic>
        <p:sp>
          <p:nvSpPr>
            <p:cNvPr id="63" name="New shape"/>
            <p:cNvSpPr txBox="1"/>
            <p:nvPr/>
          </p:nvSpPr>
          <p:spPr>
            <a:xfrm>
              <a:off x="4351338" y="95091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71</a:t>
              </a:r>
            </a:p>
          </p:txBody>
        </p:sp>
      </p:grpSp>
      <p:grpSp>
        <p:nvGrpSpPr>
          <p:cNvPr id="64" name="Group 63"/>
          <p:cNvGrpSpPr/>
          <p:nvPr/>
        </p:nvGrpSpPr>
        <p:grpSpPr>
          <a:xfrm>
            <a:off x="7315200" y="4321969"/>
            <a:ext cx="428625" cy="200025"/>
            <a:chOff x="6680200" y="3686969"/>
            <a:chExt cx="428625" cy="200025"/>
          </a:xfrm>
        </p:grpSpPr>
        <p:sp>
          <p:nvSpPr>
            <p:cNvPr id="65" name="New shape"/>
            <p:cNvSpPr/>
            <p:nvPr/>
          </p:nvSpPr>
          <p:spPr>
            <a:xfrm>
              <a:off x="6680200"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6" name="New picture"/>
            <p:cNvPicPr/>
            <p:nvPr/>
          </p:nvPicPr>
          <p:blipFill>
            <a:blip>
              <a:extLst>
                <a:ext uri="{96DAC541-7B7A-43D3-8B79-37D633B846F1}">
                  <asvg:svgBlip xmlns:asvg="http://schemas.microsoft.com/office/drawing/2016/SVG/main" r:embed="rId3"/>
                </a:ext>
              </a:extLst>
            </a:blip>
            <a:stretch>
              <a:fillRect/>
            </a:stretch>
          </p:blipFill>
          <p:spPr>
            <a:xfrm>
              <a:off x="6737350" y="3734475"/>
              <a:ext cx="105013" cy="105013"/>
            </a:xfrm>
            <a:prstGeom prst="rect">
              <a:avLst/>
            </a:prstGeom>
          </p:spPr>
        </p:pic>
        <p:sp>
          <p:nvSpPr>
            <p:cNvPr id="67" name="New shape"/>
            <p:cNvSpPr txBox="1"/>
            <p:nvPr/>
          </p:nvSpPr>
          <p:spPr>
            <a:xfrm>
              <a:off x="688022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79</a:t>
              </a:r>
            </a:p>
          </p:txBody>
        </p:sp>
      </p:grpSp>
      <p:grpSp>
        <p:nvGrpSpPr>
          <p:cNvPr id="72" name="Group 71"/>
          <p:cNvGrpSpPr/>
          <p:nvPr/>
        </p:nvGrpSpPr>
        <p:grpSpPr>
          <a:xfrm>
            <a:off x="4786312" y="1800225"/>
            <a:ext cx="428625" cy="200025"/>
            <a:chOff x="4151312" y="1165225"/>
            <a:chExt cx="428625" cy="200025"/>
          </a:xfrm>
        </p:grpSpPr>
        <p:sp>
          <p:nvSpPr>
            <p:cNvPr id="73" name="New shape"/>
            <p:cNvSpPr/>
            <p:nvPr/>
          </p:nvSpPr>
          <p:spPr>
            <a:xfrm>
              <a:off x="4151312" y="1165225"/>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4" name="New picture"/>
            <p:cNvPicPr/>
            <p:nvPr/>
          </p:nvPicPr>
          <p:blipFill>
            <a:blip>
              <a:extLst>
                <a:ext uri="{96DAC541-7B7A-43D3-8B79-37D633B846F1}">
                  <asvg:svgBlip xmlns:asvg="http://schemas.microsoft.com/office/drawing/2016/SVG/main" r:embed="rId4"/>
                </a:ext>
              </a:extLst>
            </a:blip>
            <a:stretch>
              <a:fillRect/>
            </a:stretch>
          </p:blipFill>
          <p:spPr>
            <a:xfrm>
              <a:off x="4208462" y="1212731"/>
              <a:ext cx="105013" cy="105013"/>
            </a:xfrm>
            <a:prstGeom prst="rect">
              <a:avLst/>
            </a:prstGeom>
          </p:spPr>
        </p:pic>
        <p:sp>
          <p:nvSpPr>
            <p:cNvPr id="75" name="New shape"/>
            <p:cNvSpPr txBox="1"/>
            <p:nvPr/>
          </p:nvSpPr>
          <p:spPr>
            <a:xfrm>
              <a:off x="4351338" y="120808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80</a:t>
              </a:r>
            </a:p>
          </p:txBody>
        </p:sp>
      </p:grpSp>
      <p:grpSp>
        <p:nvGrpSpPr>
          <p:cNvPr id="76" name="Group 75"/>
          <p:cNvGrpSpPr/>
          <p:nvPr/>
        </p:nvGrpSpPr>
        <p:grpSpPr>
          <a:xfrm>
            <a:off x="7743825" y="4321969"/>
            <a:ext cx="428625" cy="200025"/>
            <a:chOff x="7108825" y="3686969"/>
            <a:chExt cx="428625" cy="200025"/>
          </a:xfrm>
        </p:grpSpPr>
        <p:sp>
          <p:nvSpPr>
            <p:cNvPr id="77" name="New shape"/>
            <p:cNvSpPr/>
            <p:nvPr/>
          </p:nvSpPr>
          <p:spPr>
            <a:xfrm>
              <a:off x="7108825"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8" name="New picture"/>
            <p:cNvPicPr/>
            <p:nvPr/>
          </p:nvPicPr>
          <p:blipFill>
            <a:blip>
              <a:extLst>
                <a:ext uri="{96DAC541-7B7A-43D3-8B79-37D633B846F1}">
                  <asvg:svgBlip xmlns:asvg="http://schemas.microsoft.com/office/drawing/2016/SVG/main" r:embed="rId4"/>
                </a:ext>
              </a:extLst>
            </a:blip>
            <a:stretch>
              <a:fillRect/>
            </a:stretch>
          </p:blipFill>
          <p:spPr>
            <a:xfrm>
              <a:off x="7165975" y="3734475"/>
              <a:ext cx="105013" cy="105013"/>
            </a:xfrm>
            <a:prstGeom prst="rect">
              <a:avLst/>
            </a:prstGeom>
          </p:spPr>
        </p:pic>
        <p:sp>
          <p:nvSpPr>
            <p:cNvPr id="79" name="New shape"/>
            <p:cNvSpPr txBox="1"/>
            <p:nvPr/>
          </p:nvSpPr>
          <p:spPr>
            <a:xfrm>
              <a:off x="730885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92</a:t>
              </a:r>
            </a:p>
          </p:txBody>
        </p:sp>
      </p:grpSp>
      <p:grpSp>
        <p:nvGrpSpPr>
          <p:cNvPr id="84" name="Group 83"/>
          <p:cNvGrpSpPr/>
          <p:nvPr/>
        </p:nvGrpSpPr>
        <p:grpSpPr>
          <a:xfrm>
            <a:off x="4786312" y="1028700"/>
            <a:ext cx="428625" cy="200025"/>
            <a:chOff x="4151312" y="393700"/>
            <a:chExt cx="428625" cy="200025"/>
          </a:xfrm>
        </p:grpSpPr>
        <p:sp>
          <p:nvSpPr>
            <p:cNvPr id="85" name="New shape"/>
            <p:cNvSpPr/>
            <p:nvPr/>
          </p:nvSpPr>
          <p:spPr>
            <a:xfrm>
              <a:off x="4151312" y="393700"/>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6" name="New picture"/>
            <p:cNvPicPr/>
            <p:nvPr/>
          </p:nvPicPr>
          <p:blipFill>
            <a:blip>
              <a:extLst>
                <a:ext uri="{96DAC541-7B7A-43D3-8B79-37D633B846F1}">
                  <asvg:svgBlip xmlns:asvg="http://schemas.microsoft.com/office/drawing/2016/SVG/main" r:embed="rId5"/>
                </a:ext>
              </a:extLst>
            </a:blip>
            <a:stretch>
              <a:fillRect/>
            </a:stretch>
          </p:blipFill>
          <p:spPr>
            <a:xfrm>
              <a:off x="4208462" y="433705"/>
              <a:ext cx="100012" cy="120015"/>
            </a:xfrm>
            <a:prstGeom prst="rect">
              <a:avLst/>
            </a:prstGeom>
          </p:spPr>
        </p:pic>
        <p:sp>
          <p:nvSpPr>
            <p:cNvPr id="87" name="New shape"/>
            <p:cNvSpPr txBox="1"/>
            <p:nvPr/>
          </p:nvSpPr>
          <p:spPr>
            <a:xfrm>
              <a:off x="4351338" y="43656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71</a:t>
              </a:r>
            </a:p>
          </p:txBody>
        </p:sp>
      </p:grpSp>
      <p:grpSp>
        <p:nvGrpSpPr>
          <p:cNvPr id="88" name="Group 87"/>
          <p:cNvGrpSpPr/>
          <p:nvPr/>
        </p:nvGrpSpPr>
        <p:grpSpPr>
          <a:xfrm>
            <a:off x="6457950" y="4321969"/>
            <a:ext cx="428625" cy="200025"/>
            <a:chOff x="5822950" y="3686969"/>
            <a:chExt cx="428625" cy="200025"/>
          </a:xfrm>
        </p:grpSpPr>
        <p:sp>
          <p:nvSpPr>
            <p:cNvPr id="89" name="New shape"/>
            <p:cNvSpPr/>
            <p:nvPr/>
          </p:nvSpPr>
          <p:spPr>
            <a:xfrm>
              <a:off x="5822950" y="3686969"/>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5880100" y="3726974"/>
              <a:ext cx="100012" cy="120015"/>
            </a:xfrm>
            <a:prstGeom prst="rect">
              <a:avLst/>
            </a:prstGeom>
          </p:spPr>
        </p:pic>
        <p:sp>
          <p:nvSpPr>
            <p:cNvPr id="91" name="New shape"/>
            <p:cNvSpPr txBox="1"/>
            <p:nvPr/>
          </p:nvSpPr>
          <p:spPr>
            <a:xfrm>
              <a:off x="602297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70</a:t>
              </a:r>
            </a:p>
          </p:txBody>
        </p:sp>
      </p:grpSp>
      <p:grpSp>
        <p:nvGrpSpPr>
          <p:cNvPr id="42" name="Group 41"/>
          <p:cNvGrpSpPr/>
          <p:nvPr/>
        </p:nvGrpSpPr>
        <p:grpSpPr>
          <a:xfrm>
            <a:off x="6950869" y="2213084"/>
            <a:ext cx="200025" cy="257175"/>
            <a:chOff x="6315869" y="1578084"/>
            <a:chExt cx="200025" cy="257175"/>
          </a:xfrm>
        </p:grpSpPr>
        <p:sp>
          <p:nvSpPr>
            <p:cNvPr id="43" name="New shape"/>
            <p:cNvSpPr/>
            <p:nvPr/>
          </p:nvSpPr>
          <p:spPr>
            <a:xfrm>
              <a:off x="6315869" y="1578084"/>
              <a:ext cx="20002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4" name="New shape"/>
            <p:cNvSpPr/>
            <p:nvPr/>
          </p:nvSpPr>
          <p:spPr>
            <a:xfrm rot="10800000">
              <a:off x="6373019" y="1785253"/>
              <a:ext cx="85725" cy="50006"/>
            </a:xfrm>
            <a:prstGeom prst="triangl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2"/>
                </a:ext>
              </a:extLst>
            </a:blip>
            <a:stretch>
              <a:fillRect/>
            </a:stretch>
          </p:blipFill>
          <p:spPr>
            <a:xfrm>
              <a:off x="6363376" y="1625590"/>
              <a:ext cx="105013" cy="105013"/>
            </a:xfrm>
            <a:prstGeom prst="rect">
              <a:avLst/>
            </a:prstGeom>
          </p:spPr>
        </p:pic>
      </p:grpSp>
      <p:grpSp>
        <p:nvGrpSpPr>
          <p:cNvPr id="56" name="Group 55"/>
          <p:cNvGrpSpPr/>
          <p:nvPr/>
        </p:nvGrpSpPr>
        <p:grpSpPr>
          <a:xfrm>
            <a:off x="7398782" y="2264569"/>
            <a:ext cx="200025" cy="257175"/>
            <a:chOff x="6763782" y="1629569"/>
            <a:chExt cx="200025" cy="257175"/>
          </a:xfrm>
        </p:grpSpPr>
        <p:sp>
          <p:nvSpPr>
            <p:cNvPr id="57" name="New shape"/>
            <p:cNvSpPr/>
            <p:nvPr/>
          </p:nvSpPr>
          <p:spPr>
            <a:xfrm>
              <a:off x="6763782" y="1629569"/>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rot="10800000">
              <a:off x="6820932" y="1836738"/>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9" name="New picture"/>
            <p:cNvPicPr/>
            <p:nvPr/>
          </p:nvPicPr>
          <p:blipFill>
            <a:blip>
              <a:extLst>
                <a:ext uri="{96DAC541-7B7A-43D3-8B79-37D633B846F1}">
                  <asvg:svgBlip xmlns:asvg="http://schemas.microsoft.com/office/drawing/2016/SVG/main" r:embed="rId3"/>
                </a:ext>
              </a:extLst>
            </a:blip>
            <a:stretch>
              <a:fillRect/>
            </a:stretch>
          </p:blipFill>
          <p:spPr>
            <a:xfrm>
              <a:off x="6811287" y="1677075"/>
              <a:ext cx="105013" cy="105013"/>
            </a:xfrm>
            <a:prstGeom prst="rect">
              <a:avLst/>
            </a:prstGeom>
          </p:spPr>
        </p:pic>
      </p:grpSp>
      <p:grpSp>
        <p:nvGrpSpPr>
          <p:cNvPr id="68" name="Group 67"/>
          <p:cNvGrpSpPr/>
          <p:nvPr/>
        </p:nvGrpSpPr>
        <p:grpSpPr>
          <a:xfrm>
            <a:off x="8045767" y="1801210"/>
            <a:ext cx="200025" cy="257175"/>
            <a:chOff x="7410767" y="1166210"/>
            <a:chExt cx="200025" cy="257175"/>
          </a:xfrm>
        </p:grpSpPr>
        <p:sp>
          <p:nvSpPr>
            <p:cNvPr id="69" name="New shape"/>
            <p:cNvSpPr/>
            <p:nvPr/>
          </p:nvSpPr>
          <p:spPr>
            <a:xfrm>
              <a:off x="7410767" y="1166210"/>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0800000">
              <a:off x="7467917" y="1373379"/>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1" name="New picture"/>
            <p:cNvPicPr/>
            <p:nvPr/>
          </p:nvPicPr>
          <p:blipFill>
            <a:blip>
              <a:extLst>
                <a:ext uri="{96DAC541-7B7A-43D3-8B79-37D633B846F1}">
                  <asvg:svgBlip xmlns:asvg="http://schemas.microsoft.com/office/drawing/2016/SVG/main" r:embed="rId4"/>
                </a:ext>
              </a:extLst>
            </a:blip>
            <a:stretch>
              <a:fillRect/>
            </a:stretch>
          </p:blipFill>
          <p:spPr>
            <a:xfrm>
              <a:off x="7458273" y="1213716"/>
              <a:ext cx="105013" cy="105013"/>
            </a:xfrm>
            <a:prstGeom prst="rect">
              <a:avLst/>
            </a:prstGeom>
          </p:spPr>
        </p:pic>
      </p:grpSp>
      <p:grpSp>
        <p:nvGrpSpPr>
          <p:cNvPr id="80" name="Group 79"/>
          <p:cNvGrpSpPr/>
          <p:nvPr/>
        </p:nvGrpSpPr>
        <p:grpSpPr>
          <a:xfrm>
            <a:off x="6950869" y="2264569"/>
            <a:ext cx="200025" cy="257175"/>
            <a:chOff x="6315869" y="1629569"/>
            <a:chExt cx="200025" cy="257175"/>
          </a:xfrm>
        </p:grpSpPr>
        <p:sp>
          <p:nvSpPr>
            <p:cNvPr id="81" name="New shape"/>
            <p:cNvSpPr/>
            <p:nvPr/>
          </p:nvSpPr>
          <p:spPr>
            <a:xfrm>
              <a:off x="6315869" y="1629569"/>
              <a:ext cx="20002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0800000">
              <a:off x="6373019" y="1836738"/>
              <a:ext cx="85725" cy="50006"/>
            </a:xfrm>
            <a:prstGeom prst="triangle">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3" name="New picture"/>
            <p:cNvPicPr/>
            <p:nvPr/>
          </p:nvPicPr>
          <p:blipFill>
            <a:blip>
              <a:extLst>
                <a:ext uri="{96DAC541-7B7A-43D3-8B79-37D633B846F1}">
                  <asvg:svgBlip xmlns:asvg="http://schemas.microsoft.com/office/drawing/2016/SVG/main" r:embed="rId5"/>
                </a:ext>
              </a:extLst>
            </a:blip>
            <a:stretch>
              <a:fillRect/>
            </a:stretch>
          </p:blipFill>
          <p:spPr>
            <a:xfrm>
              <a:off x="6365875" y="1669574"/>
              <a:ext cx="100012" cy="120015"/>
            </a:xfrm>
            <a:prstGeom prst="rect">
              <a:avLst/>
            </a:prstGeom>
          </p:spPr>
        </p:pic>
      </p:grpSp>
      <p:sp>
        <p:nvSpPr>
          <p:cNvPr id="92" name="New shape"/>
          <p:cNvSpPr txBox="1"/>
          <p:nvPr/>
        </p:nvSpPr>
        <p:spPr>
          <a:xfrm>
            <a:off x="4786312" y="77152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1" i="0">
                <a:solidFill>
                  <a:srgbClr val="192743"/>
                </a:solidFill>
                <a:latin typeface="Poppins"/>
              </a:rPr>
              <a:t>Qualität des Leistungsumfeldes</a:t>
            </a:r>
          </a:p>
        </p:txBody>
      </p:sp>
      <p:sp>
        <p:nvSpPr>
          <p:cNvPr id="93" name="New shape"/>
          <p:cNvSpPr txBox="1"/>
          <p:nvPr/>
        </p:nvSpPr>
        <p:spPr>
          <a:xfrm>
            <a:off x="5586412" y="437197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1" i="0">
                <a:solidFill>
                  <a:srgbClr val="192743"/>
                </a:solidFill>
                <a:latin typeface="Poppins"/>
              </a:rPr>
              <a:t>Engagement</a:t>
            </a:r>
          </a:p>
        </p:txBody>
      </p:sp>
      <p:pic>
        <p:nvPicPr>
          <p:cNvPr id="94" name="New picture"/>
          <p:cNvPicPr/>
          <p:nvPr/>
        </p:nvPicPr>
        <p:blipFill>
          <a:blip>
            <a:extLst>
              <a:ext uri="{96DAC541-7B7A-43D3-8B79-37D633B846F1}">
                <asvg:svgBlip xmlns:asvg="http://schemas.microsoft.com/office/drawing/2016/SVG/main" r:embed="rId6"/>
              </a:ext>
            </a:extLst>
          </a:blip>
          <a:stretch>
            <a:fillRect/>
          </a:stretch>
        </p:blipFill>
        <p:spPr>
          <a:xfrm>
            <a:off x="178594" y="4883467"/>
            <a:ext cx="100012" cy="120015"/>
          </a:xfrm>
          <a:prstGeom prst="rect">
            <a:avLst/>
          </a:prstGeom>
        </p:spPr>
      </p:pic>
      <p:sp>
        <p:nvSpPr>
          <p:cNvPr id="95" name="New shape"/>
          <p:cNvSpPr txBox="1"/>
          <p:nvPr/>
        </p:nvSpPr>
        <p:spPr>
          <a:xfrm>
            <a:off x="350044"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1C55C7"/>
                </a:solidFill>
                <a:latin typeface="Poppins"/>
              </a:rPr>
              <a:t>Aktuell</a:t>
            </a:r>
            <a:r>
              <a:rPr sz="675" b="0" i="0" dirty="0">
                <a:solidFill>
                  <a:srgbClr val="1C55C7"/>
                </a:solidFill>
                <a:latin typeface="Poppins"/>
              </a:rPr>
              <a:t>: </a:t>
            </a:r>
            <a:r>
              <a:rPr lang="en-US" sz="675" b="0" i="0" dirty="0">
                <a:solidFill>
                  <a:srgbClr val="1C55C7"/>
                </a:solidFill>
                <a:latin typeface="Poppins"/>
              </a:rPr>
              <a:t>Novanta B.V.</a:t>
            </a:r>
            <a:endParaRPr sz="675" b="0" i="0" dirty="0">
              <a:solidFill>
                <a:srgbClr val="1C55C7"/>
              </a:solidFill>
              <a:latin typeface="Poppins"/>
            </a:endParaRP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1300162" y="4890969"/>
            <a:ext cx="105013" cy="105013"/>
          </a:xfrm>
          <a:prstGeom prst="rect">
            <a:avLst/>
          </a:prstGeom>
        </p:spPr>
      </p:pic>
      <p:sp>
        <p:nvSpPr>
          <p:cNvPr id="97" name="New shape"/>
          <p:cNvSpPr txBox="1"/>
          <p:nvPr/>
        </p:nvSpPr>
        <p:spPr>
          <a:xfrm>
            <a:off x="1476613"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546178"/>
                </a:solidFill>
                <a:latin typeface="Poppins"/>
              </a:rPr>
              <a:t>Vorherige Befragung</a:t>
            </a:r>
          </a:p>
        </p:txBody>
      </p:sp>
      <p:sp>
        <p:nvSpPr>
          <p:cNvPr id="98" name="New shape"/>
          <p:cNvSpPr/>
          <p:nvPr/>
        </p:nvSpPr>
        <p:spPr>
          <a:xfrm>
            <a:off x="2319576" y="4943475"/>
            <a:ext cx="142875"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9" name="New shape"/>
          <p:cNvSpPr txBox="1"/>
          <p:nvPr/>
        </p:nvSpPr>
        <p:spPr>
          <a:xfrm>
            <a:off x="2519601"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pic>
        <p:nvPicPr>
          <p:cNvPr id="100" name="New picture"/>
          <p:cNvPicPr/>
          <p:nvPr/>
        </p:nvPicPr>
        <p:blipFill>
          <a:blip>
            <a:extLst>
              <a:ext uri="{96DAC541-7B7A-43D3-8B79-37D633B846F1}">
                <asvg:svgBlip xmlns:asvg="http://schemas.microsoft.com/office/drawing/2016/SVG/main" r:embed="rId7"/>
              </a:ext>
            </a:extLst>
          </a:blip>
          <a:stretch>
            <a:fillRect/>
          </a:stretch>
        </p:blipFill>
        <p:spPr>
          <a:xfrm>
            <a:off x="3469720" y="4890969"/>
            <a:ext cx="105013" cy="105013"/>
          </a:xfrm>
          <a:prstGeom prst="rect">
            <a:avLst/>
          </a:prstGeom>
        </p:spPr>
      </p:pic>
      <p:sp>
        <p:nvSpPr>
          <p:cNvPr id="101" name="New shape"/>
          <p:cNvSpPr txBox="1"/>
          <p:nvPr/>
        </p:nvSpPr>
        <p:spPr>
          <a:xfrm>
            <a:off x="3646170"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pic>
        <p:nvPicPr>
          <p:cNvPr id="102" name="New picture"/>
          <p:cNvPicPr/>
          <p:nvPr/>
        </p:nvPicPr>
        <p:blipFill>
          <a:blip>
            <a:extLst>
              <a:ext uri="{96DAC541-7B7A-43D3-8B79-37D633B846F1}">
                <asvg:svgBlip xmlns:asvg="http://schemas.microsoft.com/office/drawing/2016/SVG/main" r:embed="rId3"/>
              </a:ext>
            </a:extLst>
          </a:blip>
          <a:stretch>
            <a:fillRect/>
          </a:stretch>
        </p:blipFill>
        <p:spPr>
          <a:xfrm>
            <a:off x="4596289" y="4890969"/>
            <a:ext cx="105013" cy="105013"/>
          </a:xfrm>
          <a:prstGeom prst="rect">
            <a:avLst/>
          </a:prstGeom>
        </p:spPr>
      </p:pic>
      <p:sp>
        <p:nvSpPr>
          <p:cNvPr id="103" name="New shape"/>
          <p:cNvSpPr txBox="1"/>
          <p:nvPr/>
        </p:nvSpPr>
        <p:spPr>
          <a:xfrm>
            <a:off x="4772740"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pic>
        <p:nvPicPr>
          <p:cNvPr id="104" name="New picture"/>
          <p:cNvPicPr/>
          <p:nvPr/>
        </p:nvPicPr>
        <p:blipFill>
          <a:blip>
            <a:extLst>
              <a:ext uri="{96DAC541-7B7A-43D3-8B79-37D633B846F1}">
                <asvg:svgBlip xmlns:asvg="http://schemas.microsoft.com/office/drawing/2016/SVG/main" r:embed="rId4"/>
              </a:ext>
            </a:extLst>
          </a:blip>
          <a:stretch>
            <a:fillRect/>
          </a:stretch>
        </p:blipFill>
        <p:spPr>
          <a:xfrm>
            <a:off x="5722858" y="4890969"/>
            <a:ext cx="105013" cy="105013"/>
          </a:xfrm>
          <a:prstGeom prst="rect">
            <a:avLst/>
          </a:prstGeom>
        </p:spPr>
      </p:pic>
      <p:sp>
        <p:nvSpPr>
          <p:cNvPr id="105" name="New shape"/>
          <p:cNvSpPr txBox="1"/>
          <p:nvPr/>
        </p:nvSpPr>
        <p:spPr>
          <a:xfrm>
            <a:off x="5899309"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15</a:t>
            </a:r>
          </a:p>
        </p:txBody>
      </p:sp>
      <p:sp>
        <p:nvSpPr>
          <p:cNvPr id="10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0"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685796"/>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900" b="1" i="0">
                          <a:solidFill>
                            <a:srgbClr val="192743"/>
                          </a:solidFill>
                          <a:latin typeface="Poppins"/>
                        </a:rPr>
                        <a:t>Engagement</a:t>
                      </a:r>
                    </a:p>
                    <a:p>
                      <a:pPr>
                        <a:spcBef>
                          <a:spcPct val="40000"/>
                        </a:spcBef>
                        <a:spcAft>
                          <a:spcPct val="40000"/>
                        </a:spcAft>
                      </a:pPr>
                      <a:r>
                        <a:rPr sz="788" i="0">
                          <a:solidFill>
                            <a:srgbClr val="546178"/>
                          </a:solidFill>
                          <a:latin typeface="Poppins"/>
                        </a:rPr>
                        <a:t>beschreibt inwieweit sich Mitarbeitende mit ihrer Arbeit und dem Unternehmen verbunden fühlen, für das sie arbeiten.</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900" b="1" i="0">
                          <a:solidFill>
                            <a:srgbClr val="192743"/>
                          </a:solidFill>
                          <a:latin typeface="Poppins"/>
                        </a:rPr>
                        <a:t>Qualität des Leistungsumfeldes</a:t>
                      </a:r>
                    </a:p>
                    <a:p>
                      <a:pPr>
                        <a:spcBef>
                          <a:spcPct val="40000"/>
                        </a:spcBef>
                        <a:spcAft>
                          <a:spcPct val="40000"/>
                        </a:spcAft>
                      </a:pPr>
                      <a:r>
                        <a:rPr sz="788" i="0">
                          <a:solidFill>
                            <a:srgbClr val="546178"/>
                          </a:solidFill>
                          <a:latin typeface="Poppins"/>
                        </a:rPr>
                        <a:t>beschreibt wichtige Rahmenbedingungen, die es Mitarbeitenden ermöglichen, effektiv und effizient zu arbeiten.</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Veränderung gestalten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Richtung geben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Mitarbeiter führen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Systeme managen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3" name="Group 22"/>
          <p:cNvGrpSpPr/>
          <p:nvPr/>
        </p:nvGrpSpPr>
        <p:grpSpPr>
          <a:xfrm rot="18900000">
            <a:off x="6580966" y="1047636"/>
            <a:ext cx="1477328" cy="240030"/>
            <a:chOff x="6265862" y="895191"/>
            <a:chExt cx="1477328" cy="240030"/>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89519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3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46434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Engagement</a:t>
            </a:r>
          </a:p>
        </p:txBody>
      </p:sp>
      <p:sp>
        <p:nvSpPr>
          <p:cNvPr id="3" name="New shape"/>
          <p:cNvSpPr txBox="1"/>
          <p:nvPr/>
        </p:nvSpPr>
        <p:spPr>
          <a:xfrm>
            <a:off x="717011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7305842" y="857250"/>
            <a:ext cx="105013" cy="105013"/>
          </a:xfrm>
          <a:prstGeom prst="rect">
            <a:avLst/>
          </a:prstGeom>
        </p:spPr>
      </p:pic>
      <p:sp>
        <p:nvSpPr>
          <p:cNvPr id="5" name="New shape"/>
          <p:cNvSpPr txBox="1"/>
          <p:nvPr/>
        </p:nvSpPr>
        <p:spPr>
          <a:xfrm>
            <a:off x="7559874"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6" name="New picture"/>
          <p:cNvPicPr/>
          <p:nvPr/>
        </p:nvPicPr>
        <p:blipFill>
          <a:blip>
            <a:extLst>
              <a:ext uri="{96DAC541-7B7A-43D3-8B79-37D633B846F1}">
                <asvg:svgBlip xmlns:asvg="http://schemas.microsoft.com/office/drawing/2016/SVG/main" r:embed="rId3"/>
              </a:ext>
            </a:extLst>
          </a:blip>
          <a:stretch>
            <a:fillRect/>
          </a:stretch>
        </p:blipFill>
        <p:spPr>
          <a:xfrm>
            <a:off x="7695605" y="857250"/>
            <a:ext cx="105013" cy="105013"/>
          </a:xfrm>
          <a:prstGeom prst="rect">
            <a:avLst/>
          </a:prstGeom>
        </p:spPr>
      </p:pic>
      <p:sp>
        <p:nvSpPr>
          <p:cNvPr id="7" name="New shape"/>
          <p:cNvSpPr txBox="1"/>
          <p:nvPr/>
        </p:nvSpPr>
        <p:spPr>
          <a:xfrm>
            <a:off x="7949638"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8" name="New picture"/>
          <p:cNvPicPr/>
          <p:nvPr/>
        </p:nvPicPr>
        <p:blipFill>
          <a:blip>
            <a:extLst>
              <a:ext uri="{96DAC541-7B7A-43D3-8B79-37D633B846F1}">
                <asvg:svgBlip xmlns:asvg="http://schemas.microsoft.com/office/drawing/2016/SVG/main" r:embed="rId2"/>
              </a:ext>
            </a:extLst>
          </a:blip>
          <a:stretch>
            <a:fillRect/>
          </a:stretch>
        </p:blipFill>
        <p:spPr>
          <a:xfrm>
            <a:off x="8085369" y="857250"/>
            <a:ext cx="105013" cy="105013"/>
          </a:xfrm>
          <a:prstGeom prst="rect">
            <a:avLst/>
          </a:prstGeom>
        </p:spPr>
      </p:pic>
      <p:sp>
        <p:nvSpPr>
          <p:cNvPr id="9" name="New shape"/>
          <p:cNvSpPr txBox="1"/>
          <p:nvPr/>
        </p:nvSpPr>
        <p:spPr>
          <a:xfrm>
            <a:off x="833940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0" name="New picture"/>
          <p:cNvPicPr/>
          <p:nvPr/>
        </p:nvPicPr>
        <p:blipFill>
          <a:blip>
            <a:extLst>
              <a:ext uri="{96DAC541-7B7A-43D3-8B79-37D633B846F1}">
                <asvg:svgBlip xmlns:asvg="http://schemas.microsoft.com/office/drawing/2016/SVG/main" r:embed="rId4"/>
              </a:ext>
            </a:extLst>
          </a:blip>
          <a:stretch>
            <a:fillRect/>
          </a:stretch>
        </p:blipFill>
        <p:spPr>
          <a:xfrm>
            <a:off x="8475132" y="857250"/>
            <a:ext cx="105013" cy="105013"/>
          </a:xfrm>
          <a:prstGeom prst="rect">
            <a:avLst/>
          </a:prstGeom>
        </p:spPr>
      </p:pic>
      <p:sp>
        <p:nvSpPr>
          <p:cNvPr id="11" name="New shape"/>
          <p:cNvSpPr txBox="1"/>
          <p:nvPr/>
        </p:nvSpPr>
        <p:spPr>
          <a:xfrm>
            <a:off x="457200" y="10287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Meine Arbeit macht mir Spaß</a:t>
            </a:r>
          </a:p>
        </p:txBody>
      </p:sp>
      <p:sp>
        <p:nvSpPr>
          <p:cNvPr id="12" name="New shape"/>
          <p:cNvSpPr/>
          <p:nvPr/>
        </p:nvSpPr>
        <p:spPr>
          <a:xfrm>
            <a:off x="4000500" y="1028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5"/>
              </a:ext>
            </a:extLst>
          </a:blip>
          <a:stretch>
            <a:fillRect/>
          </a:stretch>
        </p:blipFill>
        <p:spPr>
          <a:xfrm>
            <a:off x="4079081" y="1071562"/>
            <a:ext cx="71438" cy="85725"/>
          </a:xfrm>
          <a:prstGeom prst="rect">
            <a:avLst/>
          </a:prstGeom>
        </p:spPr>
      </p:pic>
      <p:sp>
        <p:nvSpPr>
          <p:cNvPr id="14" name="New shape"/>
          <p:cNvSpPr/>
          <p:nvPr/>
        </p:nvSpPr>
        <p:spPr>
          <a:xfrm>
            <a:off x="4243388" y="1028700"/>
            <a:ext cx="1676827"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15" name="New shape"/>
          <p:cNvSpPr/>
          <p:nvPr/>
        </p:nvSpPr>
        <p:spPr>
          <a:xfrm>
            <a:off x="5934502" y="10287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6" name="New shape"/>
          <p:cNvSpPr/>
          <p:nvPr/>
        </p:nvSpPr>
        <p:spPr>
          <a:xfrm>
            <a:off x="6263194" y="1028700"/>
            <a:ext cx="628810"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17" name="New shape"/>
          <p:cNvSpPr txBox="1"/>
          <p:nvPr/>
        </p:nvSpPr>
        <p:spPr>
          <a:xfrm>
            <a:off x="7149179"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18" name="New shape"/>
          <p:cNvSpPr txBox="1"/>
          <p:nvPr/>
        </p:nvSpPr>
        <p:spPr>
          <a:xfrm>
            <a:off x="7538943"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19" name="New shape"/>
          <p:cNvSpPr txBox="1"/>
          <p:nvPr/>
        </p:nvSpPr>
        <p:spPr>
          <a:xfrm>
            <a:off x="7928706"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85</a:t>
            </a:r>
          </a:p>
        </p:txBody>
      </p:sp>
      <p:sp>
        <p:nvSpPr>
          <p:cNvPr id="20" name="New shape"/>
          <p:cNvSpPr txBox="1"/>
          <p:nvPr/>
        </p:nvSpPr>
        <p:spPr>
          <a:xfrm>
            <a:off x="8318470"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98</a:t>
            </a:r>
          </a:p>
        </p:txBody>
      </p:sp>
      <p:sp>
        <p:nvSpPr>
          <p:cNvPr id="21" name="New shape"/>
          <p:cNvSpPr/>
          <p:nvPr/>
        </p:nvSpPr>
        <p:spPr>
          <a:xfrm>
            <a:off x="4000500" y="12573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2" name="New picture"/>
          <p:cNvPicPr/>
          <p:nvPr/>
        </p:nvPicPr>
        <p:blipFill>
          <a:blip>
            <a:extLst>
              <a:ext uri="{96DAC541-7B7A-43D3-8B79-37D633B846F1}">
                <asvg:svgBlip xmlns:asvg="http://schemas.microsoft.com/office/drawing/2016/SVG/main" r:embed="rId6"/>
              </a:ext>
            </a:extLst>
          </a:blip>
          <a:stretch>
            <a:fillRect/>
          </a:stretch>
        </p:blipFill>
        <p:spPr>
          <a:xfrm>
            <a:off x="4079081" y="1305520"/>
            <a:ext cx="75009" cy="75009"/>
          </a:xfrm>
          <a:prstGeom prst="rect">
            <a:avLst/>
          </a:prstGeom>
        </p:spPr>
      </p:pic>
      <p:sp>
        <p:nvSpPr>
          <p:cNvPr id="23" name="New shape"/>
          <p:cNvSpPr/>
          <p:nvPr/>
        </p:nvSpPr>
        <p:spPr>
          <a:xfrm>
            <a:off x="4243388" y="12573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24" name="New shape"/>
          <p:cNvSpPr/>
          <p:nvPr/>
        </p:nvSpPr>
        <p:spPr>
          <a:xfrm>
            <a:off x="6117904" y="12573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5" name="New shape"/>
          <p:cNvSpPr/>
          <p:nvPr/>
        </p:nvSpPr>
        <p:spPr>
          <a:xfrm>
            <a:off x="6472797" y="12573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26" name="New shape"/>
          <p:cNvSpPr/>
          <p:nvPr/>
        </p:nvSpPr>
        <p:spPr>
          <a:xfrm>
            <a:off x="457200" y="15430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457200" y="16573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Meine Arbeit motiviert mich</a:t>
            </a:r>
          </a:p>
        </p:txBody>
      </p:sp>
      <p:sp>
        <p:nvSpPr>
          <p:cNvPr id="28" name="New shape"/>
          <p:cNvSpPr/>
          <p:nvPr/>
        </p:nvSpPr>
        <p:spPr>
          <a:xfrm>
            <a:off x="4000500" y="1657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5"/>
              </a:ext>
            </a:extLst>
          </a:blip>
          <a:stretch>
            <a:fillRect/>
          </a:stretch>
        </p:blipFill>
        <p:spPr>
          <a:xfrm>
            <a:off x="4079081" y="1700212"/>
            <a:ext cx="71438" cy="85725"/>
          </a:xfrm>
          <a:prstGeom prst="rect">
            <a:avLst/>
          </a:prstGeom>
        </p:spPr>
      </p:pic>
      <p:sp>
        <p:nvSpPr>
          <p:cNvPr id="30" name="New shape"/>
          <p:cNvSpPr/>
          <p:nvPr/>
        </p:nvSpPr>
        <p:spPr>
          <a:xfrm>
            <a:off x="4243388" y="16573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31" name="New shape"/>
          <p:cNvSpPr/>
          <p:nvPr/>
        </p:nvSpPr>
        <p:spPr>
          <a:xfrm>
            <a:off x="6144105" y="165735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6573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33" name="New shape"/>
          <p:cNvSpPr txBox="1"/>
          <p:nvPr/>
        </p:nvSpPr>
        <p:spPr>
          <a:xfrm>
            <a:off x="7149179"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34" name="New shape"/>
          <p:cNvSpPr txBox="1"/>
          <p:nvPr/>
        </p:nvSpPr>
        <p:spPr>
          <a:xfrm>
            <a:off x="7538943"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35" name="New shape"/>
          <p:cNvSpPr txBox="1"/>
          <p:nvPr/>
        </p:nvSpPr>
        <p:spPr>
          <a:xfrm>
            <a:off x="7928706"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52</a:t>
            </a:r>
          </a:p>
        </p:txBody>
      </p:sp>
      <p:sp>
        <p:nvSpPr>
          <p:cNvPr id="36" name="New shape"/>
          <p:cNvSpPr txBox="1"/>
          <p:nvPr/>
        </p:nvSpPr>
        <p:spPr>
          <a:xfrm>
            <a:off x="8318470"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37" name="New shape"/>
          <p:cNvSpPr/>
          <p:nvPr/>
        </p:nvSpPr>
        <p:spPr>
          <a:xfrm>
            <a:off x="4000500" y="18859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4079081" y="1934170"/>
            <a:ext cx="75009" cy="75009"/>
          </a:xfrm>
          <a:prstGeom prst="rect">
            <a:avLst/>
          </a:prstGeom>
        </p:spPr>
      </p:pic>
      <p:sp>
        <p:nvSpPr>
          <p:cNvPr id="39" name="New shape"/>
          <p:cNvSpPr/>
          <p:nvPr/>
        </p:nvSpPr>
        <p:spPr>
          <a:xfrm>
            <a:off x="4243388" y="1885950"/>
            <a:ext cx="17292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66%</a:t>
            </a:r>
          </a:p>
        </p:txBody>
      </p:sp>
      <p:sp>
        <p:nvSpPr>
          <p:cNvPr id="40" name="New shape"/>
          <p:cNvSpPr/>
          <p:nvPr/>
        </p:nvSpPr>
        <p:spPr>
          <a:xfrm>
            <a:off x="5986902" y="18859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1" name="New shape"/>
          <p:cNvSpPr/>
          <p:nvPr/>
        </p:nvSpPr>
        <p:spPr>
          <a:xfrm>
            <a:off x="6420396" y="18859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42" name="New shape"/>
          <p:cNvSpPr/>
          <p:nvPr/>
        </p:nvSpPr>
        <p:spPr>
          <a:xfrm>
            <a:off x="457200" y="21717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457200" y="22860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Ich war </a:t>
            </a:r>
            <a:r>
              <a:rPr sz="788" b="0" i="0" dirty="0" err="1">
                <a:solidFill>
                  <a:srgbClr val="546178"/>
                </a:solidFill>
                <a:latin typeface="Poppins"/>
              </a:rPr>
              <a:t>stolz</a:t>
            </a:r>
            <a:r>
              <a:rPr sz="788" b="0" i="0" dirty="0">
                <a:solidFill>
                  <a:srgbClr val="546178"/>
                </a:solidFill>
                <a:latin typeface="Poppins"/>
              </a:rPr>
              <a:t> </a:t>
            </a:r>
            <a:r>
              <a:rPr sz="788" b="0" i="0" dirty="0" err="1">
                <a:solidFill>
                  <a:srgbClr val="546178"/>
                </a:solidFill>
                <a:latin typeface="Poppins"/>
              </a:rPr>
              <a:t>darauf</a:t>
            </a:r>
            <a:r>
              <a:rPr sz="788" b="0" i="0" dirty="0">
                <a:solidFill>
                  <a:srgbClr val="546178"/>
                </a:solidFill>
                <a:latin typeface="Poppins"/>
              </a:rPr>
              <a:t>, für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zu</a:t>
            </a:r>
            <a:r>
              <a:rPr sz="788" b="0" i="0" dirty="0">
                <a:solidFill>
                  <a:srgbClr val="546178"/>
                </a:solidFill>
                <a:latin typeface="Poppins"/>
              </a:rPr>
              <a:t> </a:t>
            </a:r>
            <a:r>
              <a:rPr sz="788" b="0" i="0" dirty="0" err="1">
                <a:solidFill>
                  <a:srgbClr val="546178"/>
                </a:solidFill>
                <a:latin typeface="Poppins"/>
              </a:rPr>
              <a:t>arbeiten</a:t>
            </a:r>
            <a:endParaRPr sz="788" b="0" i="0" dirty="0">
              <a:solidFill>
                <a:srgbClr val="546178"/>
              </a:solidFill>
              <a:latin typeface="Poppins"/>
            </a:endParaRPr>
          </a:p>
        </p:txBody>
      </p:sp>
      <p:sp>
        <p:nvSpPr>
          <p:cNvPr id="44" name="New shape"/>
          <p:cNvSpPr/>
          <p:nvPr/>
        </p:nvSpPr>
        <p:spPr>
          <a:xfrm>
            <a:off x="4000500" y="22860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5"/>
              </a:ext>
            </a:extLst>
          </a:blip>
          <a:stretch>
            <a:fillRect/>
          </a:stretch>
        </p:blipFill>
        <p:spPr>
          <a:xfrm>
            <a:off x="4079081" y="2328862"/>
            <a:ext cx="71438" cy="85725"/>
          </a:xfrm>
          <a:prstGeom prst="rect">
            <a:avLst/>
          </a:prstGeom>
        </p:spPr>
      </p:pic>
      <p:sp>
        <p:nvSpPr>
          <p:cNvPr id="46" name="New shape"/>
          <p:cNvSpPr/>
          <p:nvPr/>
        </p:nvSpPr>
        <p:spPr>
          <a:xfrm>
            <a:off x="4243388" y="22860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47" name="New shape"/>
          <p:cNvSpPr/>
          <p:nvPr/>
        </p:nvSpPr>
        <p:spPr>
          <a:xfrm>
            <a:off x="6065504" y="228600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48" name="New shape"/>
          <p:cNvSpPr/>
          <p:nvPr/>
        </p:nvSpPr>
        <p:spPr>
          <a:xfrm>
            <a:off x="6315596" y="2286000"/>
            <a:ext cx="576409"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49" name="New shape"/>
          <p:cNvSpPr txBox="1"/>
          <p:nvPr/>
        </p:nvSpPr>
        <p:spPr>
          <a:xfrm>
            <a:off x="7149179"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0" name="New shape"/>
          <p:cNvSpPr txBox="1"/>
          <p:nvPr/>
        </p:nvSpPr>
        <p:spPr>
          <a:xfrm>
            <a:off x="7538943"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1" name="New shape"/>
          <p:cNvSpPr txBox="1"/>
          <p:nvPr/>
        </p:nvSpPr>
        <p:spPr>
          <a:xfrm>
            <a:off x="7928706"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2" name="New shape"/>
          <p:cNvSpPr txBox="1"/>
          <p:nvPr/>
        </p:nvSpPr>
        <p:spPr>
          <a:xfrm>
            <a:off x="8318470"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53" name="New shape"/>
          <p:cNvSpPr/>
          <p:nvPr/>
        </p:nvSpPr>
        <p:spPr>
          <a:xfrm>
            <a:off x="4000500" y="25146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6"/>
              </a:ext>
            </a:extLst>
          </a:blip>
          <a:stretch>
            <a:fillRect/>
          </a:stretch>
        </p:blipFill>
        <p:spPr>
          <a:xfrm>
            <a:off x="4079081" y="2562820"/>
            <a:ext cx="75009" cy="75009"/>
          </a:xfrm>
          <a:prstGeom prst="rect">
            <a:avLst/>
          </a:prstGeom>
        </p:spPr>
      </p:pic>
      <p:sp>
        <p:nvSpPr>
          <p:cNvPr id="55" name="New shape"/>
          <p:cNvSpPr/>
          <p:nvPr/>
        </p:nvSpPr>
        <p:spPr>
          <a:xfrm>
            <a:off x="4243388" y="25146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56" name="New shape"/>
          <p:cNvSpPr/>
          <p:nvPr/>
        </p:nvSpPr>
        <p:spPr>
          <a:xfrm>
            <a:off x="6144105" y="25146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7" name="New shape"/>
          <p:cNvSpPr/>
          <p:nvPr/>
        </p:nvSpPr>
        <p:spPr>
          <a:xfrm>
            <a:off x="6525199" y="25146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8" name="New shape"/>
          <p:cNvSpPr/>
          <p:nvPr/>
        </p:nvSpPr>
        <p:spPr>
          <a:xfrm>
            <a:off x="457200" y="28003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9" name="New shape"/>
          <p:cNvSpPr txBox="1"/>
          <p:nvPr/>
        </p:nvSpPr>
        <p:spPr>
          <a:xfrm>
            <a:off x="457200" y="29146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Ich </a:t>
            </a:r>
            <a:r>
              <a:rPr sz="788" b="0" i="0" dirty="0" err="1">
                <a:solidFill>
                  <a:srgbClr val="546178"/>
                </a:solidFill>
                <a:latin typeface="Poppins"/>
              </a:rPr>
              <a:t>glaube</a:t>
            </a:r>
            <a:r>
              <a:rPr sz="788" b="0" i="0" dirty="0">
                <a:solidFill>
                  <a:srgbClr val="546178"/>
                </a:solidFill>
                <a:latin typeface="Poppins"/>
              </a:rPr>
              <a:t>, </a:t>
            </a:r>
            <a:r>
              <a:rPr sz="788" b="0" i="0" dirty="0" err="1">
                <a:solidFill>
                  <a:srgbClr val="546178"/>
                </a:solidFill>
                <a:latin typeface="Poppins"/>
              </a:rPr>
              <a:t>dass</a:t>
            </a:r>
            <a:r>
              <a:rPr sz="788" b="0" i="0" dirty="0">
                <a:solidFill>
                  <a:srgbClr val="546178"/>
                </a:solidFill>
                <a:latin typeface="Poppins"/>
              </a:rPr>
              <a:t> ich gut </a:t>
            </a:r>
            <a:r>
              <a:rPr sz="788" b="0" i="0" dirty="0" err="1">
                <a:solidFill>
                  <a:srgbClr val="546178"/>
                </a:solidFill>
                <a:latin typeface="Poppins"/>
              </a:rPr>
              <a:t>zu</a:t>
            </a:r>
            <a:r>
              <a:rPr sz="788" b="0" i="0" dirty="0">
                <a:solidFill>
                  <a:srgbClr val="546178"/>
                </a:solidFill>
                <a:latin typeface="Poppins"/>
              </a:rPr>
              <a:t> </a:t>
            </a:r>
            <a:r>
              <a:rPr lang="en-US" sz="788" b="0" i="0" dirty="0">
                <a:solidFill>
                  <a:srgbClr val="546178"/>
                </a:solidFill>
                <a:latin typeface="Poppins"/>
              </a:rPr>
              <a:t>Novanta B.V.</a:t>
            </a:r>
            <a:r>
              <a:rPr sz="788" b="0" i="0" dirty="0">
                <a:solidFill>
                  <a:srgbClr val="546178"/>
                </a:solidFill>
                <a:latin typeface="Poppins"/>
              </a:rPr>
              <a:t> passe</a:t>
            </a:r>
          </a:p>
        </p:txBody>
      </p:sp>
      <p:sp>
        <p:nvSpPr>
          <p:cNvPr id="60" name="New shape"/>
          <p:cNvSpPr/>
          <p:nvPr/>
        </p:nvSpPr>
        <p:spPr>
          <a:xfrm>
            <a:off x="4000500" y="29146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5"/>
              </a:ext>
            </a:extLst>
          </a:blip>
          <a:stretch>
            <a:fillRect/>
          </a:stretch>
        </p:blipFill>
        <p:spPr>
          <a:xfrm>
            <a:off x="4079081" y="2957512"/>
            <a:ext cx="71438" cy="85725"/>
          </a:xfrm>
          <a:prstGeom prst="rect">
            <a:avLst/>
          </a:prstGeom>
        </p:spPr>
      </p:pic>
      <p:sp>
        <p:nvSpPr>
          <p:cNvPr id="62" name="New shape"/>
          <p:cNvSpPr/>
          <p:nvPr/>
        </p:nvSpPr>
        <p:spPr>
          <a:xfrm>
            <a:off x="4243388" y="29146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63" name="New shape"/>
          <p:cNvSpPr/>
          <p:nvPr/>
        </p:nvSpPr>
        <p:spPr>
          <a:xfrm>
            <a:off x="6248907" y="29146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64" name="New shape"/>
          <p:cNvSpPr/>
          <p:nvPr/>
        </p:nvSpPr>
        <p:spPr>
          <a:xfrm>
            <a:off x="6498998" y="291465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65" name="New shape"/>
          <p:cNvSpPr txBox="1"/>
          <p:nvPr/>
        </p:nvSpPr>
        <p:spPr>
          <a:xfrm>
            <a:off x="7149179"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6" name="New shape"/>
          <p:cNvSpPr txBox="1"/>
          <p:nvPr/>
        </p:nvSpPr>
        <p:spPr>
          <a:xfrm>
            <a:off x="7538943"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67" name="New shape"/>
          <p:cNvSpPr txBox="1"/>
          <p:nvPr/>
        </p:nvSpPr>
        <p:spPr>
          <a:xfrm>
            <a:off x="7928706"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8" name="New shape"/>
          <p:cNvSpPr txBox="1"/>
          <p:nvPr/>
        </p:nvSpPr>
        <p:spPr>
          <a:xfrm>
            <a:off x="8318470"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69" name="New shape"/>
          <p:cNvSpPr/>
          <p:nvPr/>
        </p:nvSpPr>
        <p:spPr>
          <a:xfrm>
            <a:off x="4000500" y="31432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0" name="New picture"/>
          <p:cNvPicPr/>
          <p:nvPr/>
        </p:nvPicPr>
        <p:blipFill>
          <a:blip>
            <a:extLst>
              <a:ext uri="{96DAC541-7B7A-43D3-8B79-37D633B846F1}">
                <asvg:svgBlip xmlns:asvg="http://schemas.microsoft.com/office/drawing/2016/SVG/main" r:embed="rId6"/>
              </a:ext>
            </a:extLst>
          </a:blip>
          <a:stretch>
            <a:fillRect/>
          </a:stretch>
        </p:blipFill>
        <p:spPr>
          <a:xfrm>
            <a:off x="4079081" y="3191470"/>
            <a:ext cx="75009" cy="75009"/>
          </a:xfrm>
          <a:prstGeom prst="rect">
            <a:avLst/>
          </a:prstGeom>
        </p:spPr>
      </p:pic>
      <p:sp>
        <p:nvSpPr>
          <p:cNvPr id="71" name="New shape"/>
          <p:cNvSpPr/>
          <p:nvPr/>
        </p:nvSpPr>
        <p:spPr>
          <a:xfrm>
            <a:off x="4243388" y="3143250"/>
            <a:ext cx="18078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69%</a:t>
            </a:r>
          </a:p>
        </p:txBody>
      </p:sp>
      <p:sp>
        <p:nvSpPr>
          <p:cNvPr id="72" name="New shape"/>
          <p:cNvSpPr/>
          <p:nvPr/>
        </p:nvSpPr>
        <p:spPr>
          <a:xfrm>
            <a:off x="6065504" y="314325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73" name="New shape"/>
          <p:cNvSpPr/>
          <p:nvPr/>
        </p:nvSpPr>
        <p:spPr>
          <a:xfrm>
            <a:off x="6472797" y="31432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74" name="New shape"/>
          <p:cNvSpPr/>
          <p:nvPr/>
        </p:nvSpPr>
        <p:spPr>
          <a:xfrm>
            <a:off x="457200" y="34290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5"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78"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9"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0"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81"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84"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5"/>
              </a:ext>
            </a:extLst>
          </a:blip>
          <a:stretch>
            <a:fillRect/>
          </a:stretch>
        </p:blipFill>
        <p:spPr>
          <a:xfrm>
            <a:off x="3286125" y="4883467"/>
            <a:ext cx="100012" cy="120015"/>
          </a:xfrm>
          <a:prstGeom prst="rect">
            <a:avLst/>
          </a:prstGeom>
        </p:spPr>
      </p:pic>
      <p:sp>
        <p:nvSpPr>
          <p:cNvPr id="86"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87" name="New picture"/>
          <p:cNvPicPr/>
          <p:nvPr/>
        </p:nvPicPr>
        <p:blipFill>
          <a:blip>
            <a:extLst>
              <a:ext uri="{96DAC541-7B7A-43D3-8B79-37D633B846F1}">
                <asvg:svgBlip xmlns:asvg="http://schemas.microsoft.com/office/drawing/2016/SVG/main" r:embed="rId6"/>
              </a:ext>
            </a:extLst>
          </a:blip>
          <a:stretch>
            <a:fillRect/>
          </a:stretch>
        </p:blipFill>
        <p:spPr>
          <a:xfrm>
            <a:off x="4350544" y="4890969"/>
            <a:ext cx="105013" cy="105013"/>
          </a:xfrm>
          <a:prstGeom prst="rect">
            <a:avLst/>
          </a:prstGeom>
        </p:spPr>
      </p:pic>
      <p:sp>
        <p:nvSpPr>
          <p:cNvPr id="88"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89"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90" name="New picture"/>
          <p:cNvPicPr/>
          <p:nvPr/>
        </p:nvPicPr>
        <p:blipFill>
          <a:blip>
            <a:extLst>
              <a:ext uri="{96DAC541-7B7A-43D3-8B79-37D633B846F1}">
                <asvg:svgBlip xmlns:asvg="http://schemas.microsoft.com/office/drawing/2016/SVG/main" r:embed="rId2"/>
              </a:ext>
            </a:extLst>
          </a:blip>
          <a:stretch>
            <a:fillRect/>
          </a:stretch>
        </p:blipFill>
        <p:spPr>
          <a:xfrm>
            <a:off x="5562838" y="4890969"/>
            <a:ext cx="105013" cy="105013"/>
          </a:xfrm>
          <a:prstGeom prst="rect">
            <a:avLst/>
          </a:prstGeom>
        </p:spPr>
      </p:pic>
      <p:sp>
        <p:nvSpPr>
          <p:cNvPr id="91"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92"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93" name="New picture"/>
          <p:cNvPicPr/>
          <p:nvPr/>
        </p:nvPicPr>
        <p:blipFill>
          <a:blip>
            <a:extLst>
              <a:ext uri="{96DAC541-7B7A-43D3-8B79-37D633B846F1}">
                <asvg:svgBlip xmlns:asvg="http://schemas.microsoft.com/office/drawing/2016/SVG/main" r:embed="rId3"/>
              </a:ext>
            </a:extLst>
          </a:blip>
          <a:stretch>
            <a:fillRect/>
          </a:stretch>
        </p:blipFill>
        <p:spPr>
          <a:xfrm>
            <a:off x="6775133" y="4890969"/>
            <a:ext cx="105013" cy="105013"/>
          </a:xfrm>
          <a:prstGeom prst="rect">
            <a:avLst/>
          </a:prstGeom>
        </p:spPr>
      </p:pic>
      <p:sp>
        <p:nvSpPr>
          <p:cNvPr id="94"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95"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7987427" y="4890969"/>
            <a:ext cx="105013" cy="105013"/>
          </a:xfrm>
          <a:prstGeom prst="rect">
            <a:avLst/>
          </a:prstGeom>
        </p:spPr>
      </p:pic>
      <p:sp>
        <p:nvSpPr>
          <p:cNvPr id="97"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98"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9" name="New picture"/>
          <p:cNvPicPr/>
          <p:nvPr/>
        </p:nvPicPr>
        <p:blipFill>
          <a:blip>
            <a:extLst>
              <a:ext uri="{96DAC541-7B7A-43D3-8B79-37D633B846F1}">
                <asvg:svgBlip xmlns:asvg="http://schemas.microsoft.com/office/drawing/2016/SVG/main" r:embed="rId4"/>
              </a:ext>
            </a:extLst>
          </a:blip>
          <a:stretch>
            <a:fillRect/>
          </a:stretch>
        </p:blipFill>
        <p:spPr>
          <a:xfrm>
            <a:off x="9199721" y="4890969"/>
            <a:ext cx="105013" cy="105013"/>
          </a:xfrm>
          <a:prstGeom prst="rect">
            <a:avLst/>
          </a:prstGeom>
        </p:spPr>
      </p:pic>
      <p:sp>
        <p:nvSpPr>
          <p:cNvPr id="100"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sp>
        <p:nvSpPr>
          <p:cNvPr id="10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3" name="New picture"/>
          <p:cNvPicPr/>
          <p:nvPr/>
        </p:nvPicPr>
        <p:blipFill>
          <a:blip>
            <a:extLst>
              <a:ext uri="{96DAC541-7B7A-43D3-8B79-37D633B846F1}">
                <asvg:svgBlip xmlns:asvg="http://schemas.microsoft.com/office/drawing/2016/SVG/main" r:embed="rId7"/>
              </a:ext>
            </a:extLst>
          </a:blip>
          <a:stretch>
            <a:fillRect/>
          </a:stretch>
        </p:blipFill>
        <p:spPr>
          <a:xfrm>
            <a:off x="8829675" y="147661"/>
            <a:ext cx="217884" cy="217884"/>
          </a:xfrm>
          <a:prstGeom prst="rect">
            <a:avLst/>
          </a:prstGeom>
        </p:spPr>
      </p:pic>
      <p:sp>
        <p:nvSpPr>
          <p:cNvPr id="10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6"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Qualität des Leistungsumfeldes</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Veränderung gestalten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Mein Team </a:t>
            </a:r>
            <a:r>
              <a:rPr sz="788" b="0" i="0" dirty="0" err="1">
                <a:solidFill>
                  <a:srgbClr val="546178"/>
                </a:solidFill>
                <a:latin typeface="Poppins"/>
              </a:rPr>
              <a:t>weiß</a:t>
            </a:r>
            <a:r>
              <a:rPr sz="788" b="0" i="0" dirty="0">
                <a:solidFill>
                  <a:srgbClr val="546178"/>
                </a:solidFill>
                <a:latin typeface="Poppins"/>
              </a:rPr>
              <a:t>, was </a:t>
            </a:r>
            <a:r>
              <a:rPr sz="788" b="0" i="0" dirty="0" err="1">
                <a:solidFill>
                  <a:srgbClr val="546178"/>
                </a:solidFill>
                <a:latin typeface="Poppins"/>
              </a:rPr>
              <a:t>getan</a:t>
            </a:r>
            <a:r>
              <a:rPr sz="788" b="0" i="0" dirty="0">
                <a:solidFill>
                  <a:srgbClr val="546178"/>
                </a:solidFill>
                <a:latin typeface="Poppins"/>
              </a:rPr>
              <a:t> </a:t>
            </a:r>
            <a:r>
              <a:rPr sz="788" b="0" i="0" dirty="0" err="1">
                <a:solidFill>
                  <a:srgbClr val="546178"/>
                </a:solidFill>
                <a:latin typeface="Poppins"/>
              </a:rPr>
              <a:t>werden</a:t>
            </a:r>
            <a:r>
              <a:rPr sz="788" b="0" i="0" dirty="0">
                <a:solidFill>
                  <a:srgbClr val="546178"/>
                </a:solidFill>
                <a:latin typeface="Poppins"/>
              </a:rPr>
              <a:t> muss, um </a:t>
            </a:r>
            <a:r>
              <a:rPr sz="788" b="0" i="0" dirty="0" err="1">
                <a:solidFill>
                  <a:srgbClr val="546178"/>
                </a:solidFill>
                <a:latin typeface="Poppins"/>
              </a:rPr>
              <a:t>zum</a:t>
            </a:r>
            <a:r>
              <a:rPr sz="788" b="0" i="0" dirty="0">
                <a:solidFill>
                  <a:srgbClr val="546178"/>
                </a:solidFill>
                <a:latin typeface="Poppins"/>
              </a:rPr>
              <a:t> </a:t>
            </a:r>
            <a:r>
              <a:rPr sz="788" b="0" i="0" dirty="0" err="1">
                <a:solidFill>
                  <a:srgbClr val="546178"/>
                </a:solidFill>
                <a:latin typeface="Poppins"/>
              </a:rPr>
              <a:t>Erfolg</a:t>
            </a:r>
            <a:r>
              <a:rPr sz="788" b="0" i="0" dirty="0">
                <a:solidFill>
                  <a:srgbClr val="546178"/>
                </a:solidFill>
                <a:latin typeface="Poppins"/>
              </a:rPr>
              <a:t> von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beizutragen</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20397"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89</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31" name="New shape"/>
          <p:cNvSpPr/>
          <p:nvPr/>
        </p:nvSpPr>
        <p:spPr>
          <a:xfrm>
            <a:off x="6275107" y="14287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2" name="New shape"/>
          <p:cNvSpPr/>
          <p:nvPr/>
        </p:nvSpPr>
        <p:spPr>
          <a:xfrm>
            <a:off x="6551399" y="1428750"/>
            <a:ext cx="340605"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 Team erarbeitet regelmäßig neue und gute Verbesserungsvorschläge</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9" name="New shape"/>
          <p:cNvSpPr/>
          <p:nvPr/>
        </p:nvSpPr>
        <p:spPr>
          <a:xfrm>
            <a:off x="6472798" y="182880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47" name="New shape"/>
          <p:cNvSpPr/>
          <p:nvPr/>
        </p:nvSpPr>
        <p:spPr>
          <a:xfrm>
            <a:off x="6275107" y="2057400"/>
            <a:ext cx="2096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8%</a:t>
            </a:r>
          </a:p>
        </p:txBody>
      </p:sp>
      <p:sp>
        <p:nvSpPr>
          <p:cNvPr id="48" name="New shape"/>
          <p:cNvSpPr/>
          <p:nvPr/>
        </p:nvSpPr>
        <p:spPr>
          <a:xfrm>
            <a:off x="6498998" y="205740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habe Vertrauen in meine Führungskraft</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55" name="New shape"/>
          <p:cNvSpPr/>
          <p:nvPr/>
        </p:nvSpPr>
        <p:spPr>
          <a:xfrm>
            <a:off x="6394197"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64" name="New shape"/>
          <p:cNvSpPr/>
          <p:nvPr/>
        </p:nvSpPr>
        <p:spPr>
          <a:xfrm>
            <a:off x="6472798" y="26860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Meine Führungskraft geht bei Veränderungen vorbildlich voran</a:t>
            </a: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70" name="New shape"/>
          <p:cNvSpPr/>
          <p:nvPr/>
        </p:nvSpPr>
        <p:spPr>
          <a:xfrm>
            <a:off x="6091704" y="30861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71" name="New shape"/>
          <p:cNvSpPr/>
          <p:nvPr/>
        </p:nvSpPr>
        <p:spPr>
          <a:xfrm>
            <a:off x="6420396" y="30861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79" name="New shape"/>
          <p:cNvSpPr/>
          <p:nvPr/>
        </p:nvSpPr>
        <p:spPr>
          <a:xfrm>
            <a:off x="6091704" y="331470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Ich </a:t>
            </a:r>
            <a:r>
              <a:rPr sz="788" b="0" i="0" dirty="0" err="1">
                <a:solidFill>
                  <a:srgbClr val="546178"/>
                </a:solidFill>
                <a:latin typeface="Poppins"/>
              </a:rPr>
              <a:t>identifiziere</a:t>
            </a:r>
            <a:r>
              <a:rPr sz="788" b="0" i="0" dirty="0">
                <a:solidFill>
                  <a:srgbClr val="546178"/>
                </a:solidFill>
                <a:latin typeface="Poppins"/>
              </a:rPr>
              <a:t> </a:t>
            </a:r>
            <a:r>
              <a:rPr sz="788" b="0" i="0" dirty="0" err="1">
                <a:solidFill>
                  <a:srgbClr val="546178"/>
                </a:solidFill>
                <a:latin typeface="Poppins"/>
              </a:rPr>
              <a:t>mich</a:t>
            </a:r>
            <a:r>
              <a:rPr sz="788" b="0" i="0" dirty="0">
                <a:solidFill>
                  <a:srgbClr val="546178"/>
                </a:solidFill>
                <a:latin typeface="Poppins"/>
              </a:rPr>
              <a:t> </a:t>
            </a:r>
            <a:r>
              <a:rPr sz="788" b="0" i="0" dirty="0" err="1">
                <a:solidFill>
                  <a:srgbClr val="546178"/>
                </a:solidFill>
                <a:latin typeface="Poppins"/>
              </a:rPr>
              <a:t>mit</a:t>
            </a:r>
            <a:r>
              <a:rPr sz="788" b="0" i="0" dirty="0">
                <a:solidFill>
                  <a:srgbClr val="546178"/>
                </a:solidFill>
                <a:latin typeface="Poppins"/>
              </a:rPr>
              <a:t> der Kultur von </a:t>
            </a:r>
            <a:r>
              <a:rPr lang="en-US" sz="788" b="0" i="0" dirty="0">
                <a:solidFill>
                  <a:srgbClr val="546178"/>
                </a:solidFill>
                <a:latin typeface="Poppins"/>
              </a:rPr>
              <a:t>Novanta B.V.</a:t>
            </a:r>
            <a:endParaRPr sz="788" b="0" i="0" dirty="0">
              <a:solidFill>
                <a:srgbClr val="546178"/>
              </a:solidFill>
              <a:latin typeface="Poppins"/>
            </a:endParaRP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86" name="New shape"/>
          <p:cNvSpPr/>
          <p:nvPr/>
        </p:nvSpPr>
        <p:spPr>
          <a:xfrm>
            <a:off x="6117904" y="37147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87" name="New shape"/>
          <p:cNvSpPr/>
          <p:nvPr/>
        </p:nvSpPr>
        <p:spPr>
          <a:xfrm>
            <a:off x="6472797" y="37147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88</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95" name="New shape"/>
          <p:cNvSpPr/>
          <p:nvPr/>
        </p:nvSpPr>
        <p:spPr>
          <a:xfrm>
            <a:off x="61179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420397" y="39433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Qualität des Leistungsumfeldes</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Richtung geben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Ich bin </a:t>
            </a:r>
            <a:r>
              <a:rPr sz="788" b="0" i="0" dirty="0" err="1">
                <a:solidFill>
                  <a:srgbClr val="546178"/>
                </a:solidFill>
                <a:latin typeface="Poppins"/>
              </a:rPr>
              <a:t>überzeugt</a:t>
            </a:r>
            <a:r>
              <a:rPr sz="788" b="0" i="0" dirty="0">
                <a:solidFill>
                  <a:srgbClr val="546178"/>
                </a:solidFill>
                <a:latin typeface="Poppins"/>
              </a:rPr>
              <a:t> von den Zielen und der </a:t>
            </a:r>
            <a:r>
              <a:rPr sz="788" b="0" i="0" dirty="0" err="1">
                <a:solidFill>
                  <a:srgbClr val="546178"/>
                </a:solidFill>
                <a:latin typeface="Poppins"/>
              </a:rPr>
              <a:t>Strategie</a:t>
            </a:r>
            <a:r>
              <a:rPr sz="788" b="0" i="0" dirty="0">
                <a:solidFill>
                  <a:srgbClr val="546178"/>
                </a:solidFill>
                <a:latin typeface="Poppins"/>
              </a:rPr>
              <a:t> von </a:t>
            </a:r>
            <a:r>
              <a:rPr lang="en-US" sz="788" b="0" i="0" dirty="0">
                <a:solidFill>
                  <a:srgbClr val="546178"/>
                </a:solidFill>
                <a:latin typeface="Poppins"/>
              </a:rPr>
              <a:t>Novanta B.V.</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23" name="New shape"/>
          <p:cNvSpPr/>
          <p:nvPr/>
        </p:nvSpPr>
        <p:spPr>
          <a:xfrm>
            <a:off x="6525199" y="120015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93</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Die </a:t>
            </a:r>
            <a:r>
              <a:rPr sz="788" b="0" i="0" dirty="0" err="1">
                <a:solidFill>
                  <a:srgbClr val="546178"/>
                </a:solidFill>
                <a:latin typeface="Poppins"/>
              </a:rPr>
              <a:t>Zukunftsvision</a:t>
            </a:r>
            <a:r>
              <a:rPr sz="788" b="0" i="0" dirty="0">
                <a:solidFill>
                  <a:srgbClr val="546178"/>
                </a:solidFill>
                <a:latin typeface="Poppins"/>
              </a:rPr>
              <a:t> von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inspiriert</a:t>
            </a:r>
            <a:r>
              <a:rPr sz="788" b="0" i="0" dirty="0">
                <a:solidFill>
                  <a:srgbClr val="546178"/>
                </a:solidFill>
                <a:latin typeface="Poppins"/>
              </a:rPr>
              <a:t> </a:t>
            </a:r>
            <a:r>
              <a:rPr sz="788" b="0" i="0" dirty="0" err="1">
                <a:solidFill>
                  <a:srgbClr val="546178"/>
                </a:solidFill>
                <a:latin typeface="Poppins"/>
              </a:rPr>
              <a:t>mich</a:t>
            </a:r>
            <a:endParaRPr sz="788" b="0" i="0" dirty="0">
              <a:solidFill>
                <a:srgbClr val="546178"/>
              </a:solidFill>
              <a:latin typeface="Poppins"/>
            </a:endParaRP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39" name="New shape"/>
          <p:cNvSpPr/>
          <p:nvPr/>
        </p:nvSpPr>
        <p:spPr>
          <a:xfrm>
            <a:off x="6498998" y="182880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55</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4454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8" name="New shape"/>
          <p:cNvSpPr/>
          <p:nvPr/>
        </p:nvSpPr>
        <p:spPr>
          <a:xfrm>
            <a:off x="6472797" y="20574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err="1">
                <a:solidFill>
                  <a:srgbClr val="546178"/>
                </a:solidFill>
                <a:latin typeface="Poppins"/>
              </a:rPr>
              <a:t>Innerhalb</a:t>
            </a:r>
            <a:r>
              <a:rPr sz="788" b="0" i="0" dirty="0">
                <a:solidFill>
                  <a:srgbClr val="546178"/>
                </a:solidFill>
                <a:latin typeface="Poppins"/>
              </a:rPr>
              <a:t> von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werden</a:t>
            </a:r>
            <a:r>
              <a:rPr sz="788" b="0" i="0" dirty="0">
                <a:solidFill>
                  <a:srgbClr val="546178"/>
                </a:solidFill>
                <a:latin typeface="Poppins"/>
              </a:rPr>
              <a:t> die </a:t>
            </a:r>
            <a:r>
              <a:rPr sz="788" b="0" i="0" dirty="0" err="1">
                <a:solidFill>
                  <a:srgbClr val="546178"/>
                </a:solidFill>
                <a:latin typeface="Poppins"/>
              </a:rPr>
              <a:t>Mitarbeitenden</a:t>
            </a:r>
            <a:r>
              <a:rPr sz="788" b="0" i="0" dirty="0">
                <a:solidFill>
                  <a:srgbClr val="546178"/>
                </a:solidFill>
                <a:latin typeface="Poppins"/>
              </a:rPr>
              <a:t> fair </a:t>
            </a:r>
            <a:r>
              <a:rPr sz="788" b="0" i="0" dirty="0" err="1">
                <a:solidFill>
                  <a:srgbClr val="546178"/>
                </a:solidFill>
                <a:latin typeface="Poppins"/>
              </a:rPr>
              <a:t>behandelt</a:t>
            </a:r>
            <a:endParaRPr sz="788" b="0" i="0" dirty="0">
              <a:solidFill>
                <a:srgbClr val="546178"/>
              </a:solidFill>
              <a:latin typeface="Poppins"/>
            </a:endParaRP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7554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67%</a:t>
            </a:r>
          </a:p>
        </p:txBody>
      </p:sp>
      <p:sp>
        <p:nvSpPr>
          <p:cNvPr id="54" name="New shape"/>
          <p:cNvSpPr/>
          <p:nvPr/>
        </p:nvSpPr>
        <p:spPr>
          <a:xfrm>
            <a:off x="6013103"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394196"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63" name="New shape"/>
          <p:cNvSpPr/>
          <p:nvPr/>
        </p:nvSpPr>
        <p:spPr>
          <a:xfrm>
            <a:off x="6117904" y="26860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64" name="New shape"/>
          <p:cNvSpPr/>
          <p:nvPr/>
        </p:nvSpPr>
        <p:spPr>
          <a:xfrm>
            <a:off x="6446597" y="26860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7"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8"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69"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72"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3"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4"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75"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76"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77"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78"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79"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80"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81"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82"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83"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84"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85"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86"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87"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88"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89"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91"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Qualität des Leistungsumfeldes</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Mitarbeiter führen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Meine Fähigkeiten und Kenntnisse passen zu meinem Job</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22" name="New shape"/>
          <p:cNvSpPr/>
          <p:nvPr/>
        </p:nvSpPr>
        <p:spPr>
          <a:xfrm>
            <a:off x="6196506"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72798" y="12001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95</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31" name="New shape"/>
          <p:cNvSpPr/>
          <p:nvPr/>
        </p:nvSpPr>
        <p:spPr>
          <a:xfrm>
            <a:off x="6144105"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weiß, welche Arbeitsergebnisse von mir erwartet werden</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7292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38" name="New shape"/>
          <p:cNvSpPr/>
          <p:nvPr/>
        </p:nvSpPr>
        <p:spPr>
          <a:xfrm>
            <a:off x="5986902" y="1828800"/>
            <a:ext cx="3930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39" name="New shape"/>
          <p:cNvSpPr/>
          <p:nvPr/>
        </p:nvSpPr>
        <p:spPr>
          <a:xfrm>
            <a:off x="6394196" y="18288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48" name="New shape"/>
          <p:cNvSpPr/>
          <p:nvPr/>
        </p:nvSpPr>
        <p:spPr>
          <a:xfrm>
            <a:off x="6394196" y="20574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erhalte regelmäßig nützliches Feedback zu meiner Leistung</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55" name="New shape"/>
          <p:cNvSpPr/>
          <p:nvPr/>
        </p:nvSpPr>
        <p:spPr>
          <a:xfrm>
            <a:off x="6446597" y="24574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77</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63" name="New shape"/>
          <p:cNvSpPr/>
          <p:nvPr/>
        </p:nvSpPr>
        <p:spPr>
          <a:xfrm>
            <a:off x="6091704" y="26860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4" name="New shape"/>
          <p:cNvSpPr/>
          <p:nvPr/>
        </p:nvSpPr>
        <p:spPr>
          <a:xfrm>
            <a:off x="6525199" y="268605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Bei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wird</a:t>
            </a:r>
            <a:r>
              <a:rPr sz="788" b="0" i="0" dirty="0">
                <a:solidFill>
                  <a:srgbClr val="546178"/>
                </a:solidFill>
                <a:latin typeface="Poppins"/>
              </a:rPr>
              <a:t> </a:t>
            </a:r>
            <a:r>
              <a:rPr sz="788" b="0" i="0" dirty="0" err="1">
                <a:solidFill>
                  <a:srgbClr val="546178"/>
                </a:solidFill>
                <a:latin typeface="Poppins"/>
              </a:rPr>
              <a:t>Leistung</a:t>
            </a:r>
            <a:r>
              <a:rPr sz="788" b="0" i="0" dirty="0">
                <a:solidFill>
                  <a:srgbClr val="546178"/>
                </a:solidFill>
                <a:latin typeface="Poppins"/>
              </a:rPr>
              <a:t> </a:t>
            </a:r>
            <a:r>
              <a:rPr sz="788" b="0" i="0" dirty="0" err="1">
                <a:solidFill>
                  <a:srgbClr val="546178"/>
                </a:solidFill>
                <a:latin typeface="Poppins"/>
              </a:rPr>
              <a:t>belohnt</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70" name="New shape"/>
          <p:cNvSpPr/>
          <p:nvPr/>
        </p:nvSpPr>
        <p:spPr>
          <a:xfrm>
            <a:off x="6117904" y="30861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71" name="New shape"/>
          <p:cNvSpPr/>
          <p:nvPr/>
        </p:nvSpPr>
        <p:spPr>
          <a:xfrm>
            <a:off x="6394197" y="30861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40</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74</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79" name="New shape"/>
          <p:cNvSpPr/>
          <p:nvPr/>
        </p:nvSpPr>
        <p:spPr>
          <a:xfrm>
            <a:off x="6144105" y="3314700"/>
            <a:ext cx="2358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Wenn ich gute Arbeit leiste, erhalte ich Lob und Anerkennung</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86" name="New shape"/>
          <p:cNvSpPr/>
          <p:nvPr/>
        </p:nvSpPr>
        <p:spPr>
          <a:xfrm>
            <a:off x="6091704" y="37147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87" name="New shape"/>
          <p:cNvSpPr/>
          <p:nvPr/>
        </p:nvSpPr>
        <p:spPr>
          <a:xfrm>
            <a:off x="6367997" y="3714750"/>
            <a:ext cx="5240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95" name="New shape"/>
          <p:cNvSpPr/>
          <p:nvPr/>
        </p:nvSpPr>
        <p:spPr>
          <a:xfrm>
            <a:off x="6144105" y="39433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96" name="New shape"/>
          <p:cNvSpPr/>
          <p:nvPr/>
        </p:nvSpPr>
        <p:spPr>
          <a:xfrm>
            <a:off x="6498998" y="394335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Qualität des Leistungsumfeldes</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Systeme managen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habe die Arbeitsmittel, die ich brauche, um gute Arbeit zu leisten  (z.B. Werkzeuge, Geräte, Software, Materialien, usw.)</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2" name="New shape"/>
          <p:cNvSpPr/>
          <p:nvPr/>
        </p:nvSpPr>
        <p:spPr>
          <a:xfrm>
            <a:off x="6065504" y="12001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3" name="New shape"/>
          <p:cNvSpPr/>
          <p:nvPr/>
        </p:nvSpPr>
        <p:spPr>
          <a:xfrm>
            <a:off x="6420396"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73</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96</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46597" y="14287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Wichtige Informationen sind für mich leicht zugänglich</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38" name="New shape"/>
          <p:cNvSpPr/>
          <p:nvPr/>
        </p:nvSpPr>
        <p:spPr>
          <a:xfrm>
            <a:off x="6065504" y="182880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9" name="New shape"/>
          <p:cNvSpPr/>
          <p:nvPr/>
        </p:nvSpPr>
        <p:spPr>
          <a:xfrm>
            <a:off x="6420396" y="18288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47" name="New shape"/>
          <p:cNvSpPr/>
          <p:nvPr/>
        </p:nvSpPr>
        <p:spPr>
          <a:xfrm>
            <a:off x="6091704" y="20574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48" name="New shape"/>
          <p:cNvSpPr/>
          <p:nvPr/>
        </p:nvSpPr>
        <p:spPr>
          <a:xfrm>
            <a:off x="6446597" y="205740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In meinem Team arbeiten wir gut zusammen</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54" name="New shape"/>
          <p:cNvSpPr/>
          <p:nvPr/>
        </p:nvSpPr>
        <p:spPr>
          <a:xfrm>
            <a:off x="6196506"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577599" y="2457450"/>
            <a:ext cx="314405"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12%</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92</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1834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64" name="New shape"/>
          <p:cNvSpPr/>
          <p:nvPr/>
        </p:nvSpPr>
        <p:spPr>
          <a:xfrm>
            <a:off x="6394197" y="26860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Bei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sind</a:t>
            </a:r>
            <a:r>
              <a:rPr sz="788" b="0" i="0" dirty="0">
                <a:solidFill>
                  <a:srgbClr val="546178"/>
                </a:solidFill>
                <a:latin typeface="Poppins"/>
              </a:rPr>
              <a:t> die </a:t>
            </a:r>
            <a:r>
              <a:rPr sz="788" b="0" i="0" dirty="0" err="1">
                <a:solidFill>
                  <a:srgbClr val="546178"/>
                </a:solidFill>
                <a:latin typeface="Poppins"/>
              </a:rPr>
              <a:t>Arbeitsabläufe</a:t>
            </a:r>
            <a:r>
              <a:rPr sz="788" b="0" i="0" dirty="0">
                <a:solidFill>
                  <a:srgbClr val="546178"/>
                </a:solidFill>
                <a:latin typeface="Poppins"/>
              </a:rPr>
              <a:t> gut </a:t>
            </a:r>
            <a:r>
              <a:rPr sz="788" b="0" i="0" dirty="0" err="1">
                <a:solidFill>
                  <a:srgbClr val="546178"/>
                </a:solidFill>
                <a:latin typeface="Poppins"/>
              </a:rPr>
              <a:t>organisiert</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70" name="New shape"/>
          <p:cNvSpPr/>
          <p:nvPr/>
        </p:nvSpPr>
        <p:spPr>
          <a:xfrm>
            <a:off x="6144105" y="308610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71" name="New shape"/>
          <p:cNvSpPr/>
          <p:nvPr/>
        </p:nvSpPr>
        <p:spPr>
          <a:xfrm>
            <a:off x="6525199" y="308610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44</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82</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79" name="New shape"/>
          <p:cNvSpPr/>
          <p:nvPr/>
        </p:nvSpPr>
        <p:spPr>
          <a:xfrm>
            <a:off x="6117904" y="331470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80" name="New shape"/>
          <p:cNvSpPr/>
          <p:nvPr/>
        </p:nvSpPr>
        <p:spPr>
          <a:xfrm>
            <a:off x="6525199" y="33147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habe gute Möglichkeiten, mich beruflich und persönlich weiterzuentwickeln</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86" name="New shape"/>
          <p:cNvSpPr/>
          <p:nvPr/>
        </p:nvSpPr>
        <p:spPr>
          <a:xfrm>
            <a:off x="6248907" y="3714750"/>
            <a:ext cx="183403"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87" name="New shape"/>
          <p:cNvSpPr/>
          <p:nvPr/>
        </p:nvSpPr>
        <p:spPr>
          <a:xfrm>
            <a:off x="6446597" y="37147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95" name="New shape"/>
          <p:cNvSpPr/>
          <p:nvPr/>
        </p:nvSpPr>
        <p:spPr>
          <a:xfrm>
            <a:off x="60917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394197" y="39433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714375"/>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Indizes</a:t>
            </a:r>
          </a:p>
        </p:txBody>
      </p:sp>
      <p:sp>
        <p:nvSpPr>
          <p:cNvPr id="5" name="New shape"/>
          <p:cNvSpPr txBox="1"/>
          <p:nvPr/>
        </p:nvSpPr>
        <p:spPr>
          <a:xfrm>
            <a:off x="457200" y="1230154"/>
            <a:ext cx="6286500" cy="6172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Ein Index kombiniert mehrere miteinander verwandte Fragen in einem Ergebnis. Indizes messen verschiedene Aspekte, die für den Erfolg des Unternehmens von Bedeutung sind.</a:t>
            </a:r>
          </a:p>
        </p:txBody>
      </p:sp>
      <p:sp>
        <p:nvSpPr>
          <p:cNvPr id="6" name="New shape"/>
          <p:cNvSpPr txBox="1"/>
          <p:nvPr/>
        </p:nvSpPr>
        <p:spPr>
          <a:xfrm>
            <a:off x="457200" y="21331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7" name="New shape"/>
          <p:cNvSpPr txBox="1"/>
          <p:nvPr/>
        </p:nvSpPr>
        <p:spPr>
          <a:xfrm>
            <a:off x="792956" y="21331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Arbeitgeberkompetenz</a:t>
            </a:r>
          </a:p>
        </p:txBody>
      </p:sp>
      <p:sp>
        <p:nvSpPr>
          <p:cNvPr id="8" name="New shape"/>
          <p:cNvSpPr txBox="1"/>
          <p:nvPr/>
        </p:nvSpPr>
        <p:spPr>
          <a:xfrm>
            <a:off x="457200" y="251031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9" name="New shape"/>
          <p:cNvSpPr txBox="1"/>
          <p:nvPr/>
        </p:nvSpPr>
        <p:spPr>
          <a:xfrm>
            <a:off x="792956" y="251031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Engagement</a:t>
            </a:r>
          </a:p>
        </p:txBody>
      </p:sp>
      <p:sp>
        <p:nvSpPr>
          <p:cNvPr id="10" name="New shape"/>
          <p:cNvSpPr txBox="1"/>
          <p:nvPr/>
        </p:nvSpPr>
        <p:spPr>
          <a:xfrm>
            <a:off x="457200" y="288750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11" name="New shape"/>
          <p:cNvSpPr txBox="1"/>
          <p:nvPr/>
        </p:nvSpPr>
        <p:spPr>
          <a:xfrm>
            <a:off x="792956" y="288750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Veränderung gestalten</a:t>
            </a:r>
          </a:p>
        </p:txBody>
      </p:sp>
      <p:sp>
        <p:nvSpPr>
          <p:cNvPr id="12" name="New shape"/>
          <p:cNvSpPr txBox="1"/>
          <p:nvPr/>
        </p:nvSpPr>
        <p:spPr>
          <a:xfrm>
            <a:off x="457200" y="3264693"/>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3" name="New shape"/>
          <p:cNvSpPr txBox="1"/>
          <p:nvPr/>
        </p:nvSpPr>
        <p:spPr>
          <a:xfrm>
            <a:off x="792956" y="3264693"/>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Mitarbeiter führen</a:t>
            </a:r>
          </a:p>
        </p:txBody>
      </p:sp>
      <p:sp>
        <p:nvSpPr>
          <p:cNvPr id="14" name="New shape"/>
          <p:cNvSpPr txBox="1"/>
          <p:nvPr/>
        </p:nvSpPr>
        <p:spPr>
          <a:xfrm>
            <a:off x="457200" y="364188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5" name="New shape"/>
          <p:cNvSpPr txBox="1"/>
          <p:nvPr/>
        </p:nvSpPr>
        <p:spPr>
          <a:xfrm>
            <a:off x="792956" y="364188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Systeme managen</a:t>
            </a:r>
          </a:p>
        </p:txBody>
      </p:sp>
      <p:sp>
        <p:nvSpPr>
          <p:cNvPr id="16" name="New shape"/>
          <p:cNvSpPr txBox="1"/>
          <p:nvPr/>
        </p:nvSpPr>
        <p:spPr>
          <a:xfrm>
            <a:off x="457200" y="401907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7" name="New shape"/>
          <p:cNvSpPr txBox="1"/>
          <p:nvPr/>
        </p:nvSpPr>
        <p:spPr>
          <a:xfrm>
            <a:off x="792956" y="4019074"/>
            <a:ext cx="2143125"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Qualität des Leistungsumfeldes</a:t>
            </a:r>
          </a:p>
        </p:txBody>
      </p:sp>
      <p:sp>
        <p:nvSpPr>
          <p:cNvPr id="18" name="New shape"/>
          <p:cNvSpPr txBox="1"/>
          <p:nvPr/>
        </p:nvSpPr>
        <p:spPr>
          <a:xfrm>
            <a:off x="3086100" y="21331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9" name="New shape"/>
          <p:cNvSpPr txBox="1"/>
          <p:nvPr/>
        </p:nvSpPr>
        <p:spPr>
          <a:xfrm>
            <a:off x="3421856" y="21331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Richtung geben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Arbeitgeberkompetenz</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Veränderung gestalten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Mitarbeiter führen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 managen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Qualität des Leistungsumfeldes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Richtung geben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3" name="Group 22"/>
          <p:cNvGrpSpPr/>
          <p:nvPr/>
        </p:nvGrpSpPr>
        <p:grpSpPr>
          <a:xfrm rot="18900000">
            <a:off x="6580966" y="1047636"/>
            <a:ext cx="1477328" cy="240030"/>
            <a:chOff x="6265862" y="895191"/>
            <a:chExt cx="1477328" cy="240030"/>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89519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3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23</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Arbeitgeberkompetenz</a:t>
            </a:r>
          </a:p>
        </p:txBody>
      </p:sp>
      <p:sp>
        <p:nvSpPr>
          <p:cNvPr id="4"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Unternehmen, die ihre Qualitäten als Arbeitgeber kultivieren, bieten ihren Mitarbeitenden ein Arbeitsumfeld, in dem diese sich wohl und akzeptiert fühlen. Ein solches Arbeitsumfeld stärkt das Gefühl der Verbundenheit Ihrer Mitarbeitenden mit den Kolleg:innen und Ihrem Unternehmen.</a:t>
            </a:r>
          </a:p>
        </p:txBody>
      </p:sp>
      <p:sp>
        <p:nvSpPr>
          <p:cNvPr id="5"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7"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8"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9"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66%</a:t>
            </a:r>
          </a:p>
        </p:txBody>
      </p:sp>
      <p:sp>
        <p:nvSpPr>
          <p:cNvPr id="10"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1"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2"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88%</a:t>
            </a:r>
          </a:p>
        </p:txBody>
      </p:sp>
      <p:sp>
        <p:nvSpPr>
          <p:cNvPr id="13"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16"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a:t>
                      </a:r>
                      <a:r>
                        <a:rPr sz="788" b="0" i="0" dirty="0" err="1">
                          <a:solidFill>
                            <a:srgbClr val="192743"/>
                          </a:solidFill>
                          <a:latin typeface="Poppins"/>
                        </a:rPr>
                        <a:t>ein</a:t>
                      </a:r>
                      <a:r>
                        <a:rPr sz="788" b="0" i="0" dirty="0">
                          <a:solidFill>
                            <a:srgbClr val="192743"/>
                          </a:solidFill>
                          <a:latin typeface="Poppins"/>
                        </a:rPr>
                        <a:t> </a:t>
                      </a:r>
                      <a:r>
                        <a:rPr sz="788" b="0" i="0" dirty="0" err="1">
                          <a:solidFill>
                            <a:srgbClr val="192743"/>
                          </a:solidFill>
                          <a:latin typeface="Poppins"/>
                        </a:rPr>
                        <a:t>guter</a:t>
                      </a:r>
                      <a:r>
                        <a:rPr sz="788" b="0" i="0" dirty="0">
                          <a:solidFill>
                            <a:srgbClr val="192743"/>
                          </a:solidFill>
                          <a:latin typeface="Poppins"/>
                        </a:rPr>
                        <a:t> </a:t>
                      </a:r>
                      <a:r>
                        <a:rPr sz="788" b="0" i="0" dirty="0" err="1">
                          <a:solidFill>
                            <a:srgbClr val="192743"/>
                          </a:solidFill>
                          <a:latin typeface="Poppins"/>
                        </a:rPr>
                        <a:t>Arbeitgeber</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fühlte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Mitarbeiter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wertgeschätzt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nutzt</a:t>
                      </a:r>
                      <a:r>
                        <a:rPr sz="788" b="0" i="0" dirty="0">
                          <a:solidFill>
                            <a:srgbClr val="192743"/>
                          </a:solidFill>
                          <a:latin typeface="Poppins"/>
                        </a:rPr>
                        <a:t> Ideen und </a:t>
                      </a:r>
                      <a:r>
                        <a:rPr sz="788" b="0" i="0" dirty="0" err="1">
                          <a:solidFill>
                            <a:srgbClr val="192743"/>
                          </a:solidFill>
                          <a:latin typeface="Poppins"/>
                        </a:rPr>
                        <a:t>Vorschläge</a:t>
                      </a:r>
                      <a:r>
                        <a:rPr sz="788" b="0" i="0" dirty="0">
                          <a:solidFill>
                            <a:srgbClr val="192743"/>
                          </a:solidFill>
                          <a:latin typeface="Poppins"/>
                        </a:rPr>
                        <a:t> der </a:t>
                      </a:r>
                      <a:r>
                        <a:rPr sz="788" b="0" i="0" dirty="0" err="1">
                          <a:solidFill>
                            <a:srgbClr val="192743"/>
                          </a:solidFill>
                          <a:latin typeface="Poppins"/>
                        </a:rPr>
                        <a:t>Mitarbeitenden</a:t>
                      </a:r>
                      <a:r>
                        <a:rPr sz="788" b="0" i="0" dirty="0">
                          <a:solidFill>
                            <a:srgbClr val="192743"/>
                          </a:solidFill>
                          <a:latin typeface="Poppins"/>
                        </a:rPr>
                        <a:t> für </a:t>
                      </a:r>
                      <a:r>
                        <a:rPr sz="788" b="0" i="0" dirty="0" err="1">
                          <a:solidFill>
                            <a:srgbClr val="192743"/>
                          </a:solidFill>
                          <a:latin typeface="Poppins"/>
                        </a:rPr>
                        <a:t>Verbesserungen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7" name="Group 16"/>
          <p:cNvGrpSpPr/>
          <p:nvPr/>
        </p:nvGrpSpPr>
        <p:grpSpPr>
          <a:xfrm rot="18900000">
            <a:off x="5134921" y="851958"/>
            <a:ext cx="1471613" cy="240649"/>
            <a:chOff x="4722812" y="793750"/>
            <a:chExt cx="1471613" cy="240649"/>
          </a:xfrm>
        </p:grpSpPr>
        <p:pic>
          <p:nvPicPr>
            <p:cNvPr id="18" name="New picture"/>
            <p:cNvPicPr/>
            <p:nvPr/>
          </p:nvPicPr>
          <p:blipFill>
            <a:blip>
              <a:extLst>
                <a:ext uri="{96DAC541-7B7A-43D3-8B79-37D633B846F1}">
                  <asvg:svgBlip xmlns:asvg="http://schemas.microsoft.com/office/drawing/2016/SVG/main" r:embed="rId3"/>
                </a:ext>
              </a:extLst>
            </a:blip>
            <a:stretch>
              <a:fillRect/>
            </a:stretch>
          </p:blipFill>
          <p:spPr>
            <a:xfrm>
              <a:off x="4722812" y="856615"/>
              <a:ext cx="114300" cy="137160"/>
            </a:xfrm>
            <a:prstGeom prst="rect">
              <a:avLst/>
            </a:prstGeom>
          </p:spPr>
        </p:pic>
        <p:sp>
          <p:nvSpPr>
            <p:cNvPr id="19"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0"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1" name="Group 20"/>
          <p:cNvGrpSpPr/>
          <p:nvPr/>
        </p:nvGrpSpPr>
        <p:grpSpPr>
          <a:xfrm rot="18900000">
            <a:off x="5612274" y="929050"/>
            <a:ext cx="1477327" cy="120015"/>
            <a:chOff x="5237162" y="776605"/>
            <a:chExt cx="1477327" cy="120015"/>
          </a:xfrm>
        </p:grpSpPr>
        <p:pic>
          <p:nvPicPr>
            <p:cNvPr id="22" name="New picture"/>
            <p:cNvPicPr/>
            <p:nvPr/>
          </p:nvPicPr>
          <p:blipFill>
            <a:blip>
              <a:extLst>
                <a:ext uri="{96DAC541-7B7A-43D3-8B79-37D633B846F1}">
                  <asvg:svgBlip xmlns:asvg="http://schemas.microsoft.com/office/drawing/2016/SVG/main" r:embed="rId4"/>
                </a:ext>
              </a:extLst>
            </a:blip>
            <a:stretch>
              <a:fillRect/>
            </a:stretch>
          </p:blipFill>
          <p:spPr>
            <a:xfrm>
              <a:off x="5237162" y="776605"/>
              <a:ext cx="120015" cy="120015"/>
            </a:xfrm>
            <a:prstGeom prst="rect">
              <a:avLst/>
            </a:prstGeom>
          </p:spPr>
        </p:pic>
        <p:sp>
          <p:nvSpPr>
            <p:cNvPr id="23"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4" name="Group 23"/>
          <p:cNvGrpSpPr/>
          <p:nvPr/>
        </p:nvGrpSpPr>
        <p:grpSpPr>
          <a:xfrm rot="18900000">
            <a:off x="6126624" y="929049"/>
            <a:ext cx="1477328" cy="120015"/>
            <a:chOff x="5751512" y="776605"/>
            <a:chExt cx="1477328" cy="120015"/>
          </a:xfrm>
        </p:grpSpPr>
        <p:pic>
          <p:nvPicPr>
            <p:cNvPr id="25" name="New picture"/>
            <p:cNvPicPr/>
            <p:nvPr/>
          </p:nvPicPr>
          <p:blipFill>
            <a:blip>
              <a:extLst>
                <a:ext uri="{96DAC541-7B7A-43D3-8B79-37D633B846F1}">
                  <asvg:svgBlip xmlns:asvg="http://schemas.microsoft.com/office/drawing/2016/SVG/main" r:embed="rId5"/>
                </a:ext>
              </a:extLst>
            </a:blip>
            <a:stretch>
              <a:fillRect/>
            </a:stretch>
          </p:blipFill>
          <p:spPr>
            <a:xfrm>
              <a:off x="5751512" y="776605"/>
              <a:ext cx="120015" cy="120015"/>
            </a:xfrm>
            <a:prstGeom prst="rect">
              <a:avLst/>
            </a:prstGeom>
          </p:spPr>
        </p:pic>
        <p:sp>
          <p:nvSpPr>
            <p:cNvPr id="26"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7" name="Group 26"/>
          <p:cNvGrpSpPr/>
          <p:nvPr/>
        </p:nvGrpSpPr>
        <p:grpSpPr>
          <a:xfrm rot="18900000">
            <a:off x="6580966" y="869042"/>
            <a:ext cx="1477328" cy="240030"/>
            <a:chOff x="6265862" y="716598"/>
            <a:chExt cx="1477328" cy="240030"/>
          </a:xfrm>
        </p:grpSpPr>
        <p:pic>
          <p:nvPicPr>
            <p:cNvPr id="28" name="New picture"/>
            <p:cNvPicPr/>
            <p:nvPr/>
          </p:nvPicPr>
          <p:blipFill>
            <a:blip>
              <a:extLst>
                <a:ext uri="{96DAC541-7B7A-43D3-8B79-37D633B846F1}">
                  <asvg:svgBlip xmlns:asvg="http://schemas.microsoft.com/office/drawing/2016/SVG/main" r:embed="rId6"/>
                </a:ext>
              </a:extLst>
            </a:blip>
            <a:stretch>
              <a:fillRect/>
            </a:stretch>
          </p:blipFill>
          <p:spPr>
            <a:xfrm>
              <a:off x="6265862" y="776605"/>
              <a:ext cx="120015" cy="120015"/>
            </a:xfrm>
            <a:prstGeom prst="rect">
              <a:avLst/>
            </a:prstGeom>
          </p:spPr>
        </p:pic>
        <p:sp>
          <p:nvSpPr>
            <p:cNvPr id="29"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0" name="Group 29"/>
          <p:cNvGrpSpPr/>
          <p:nvPr/>
        </p:nvGrpSpPr>
        <p:grpSpPr>
          <a:xfrm rot="18900000">
            <a:off x="7155324" y="929050"/>
            <a:ext cx="1477327" cy="120015"/>
            <a:chOff x="6780212" y="776605"/>
            <a:chExt cx="1477327" cy="120015"/>
          </a:xfrm>
        </p:grpSpPr>
        <p:pic>
          <p:nvPicPr>
            <p:cNvPr id="31" name="New picture"/>
            <p:cNvPicPr/>
            <p:nvPr/>
          </p:nvPicPr>
          <p:blipFill>
            <a:blip>
              <a:extLst>
                <a:ext uri="{96DAC541-7B7A-43D3-8B79-37D633B846F1}">
                  <asvg:svgBlip xmlns:asvg="http://schemas.microsoft.com/office/drawing/2016/SVG/main" r:embed="rId5"/>
                </a:ext>
              </a:extLst>
            </a:blip>
            <a:stretch>
              <a:fillRect/>
            </a:stretch>
          </p:blipFill>
          <p:spPr>
            <a:xfrm>
              <a:off x="6780212" y="776605"/>
              <a:ext cx="120015" cy="120015"/>
            </a:xfrm>
            <a:prstGeom prst="rect">
              <a:avLst/>
            </a:prstGeom>
          </p:spPr>
        </p:pic>
        <p:sp>
          <p:nvSpPr>
            <p:cNvPr id="32"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3" name="Group 32"/>
          <p:cNvGrpSpPr/>
          <p:nvPr/>
        </p:nvGrpSpPr>
        <p:grpSpPr>
          <a:xfrm rot="18900000">
            <a:off x="7669674" y="929050"/>
            <a:ext cx="1477327" cy="120015"/>
            <a:chOff x="7294562" y="776605"/>
            <a:chExt cx="1477327"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7294562" y="776605"/>
              <a:ext cx="120015" cy="120015"/>
            </a:xfrm>
            <a:prstGeom prst="rect">
              <a:avLst/>
            </a:prstGeom>
          </p:spPr>
        </p:pic>
        <p:sp>
          <p:nvSpPr>
            <p:cNvPr id="35"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6"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37"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38"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9"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1"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2"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3"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4"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5"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24</a:t>
            </a:r>
          </a:p>
        </p:txBody>
      </p:sp>
      <p:sp>
        <p:nvSpPr>
          <p:cNvPr id="46"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Engagement</a:t>
            </a:r>
          </a:p>
        </p:txBody>
      </p:sp>
      <p:sp>
        <p:nvSpPr>
          <p:cNvPr id="10" name="New shape"/>
          <p:cNvSpPr txBox="1"/>
          <p:nvPr/>
        </p:nvSpPr>
        <p:spPr>
          <a:xfrm>
            <a:off x="457200" y="857250"/>
            <a:ext cx="4457700" cy="426053"/>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„Engagement" bezeichnet den Grad, zu dem Ihre Mitarbeitenden von ihrer Arbeit inspiriert sind und sich motiviert fühlen. Es bezieht sich auch darauf, ob sich die Mitarbeitenden mit dem Unternehmen verbunden fühlen.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70%</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79%</a:t>
            </a:r>
          </a:p>
        </p:txBody>
      </p:sp>
      <p:sp>
        <p:nvSpPr>
          <p:cNvPr id="18" name="New shape"/>
          <p:cNvSpPr txBox="1"/>
          <p:nvPr/>
        </p:nvSpPr>
        <p:spPr>
          <a:xfrm>
            <a:off x="7715250" y="1657350"/>
            <a:ext cx="514350" cy="34290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92%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Meine Arbeit </a:t>
                      </a:r>
                      <a:r>
                        <a:rPr sz="788" b="0" i="0" dirty="0" err="1">
                          <a:solidFill>
                            <a:srgbClr val="192743"/>
                          </a:solidFill>
                          <a:latin typeface="Poppins"/>
                        </a:rPr>
                        <a:t>macht</a:t>
                      </a:r>
                      <a:r>
                        <a:rPr sz="788" b="0" i="0" dirty="0">
                          <a:solidFill>
                            <a:srgbClr val="192743"/>
                          </a:solidFill>
                          <a:latin typeface="Poppins"/>
                        </a:rPr>
                        <a:t> mir </a:t>
                      </a:r>
                      <a:r>
                        <a:rPr sz="788" b="0" i="0" dirty="0" err="1">
                          <a:solidFill>
                            <a:srgbClr val="192743"/>
                          </a:solidFill>
                          <a:latin typeface="Poppins"/>
                        </a:rPr>
                        <a:t>Spaß</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Meine Arbeit motiviert mich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war </a:t>
                      </a:r>
                      <a:r>
                        <a:rPr sz="788" b="0" i="0" dirty="0" err="1">
                          <a:solidFill>
                            <a:srgbClr val="192743"/>
                          </a:solidFill>
                          <a:latin typeface="Poppins"/>
                        </a:rPr>
                        <a:t>stolz</a:t>
                      </a:r>
                      <a:r>
                        <a:rPr sz="788" b="0" i="0" dirty="0">
                          <a:solidFill>
                            <a:srgbClr val="192743"/>
                          </a:solidFill>
                          <a:latin typeface="Poppins"/>
                        </a:rPr>
                        <a:t> </a:t>
                      </a:r>
                      <a:r>
                        <a:rPr sz="788" b="0" i="0" dirty="0" err="1">
                          <a:solidFill>
                            <a:srgbClr val="192743"/>
                          </a:solidFill>
                          <a:latin typeface="Poppins"/>
                        </a:rPr>
                        <a:t>darauf</a:t>
                      </a:r>
                      <a:r>
                        <a:rPr sz="788" b="0" i="0" dirty="0">
                          <a:solidFill>
                            <a:srgbClr val="192743"/>
                          </a:solidFill>
                          <a:latin typeface="Poppins"/>
                        </a:rPr>
                        <a:t>, für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arbeiten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glaube</a:t>
                      </a:r>
                      <a:r>
                        <a:rPr sz="788" b="0" i="0" dirty="0">
                          <a:solidFill>
                            <a:srgbClr val="192743"/>
                          </a:solidFill>
                          <a:latin typeface="Poppins"/>
                        </a:rPr>
                        <a:t>, </a:t>
                      </a:r>
                      <a:r>
                        <a:rPr sz="788" b="0" i="0" dirty="0" err="1">
                          <a:solidFill>
                            <a:srgbClr val="192743"/>
                          </a:solidFill>
                          <a:latin typeface="Poppins"/>
                        </a:rPr>
                        <a:t>dass</a:t>
                      </a:r>
                      <a:r>
                        <a:rPr sz="788" b="0" i="0" dirty="0">
                          <a:solidFill>
                            <a:srgbClr val="192743"/>
                          </a:solidFill>
                          <a:latin typeface="Poppins"/>
                        </a:rPr>
                        <a:t> ich gut </a:t>
                      </a:r>
                      <a:r>
                        <a:rPr sz="788" b="0" i="0" dirty="0" err="1">
                          <a:solidFill>
                            <a:srgbClr val="192743"/>
                          </a:solidFill>
                          <a:latin typeface="Poppins"/>
                        </a:rPr>
                        <a:t>zu</a:t>
                      </a:r>
                      <a:r>
                        <a:rPr sz="788" b="0" i="0" dirty="0">
                          <a:solidFill>
                            <a:srgbClr val="192743"/>
                          </a:solidFill>
                          <a:latin typeface="Poppins"/>
                        </a:rPr>
                        <a:t> </a:t>
                      </a:r>
                      <a:r>
                        <a:rPr lang="en-US" sz="788" b="0" i="0" dirty="0">
                          <a:solidFill>
                            <a:srgbClr val="192743"/>
                          </a:solidFill>
                          <a:latin typeface="Poppins"/>
                        </a:rPr>
                        <a:t>Novanta B.V.</a:t>
                      </a:r>
                      <a:r>
                        <a:rPr sz="788" b="0" i="0" dirty="0">
                          <a:solidFill>
                            <a:srgbClr val="192743"/>
                          </a:solidFill>
                          <a:latin typeface="Poppins"/>
                        </a:rPr>
                        <a:t> passe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Veränderung gestalten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„Veränderung gestalten" zielt darauf ab, die Mitarbeitenden darüber zu informieren, welche Änderungen notwendig sind, weshalb diese durchgeführt werden und wie genau. Wenn ausreichend informiert wird, können Mitarbeitende auch Vertrauen entwickeln und Unterstützung für die notwendigen Änderungen zeigen.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74%</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75%</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85%</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habe Vertrauen in meine Führungskraft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Mitarbeiter führen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„Mitarbeiter führen" bezieht sich darauf, ob die Mitarbeitenden die Erwartungen des Unternehmens kennen und ihre Expertise und ihre Fähigkeiten entsprechend anwenden können. Dazu gehören konstruktives Feedback und Anerkennung, um zu zeigen, dass gute Leistungen im Unternehmen anerkannt und belohnt werden.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69%</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Meine </a:t>
                      </a:r>
                      <a:r>
                        <a:rPr sz="788" b="0" i="0" dirty="0" err="1">
                          <a:solidFill>
                            <a:srgbClr val="192743"/>
                          </a:solidFill>
                          <a:latin typeface="Poppins"/>
                        </a:rPr>
                        <a:t>Fähigkeiten</a:t>
                      </a:r>
                      <a:r>
                        <a:rPr sz="788" b="0" i="0" dirty="0">
                          <a:solidFill>
                            <a:srgbClr val="192743"/>
                          </a:solidFill>
                          <a:latin typeface="Poppins"/>
                        </a:rPr>
                        <a:t> und </a:t>
                      </a:r>
                      <a:r>
                        <a:rPr sz="788" b="0" i="0" dirty="0" err="1">
                          <a:solidFill>
                            <a:srgbClr val="192743"/>
                          </a:solidFill>
                          <a:latin typeface="Poppins"/>
                        </a:rPr>
                        <a:t>Kenntnisse</a:t>
                      </a:r>
                      <a:r>
                        <a:rPr sz="788" b="0" i="0" dirty="0">
                          <a:solidFill>
                            <a:srgbClr val="192743"/>
                          </a:solidFill>
                          <a:latin typeface="Poppins"/>
                        </a:rPr>
                        <a:t> </a:t>
                      </a:r>
                      <a:r>
                        <a:rPr sz="788" b="0" i="0" dirty="0" err="1">
                          <a:solidFill>
                            <a:srgbClr val="192743"/>
                          </a:solidFill>
                          <a:latin typeface="Poppins"/>
                        </a:rPr>
                        <a:t>passen</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meinem</a:t>
                      </a:r>
                      <a:r>
                        <a:rPr sz="788" b="0" i="0" dirty="0">
                          <a:solidFill>
                            <a:srgbClr val="192743"/>
                          </a:solidFill>
                          <a:latin typeface="Poppins"/>
                        </a:rPr>
                        <a:t>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Systeme managen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Gut verwaltete Systeme bieten Mitarbeitenden die notwendigen Arbeitsbedingungen, um die von ihnen erwartete Leistung zu erreichen. Dazu gehören entsprechende Arbeitsinstrumente, effektive Arbeitsprozesse, eine gute Zusammenarbeit auf verschiedenen Ebenen und Entwicklungsmöglichkeiten.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73%</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67%</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78%</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8117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a:t>
                      </a:r>
                      <a:r>
                        <a:rPr sz="788" b="0" i="0" dirty="0" err="1">
                          <a:solidFill>
                            <a:srgbClr val="192743"/>
                          </a:solidFill>
                          <a:latin typeface="Poppins"/>
                        </a:rPr>
                        <a:t>habe</a:t>
                      </a:r>
                      <a:r>
                        <a:rPr sz="788" b="0" i="0" dirty="0">
                          <a:solidFill>
                            <a:srgbClr val="192743"/>
                          </a:solidFill>
                          <a:latin typeface="Poppins"/>
                        </a:rPr>
                        <a:t> die </a:t>
                      </a:r>
                      <a:r>
                        <a:rPr sz="788" b="0" i="0" dirty="0" err="1">
                          <a:solidFill>
                            <a:srgbClr val="192743"/>
                          </a:solidFill>
                          <a:latin typeface="Poppins"/>
                        </a:rPr>
                        <a:t>Arbeitsmittel</a:t>
                      </a:r>
                      <a:r>
                        <a:rPr sz="788" b="0" i="0" dirty="0">
                          <a:solidFill>
                            <a:srgbClr val="192743"/>
                          </a:solidFill>
                          <a:latin typeface="Poppins"/>
                        </a:rPr>
                        <a:t>, die ich </a:t>
                      </a:r>
                      <a:r>
                        <a:rPr sz="788" b="0" i="0" dirty="0" err="1">
                          <a:solidFill>
                            <a:srgbClr val="192743"/>
                          </a:solidFill>
                          <a:latin typeface="Poppins"/>
                        </a:rPr>
                        <a:t>brauche</a:t>
                      </a:r>
                      <a:r>
                        <a:rPr sz="788" b="0" i="0" dirty="0">
                          <a:solidFill>
                            <a:srgbClr val="192743"/>
                          </a:solidFill>
                          <a:latin typeface="Poppins"/>
                        </a:rPr>
                        <a:t>, um </a:t>
                      </a:r>
                      <a:r>
                        <a:rPr sz="788" b="0" i="0" dirty="0" err="1">
                          <a:solidFill>
                            <a:srgbClr val="192743"/>
                          </a:solidFill>
                          <a:latin typeface="Poppins"/>
                        </a:rPr>
                        <a:t>gute</a:t>
                      </a:r>
                      <a:r>
                        <a:rPr sz="788" b="0" i="0" dirty="0">
                          <a:solidFill>
                            <a:srgbClr val="192743"/>
                          </a:solidFill>
                          <a:latin typeface="Poppins"/>
                        </a:rPr>
                        <a:t> Arbeit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leisten</a:t>
                      </a:r>
                      <a:r>
                        <a:rPr sz="788" b="0" i="0" dirty="0">
                          <a:solidFill>
                            <a:srgbClr val="192743"/>
                          </a:solidFill>
                          <a:latin typeface="Poppins"/>
                        </a:rPr>
                        <a:t>  (</a:t>
                      </a:r>
                      <a:r>
                        <a:rPr sz="788" b="0" i="0" dirty="0" err="1">
                          <a:solidFill>
                            <a:srgbClr val="192743"/>
                          </a:solidFill>
                          <a:latin typeface="Poppins"/>
                        </a:rPr>
                        <a:t>z.B.</a:t>
                      </a:r>
                      <a:r>
                        <a:rPr sz="788" b="0" i="0" dirty="0">
                          <a:solidFill>
                            <a:srgbClr val="192743"/>
                          </a:solidFill>
                          <a:latin typeface="Poppins"/>
                        </a:rPr>
                        <a:t> </a:t>
                      </a:r>
                      <a:r>
                        <a:rPr sz="788" b="0" i="0" dirty="0" err="1">
                          <a:solidFill>
                            <a:srgbClr val="192743"/>
                          </a:solidFill>
                          <a:latin typeface="Poppins"/>
                        </a:rPr>
                        <a:t>Werkzeuge</a:t>
                      </a:r>
                      <a:r>
                        <a:rPr sz="788" b="0" i="0" dirty="0">
                          <a:solidFill>
                            <a:srgbClr val="192743"/>
                          </a:solidFill>
                          <a:latin typeface="Poppins"/>
                        </a:rPr>
                        <a:t>, </a:t>
                      </a:r>
                      <a:r>
                        <a:rPr sz="788" b="0" i="0" dirty="0" err="1">
                          <a:solidFill>
                            <a:srgbClr val="192743"/>
                          </a:solidFill>
                          <a:latin typeface="Poppins"/>
                        </a:rPr>
                        <a:t>Geräte</a:t>
                      </a:r>
                      <a:r>
                        <a:rPr sz="788" b="0" i="0" dirty="0">
                          <a:solidFill>
                            <a:srgbClr val="192743"/>
                          </a:solidFill>
                          <a:latin typeface="Poppins"/>
                        </a:rPr>
                        <a:t>, Software, </a:t>
                      </a:r>
                      <a:r>
                        <a:rPr sz="788" b="0" i="0" dirty="0" err="1">
                          <a:solidFill>
                            <a:srgbClr val="192743"/>
                          </a:solidFill>
                          <a:latin typeface="Poppins"/>
                        </a:rPr>
                        <a:t>Materialien</a:t>
                      </a:r>
                      <a:r>
                        <a:rPr sz="788" b="0" i="0" dirty="0">
                          <a:solidFill>
                            <a:srgbClr val="192743"/>
                          </a:solidFill>
                          <a:latin typeface="Poppins"/>
                        </a:rPr>
                        <a:t>, </a:t>
                      </a:r>
                      <a:r>
                        <a:rPr sz="788" b="0" i="0" dirty="0" err="1">
                          <a:solidFill>
                            <a:srgbClr val="192743"/>
                          </a:solidFill>
                          <a:latin typeface="Poppins"/>
                        </a:rPr>
                        <a:t>usw</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Qualität des Leistungsumfeldes</a:t>
            </a:r>
          </a:p>
        </p:txBody>
      </p:sp>
      <p:sp>
        <p:nvSpPr>
          <p:cNvPr id="10" name="New shape"/>
          <p:cNvSpPr txBox="1"/>
          <p:nvPr/>
        </p:nvSpPr>
        <p:spPr>
          <a:xfrm>
            <a:off x="457200" y="857250"/>
            <a:ext cx="4457700" cy="426053"/>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Die Qualität des Leistungsumfelds bezieht sich auf die Möglichkeiten für Mitarbeitende, möglichst effizient und effektiv zu arbeiten. Ein Leistungsumfeld von guter Qualität bietet die richtigen Voraussetzungen für eine optimale Leistung.</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a:t>
                      </a:r>
                      <a:r>
                        <a:rPr sz="788" b="0" i="0" dirty="0" err="1">
                          <a:solidFill>
                            <a:srgbClr val="192743"/>
                          </a:solidFill>
                          <a:latin typeface="Poppins"/>
                        </a:rPr>
                        <a:t>habe</a:t>
                      </a:r>
                      <a:r>
                        <a:rPr sz="788" b="0" i="0" dirty="0">
                          <a:solidFill>
                            <a:srgbClr val="192743"/>
                          </a:solidFill>
                          <a:latin typeface="Poppins"/>
                        </a:rPr>
                        <a:t> die </a:t>
                      </a:r>
                      <a:r>
                        <a:rPr sz="788" b="0" i="0" dirty="0" err="1">
                          <a:solidFill>
                            <a:srgbClr val="192743"/>
                          </a:solidFill>
                          <a:latin typeface="Poppins"/>
                        </a:rPr>
                        <a:t>Arbeitsmittel</a:t>
                      </a:r>
                      <a:r>
                        <a:rPr sz="788" b="0" i="0" dirty="0">
                          <a:solidFill>
                            <a:srgbClr val="192743"/>
                          </a:solidFill>
                          <a:latin typeface="Poppins"/>
                        </a:rPr>
                        <a:t>, die ich </a:t>
                      </a:r>
                      <a:r>
                        <a:rPr sz="788" b="0" i="0" dirty="0" err="1">
                          <a:solidFill>
                            <a:srgbClr val="192743"/>
                          </a:solidFill>
                          <a:latin typeface="Poppins"/>
                        </a:rPr>
                        <a:t>brauche</a:t>
                      </a:r>
                      <a:r>
                        <a:rPr sz="788" b="0" i="0" dirty="0">
                          <a:solidFill>
                            <a:srgbClr val="192743"/>
                          </a:solidFill>
                          <a:latin typeface="Poppins"/>
                        </a:rPr>
                        <a:t>, um </a:t>
                      </a:r>
                      <a:r>
                        <a:rPr sz="788" b="0" i="0" dirty="0" err="1">
                          <a:solidFill>
                            <a:srgbClr val="192743"/>
                          </a:solidFill>
                          <a:latin typeface="Poppins"/>
                        </a:rPr>
                        <a:t>gute</a:t>
                      </a:r>
                      <a:r>
                        <a:rPr sz="788" b="0" i="0" dirty="0">
                          <a:solidFill>
                            <a:srgbClr val="192743"/>
                          </a:solidFill>
                          <a:latin typeface="Poppins"/>
                        </a:rPr>
                        <a:t> Arbeit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leisten</a:t>
                      </a:r>
                      <a:r>
                        <a:rPr sz="788" b="0" i="0" dirty="0">
                          <a:solidFill>
                            <a:srgbClr val="192743"/>
                          </a:solidFill>
                          <a:latin typeface="Poppins"/>
                        </a:rPr>
                        <a:t>  (</a:t>
                      </a:r>
                      <a:r>
                        <a:rPr sz="788" b="0" i="0" dirty="0" err="1">
                          <a:solidFill>
                            <a:srgbClr val="192743"/>
                          </a:solidFill>
                          <a:latin typeface="Poppins"/>
                        </a:rPr>
                        <a:t>z.B.</a:t>
                      </a:r>
                      <a:r>
                        <a:rPr sz="788" b="0" i="0" dirty="0">
                          <a:solidFill>
                            <a:srgbClr val="192743"/>
                          </a:solidFill>
                          <a:latin typeface="Poppins"/>
                        </a:rPr>
                        <a:t> </a:t>
                      </a:r>
                      <a:r>
                        <a:rPr sz="788" b="0" i="0" dirty="0" err="1">
                          <a:solidFill>
                            <a:srgbClr val="192743"/>
                          </a:solidFill>
                          <a:latin typeface="Poppins"/>
                        </a:rPr>
                        <a:t>Werkzeuge</a:t>
                      </a:r>
                      <a:r>
                        <a:rPr sz="788" b="0" i="0" dirty="0">
                          <a:solidFill>
                            <a:srgbClr val="192743"/>
                          </a:solidFill>
                          <a:latin typeface="Poppins"/>
                        </a:rPr>
                        <a:t>, </a:t>
                      </a:r>
                      <a:r>
                        <a:rPr sz="788" b="0" i="0" dirty="0" err="1">
                          <a:solidFill>
                            <a:srgbClr val="192743"/>
                          </a:solidFill>
                          <a:latin typeface="Poppins"/>
                        </a:rPr>
                        <a:t>Geräte</a:t>
                      </a:r>
                      <a:r>
                        <a:rPr sz="788" b="0" i="0" dirty="0">
                          <a:solidFill>
                            <a:srgbClr val="192743"/>
                          </a:solidFill>
                          <a:latin typeface="Poppins"/>
                        </a:rPr>
                        <a:t>, Software, </a:t>
                      </a:r>
                      <a:r>
                        <a:rPr sz="788" b="0" i="0" dirty="0" err="1">
                          <a:solidFill>
                            <a:srgbClr val="192743"/>
                          </a:solidFill>
                          <a:latin typeface="Poppins"/>
                        </a:rPr>
                        <a:t>Materialien</a:t>
                      </a:r>
                      <a:r>
                        <a:rPr sz="788" b="0" i="0" dirty="0">
                          <a:solidFill>
                            <a:srgbClr val="192743"/>
                          </a:solidFill>
                          <a:latin typeface="Poppins"/>
                        </a:rPr>
                        <a:t>, </a:t>
                      </a:r>
                      <a:r>
                        <a:rPr sz="788" b="0" i="0" dirty="0" err="1">
                          <a:solidFill>
                            <a:srgbClr val="192743"/>
                          </a:solidFill>
                          <a:latin typeface="Poppins"/>
                        </a:rPr>
                        <a:t>usw</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Fähigkeiten und Kenntnisse passen zu meinem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Qualität des Leistungsumfeldes</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21"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22"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23"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29" name="New Table"/>
          <p:cNvGraphicFramePr>
            <a:graphicFrameLocks noGrp="1"/>
          </p:cNvGraphicFramePr>
          <p:nvPr/>
        </p:nvGraphicFramePr>
        <p:xfrm>
          <a:off x="457200" y="2114550"/>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a:t>
                      </a:r>
                      <a:r>
                        <a:rPr sz="788" b="0" i="0" dirty="0" err="1">
                          <a:solidFill>
                            <a:srgbClr val="192743"/>
                          </a:solidFill>
                          <a:latin typeface="Poppins"/>
                        </a:rPr>
                        <a:t>habe</a:t>
                      </a:r>
                      <a:r>
                        <a:rPr sz="788" b="0" i="0" dirty="0">
                          <a:solidFill>
                            <a:srgbClr val="192743"/>
                          </a:solidFill>
                          <a:latin typeface="Poppins"/>
                        </a:rPr>
                        <a:t> </a:t>
                      </a:r>
                      <a:r>
                        <a:rPr sz="788" b="0" i="0" dirty="0" err="1">
                          <a:solidFill>
                            <a:srgbClr val="192743"/>
                          </a:solidFill>
                          <a:latin typeface="Poppins"/>
                        </a:rPr>
                        <a:t>Vertrauen</a:t>
                      </a:r>
                      <a:r>
                        <a:rPr sz="788" b="0" i="0" dirty="0">
                          <a:solidFill>
                            <a:srgbClr val="192743"/>
                          </a:solidFill>
                          <a:latin typeface="Poppins"/>
                        </a:rPr>
                        <a:t> in </a:t>
                      </a:r>
                      <a:r>
                        <a:rPr sz="788" b="0" i="0" dirty="0" err="1">
                          <a:solidFill>
                            <a:srgbClr val="192743"/>
                          </a:solidFill>
                          <a:latin typeface="Poppins"/>
                        </a:rPr>
                        <a:t>meine</a:t>
                      </a:r>
                      <a:r>
                        <a:rPr sz="788" b="0" i="0" dirty="0">
                          <a:solidFill>
                            <a:srgbClr val="192743"/>
                          </a:solidFill>
                          <a:latin typeface="Poppins"/>
                        </a:rPr>
                        <a:t> </a:t>
                      </a:r>
                      <a:r>
                        <a:rPr sz="788" b="0" i="0" dirty="0" err="1">
                          <a:solidFill>
                            <a:srgbClr val="192743"/>
                          </a:solidFill>
                          <a:latin typeface="Poppins"/>
                        </a:rPr>
                        <a:t>Führungskraft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40" name="Group 39"/>
          <p:cNvGrpSpPr/>
          <p:nvPr/>
        </p:nvGrpSpPr>
        <p:grpSpPr>
          <a:xfrm rot="18900000">
            <a:off x="6580966" y="826180"/>
            <a:ext cx="1477328" cy="240030"/>
            <a:chOff x="6265862" y="673735"/>
            <a:chExt cx="1477328" cy="240030"/>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673735"/>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Qualität des Leistungsumfeldes</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21"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22"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23"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29"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40" name="Group 39"/>
          <p:cNvGrpSpPr/>
          <p:nvPr/>
        </p:nvGrpSpPr>
        <p:grpSpPr>
          <a:xfrm rot="18900000">
            <a:off x="6580966" y="826180"/>
            <a:ext cx="1477328" cy="240030"/>
            <a:chOff x="6265862" y="673735"/>
            <a:chExt cx="1477328" cy="240030"/>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673735"/>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Richtung geben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„Richtung geben" zielt darauf ab, Mitarbeitende für die Vision des Unternehmens zu begeistern, mit der Strategie des Unternehmens vertraut zu machen und von der Strategie überzeugt zu sein. Weiterhin sollen sich Mitarbeitende innerhalb des gesamten „Ökosystems“ ihres Unternehmens fair und gerecht behandelt zu fühlen.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68%</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Fragenergebnisse</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dirty="0">
                <a:solidFill>
                  <a:srgbClr val="000000"/>
                </a:solidFill>
                <a:latin typeface="Poppins"/>
              </a:rPr>
              <a:t>Die </a:t>
            </a:r>
            <a:r>
              <a:rPr sz="1350" b="0" i="0" dirty="0" err="1">
                <a:solidFill>
                  <a:srgbClr val="000000"/>
                </a:solidFill>
                <a:latin typeface="Poppins"/>
              </a:rPr>
              <a:t>folgenden</a:t>
            </a:r>
            <a:r>
              <a:rPr sz="1350" b="0" i="0" dirty="0">
                <a:solidFill>
                  <a:srgbClr val="000000"/>
                </a:solidFill>
                <a:latin typeface="Poppins"/>
              </a:rPr>
              <a:t> </a:t>
            </a:r>
            <a:r>
              <a:rPr sz="1350" b="0" i="0" dirty="0" err="1">
                <a:solidFill>
                  <a:srgbClr val="000000"/>
                </a:solidFill>
                <a:latin typeface="Poppins"/>
              </a:rPr>
              <a:t>Fragen</a:t>
            </a:r>
            <a:r>
              <a:rPr sz="1350" b="0" i="0" dirty="0">
                <a:solidFill>
                  <a:srgbClr val="000000"/>
                </a:solidFill>
                <a:latin typeface="Poppins"/>
              </a:rPr>
              <a:t> und </a:t>
            </a:r>
            <a:r>
              <a:rPr sz="1350" b="0" i="0" dirty="0" err="1">
                <a:solidFill>
                  <a:srgbClr val="000000"/>
                </a:solidFill>
                <a:latin typeface="Poppins"/>
              </a:rPr>
              <a:t>deren</a:t>
            </a:r>
            <a:r>
              <a:rPr sz="1350" b="0" i="0" dirty="0">
                <a:solidFill>
                  <a:srgbClr val="000000"/>
                </a:solidFill>
                <a:latin typeface="Poppins"/>
              </a:rPr>
              <a:t> </a:t>
            </a:r>
            <a:r>
              <a:rPr sz="1350" b="0" i="0" dirty="0" err="1">
                <a:solidFill>
                  <a:srgbClr val="000000"/>
                </a:solidFill>
                <a:latin typeface="Poppins"/>
              </a:rPr>
              <a:t>Ergebnisse</a:t>
            </a:r>
            <a:r>
              <a:rPr sz="1350" b="0" i="0" dirty="0">
                <a:solidFill>
                  <a:srgbClr val="000000"/>
                </a:solidFill>
                <a:latin typeface="Poppins"/>
              </a:rPr>
              <a:t> </a:t>
            </a:r>
            <a:r>
              <a:rPr sz="1350" b="0" i="0" dirty="0" err="1">
                <a:solidFill>
                  <a:srgbClr val="000000"/>
                </a:solidFill>
                <a:latin typeface="Poppins"/>
              </a:rPr>
              <a:t>werden</a:t>
            </a:r>
            <a:r>
              <a:rPr sz="1350" b="0" i="0" dirty="0">
                <a:solidFill>
                  <a:srgbClr val="000000"/>
                </a:solidFill>
                <a:latin typeface="Poppins"/>
              </a:rPr>
              <a:t> </a:t>
            </a:r>
            <a:r>
              <a:rPr sz="1350" b="0" i="0" dirty="0" err="1">
                <a:solidFill>
                  <a:srgbClr val="000000"/>
                </a:solidFill>
                <a:latin typeface="Poppins"/>
              </a:rPr>
              <a:t>nach</a:t>
            </a:r>
            <a:r>
              <a:rPr sz="1350" b="0" i="0" dirty="0">
                <a:solidFill>
                  <a:srgbClr val="000000"/>
                </a:solidFill>
                <a:latin typeface="Poppins"/>
              </a:rPr>
              <a:t> </a:t>
            </a:r>
            <a:r>
              <a:rPr sz="1350" b="0" i="0" dirty="0" err="1">
                <a:solidFill>
                  <a:srgbClr val="000000"/>
                </a:solidFill>
                <a:latin typeface="Poppins"/>
              </a:rPr>
              <a:t>spezifischen</a:t>
            </a:r>
            <a:r>
              <a:rPr sz="1350" b="0" i="0" dirty="0">
                <a:solidFill>
                  <a:srgbClr val="000000"/>
                </a:solidFill>
                <a:latin typeface="Poppins"/>
              </a:rPr>
              <a:t> </a:t>
            </a:r>
            <a:r>
              <a:rPr sz="1350" b="0" i="0" dirty="0" err="1">
                <a:solidFill>
                  <a:srgbClr val="000000"/>
                </a:solidFill>
                <a:latin typeface="Poppins"/>
              </a:rPr>
              <a:t>Themen</a:t>
            </a:r>
            <a:r>
              <a:rPr sz="1350" b="0" i="0" dirty="0">
                <a:solidFill>
                  <a:srgbClr val="000000"/>
                </a:solidFill>
                <a:latin typeface="Poppins"/>
              </a:rPr>
              <a:t> </a:t>
            </a:r>
            <a:r>
              <a:rPr sz="1350" b="0" i="0" dirty="0" err="1">
                <a:solidFill>
                  <a:srgbClr val="000000"/>
                </a:solidFill>
                <a:latin typeface="Poppins"/>
              </a:rPr>
              <a:t>kategorisiert</a:t>
            </a:r>
            <a:r>
              <a:rPr sz="1350" b="0" i="0" dirty="0">
                <a:solidFill>
                  <a:srgbClr val="000000"/>
                </a:solidFill>
                <a:latin typeface="Poppins"/>
              </a:rPr>
              <a:t>, die für </a:t>
            </a:r>
            <a:r>
              <a:rPr lang="en-US" sz="1350" b="0" i="0" dirty="0">
                <a:solidFill>
                  <a:srgbClr val="000000"/>
                </a:solidFill>
                <a:latin typeface="Poppins"/>
              </a:rPr>
              <a:t>Novanta B.V.</a:t>
            </a:r>
            <a:r>
              <a:rPr sz="1350" b="0" i="0" dirty="0">
                <a:solidFill>
                  <a:srgbClr val="000000"/>
                </a:solidFill>
                <a:latin typeface="Poppins"/>
              </a:rPr>
              <a:t> relevant </a:t>
            </a:r>
            <a:r>
              <a:rPr sz="1350" b="0" i="0" dirty="0" err="1">
                <a:solidFill>
                  <a:srgbClr val="000000"/>
                </a:solidFill>
                <a:latin typeface="Poppins"/>
              </a:rPr>
              <a:t>sind</a:t>
            </a:r>
            <a:r>
              <a:rPr sz="1350" b="0" i="0" dirty="0">
                <a:solidFill>
                  <a:srgbClr val="000000"/>
                </a:solidFill>
                <a:latin typeface="Poppins"/>
              </a:rPr>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Spaß an der Arbeit</a:t>
            </a:r>
          </a:p>
        </p:txBody>
      </p:sp>
      <p:sp>
        <p:nvSpPr>
          <p:cNvPr id="3"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Meine Arbeit macht mir Spaß</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5134921" y="859102"/>
            <a:ext cx="1471613" cy="240649"/>
            <a:chOff x="472281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15"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936193"/>
            <a:ext cx="1477327" cy="120015"/>
            <a:chOff x="5237162" y="78374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19"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0" name="Group 19"/>
          <p:cNvGrpSpPr/>
          <p:nvPr/>
        </p:nvGrpSpPr>
        <p:grpSpPr>
          <a:xfrm rot="18900000">
            <a:off x="6126624" y="936193"/>
            <a:ext cx="1477328" cy="120015"/>
            <a:chOff x="5751512" y="78374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2"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3" name="Group 22"/>
          <p:cNvGrpSpPr/>
          <p:nvPr/>
        </p:nvGrpSpPr>
        <p:grpSpPr>
          <a:xfrm rot="18900000">
            <a:off x="6580966" y="876186"/>
            <a:ext cx="1477328" cy="240030"/>
            <a:chOff x="6265862" y="723741"/>
            <a:chExt cx="1477328" cy="240030"/>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25"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26" name="Group 25"/>
          <p:cNvGrpSpPr/>
          <p:nvPr/>
        </p:nvGrpSpPr>
        <p:grpSpPr>
          <a:xfrm rot="18900000">
            <a:off x="7155324" y="936193"/>
            <a:ext cx="1477327" cy="120015"/>
            <a:chOff x="6780212" y="78374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28"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936193"/>
            <a:ext cx="1477327" cy="120015"/>
            <a:chOff x="7294562" y="78374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1"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34</a:t>
            </a:r>
          </a:p>
        </p:txBody>
      </p:sp>
      <p:sp>
        <p:nvSpPr>
          <p:cNvPr id="3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Arbeitsmöglichkeiten</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habe die Arbeitsmittel, die ich brauche, um gute Arbeit zu leisten  (z.B. Werkzeuge, Geräte, Software, Materialien, usw.)</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Arbeitsleistung</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Meine Fähigkeiten und Kenntnisse passen zu meinem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Bei der Arbeit fühle ich mich fit und tatkräftig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kann mein Berufs- und Privatleben gut miteinander vereinbaren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habe ausreichend Zeit, um meine Arbeit ordnungsgemäß zu erledigen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Meine Arbeit motiviert mich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Meine Arbeitsbelastung ist</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Viel 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Genau richtig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Viel 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Ich kann meine Arbeitsbelastung gut bewältigen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Bei der Arbeit gelingt es mir, mit Stress effektiv umzugehen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33323"/>
            <a:ext cx="1477328" cy="240030"/>
            <a:chOff x="6265862" y="680879"/>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680879"/>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(3)</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bin in der Lage, ein gutes Gleichgewicht zwischen Arbeit und Erholung zu halten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bin zuversichtlich, dass ich in den nächsten drei Monaten so weiterarbeiten kann wie jetzt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Bei der Arbeit vergeht die Zeit wie im Flug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habe im vergangenen Jahr unerwünschtes Verhalten von Kolleginnen oder Kollegen erlebt (z.B. verbale Aggression, Gewalt,sexuelle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33323"/>
            <a:ext cx="1477328" cy="240030"/>
            <a:chOff x="6265862" y="680879"/>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680879"/>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(4)</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habe im vergangenen Jahr unerwünschtes Verhalten von Kundinnen oder Kunden erlebt (z. B. verbale Aggression, Gewalt, 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33323"/>
            <a:ext cx="1477328" cy="240030"/>
            <a:chOff x="6265862" y="680879"/>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680879"/>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Zusammenarbeit und Leistung im Team</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Teamleitung</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habe Vertrauen in meine Führungskraft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Unternehmensstrategie</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Unternehmenskommunikation und Zusammenarbeit</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Unternehmenskultur</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a:t>
                      </a:r>
                      <a:r>
                        <a:rPr sz="788" b="0" i="0" dirty="0" err="1">
                          <a:solidFill>
                            <a:srgbClr val="192743"/>
                          </a:solidFill>
                          <a:latin typeface="Poppins"/>
                        </a:rPr>
                        <a:t>ein</a:t>
                      </a:r>
                      <a:r>
                        <a:rPr sz="788" b="0" i="0" dirty="0">
                          <a:solidFill>
                            <a:srgbClr val="192743"/>
                          </a:solidFill>
                          <a:latin typeface="Poppins"/>
                        </a:rPr>
                        <a:t> </a:t>
                      </a:r>
                      <a:r>
                        <a:rPr sz="788" b="0" i="0" dirty="0" err="1">
                          <a:solidFill>
                            <a:srgbClr val="192743"/>
                          </a:solidFill>
                          <a:latin typeface="Poppins"/>
                        </a:rPr>
                        <a:t>guter</a:t>
                      </a:r>
                      <a:r>
                        <a:rPr sz="788" b="0" i="0" dirty="0">
                          <a:solidFill>
                            <a:srgbClr val="192743"/>
                          </a:solidFill>
                          <a:latin typeface="Poppins"/>
                        </a:rPr>
                        <a:t> </a:t>
                      </a:r>
                      <a:r>
                        <a:rPr sz="788" b="0" i="0" dirty="0" err="1">
                          <a:solidFill>
                            <a:srgbClr val="192743"/>
                          </a:solidFill>
                          <a:latin typeface="Poppins"/>
                        </a:rPr>
                        <a:t>Arbeitgeber</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Ich war </a:t>
                      </a:r>
                      <a:r>
                        <a:rPr sz="788" b="0" i="0" dirty="0" err="1">
                          <a:solidFill>
                            <a:srgbClr val="192743"/>
                          </a:solidFill>
                          <a:latin typeface="Poppins"/>
                        </a:rPr>
                        <a:t>stolz</a:t>
                      </a:r>
                      <a:r>
                        <a:rPr sz="788" b="0" i="0" dirty="0">
                          <a:solidFill>
                            <a:srgbClr val="192743"/>
                          </a:solidFill>
                          <a:latin typeface="Poppins"/>
                        </a:rPr>
                        <a:t> </a:t>
                      </a:r>
                      <a:r>
                        <a:rPr sz="788" b="0" i="0" dirty="0" err="1">
                          <a:solidFill>
                            <a:srgbClr val="192743"/>
                          </a:solidFill>
                          <a:latin typeface="Poppins"/>
                        </a:rPr>
                        <a:t>darauf</a:t>
                      </a:r>
                      <a:r>
                        <a:rPr sz="788" b="0" i="0" dirty="0">
                          <a:solidFill>
                            <a:srgbClr val="192743"/>
                          </a:solidFill>
                          <a:latin typeface="Poppins"/>
                        </a:rPr>
                        <a:t>, für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arbeiten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glaube</a:t>
                      </a:r>
                      <a:r>
                        <a:rPr sz="788" b="0" i="0" dirty="0">
                          <a:solidFill>
                            <a:srgbClr val="192743"/>
                          </a:solidFill>
                          <a:latin typeface="Poppins"/>
                        </a:rPr>
                        <a:t>, </a:t>
                      </a:r>
                      <a:r>
                        <a:rPr sz="788" b="0" i="0" dirty="0" err="1">
                          <a:solidFill>
                            <a:srgbClr val="192743"/>
                          </a:solidFill>
                          <a:latin typeface="Poppins"/>
                        </a:rPr>
                        <a:t>dass</a:t>
                      </a:r>
                      <a:r>
                        <a:rPr sz="788" b="0" i="0" dirty="0">
                          <a:solidFill>
                            <a:srgbClr val="192743"/>
                          </a:solidFill>
                          <a:latin typeface="Poppins"/>
                        </a:rPr>
                        <a:t> ich gut </a:t>
                      </a:r>
                      <a:r>
                        <a:rPr sz="788" b="0" i="0" dirty="0" err="1">
                          <a:solidFill>
                            <a:srgbClr val="192743"/>
                          </a:solidFill>
                          <a:latin typeface="Poppins"/>
                        </a:rPr>
                        <a:t>zu</a:t>
                      </a:r>
                      <a:r>
                        <a:rPr sz="788" b="0" i="0" dirty="0">
                          <a:solidFill>
                            <a:srgbClr val="192743"/>
                          </a:solidFill>
                          <a:latin typeface="Poppins"/>
                        </a:rPr>
                        <a:t> </a:t>
                      </a:r>
                      <a:r>
                        <a:rPr lang="en-US" sz="788" b="0" i="0" dirty="0">
                          <a:solidFill>
                            <a:srgbClr val="192743"/>
                          </a:solidFill>
                          <a:latin typeface="Poppins"/>
                        </a:rPr>
                        <a:t>Novanta B.V.</a:t>
                      </a:r>
                      <a:r>
                        <a:rPr sz="788" b="0" i="0" dirty="0">
                          <a:solidFill>
                            <a:srgbClr val="192743"/>
                          </a:solidFill>
                          <a:latin typeface="Poppins"/>
                        </a:rPr>
                        <a:t> passe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fühlte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Mitarbeiter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wertgeschätzt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und Maßnahmen</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nutzt</a:t>
                      </a:r>
                      <a:r>
                        <a:rPr sz="788" b="0" i="0" dirty="0">
                          <a:solidFill>
                            <a:srgbClr val="192743"/>
                          </a:solidFill>
                          <a:latin typeface="Poppins"/>
                        </a:rPr>
                        <a:t> Ideen und </a:t>
                      </a:r>
                      <a:r>
                        <a:rPr sz="788" b="0" i="0" dirty="0" err="1">
                          <a:solidFill>
                            <a:srgbClr val="192743"/>
                          </a:solidFill>
                          <a:latin typeface="Poppins"/>
                        </a:rPr>
                        <a:t>Vorschläge</a:t>
                      </a:r>
                      <a:r>
                        <a:rPr sz="788" b="0" i="0" dirty="0">
                          <a:solidFill>
                            <a:srgbClr val="192743"/>
                          </a:solidFill>
                          <a:latin typeface="Poppins"/>
                        </a:rPr>
                        <a:t> der </a:t>
                      </a:r>
                      <a:r>
                        <a:rPr sz="788" b="0" i="0" dirty="0" err="1">
                          <a:solidFill>
                            <a:srgbClr val="192743"/>
                          </a:solidFill>
                          <a:latin typeface="Poppins"/>
                        </a:rPr>
                        <a:t>Mitarbeitenden</a:t>
                      </a:r>
                      <a:r>
                        <a:rPr sz="788" b="0" i="0" dirty="0">
                          <a:solidFill>
                            <a:srgbClr val="192743"/>
                          </a:solidFill>
                          <a:latin typeface="Poppins"/>
                        </a:rPr>
                        <a:t> für </a:t>
                      </a:r>
                      <a:r>
                        <a:rPr sz="788" b="0" i="0" dirty="0" err="1">
                          <a:solidFill>
                            <a:srgbClr val="192743"/>
                          </a:solidFill>
                          <a:latin typeface="Poppins"/>
                        </a:rPr>
                        <a:t>Verbesserungen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Wachstum und Entwicklung</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1868091"/>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Detaillierte Informationen: Gruppenergebnisse</a:t>
            </a:r>
          </a:p>
        </p:txBody>
      </p:sp>
      <p:sp>
        <p:nvSpPr>
          <p:cNvPr id="5" name="New shape"/>
          <p:cNvSpPr txBox="1"/>
          <p:nvPr/>
        </p:nvSpPr>
        <p:spPr>
          <a:xfrm>
            <a:off x="457200" y="286392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Sehen wir uns die Ergebnisse aller Gruppen zu den von Ihnen ausgewählten Indizes und Themen genauer an.</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Vergleichen von Gruppen</a:t>
            </a:r>
          </a:p>
        </p:txBody>
      </p:sp>
      <p:sp>
        <p:nvSpPr>
          <p:cNvPr id="3" name="New shape"/>
          <p:cNvSpPr txBox="1"/>
          <p:nvPr/>
        </p:nvSpPr>
        <p:spPr>
          <a:xfrm>
            <a:off x="457200" y="857250"/>
            <a:ext cx="4286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Ergebnisunterschiede und Ergebnisvergleiche</a:t>
            </a:r>
          </a:p>
        </p:txBody>
      </p:sp>
      <p:sp>
        <p:nvSpPr>
          <p:cNvPr id="4" name="New shape"/>
          <p:cNvSpPr/>
          <p:nvPr/>
        </p:nvSpPr>
        <p:spPr>
          <a:xfrm>
            <a:off x="457200" y="140589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4287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Gruppenergebnis ist um mindestens 20 % Punkte höher.</a:t>
            </a:r>
          </a:p>
        </p:txBody>
      </p:sp>
      <p:sp>
        <p:nvSpPr>
          <p:cNvPr id="6" name="New shape"/>
          <p:cNvSpPr/>
          <p:nvPr/>
        </p:nvSpPr>
        <p:spPr>
          <a:xfrm>
            <a:off x="457200" y="189166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191452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Gruppenergebnis ist um mindestens 10 % Punkte höher.</a:t>
            </a:r>
          </a:p>
        </p:txBody>
      </p:sp>
      <p:sp>
        <p:nvSpPr>
          <p:cNvPr id="8" name="New shape"/>
          <p:cNvSpPr/>
          <p:nvPr/>
        </p:nvSpPr>
        <p:spPr>
          <a:xfrm>
            <a:off x="457200" y="237744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46030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Nicht relevant, da die Differenz kleiner als 10 % Punkte ist.</a:t>
            </a:r>
          </a:p>
        </p:txBody>
      </p:sp>
      <p:sp>
        <p:nvSpPr>
          <p:cNvPr id="10" name="New shape"/>
          <p:cNvSpPr/>
          <p:nvPr/>
        </p:nvSpPr>
        <p:spPr>
          <a:xfrm>
            <a:off x="457200" y="286321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288607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Gruppenergebnis ist um mindestens 10 % Punkte niedriger.</a:t>
            </a:r>
          </a:p>
        </p:txBody>
      </p:sp>
      <p:sp>
        <p:nvSpPr>
          <p:cNvPr id="12" name="New shape"/>
          <p:cNvSpPr/>
          <p:nvPr/>
        </p:nvSpPr>
        <p:spPr>
          <a:xfrm>
            <a:off x="457200" y="334899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3718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Gruppenergebnis ist um mindestens 20 % Punkte niedriger.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Beispielergebnis</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Gruppe A hat 20 % Punkte mehr erzielt</a:t>
            </a:r>
          </a:p>
        </p:txBody>
      </p:sp>
      <p:grpSp>
        <p:nvGrpSpPr>
          <p:cNvPr id="27" name="Group 26"/>
          <p:cNvGrpSpPr/>
          <p:nvPr/>
        </p:nvGrpSpPr>
        <p:grpSpPr>
          <a:xfrm rot="18900000">
            <a:off x="6277109" y="1893796"/>
            <a:ext cx="544608" cy="171450"/>
            <a:chOff x="5801519" y="1436688"/>
            <a:chExt cx="544608"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61805"/>
              <a:ext cx="330295"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C55C7"/>
                  </a:solidFill>
                  <a:latin typeface="Poppins"/>
                </a:rPr>
                <a:t>Aktuell</a:t>
              </a:r>
            </a:p>
          </p:txBody>
        </p:sp>
      </p:grpSp>
      <p:grpSp>
        <p:nvGrpSpPr>
          <p:cNvPr id="30" name="Group 29"/>
          <p:cNvGrpSpPr/>
          <p:nvPr/>
        </p:nvGrpSpPr>
        <p:grpSpPr>
          <a:xfrm rot="18900000">
            <a:off x="7245008" y="1918447"/>
            <a:ext cx="546036" cy="121215"/>
            <a:chOff x="6744494" y="1461805"/>
            <a:chExt cx="474599" cy="121215"/>
          </a:xfrm>
        </p:grpSpPr>
        <p:sp>
          <p:nvSpPr>
            <p:cNvPr id="31" name="New shape"/>
            <p:cNvSpPr txBox="1"/>
            <p:nvPr/>
          </p:nvSpPr>
          <p:spPr>
            <a:xfrm>
              <a:off x="6744494" y="1461805"/>
              <a:ext cx="474599"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Gruppe A</a:t>
              </a:r>
            </a:p>
          </p:txBody>
        </p:sp>
      </p:grpSp>
      <p:grpSp>
        <p:nvGrpSpPr>
          <p:cNvPr id="32" name="Group 31"/>
          <p:cNvGrpSpPr/>
          <p:nvPr/>
        </p:nvGrpSpPr>
        <p:grpSpPr>
          <a:xfrm rot="18900000">
            <a:off x="8188634" y="1920018"/>
            <a:ext cx="541226" cy="121215"/>
            <a:chOff x="7687469" y="1461805"/>
            <a:chExt cx="469789" cy="121215"/>
          </a:xfrm>
        </p:grpSpPr>
        <p:sp>
          <p:nvSpPr>
            <p:cNvPr id="33" name="New shape"/>
            <p:cNvSpPr txBox="1"/>
            <p:nvPr/>
          </p:nvSpPr>
          <p:spPr>
            <a:xfrm>
              <a:off x="7687469" y="1461805"/>
              <a:ext cx="469789"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Gruppe B</a:t>
              </a:r>
            </a:p>
          </p:txBody>
        </p:sp>
      </p:grpSp>
      <p:sp>
        <p:nvSpPr>
          <p:cNvPr id="34"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Signifikanz (*)</a:t>
            </a:r>
          </a:p>
        </p:txBody>
      </p:sp>
      <p:sp>
        <p:nvSpPr>
          <p:cNvPr id="35" name="New shape"/>
          <p:cNvSpPr txBox="1"/>
          <p:nvPr/>
        </p:nvSpPr>
        <p:spPr>
          <a:xfrm>
            <a:off x="4029075" y="4254817"/>
            <a:ext cx="4029075" cy="72009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Anhand der Signifikanz kann man feststellen, ob der Unterschied zwischen zwei Ergebnissen bedeutsam ist oder auf Zufall beruht. Ein Ergebnis, das mit einem Sternchen markiert wurde, bedeutet, dass der Unterschied zwischen diesem Ergebnis und dem Ergebnis von Aktuell als signifikant betrachtet werden kann. Es symbolisiert demnach einen Unterschied, dem Beachtung geschenkt werden sollte.</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50</a:t>
            </a:r>
          </a:p>
        </p:txBody>
      </p:sp>
      <p:pic>
        <p:nvPicPr>
          <p:cNvPr id="37" name="New picture"/>
          <p:cNvPicPr/>
          <p:nvPr/>
        </p:nvPicPr>
        <p:blipFill>
          <a:blip>
            <a:extLst>
              <a:ext uri="{96DAC541-7B7A-43D3-8B79-37D633B846F1}">
                <asvg:svgBlip xmlns:asvg="http://schemas.microsoft.com/office/drawing/2016/SVG/main" r:embed="rId3"/>
              </a:ext>
            </a:extLst>
          </a:blip>
          <a:stretch>
            <a:fillRect/>
          </a:stretch>
        </p:blipFill>
        <p:spPr>
          <a:xfrm>
            <a:off x="8829675" y="147661"/>
            <a:ext cx="217884" cy="217884"/>
          </a:xfrm>
          <a:prstGeom prst="rect">
            <a:avLst/>
          </a:prstGeom>
        </p:spPr>
      </p:pic>
      <p:sp>
        <p:nvSpPr>
          <p:cNvPr id="39"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Indizes verglichen nach Befragungsgruppen</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Arbeitgeberkompetenz</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Veränderung gestalten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Mitarbeiter führen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 managen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Qualität des Leistungsumfeldes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Richtung geben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Indizes verglichen nach Befragungsgruppen</a:t>
            </a:r>
          </a:p>
        </p:txBody>
      </p:sp>
      <p:sp>
        <p:nvSpPr>
          <p:cNvPr id="3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3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51</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Spaß an der Arbeit (1)</a:t>
            </a:r>
          </a:p>
        </p:txBody>
      </p:sp>
      <p:sp>
        <p:nvSpPr>
          <p:cNvPr id="3"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Meine Arbeit macht mir Spaß</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4620571" y="859102"/>
            <a:ext cx="1471613" cy="240649"/>
            <a:chOff x="420846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15"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114162" y="975395"/>
            <a:ext cx="1357312" cy="120015"/>
            <a:chOff x="4722812" y="783749"/>
            <a:chExt cx="1285875" cy="120015"/>
          </a:xfrm>
        </p:grpSpPr>
        <p:sp>
          <p:nvSpPr>
            <p:cNvPr id="18"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628512" y="975395"/>
            <a:ext cx="1357312" cy="120015"/>
            <a:chOff x="5237162" y="783749"/>
            <a:chExt cx="1285875" cy="120015"/>
          </a:xfrm>
        </p:grpSpPr>
        <p:sp>
          <p:nvSpPr>
            <p:cNvPr id="20"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6142862" y="975395"/>
            <a:ext cx="1357312" cy="120015"/>
            <a:chOff x="5751512" y="783749"/>
            <a:chExt cx="1285875" cy="120015"/>
          </a:xfrm>
        </p:grpSpPr>
        <p:sp>
          <p:nvSpPr>
            <p:cNvPr id="22"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657212" y="975395"/>
            <a:ext cx="1357312" cy="120015"/>
            <a:chOff x="6265862" y="783749"/>
            <a:chExt cx="1285875" cy="120015"/>
          </a:xfrm>
        </p:grpSpPr>
        <p:sp>
          <p:nvSpPr>
            <p:cNvPr id="24"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7171562" y="975395"/>
            <a:ext cx="1357312" cy="120015"/>
            <a:chOff x="6780212" y="783749"/>
            <a:chExt cx="1285875" cy="120015"/>
          </a:xfrm>
        </p:grpSpPr>
        <p:sp>
          <p:nvSpPr>
            <p:cNvPr id="26"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685912" y="975395"/>
            <a:ext cx="1357312" cy="120015"/>
            <a:chOff x="7294562" y="783749"/>
            <a:chExt cx="1285875" cy="120015"/>
          </a:xfrm>
        </p:grpSpPr>
        <p:sp>
          <p:nvSpPr>
            <p:cNvPr id="28"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
        <p:nvSpPr>
          <p:cNvPr id="29"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52</a:t>
            </a:r>
          </a:p>
        </p:txBody>
      </p:sp>
      <p:sp>
        <p:nvSpPr>
          <p:cNvPr id="30"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Spaß an der Arbeit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Meine Arbeit macht mir Spaß</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Arbeitsmöglichkeiten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Ich habe die Arbeitsmittel, die ich brauche, um gute Arbeit zu leisten  (z.B. Werkzeuge, Geräte, Software, Materialien, usw.)</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Arbeitsmöglichkeiten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habe die Arbeitsmittel, die ich brauche, um gute Arbeit zu leisten  (z.B. Werkzeuge, Geräte, Software, Materialien, usw.)</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Arbeitsleistung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Meine Fähigkeiten und Kenntnisse passen zu meinem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Arbeitsleistung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Meine Fähigkeiten und Kenntnisse passen zu meinem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Bei der Arbeit fühle ich mich fit und tatkräftig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kann mein Berufs- und Privatleben gut miteinander vereinbaren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habe ausreichend Zeit, um meine Arbeit ordnungsgemäß zu erledigen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Meine Arbeit motiviert mich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Bei der Arbeit fühle ich mich fit und tatkräftig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kann mein Berufs- und Privatleben gut miteinander vereinbaren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habe ausreichend Zeit, um meine Arbeit ordnungsgemäß zu erledigen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Meine Arbeit motiviert mich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(3)</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Meine Arbeitsbelastung ist</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Viel 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Genau richtig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Viel 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Ich kann meine Arbeitsbelastung gut bewältigen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Bei der Arbeit gelingt es mir, mit Stress effektiv umzugehen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(4)</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Meine Arbeitsbelastung ist</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Viel 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Genau richtig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Viel 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Ich kann meine Arbeitsbelastung gut bewältigen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Bei der Arbeit gelingt es mir, mit Stress effektiv umzugehen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(5)</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314895"/>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Ich bin in der Lage, ein gutes Gleichgewicht zwischen Arbeit und Erholung zu halten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bin zuversichtlich, dass ich in den nächsten drei Monaten so weiterarbeiten kann wie jetzt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Bei der Arbeit vergeht die Zeit wie im Flug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habe im vergangenen Jahr unerwünschtes Verhalten von Kolleginnen oder Kollegen erlebt (z.B. verbale Aggression, Gewalt,sexuelle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(6)</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bin in der Lage, ein gutes Gleichgewicht zwischen Arbeit und Erholung zu halten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bin zuversichtlich, dass ich in den nächsten drei Monaten so weiterarbeiten kann wie jetzt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Bei der Arbeit vergeht die Zeit wie im Flug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habe im vergangenen Jahr unerwünschtes Verhalten von Kolleginnen oder Kollegen erlebt (z.B. verbale Aggression, Gewalt,sexuelle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(7)</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931862"/>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habe im vergangenen Jahr unerwünschtes Verhalten von Kundinnen oder Kunden erlebt (z. B. verbale Aggression, Gewalt, 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(8)</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habe im vergangenen Jahr unerwünschtes Verhalten von Kundinnen oder Kunden erlebt (z. B. verbale Aggression, Gewalt, 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Zusammenarbeit und Leistung im Team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24028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Zusammenarbeit und Leistung im Team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Teamleitung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Ich habe Vertrauen in meine Führungskraft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Teamleitung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habe Vertrauen in meine Führungskraft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Unternehmensstrategie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Unternehmensstrategie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Unternehmenskommunikation und Zusammenarbeit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Unternehmenskommunikation und Zusammenarbeit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Unternehmenskultur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a:t>
                      </a:r>
                      <a:r>
                        <a:rPr sz="788" b="0" i="0" dirty="0" err="1">
                          <a:solidFill>
                            <a:srgbClr val="192743"/>
                          </a:solidFill>
                          <a:latin typeface="Poppins"/>
                        </a:rPr>
                        <a:t>ein</a:t>
                      </a:r>
                      <a:r>
                        <a:rPr sz="788" b="0" i="0" dirty="0">
                          <a:solidFill>
                            <a:srgbClr val="192743"/>
                          </a:solidFill>
                          <a:latin typeface="Poppins"/>
                        </a:rPr>
                        <a:t> </a:t>
                      </a:r>
                      <a:r>
                        <a:rPr sz="788" b="0" i="0" dirty="0" err="1">
                          <a:solidFill>
                            <a:srgbClr val="192743"/>
                          </a:solidFill>
                          <a:latin typeface="Poppins"/>
                        </a:rPr>
                        <a:t>guter</a:t>
                      </a:r>
                      <a:r>
                        <a:rPr sz="788" b="0" i="0" dirty="0">
                          <a:solidFill>
                            <a:srgbClr val="192743"/>
                          </a:solidFill>
                          <a:latin typeface="Poppins"/>
                        </a:rPr>
                        <a:t> </a:t>
                      </a:r>
                      <a:r>
                        <a:rPr sz="788" b="0" i="0" dirty="0" err="1">
                          <a:solidFill>
                            <a:srgbClr val="192743"/>
                          </a:solidFill>
                          <a:latin typeface="Poppins"/>
                        </a:rPr>
                        <a:t>Arbeitgeber</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Ich war </a:t>
                      </a:r>
                      <a:r>
                        <a:rPr sz="788" b="0" i="0" dirty="0" err="1">
                          <a:solidFill>
                            <a:srgbClr val="192743"/>
                          </a:solidFill>
                          <a:latin typeface="Poppins"/>
                        </a:rPr>
                        <a:t>stolz</a:t>
                      </a:r>
                      <a:r>
                        <a:rPr sz="788" b="0" i="0" dirty="0">
                          <a:solidFill>
                            <a:srgbClr val="192743"/>
                          </a:solidFill>
                          <a:latin typeface="Poppins"/>
                        </a:rPr>
                        <a:t> </a:t>
                      </a:r>
                      <a:r>
                        <a:rPr sz="788" b="0" i="0" dirty="0" err="1">
                          <a:solidFill>
                            <a:srgbClr val="192743"/>
                          </a:solidFill>
                          <a:latin typeface="Poppins"/>
                        </a:rPr>
                        <a:t>darauf</a:t>
                      </a:r>
                      <a:r>
                        <a:rPr sz="788" b="0" i="0" dirty="0">
                          <a:solidFill>
                            <a:srgbClr val="192743"/>
                          </a:solidFill>
                          <a:latin typeface="Poppins"/>
                        </a:rPr>
                        <a:t>, für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arbeiten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glaube</a:t>
                      </a:r>
                      <a:r>
                        <a:rPr sz="788" b="0" i="0" dirty="0">
                          <a:solidFill>
                            <a:srgbClr val="192743"/>
                          </a:solidFill>
                          <a:latin typeface="Poppins"/>
                        </a:rPr>
                        <a:t>, </a:t>
                      </a:r>
                      <a:r>
                        <a:rPr sz="788" b="0" i="0" dirty="0" err="1">
                          <a:solidFill>
                            <a:srgbClr val="192743"/>
                          </a:solidFill>
                          <a:latin typeface="Poppins"/>
                        </a:rPr>
                        <a:t>dass</a:t>
                      </a:r>
                      <a:r>
                        <a:rPr sz="788" b="0" i="0" dirty="0">
                          <a:solidFill>
                            <a:srgbClr val="192743"/>
                          </a:solidFill>
                          <a:latin typeface="Poppins"/>
                        </a:rPr>
                        <a:t> ich gut </a:t>
                      </a:r>
                      <a:r>
                        <a:rPr sz="788" b="0" i="0" dirty="0" err="1">
                          <a:solidFill>
                            <a:srgbClr val="192743"/>
                          </a:solidFill>
                          <a:latin typeface="Poppins"/>
                        </a:rPr>
                        <a:t>zu</a:t>
                      </a:r>
                      <a:r>
                        <a:rPr sz="788" b="0" i="0" dirty="0">
                          <a:solidFill>
                            <a:srgbClr val="192743"/>
                          </a:solidFill>
                          <a:latin typeface="Poppins"/>
                        </a:rPr>
                        <a:t> </a:t>
                      </a:r>
                      <a:r>
                        <a:rPr lang="en-US" sz="788" b="0" i="0" dirty="0">
                          <a:solidFill>
                            <a:srgbClr val="192743"/>
                          </a:solidFill>
                          <a:latin typeface="Poppins"/>
                        </a:rPr>
                        <a:t>Novanta B.V.</a:t>
                      </a:r>
                      <a:r>
                        <a:rPr sz="788" b="0" i="0" dirty="0">
                          <a:solidFill>
                            <a:srgbClr val="192743"/>
                          </a:solidFill>
                          <a:latin typeface="Poppins"/>
                        </a:rPr>
                        <a:t> passe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fühlte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Mitarbeiter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wertgeschätzt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50%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Unternehmenskultur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a:t>
                      </a:r>
                      <a:r>
                        <a:rPr sz="788" b="0" i="0" dirty="0" err="1">
                          <a:solidFill>
                            <a:srgbClr val="192743"/>
                          </a:solidFill>
                          <a:latin typeface="Poppins"/>
                        </a:rPr>
                        <a:t>ein</a:t>
                      </a:r>
                      <a:r>
                        <a:rPr sz="788" b="0" i="0" dirty="0">
                          <a:solidFill>
                            <a:srgbClr val="192743"/>
                          </a:solidFill>
                          <a:latin typeface="Poppins"/>
                        </a:rPr>
                        <a:t> </a:t>
                      </a:r>
                      <a:r>
                        <a:rPr sz="788" b="0" i="0" dirty="0" err="1">
                          <a:solidFill>
                            <a:srgbClr val="192743"/>
                          </a:solidFill>
                          <a:latin typeface="Poppins"/>
                        </a:rPr>
                        <a:t>guter</a:t>
                      </a:r>
                      <a:r>
                        <a:rPr sz="788" b="0" i="0" dirty="0">
                          <a:solidFill>
                            <a:srgbClr val="192743"/>
                          </a:solidFill>
                          <a:latin typeface="Poppins"/>
                        </a:rPr>
                        <a:t> </a:t>
                      </a:r>
                      <a:r>
                        <a:rPr sz="788" b="0" i="0" dirty="0" err="1">
                          <a:solidFill>
                            <a:srgbClr val="192743"/>
                          </a:solidFill>
                          <a:latin typeface="Poppins"/>
                        </a:rPr>
                        <a:t>Arbeitgeber</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Ich war </a:t>
                      </a:r>
                      <a:r>
                        <a:rPr sz="788" b="0" i="0" dirty="0" err="1">
                          <a:solidFill>
                            <a:srgbClr val="192743"/>
                          </a:solidFill>
                          <a:latin typeface="Poppins"/>
                        </a:rPr>
                        <a:t>stolz</a:t>
                      </a:r>
                      <a:r>
                        <a:rPr sz="788" b="0" i="0" dirty="0">
                          <a:solidFill>
                            <a:srgbClr val="192743"/>
                          </a:solidFill>
                          <a:latin typeface="Poppins"/>
                        </a:rPr>
                        <a:t> </a:t>
                      </a:r>
                      <a:r>
                        <a:rPr sz="788" b="0" i="0" dirty="0" err="1">
                          <a:solidFill>
                            <a:srgbClr val="192743"/>
                          </a:solidFill>
                          <a:latin typeface="Poppins"/>
                        </a:rPr>
                        <a:t>darauf</a:t>
                      </a:r>
                      <a:r>
                        <a:rPr sz="788" b="0" i="0" dirty="0">
                          <a:solidFill>
                            <a:srgbClr val="192743"/>
                          </a:solidFill>
                          <a:latin typeface="Poppins"/>
                        </a:rPr>
                        <a:t>, für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arbeiten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glaube</a:t>
                      </a:r>
                      <a:r>
                        <a:rPr sz="788" b="0" i="0" dirty="0">
                          <a:solidFill>
                            <a:srgbClr val="192743"/>
                          </a:solidFill>
                          <a:latin typeface="Poppins"/>
                        </a:rPr>
                        <a:t>, </a:t>
                      </a:r>
                      <a:r>
                        <a:rPr sz="788" b="0" i="0" dirty="0" err="1">
                          <a:solidFill>
                            <a:srgbClr val="192743"/>
                          </a:solidFill>
                          <a:latin typeface="Poppins"/>
                        </a:rPr>
                        <a:t>dass</a:t>
                      </a:r>
                      <a:r>
                        <a:rPr sz="788" b="0" i="0" dirty="0">
                          <a:solidFill>
                            <a:srgbClr val="192743"/>
                          </a:solidFill>
                          <a:latin typeface="Poppins"/>
                        </a:rPr>
                        <a:t> ich gut </a:t>
                      </a:r>
                      <a:r>
                        <a:rPr sz="788" b="0" i="0" dirty="0" err="1">
                          <a:solidFill>
                            <a:srgbClr val="192743"/>
                          </a:solidFill>
                          <a:latin typeface="Poppins"/>
                        </a:rPr>
                        <a:t>zu</a:t>
                      </a:r>
                      <a:r>
                        <a:rPr sz="788" b="0" i="0" dirty="0">
                          <a:solidFill>
                            <a:srgbClr val="192743"/>
                          </a:solidFill>
                          <a:latin typeface="Poppins"/>
                        </a:rPr>
                        <a:t> </a:t>
                      </a:r>
                      <a:r>
                        <a:rPr lang="en-US" sz="788" b="0" i="0" dirty="0">
                          <a:solidFill>
                            <a:srgbClr val="192743"/>
                          </a:solidFill>
                          <a:latin typeface="Poppins"/>
                        </a:rPr>
                        <a:t>Novanta B.V.</a:t>
                      </a:r>
                      <a:r>
                        <a:rPr sz="788" b="0" i="0" dirty="0">
                          <a:solidFill>
                            <a:srgbClr val="192743"/>
                          </a:solidFill>
                          <a:latin typeface="Poppins"/>
                        </a:rPr>
                        <a:t> passe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fühlte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Mitarbeiter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wertgeschätzt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und Maßnahmen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nutzt</a:t>
                      </a:r>
                      <a:r>
                        <a:rPr sz="788" b="0" i="0" dirty="0">
                          <a:solidFill>
                            <a:srgbClr val="192743"/>
                          </a:solidFill>
                          <a:latin typeface="Poppins"/>
                        </a:rPr>
                        <a:t> Ideen und </a:t>
                      </a:r>
                      <a:r>
                        <a:rPr sz="788" b="0" i="0" dirty="0" err="1">
                          <a:solidFill>
                            <a:srgbClr val="192743"/>
                          </a:solidFill>
                          <a:latin typeface="Poppins"/>
                        </a:rPr>
                        <a:t>Vorschläge</a:t>
                      </a:r>
                      <a:r>
                        <a:rPr sz="788" b="0" i="0" dirty="0">
                          <a:solidFill>
                            <a:srgbClr val="192743"/>
                          </a:solidFill>
                          <a:latin typeface="Poppins"/>
                        </a:rPr>
                        <a:t> der </a:t>
                      </a:r>
                      <a:r>
                        <a:rPr sz="788" b="0" i="0" dirty="0" err="1">
                          <a:solidFill>
                            <a:srgbClr val="192743"/>
                          </a:solidFill>
                          <a:latin typeface="Poppins"/>
                        </a:rPr>
                        <a:t>Mitarbeitenden</a:t>
                      </a:r>
                      <a:r>
                        <a:rPr sz="788" b="0" i="0" dirty="0">
                          <a:solidFill>
                            <a:srgbClr val="192743"/>
                          </a:solidFill>
                          <a:latin typeface="Poppins"/>
                        </a:rPr>
                        <a:t> für </a:t>
                      </a:r>
                      <a:r>
                        <a:rPr sz="788" b="0" i="0" dirty="0" err="1">
                          <a:solidFill>
                            <a:srgbClr val="192743"/>
                          </a:solidFill>
                          <a:latin typeface="Poppins"/>
                        </a:rPr>
                        <a:t>Verbesserungen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und Maßnahmen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nutzt</a:t>
                      </a:r>
                      <a:r>
                        <a:rPr sz="788" b="0" i="0" dirty="0">
                          <a:solidFill>
                            <a:srgbClr val="192743"/>
                          </a:solidFill>
                          <a:latin typeface="Poppins"/>
                        </a:rPr>
                        <a:t> Ideen und </a:t>
                      </a:r>
                      <a:r>
                        <a:rPr sz="788" b="0" i="0" dirty="0" err="1">
                          <a:solidFill>
                            <a:srgbClr val="192743"/>
                          </a:solidFill>
                          <a:latin typeface="Poppins"/>
                        </a:rPr>
                        <a:t>Vorschläge</a:t>
                      </a:r>
                      <a:r>
                        <a:rPr sz="788" b="0" i="0" dirty="0">
                          <a:solidFill>
                            <a:srgbClr val="192743"/>
                          </a:solidFill>
                          <a:latin typeface="Poppins"/>
                        </a:rPr>
                        <a:t> der </a:t>
                      </a:r>
                      <a:r>
                        <a:rPr sz="788" b="0" i="0" dirty="0" err="1">
                          <a:solidFill>
                            <a:srgbClr val="192743"/>
                          </a:solidFill>
                          <a:latin typeface="Poppins"/>
                        </a:rPr>
                        <a:t>Mitarbeitenden</a:t>
                      </a:r>
                      <a:r>
                        <a:rPr sz="788" b="0" i="0" dirty="0">
                          <a:solidFill>
                            <a:srgbClr val="192743"/>
                          </a:solidFill>
                          <a:latin typeface="Poppins"/>
                        </a:rPr>
                        <a:t> für </a:t>
                      </a:r>
                      <a:r>
                        <a:rPr sz="788" b="0" i="0" dirty="0" err="1">
                          <a:solidFill>
                            <a:srgbClr val="192743"/>
                          </a:solidFill>
                          <a:latin typeface="Poppins"/>
                        </a:rPr>
                        <a:t>Verbesserungen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Wachstum und Entwicklung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Wachstum und Entwicklung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1868091"/>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Themen, auf die Ihre Mitarbeitenden hinweisen</a:t>
            </a:r>
          </a:p>
        </p:txBody>
      </p:sp>
      <p:sp>
        <p:nvSpPr>
          <p:cNvPr id="5" name="New shape"/>
          <p:cNvSpPr txBox="1"/>
          <p:nvPr/>
        </p:nvSpPr>
        <p:spPr>
          <a:xfrm>
            <a:off x="457200" y="286392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Erfahren Sie, worauf die Mitarbeitenden besonders stolz sind und wo sie Verbesserungsbedarf sehen.</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3672480"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err="1">
                <a:solidFill>
                  <a:srgbClr val="192743"/>
                </a:solidFill>
                <a:latin typeface="Poppins"/>
              </a:rPr>
              <a:t>Themen</a:t>
            </a:r>
            <a:r>
              <a:rPr sz="2250" b="1" i="0" dirty="0">
                <a:solidFill>
                  <a:srgbClr val="192743"/>
                </a:solidFill>
                <a:latin typeface="Poppins"/>
              </a:rPr>
              <a:t> für </a:t>
            </a:r>
            <a:r>
              <a:rPr lang="en-US" sz="2250" b="1" i="0" dirty="0">
                <a:solidFill>
                  <a:srgbClr val="192743"/>
                </a:solidFill>
                <a:latin typeface="Poppins"/>
              </a:rPr>
              <a:t>Novanta B.V.</a:t>
            </a:r>
            <a:endParaRPr sz="2250" b="1" i="0" dirty="0">
              <a:solidFill>
                <a:srgbClr val="192743"/>
              </a:solidFill>
              <a:latin typeface="Poppins"/>
            </a:endParaRPr>
          </a:p>
        </p:txBody>
      </p:sp>
      <p:sp>
        <p:nvSpPr>
          <p:cNvPr id="3" name="New shape"/>
          <p:cNvSpPr txBox="1"/>
          <p:nvPr/>
        </p:nvSpPr>
        <p:spPr>
          <a:xfrm>
            <a:off x="457200" y="838007"/>
            <a:ext cx="167353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err="1">
                <a:solidFill>
                  <a:srgbClr val="546178"/>
                </a:solidFill>
                <a:latin typeface="Poppins"/>
              </a:rPr>
              <a:t>Ausgewählt</a:t>
            </a:r>
            <a:r>
              <a:rPr sz="900" b="0" i="0" dirty="0">
                <a:solidFill>
                  <a:srgbClr val="546178"/>
                </a:solidFill>
                <a:latin typeface="Poppins"/>
              </a:rPr>
              <a:t> von </a:t>
            </a:r>
            <a:r>
              <a:rPr lang="en-US" sz="900" b="0" i="0" dirty="0">
                <a:solidFill>
                  <a:srgbClr val="546178"/>
                </a:solidFill>
                <a:latin typeface="Poppins"/>
              </a:rPr>
              <a:t>Novanta B.V.</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Was sticht für Sie wirklich positiv hervor?</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Mein Unternehmen als Arbeitgeber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Kultur meines Unternehmens</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Vision und Ziele meines Unternehmens</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Kundenorientierung in meinem Unternehmen</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Kommunikation in meinem Unternehmen</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Zusammenarbeit in meinem Unternehmen</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180148"/>
            <a:ext cx="3214688"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Was haben Sie gesehen oder erlebt, das verbessert werden könnte? Vergessen Sie nicht, uns einen Vorschlag dazu zu geben.</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Mein Unternehmen als Arbeitgeber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Vision und Ziele meines Unternehmens</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Kultur meines Unternehmens</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Teamdynamik (Atmosphäre, Vertrauen)</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Kundenorientierung in meinem Unternehmen</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Zusammenarbeit in meinem Unternehmen</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Befragte</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83</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251133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Themen, auf die Ihre Mitarbeitenden hinweisen</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9346</Words>
  <Application>Microsoft Macintosh PowerPoint</Application>
  <PresentationFormat>On-screen Show (16:9)</PresentationFormat>
  <Paragraphs>3347</Paragraphs>
  <Slides>83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2026-06-25T11:41:31Z</cp:lastPrinted>
  <dcterms:created xsi:type="dcterms:W3CDTF">2026-06-25T11:41:31Z</dcterms:created>
  <dcterms:modified xsi:type="dcterms:W3CDTF">2026-06-30T12:06:51Z</dcterms:modified>
</cp:coreProperties>
</file>