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9" r:id="rId2"/>
    <p:sldId id="262" r:id="rId3"/>
    <p:sldId id="265" r:id="rId4"/>
    <p:sldId id="268" r:id="rId5"/>
    <p:sldId id="271" r:id="rId6"/>
    <p:sldId id="274" r:id="rId7"/>
    <p:sldId id="277" r:id="rId8"/>
    <p:sldId id="280" r:id="rId9"/>
    <p:sldId id="283" r:id="rId10"/>
    <p:sldId id="286" r:id="rId11"/>
    <p:sldId id="289" r:id="rId12"/>
    <p:sldId id="292" r:id="rId13"/>
    <p:sldId id="295" r:id="rId14"/>
    <p:sldId id="298" r:id="rId15"/>
    <p:sldId id="301" r:id="rId16"/>
    <p:sldId id="304" r:id="rId17"/>
    <p:sldId id="307" r:id="rId18"/>
    <p:sldId id="310" r:id="rId19"/>
    <p:sldId id="313" r:id="rId20"/>
    <p:sldId id="316" r:id="rId21"/>
    <p:sldId id="319" r:id="rId22"/>
    <p:sldId id="322" r:id="rId23"/>
    <p:sldId id="331" r:id="rId24"/>
    <p:sldId id="334" r:id="rId25"/>
    <p:sldId id="337" r:id="rId26"/>
    <p:sldId id="340" r:id="rId27"/>
    <p:sldId id="343" r:id="rId28"/>
    <p:sldId id="346" r:id="rId29"/>
    <p:sldId id="349" r:id="rId30"/>
    <p:sldId id="352" r:id="rId31"/>
    <p:sldId id="355" r:id="rId32"/>
    <p:sldId id="358" r:id="rId33"/>
    <p:sldId id="361" r:id="rId34"/>
    <p:sldId id="370" r:id="rId35"/>
    <p:sldId id="373" r:id="rId36"/>
    <p:sldId id="376" r:id="rId37"/>
    <p:sldId id="379" r:id="rId38"/>
    <p:sldId id="382" r:id="rId39"/>
    <p:sldId id="385" r:id="rId40"/>
    <p:sldId id="388" r:id="rId41"/>
    <p:sldId id="391" r:id="rId42"/>
    <p:sldId id="394" r:id="rId43"/>
    <p:sldId id="397" r:id="rId44"/>
    <p:sldId id="400" r:id="rId45"/>
    <p:sldId id="403" r:id="rId46"/>
    <p:sldId id="406" r:id="rId47"/>
    <p:sldId id="409" r:id="rId48"/>
    <p:sldId id="412" r:id="rId49"/>
    <p:sldId id="415" r:id="rId50"/>
    <p:sldId id="418" r:id="rId51"/>
    <p:sldId id="421" r:id="rId52"/>
    <p:sldId id="424" r:id="rId53"/>
    <p:sldId id="427" r:id="rId54"/>
    <p:sldId id="430" r:id="rId55"/>
    <p:sldId id="433" r:id="rId56"/>
    <p:sldId id="436" r:id="rId57"/>
    <p:sldId id="439" r:id="rId58"/>
    <p:sldId id="442" r:id="rId59"/>
    <p:sldId id="445" r:id="rId60"/>
    <p:sldId id="448" r:id="rId61"/>
    <p:sldId id="457" r:id="rId62"/>
    <p:sldId id="451" r:id="rId63"/>
    <p:sldId id="460" r:id="rId64"/>
    <p:sldId id="454" r:id="rId65"/>
    <p:sldId id="463" r:id="rId66"/>
    <p:sldId id="466" r:id="rId67"/>
    <p:sldId id="469" r:id="rId68"/>
    <p:sldId id="472" r:id="rId69"/>
    <p:sldId id="475" r:id="rId70"/>
    <p:sldId id="478" r:id="rId71"/>
    <p:sldId id="481" r:id="rId72"/>
    <p:sldId id="484" r:id="rId73"/>
    <p:sldId id="487" r:id="rId74"/>
    <p:sldId id="490" r:id="rId75"/>
    <p:sldId id="493" r:id="rId76"/>
    <p:sldId id="496" r:id="rId77"/>
    <p:sldId id="499" r:id="rId78"/>
    <p:sldId id="502" r:id="rId79"/>
    <p:sldId id="505" r:id="rId80"/>
    <p:sldId id="508" r:id="rId81"/>
    <p:sldId id="511" r:id="rId82"/>
    <p:sldId id="514" r:id="rId83"/>
    <p:sldId id="517" r:id="rId84"/>
  </p:sldIdLst>
  <p:sldSz cx="9144000" cy="5143500" type="screen16x9"/>
  <p:notesSz cx="6858000" cy="9144000"/>
  <p:embeddedFontLst>
    <p:embeddedFont>
      <p:font typeface="Poppins" pitchFamily="2" charset="77"/>
      <p:regular r:id="rId85"/>
      <p:bold r:id="rId86"/>
      <p:italic r:id="rId87"/>
      <p:boldItalic r:id="rId88"/>
    </p:embeddedFont>
  </p:embeddedFontLst>
  <p:custDataLst>
    <p:tags r:id="rId8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p:restoredTop sz="0"/>
  </p:normalViewPr>
  <p:slideViewPr>
    <p:cSldViewPr>
      <p:cViewPr varScale="1">
        <p:scale>
          <a:sx n="138" d="100"/>
          <a:sy n="138" d="100"/>
        </p:scale>
        <p:origin x="192" y="696"/>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gs" Target="tags/tag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1.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4.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3872C15B-477A-4CA6-8079-17F9F62BC1AE}"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A495112F-C151-4BC7-8D83-04E5B479165D}"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138CDE66-46DD-4A91-984A-368BE0F7F9F3}"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A370CEBA-5B8A-424F-AA34-A079C814B01D}"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27DA0446-4373-4302-AF2C-E3873D951DE9}" type="datetimeFigureOut">
              <a:rPr lang="en-US" smtClean="0"/>
              <a:t>6/30/26</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AEC67913-2A29-41D2-8256-183C284FEFE6}" type="datetimeFigureOut">
              <a:rPr lang="en-US" smtClean="0"/>
              <a:t>6/30/26</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883E0CB2-70E7-4580-89CA-E2462342F8DF}" type="datetimeFigureOut">
              <a:rPr lang="en-US" smtClean="0"/>
              <a:t>6/30/26</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43AB3091-A17C-4FE4-B00A-33EC4A092190}"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EA3A9EAC-3198-4229-AEA9-FB0505184A80}"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B40EA8C6-4A17-4A66-B4C2-5660C21CF718}"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7ACE3D8F-06B6-40C3-96B8-F293C5EBDF60}"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6/30/26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slide" Target="slide3.xml"/><Relationship Id="rId7" Type="http://schemas.openxmlformats.org/officeDocument/2006/relationships/slide" Target="slide3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 Target="slide22.xml"/><Relationship Id="rId5" Type="http://schemas.openxmlformats.org/officeDocument/2006/relationships/slide" Target="slide12.xml"/><Relationship Id="rId4" Type="http://schemas.openxmlformats.org/officeDocument/2006/relationships/slide" Target="slide9.xml"/><Relationship Id="rId9" Type="http://schemas.openxmlformats.org/officeDocument/2006/relationships/slide" Target="slide8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2.svg"/><Relationship Id="rId7" Type="http://schemas.openxmlformats.org/officeDocument/2006/relationships/image" Target="../media/image14.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0.sv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3.sv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2.svg"/><Relationship Id="rId7" Type="http://schemas.openxmlformats.org/officeDocument/2006/relationships/image" Target="../media/image9.sv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19.svg"/><Relationship Id="rId10" Type="http://schemas.openxmlformats.org/officeDocument/2006/relationships/image" Target="../media/image20.svg"/><Relationship Id="rId4" Type="http://schemas.openxmlformats.org/officeDocument/2006/relationships/image" Target="../media/image18.svg"/><Relationship Id="rId9"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sv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7.svg"/><Relationship Id="rId2" Type="http://schemas.openxmlformats.org/officeDocument/2006/relationships/image" Target="../media/image24.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1.svg"/><Relationship Id="rId4" Type="http://schemas.openxmlformats.org/officeDocument/2006/relationships/image" Target="../media/image26.svg"/></Relationships>
</file>

<file path=ppt/slides/_rels/slide1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17.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20.svg"/></Relationships>
</file>

<file path=ppt/slides/_rels/slide18.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1.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2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25.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9.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0.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1.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1.sv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3.sv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1421606"/>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dirty="0">
                <a:solidFill>
                  <a:srgbClr val="000000"/>
                </a:solidFill>
                <a:latin typeface="Poppins"/>
              </a:rPr>
              <a:t>The Your Voice - 2024 (Top 2 Box) results for </a:t>
            </a:r>
            <a:r>
              <a:rPr lang="en-US" sz="3150" b="1" i="0" dirty="0">
                <a:solidFill>
                  <a:srgbClr val="000000"/>
                </a:solidFill>
                <a:latin typeface="Poppins"/>
              </a:rPr>
              <a:t>Novanta B.V.</a:t>
            </a:r>
            <a:endParaRPr sz="3150" b="1" i="0" dirty="0">
              <a:solidFill>
                <a:srgbClr val="000000"/>
              </a:solidFill>
              <a:latin typeface="Poppins"/>
            </a:endParaRPr>
          </a:p>
        </p:txBody>
      </p:sp>
      <p:sp>
        <p:nvSpPr>
          <p:cNvPr id="4"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Novanta B.V.</a:t>
            </a:r>
            <a:endParaRPr sz="788" b="1" i="0" dirty="0">
              <a:solidFill>
                <a:srgbClr val="192743"/>
              </a:solidFill>
              <a:latin typeface="Poppins"/>
            </a:endParaRPr>
          </a:p>
        </p:txBody>
      </p:sp>
      <p:sp>
        <p:nvSpPr>
          <p:cNvPr id="5"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Survey period</a:t>
            </a:r>
            <a:r>
              <a:rPr sz="788" b="0" i="0">
                <a:solidFill>
                  <a:srgbClr val="192743"/>
                </a:solidFill>
                <a:latin typeface="Poppins"/>
              </a:rPr>
              <a:t> May 03, 2024 - May 08, 2024</a:t>
            </a:r>
          </a:p>
        </p:txBody>
      </p:sp>
      <p:sp>
        <p:nvSpPr>
          <p:cNvPr id="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a:t>
            </a:r>
          </a:p>
        </p:txBody>
      </p:sp>
      <p:sp>
        <p:nvSpPr>
          <p:cNvPr id="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457200"/>
            <a:ext cx="2857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Content</a:t>
            </a:r>
          </a:p>
        </p:txBody>
      </p:sp>
      <p:sp>
        <p:nvSpPr>
          <p:cNvPr id="4" name="New shape"/>
          <p:cNvSpPr txBox="1"/>
          <p:nvPr/>
        </p:nvSpPr>
        <p:spPr>
          <a:xfrm>
            <a:off x="457200" y="12573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5" name="New shape">
            <a:hlinkClick r:id="rId3" action="ppaction://hlinksldjump"/>
          </p:cNvPr>
          <p:cNvSpPr txBox="1"/>
          <p:nvPr/>
        </p:nvSpPr>
        <p:spPr>
          <a:xfrm>
            <a:off x="835819" y="12573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Reading the results</a:t>
            </a:r>
          </a:p>
        </p:txBody>
      </p:sp>
      <p:sp>
        <p:nvSpPr>
          <p:cNvPr id="6" name="New shape"/>
          <p:cNvSpPr txBox="1"/>
          <p:nvPr/>
        </p:nvSpPr>
        <p:spPr>
          <a:xfrm>
            <a:off x="457200" y="16344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7" name="New shape">
            <a:hlinkClick r:id="rId4" action="ppaction://hlinksldjump"/>
          </p:cNvPr>
          <p:cNvSpPr txBox="1"/>
          <p:nvPr/>
        </p:nvSpPr>
        <p:spPr>
          <a:xfrm>
            <a:off x="835819" y="163449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Employee Net Promoter Score</a:t>
            </a:r>
          </a:p>
        </p:txBody>
      </p:sp>
      <p:sp>
        <p:nvSpPr>
          <p:cNvPr id="8" name="New shape"/>
          <p:cNvSpPr txBox="1"/>
          <p:nvPr/>
        </p:nvSpPr>
        <p:spPr>
          <a:xfrm>
            <a:off x="457200" y="201168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9" name="New shape">
            <a:hlinkClick r:id="rId5" action="ppaction://hlinksldjump"/>
          </p:cNvPr>
          <p:cNvSpPr txBox="1"/>
          <p:nvPr/>
        </p:nvSpPr>
        <p:spPr>
          <a:xfrm>
            <a:off x="835819" y="201168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Organizational Effectiveness - Overall profile</a:t>
            </a:r>
          </a:p>
        </p:txBody>
      </p:sp>
      <p:sp>
        <p:nvSpPr>
          <p:cNvPr id="10" name="New shape"/>
          <p:cNvSpPr txBox="1"/>
          <p:nvPr/>
        </p:nvSpPr>
        <p:spPr>
          <a:xfrm>
            <a:off x="457200" y="259461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1" name="New shape">
            <a:hlinkClick r:id="rId6" action="ppaction://hlinksldjump"/>
          </p:cNvPr>
          <p:cNvSpPr txBox="1"/>
          <p:nvPr/>
        </p:nvSpPr>
        <p:spPr>
          <a:xfrm>
            <a:off x="835819" y="259461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Themes</a:t>
            </a:r>
          </a:p>
        </p:txBody>
      </p:sp>
      <p:sp>
        <p:nvSpPr>
          <p:cNvPr id="12" name="New shape"/>
          <p:cNvSpPr txBox="1"/>
          <p:nvPr/>
        </p:nvSpPr>
        <p:spPr>
          <a:xfrm>
            <a:off x="457200" y="29718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5.</a:t>
            </a:r>
          </a:p>
        </p:txBody>
      </p:sp>
      <p:sp>
        <p:nvSpPr>
          <p:cNvPr id="13" name="New shape">
            <a:hlinkClick r:id="rId7" action="ppaction://hlinksldjump"/>
          </p:cNvPr>
          <p:cNvSpPr txBox="1"/>
          <p:nvPr/>
        </p:nvSpPr>
        <p:spPr>
          <a:xfrm>
            <a:off x="835819" y="29718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Question performance</a:t>
            </a:r>
          </a:p>
        </p:txBody>
      </p:sp>
      <p:sp>
        <p:nvSpPr>
          <p:cNvPr id="14" name="New shape"/>
          <p:cNvSpPr txBox="1"/>
          <p:nvPr/>
        </p:nvSpPr>
        <p:spPr>
          <a:xfrm>
            <a:off x="457200" y="33489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6.</a:t>
            </a:r>
          </a:p>
        </p:txBody>
      </p:sp>
      <p:sp>
        <p:nvSpPr>
          <p:cNvPr id="15" name="New shape">
            <a:hlinkClick r:id="rId8" action="ppaction://hlinksldjump"/>
          </p:cNvPr>
          <p:cNvSpPr txBox="1"/>
          <p:nvPr/>
        </p:nvSpPr>
        <p:spPr>
          <a:xfrm>
            <a:off x="835819" y="334899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Deep dive: Group scores</a:t>
            </a:r>
          </a:p>
        </p:txBody>
      </p:sp>
      <p:sp>
        <p:nvSpPr>
          <p:cNvPr id="16" name="New shape"/>
          <p:cNvSpPr txBox="1"/>
          <p:nvPr/>
        </p:nvSpPr>
        <p:spPr>
          <a:xfrm>
            <a:off x="457200" y="372618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7.</a:t>
            </a:r>
          </a:p>
        </p:txBody>
      </p:sp>
      <p:sp>
        <p:nvSpPr>
          <p:cNvPr id="17" name="New shape">
            <a:hlinkClick r:id="rId9" action="ppaction://hlinksldjump"/>
          </p:cNvPr>
          <p:cNvSpPr txBox="1"/>
          <p:nvPr/>
        </p:nvSpPr>
        <p:spPr>
          <a:xfrm>
            <a:off x="835819" y="372618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Topics your employees point out</a:t>
            </a:r>
          </a:p>
        </p:txBody>
      </p:sp>
      <p:sp>
        <p:nvSpPr>
          <p:cNvPr id="18"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Novanta B.V.</a:t>
            </a:r>
            <a:endParaRPr sz="788" b="1" i="0" dirty="0">
              <a:solidFill>
                <a:srgbClr val="192743"/>
              </a:solidFill>
              <a:latin typeface="Poppins"/>
            </a:endParaRPr>
          </a:p>
        </p:txBody>
      </p:sp>
      <p:sp>
        <p:nvSpPr>
          <p:cNvPr id="19"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Survey period</a:t>
            </a:r>
            <a:r>
              <a:rPr sz="788" b="0" i="0">
                <a:solidFill>
                  <a:srgbClr val="192743"/>
                </a:solidFill>
                <a:latin typeface="Poppins"/>
              </a:rPr>
              <a:t> May 03, 2024 - May 08, 2024</a:t>
            </a:r>
          </a:p>
        </p:txBody>
      </p:sp>
      <p:sp>
        <p:nvSpPr>
          <p:cNvPr id="2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a:t>
            </a:r>
          </a:p>
        </p:txBody>
      </p:sp>
      <p:sp>
        <p:nvSpPr>
          <p:cNvPr id="2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Reading the results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Your survey cornerstones</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635794" y="1921669"/>
            <a:ext cx="7665244" cy="1914525"/>
          </a:xfrm>
          <a:prstGeom prst="rect">
            <a:avLst/>
          </a:prstGeom>
        </p:spPr>
      </p:pic>
      <p:pic>
        <p:nvPicPr>
          <p:cNvPr id="4" name="New picture"/>
          <p:cNvPicPr/>
          <p:nvPr/>
        </p:nvPicPr>
        <p:blipFill>
          <a:blip>
            <a:extLst>
              <a:ext uri="{96DAC541-7B7A-43D3-8B79-37D633B846F1}">
                <asvg:svgBlip xmlns:asvg="http://schemas.microsoft.com/office/drawing/2016/SVG/main" r:embed="rId3"/>
              </a:ext>
            </a:extLst>
          </a:blip>
          <a:stretch>
            <a:fillRect/>
          </a:stretch>
        </p:blipFill>
        <p:spPr>
          <a:xfrm>
            <a:off x="8236744" y="3564731"/>
            <a:ext cx="350044" cy="414338"/>
          </a:xfrm>
          <a:prstGeom prst="rect">
            <a:avLst/>
          </a:prstGeom>
        </p:spPr>
      </p:pic>
      <p:sp>
        <p:nvSpPr>
          <p:cNvPr id="5" name="New shape"/>
          <p:cNvSpPr/>
          <p:nvPr/>
        </p:nvSpPr>
        <p:spPr>
          <a:xfrm>
            <a:off x="528638" y="1707356"/>
            <a:ext cx="550069" cy="550069"/>
          </a:xfrm>
          <a:prstGeom prst="ellipse">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p:nvPr/>
        </p:nvSpPr>
        <p:spPr>
          <a:xfrm>
            <a:off x="700088" y="1871662"/>
            <a:ext cx="214312" cy="214312"/>
          </a:xfrm>
          <a:prstGeom prst="ellipse">
            <a:avLst/>
          </a:prstGeom>
          <a:solidFill>
            <a:srgbClr val="30B3A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14388" y="1128712"/>
            <a:ext cx="215741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Start of your listening journey!</a:t>
            </a:r>
          </a:p>
        </p:txBody>
      </p:sp>
      <p:pic>
        <p:nvPicPr>
          <p:cNvPr id="8" name="New picture"/>
          <p:cNvPicPr/>
          <p:nvPr/>
        </p:nvPicPr>
        <p:blipFill>
          <a:blip>
            <a:extLst>
              <a:ext uri="{96DAC541-7B7A-43D3-8B79-37D633B846F1}">
                <asvg:svgBlip xmlns:asvg="http://schemas.microsoft.com/office/drawing/2016/SVG/main" r:embed="rId4"/>
              </a:ext>
            </a:extLst>
          </a:blip>
          <a:stretch>
            <a:fillRect/>
          </a:stretch>
        </p:blipFill>
        <p:spPr>
          <a:xfrm>
            <a:off x="935831" y="1364456"/>
            <a:ext cx="428625" cy="464344"/>
          </a:xfrm>
          <a:prstGeom prst="rect">
            <a:avLst/>
          </a:prstGeom>
        </p:spPr>
      </p:pic>
      <p:sp>
        <p:nvSpPr>
          <p:cNvPr id="9" name="New shape"/>
          <p:cNvSpPr txBox="1"/>
          <p:nvPr/>
        </p:nvSpPr>
        <p:spPr>
          <a:xfrm>
            <a:off x="6629400" y="3429000"/>
            <a:ext cx="14430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Let's see the results!</a:t>
            </a:r>
          </a:p>
        </p:txBody>
      </p:sp>
      <p:sp>
        <p:nvSpPr>
          <p:cNvPr id="10" name="New shape"/>
          <p:cNvSpPr/>
          <p:nvPr/>
        </p:nvSpPr>
        <p:spPr>
          <a:xfrm>
            <a:off x="2821781" y="1621631"/>
            <a:ext cx="2714625"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2821781" y="1750219"/>
            <a:ext cx="27146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Survey period</a:t>
            </a:r>
          </a:p>
        </p:txBody>
      </p:sp>
      <p:sp>
        <p:nvSpPr>
          <p:cNvPr id="12" name="New shape"/>
          <p:cNvSpPr txBox="1"/>
          <p:nvPr/>
        </p:nvSpPr>
        <p:spPr>
          <a:xfrm>
            <a:off x="3186112"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May 03, 2024</a:t>
            </a:r>
          </a:p>
        </p:txBody>
      </p:sp>
      <p:sp>
        <p:nvSpPr>
          <p:cNvPr id="13" name="New shape"/>
          <p:cNvSpPr/>
          <p:nvPr/>
        </p:nvSpPr>
        <p:spPr>
          <a:xfrm>
            <a:off x="3989388"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075112" y="2028825"/>
            <a:ext cx="285750" cy="0"/>
          </a:xfrm>
          <a:prstGeom prst="line">
            <a:avLst/>
          </a:prstGeom>
          <a:ln w="12700">
            <a:solidFill>
              <a:srgbClr val="546178"/>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4360862"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New shape"/>
          <p:cNvSpPr txBox="1"/>
          <p:nvPr/>
        </p:nvSpPr>
        <p:spPr>
          <a:xfrm>
            <a:off x="4510088"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May 08, 2024</a:t>
            </a:r>
          </a:p>
        </p:txBody>
      </p:sp>
      <p:sp>
        <p:nvSpPr>
          <p:cNvPr id="17" name="New shape"/>
          <p:cNvSpPr/>
          <p:nvPr/>
        </p:nvSpPr>
        <p:spPr>
          <a:xfrm>
            <a:off x="5822156" y="1621631"/>
            <a:ext cx="2464594"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txBox="1"/>
          <p:nvPr/>
        </p:nvSpPr>
        <p:spPr>
          <a:xfrm>
            <a:off x="6250781" y="1785938"/>
            <a:ext cx="571500"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362" b="1" i="0">
                <a:solidFill>
                  <a:srgbClr val="5B8EF5"/>
                </a:solidFill>
                <a:latin typeface="Poppins"/>
              </a:rPr>
              <a:t>42</a:t>
            </a:r>
          </a:p>
        </p:txBody>
      </p:sp>
      <p:sp>
        <p:nvSpPr>
          <p:cNvPr id="19" name="New shape"/>
          <p:cNvSpPr txBox="1"/>
          <p:nvPr/>
        </p:nvSpPr>
        <p:spPr>
          <a:xfrm>
            <a:off x="6893719" y="1821656"/>
            <a:ext cx="92868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900" b="1" i="0">
                <a:solidFill>
                  <a:srgbClr val="192743"/>
                </a:solidFill>
                <a:latin typeface="Poppins"/>
              </a:rPr>
              <a:t>Questions were asked in total</a:t>
            </a:r>
          </a:p>
        </p:txBody>
      </p:sp>
      <p:sp>
        <p:nvSpPr>
          <p:cNvPr id="20" name="New shape"/>
          <p:cNvSpPr/>
          <p:nvPr/>
        </p:nvSpPr>
        <p:spPr>
          <a:xfrm>
            <a:off x="807244" y="2950369"/>
            <a:ext cx="3014662" cy="1685925"/>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807244" y="3207544"/>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on themes such as:</a:t>
            </a:r>
          </a:p>
        </p:txBody>
      </p:sp>
      <p:sp>
        <p:nvSpPr>
          <p:cNvPr id="23" name="New shape"/>
          <p:cNvSpPr txBox="1"/>
          <p:nvPr/>
        </p:nvSpPr>
        <p:spPr>
          <a:xfrm>
            <a:off x="1285875" y="3500438"/>
            <a:ext cx="1212962"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Employer Excellence</a:t>
            </a:r>
          </a:p>
        </p:txBody>
      </p:sp>
      <p:sp>
        <p:nvSpPr>
          <p:cNvPr id="25" name="New shape"/>
          <p:cNvSpPr txBox="1"/>
          <p:nvPr/>
        </p:nvSpPr>
        <p:spPr>
          <a:xfrm>
            <a:off x="2570274" y="3500438"/>
            <a:ext cx="815324"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Engagement</a:t>
            </a:r>
          </a:p>
        </p:txBody>
      </p:sp>
      <p:sp>
        <p:nvSpPr>
          <p:cNvPr id="27" name="New shape"/>
          <p:cNvSpPr txBox="1"/>
          <p:nvPr/>
        </p:nvSpPr>
        <p:spPr>
          <a:xfrm>
            <a:off x="1285875" y="3746954"/>
            <a:ext cx="993299"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Leading Change</a:t>
            </a:r>
          </a:p>
        </p:txBody>
      </p:sp>
      <p:sp>
        <p:nvSpPr>
          <p:cNvPr id="29" name="New shape"/>
          <p:cNvSpPr txBox="1"/>
          <p:nvPr/>
        </p:nvSpPr>
        <p:spPr>
          <a:xfrm>
            <a:off x="2350612" y="3746954"/>
            <a:ext cx="1057434"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Managing people</a:t>
            </a:r>
          </a:p>
        </p:txBody>
      </p:sp>
      <p:sp>
        <p:nvSpPr>
          <p:cNvPr id="31" name="New shape"/>
          <p:cNvSpPr txBox="1"/>
          <p:nvPr/>
        </p:nvSpPr>
        <p:spPr>
          <a:xfrm>
            <a:off x="1713992" y="3993471"/>
            <a:ext cx="1144016"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Managing systems</a:t>
            </a:r>
          </a:p>
        </p:txBody>
      </p:sp>
      <p:sp>
        <p:nvSpPr>
          <p:cNvPr id="33" name="New shape"/>
          <p:cNvSpPr txBox="1"/>
          <p:nvPr/>
        </p:nvSpPr>
        <p:spPr>
          <a:xfrm>
            <a:off x="807244" y="4307681"/>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and more...</a:t>
            </a:r>
          </a:p>
        </p:txBody>
      </p:sp>
      <p:sp>
        <p:nvSpPr>
          <p:cNvPr id="34" name="New shape"/>
          <p:cNvSpPr/>
          <p:nvPr/>
        </p:nvSpPr>
        <p:spPr>
          <a:xfrm>
            <a:off x="4157662" y="3107531"/>
            <a:ext cx="1707356" cy="1278731"/>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5" name="New shape"/>
          <p:cNvSpPr txBox="1"/>
          <p:nvPr/>
        </p:nvSpPr>
        <p:spPr>
          <a:xfrm>
            <a:off x="4443412" y="3450431"/>
            <a:ext cx="1135856"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2362" b="1" i="0">
                <a:solidFill>
                  <a:srgbClr val="5B8EF5"/>
                </a:solidFill>
                <a:latin typeface="Poppins"/>
              </a:rPr>
              <a:t>80%</a:t>
            </a:r>
          </a:p>
        </p:txBody>
      </p:sp>
      <p:sp>
        <p:nvSpPr>
          <p:cNvPr id="36" name="New shape"/>
          <p:cNvSpPr txBox="1"/>
          <p:nvPr/>
        </p:nvSpPr>
        <p:spPr>
          <a:xfrm>
            <a:off x="4700588" y="3814762"/>
            <a:ext cx="6143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012" b="0" i="0">
                <a:solidFill>
                  <a:srgbClr val="1C55C7"/>
                </a:solidFill>
                <a:latin typeface="Poppins"/>
              </a:rPr>
              <a:t>291/365</a:t>
            </a:r>
          </a:p>
        </p:txBody>
      </p:sp>
      <p:sp>
        <p:nvSpPr>
          <p:cNvPr id="37" name="New shape"/>
          <p:cNvSpPr txBox="1"/>
          <p:nvPr/>
        </p:nvSpPr>
        <p:spPr>
          <a:xfrm>
            <a:off x="4507706" y="4014788"/>
            <a:ext cx="10001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Have responded!</a:t>
            </a: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a:t>
            </a:r>
          </a:p>
        </p:txBody>
      </p:sp>
      <p:pic>
        <p:nvPicPr>
          <p:cNvPr id="39"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41" name="New shape"/>
          <p:cNvSpPr txBox="1"/>
          <p:nvPr/>
        </p:nvSpPr>
        <p:spPr>
          <a:xfrm flipV="1">
            <a:off x="0" y="0"/>
            <a:ext cx="113082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Reading the results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A short guide:</a:t>
            </a:r>
            <a:r>
              <a:rPr sz="2250" b="1" i="0">
                <a:solidFill>
                  <a:srgbClr val="30B3AF"/>
                </a:solidFill>
                <a:latin typeface="Poppins"/>
              </a:rPr>
              <a:t> Icons</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These icons represent your selected comparison benchmarks.</a:t>
            </a:r>
          </a:p>
        </p:txBody>
      </p:sp>
      <p:grpSp>
        <p:nvGrpSpPr>
          <p:cNvPr id="4" name="Group 3"/>
          <p:cNvGrpSpPr/>
          <p:nvPr/>
        </p:nvGrpSpPr>
        <p:grpSpPr>
          <a:xfrm>
            <a:off x="457200" y="1368743"/>
            <a:ext cx="3871912" cy="120015"/>
            <a:chOff x="-177800" y="733743"/>
            <a:chExt cx="3871912" cy="120015"/>
          </a:xfrm>
        </p:grpSpPr>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177800" y="742315"/>
              <a:ext cx="85725" cy="102870"/>
            </a:xfrm>
            <a:prstGeom prst="rect">
              <a:avLst/>
            </a:prstGeom>
          </p:spPr>
        </p:pic>
        <p:sp>
          <p:nvSpPr>
            <p:cNvPr id="6" name="New shape"/>
            <p:cNvSpPr txBox="1"/>
            <p:nvPr/>
          </p:nvSpPr>
          <p:spPr>
            <a:xfrm>
              <a:off x="-20638" y="733743"/>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C55C7"/>
                  </a:solidFill>
                  <a:latin typeface="Poppins"/>
                </a:rPr>
                <a:t>Current survey</a:t>
              </a:r>
            </a:p>
          </p:txBody>
        </p:sp>
      </p:grpSp>
      <p:sp>
        <p:nvSpPr>
          <p:cNvPr id="7" name="New shape"/>
          <p:cNvSpPr txBox="1"/>
          <p:nvPr/>
        </p:nvSpPr>
        <p:spPr>
          <a:xfrm>
            <a:off x="457200" y="1520190"/>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C55C7"/>
                </a:solidFill>
                <a:latin typeface="Poppins"/>
              </a:rPr>
              <a:t>Current survey scores are marked in blue and compared to one or more items below.</a:t>
            </a:r>
          </a:p>
        </p:txBody>
      </p:sp>
      <p:grpSp>
        <p:nvGrpSpPr>
          <p:cNvPr id="8" name="Group 7"/>
          <p:cNvGrpSpPr/>
          <p:nvPr/>
        </p:nvGrpSpPr>
        <p:grpSpPr>
          <a:xfrm>
            <a:off x="457200" y="2014538"/>
            <a:ext cx="3876199" cy="120015"/>
            <a:chOff x="-177800" y="1379538"/>
            <a:chExt cx="3876199" cy="120015"/>
          </a:xfrm>
        </p:grpSpPr>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177800" y="1394540"/>
              <a:ext cx="90011" cy="90011"/>
            </a:xfrm>
            <a:prstGeom prst="rect">
              <a:avLst/>
            </a:prstGeom>
          </p:spPr>
        </p:pic>
        <p:sp>
          <p:nvSpPr>
            <p:cNvPr id="10" name="New shape"/>
            <p:cNvSpPr txBox="1"/>
            <p:nvPr/>
          </p:nvSpPr>
          <p:spPr>
            <a:xfrm>
              <a:off x="-16351" y="1379538"/>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Previous survey</a:t>
              </a:r>
            </a:p>
          </p:txBody>
        </p:sp>
      </p:grpSp>
      <p:sp>
        <p:nvSpPr>
          <p:cNvPr id="11" name="New shape"/>
          <p:cNvSpPr txBox="1"/>
          <p:nvPr/>
        </p:nvSpPr>
        <p:spPr>
          <a:xfrm>
            <a:off x="457200" y="2165985"/>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Shows the scores of your previous survey.</a:t>
            </a:r>
          </a:p>
        </p:txBody>
      </p:sp>
      <p:grpSp>
        <p:nvGrpSpPr>
          <p:cNvPr id="12" name="Group 11"/>
          <p:cNvGrpSpPr/>
          <p:nvPr/>
        </p:nvGrpSpPr>
        <p:grpSpPr>
          <a:xfrm>
            <a:off x="457200" y="2540317"/>
            <a:ext cx="3876199" cy="120015"/>
            <a:chOff x="-177800" y="1905317"/>
            <a:chExt cx="3876199" cy="120015"/>
          </a:xfrm>
        </p:grpSpPr>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177800" y="1920319"/>
              <a:ext cx="90011" cy="90011"/>
            </a:xfrm>
            <a:prstGeom prst="rect">
              <a:avLst/>
            </a:prstGeom>
          </p:spPr>
        </p:pic>
        <p:sp>
          <p:nvSpPr>
            <p:cNvPr id="14" name="New shape"/>
            <p:cNvSpPr txBox="1"/>
            <p:nvPr/>
          </p:nvSpPr>
          <p:spPr>
            <a:xfrm>
              <a:off x="-16351" y="1905317"/>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Benchmark</a:t>
              </a:r>
            </a:p>
          </p:txBody>
        </p:sp>
      </p:grpSp>
      <p:sp>
        <p:nvSpPr>
          <p:cNvPr id="15" name="New shape"/>
          <p:cNvSpPr txBox="1"/>
          <p:nvPr/>
        </p:nvSpPr>
        <p:spPr>
          <a:xfrm>
            <a:off x="457200" y="269176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compares the current scores to those from your selected benchmark, which can be industry-specific, country-specific or custom-specific.</a:t>
            </a:r>
          </a:p>
        </p:txBody>
      </p:sp>
      <p:grpSp>
        <p:nvGrpSpPr>
          <p:cNvPr id="16" name="Group 15"/>
          <p:cNvGrpSpPr/>
          <p:nvPr/>
        </p:nvGrpSpPr>
        <p:grpSpPr>
          <a:xfrm>
            <a:off x="457200" y="3186112"/>
            <a:ext cx="3876199" cy="120015"/>
            <a:chOff x="-177800" y="2551112"/>
            <a:chExt cx="3876199" cy="120015"/>
          </a:xfrm>
        </p:grpSpPr>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177800" y="2566114"/>
              <a:ext cx="90011" cy="90011"/>
            </a:xfrm>
            <a:prstGeom prst="rect">
              <a:avLst/>
            </a:prstGeom>
          </p:spPr>
        </p:pic>
        <p:sp>
          <p:nvSpPr>
            <p:cNvPr id="18" name="New shape"/>
            <p:cNvSpPr txBox="1"/>
            <p:nvPr/>
          </p:nvSpPr>
          <p:spPr>
            <a:xfrm>
              <a:off x="-16351" y="2551112"/>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Top 3 Benchmark</a:t>
              </a:r>
            </a:p>
          </p:txBody>
        </p:sp>
      </p:grpSp>
      <p:sp>
        <p:nvSpPr>
          <p:cNvPr id="19" name="New shape"/>
          <p:cNvSpPr txBox="1"/>
          <p:nvPr/>
        </p:nvSpPr>
        <p:spPr>
          <a:xfrm>
            <a:off x="457200" y="3337560"/>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Shows the scores of the top three performing companies in your selected benchmark.</a:t>
            </a:r>
          </a:p>
        </p:txBody>
      </p:sp>
      <p:sp>
        <p:nvSpPr>
          <p:cNvPr id="2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a:t>
            </a:r>
          </a:p>
        </p:txBody>
      </p:sp>
      <p:pic>
        <p:nvPicPr>
          <p:cNvPr id="21"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23" name="New shape"/>
          <p:cNvSpPr txBox="1"/>
          <p:nvPr/>
        </p:nvSpPr>
        <p:spPr>
          <a:xfrm flipV="1">
            <a:off x="0" y="0"/>
            <a:ext cx="113082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Reading the results</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Response Rate &amp; Comparison</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Your overall response rate compared to the previous and benchmark scores</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Current</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413105"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571500" y="1798082"/>
            <a:ext cx="150019" cy="150019"/>
          </a:xfrm>
          <a:prstGeom prst="rect">
            <a:avLst/>
          </a:prstGeom>
        </p:spPr>
      </p:pic>
      <p:sp>
        <p:nvSpPr>
          <p:cNvPr id="14" name="New shape"/>
          <p:cNvSpPr txBox="1"/>
          <p:nvPr/>
        </p:nvSpPr>
        <p:spPr>
          <a:xfrm>
            <a:off x="792956"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Previous survey</a:t>
            </a:r>
          </a:p>
        </p:txBody>
      </p:sp>
      <p:sp>
        <p:nvSpPr>
          <p:cNvPr id="15"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73%</a:t>
            </a:r>
          </a:p>
        </p:txBody>
      </p:sp>
      <p:pic>
        <p:nvPicPr>
          <p:cNvPr id="16"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7"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268</a:t>
            </a:r>
          </a:p>
        </p:txBody>
      </p:sp>
      <p:sp>
        <p:nvSpPr>
          <p:cNvPr id="18"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457200" y="2144554"/>
            <a:ext cx="5338953"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5"/>
              </a:ext>
            </a:extLst>
          </a:blip>
          <a:stretch>
            <a:fillRect/>
          </a:stretch>
        </p:blipFill>
        <p:spPr>
          <a:xfrm>
            <a:off x="571500" y="2226707"/>
            <a:ext cx="150019" cy="150019"/>
          </a:xfrm>
          <a:prstGeom prst="rect">
            <a:avLst/>
          </a:prstGeom>
        </p:spPr>
      </p:pic>
      <p:sp>
        <p:nvSpPr>
          <p:cNvPr id="21" name="New shape"/>
          <p:cNvSpPr txBox="1"/>
          <p:nvPr/>
        </p:nvSpPr>
        <p:spPr>
          <a:xfrm>
            <a:off x="792956"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22"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72%</a:t>
            </a:r>
          </a:p>
        </p:txBody>
      </p:sp>
      <p:pic>
        <p:nvPicPr>
          <p:cNvPr id="23" name="New picture"/>
          <p:cNvPicPr/>
          <p:nvPr/>
        </p:nvPicPr>
        <p:blipFill>
          <a:blip>
            <a:extLst>
              <a:ext uri="{96DAC541-7B7A-43D3-8B79-37D633B846F1}">
                <asvg:svgBlip xmlns:asvg="http://schemas.microsoft.com/office/drawing/2016/SVG/main" r:embed="rId6"/>
              </a:ext>
            </a:extLst>
          </a:blip>
          <a:stretch>
            <a:fillRect/>
          </a:stretch>
        </p:blipFill>
        <p:spPr>
          <a:xfrm>
            <a:off x="114300" y="4882753"/>
            <a:ext cx="150019" cy="150019"/>
          </a:xfrm>
          <a:prstGeom prst="rect">
            <a:avLst/>
          </a:prstGeom>
        </p:spPr>
      </p:pic>
      <p:sp>
        <p:nvSpPr>
          <p:cNvPr id="24" name="New shape"/>
          <p:cNvSpPr txBox="1"/>
          <p:nvPr/>
        </p:nvSpPr>
        <p:spPr>
          <a:xfrm>
            <a:off x="335756" y="4897155"/>
            <a:ext cx="634936"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respondents</a:t>
            </a:r>
          </a:p>
        </p:txBody>
      </p:sp>
      <p:pic>
        <p:nvPicPr>
          <p:cNvPr id="25" name="New picture"/>
          <p:cNvPicPr/>
          <p:nvPr/>
        </p:nvPicPr>
        <p:blipFill>
          <a:blip>
            <a:extLst>
              <a:ext uri="{96DAC541-7B7A-43D3-8B79-37D633B846F1}">
                <asvg:svgBlip xmlns:asvg="http://schemas.microsoft.com/office/drawing/2016/SVG/main" r:embed="rId7"/>
              </a:ext>
            </a:extLst>
          </a:blip>
          <a:stretch>
            <a:fillRect/>
          </a:stretch>
        </p:blipFill>
        <p:spPr>
          <a:xfrm>
            <a:off x="1170718" y="4897041"/>
            <a:ext cx="114300" cy="121444"/>
          </a:xfrm>
          <a:prstGeom prst="rect">
            <a:avLst/>
          </a:prstGeom>
        </p:spPr>
      </p:pic>
      <p:sp>
        <p:nvSpPr>
          <p:cNvPr id="26" name="New shape"/>
          <p:cNvSpPr txBox="1"/>
          <p:nvPr/>
        </p:nvSpPr>
        <p:spPr>
          <a:xfrm>
            <a:off x="1356455"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Response rate too low</a:t>
            </a:r>
          </a:p>
        </p:txBody>
      </p:sp>
      <p:sp>
        <p:nvSpPr>
          <p:cNvPr id="2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a:t>
            </a:r>
          </a:p>
        </p:txBody>
      </p:sp>
      <p:sp>
        <p:nvSpPr>
          <p:cNvPr id="2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3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2" name="New shape"/>
          <p:cNvSpPr txBox="1"/>
          <p:nvPr/>
        </p:nvSpPr>
        <p:spPr>
          <a:xfrm flipV="1">
            <a:off x="0" y="0"/>
            <a:ext cx="113082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Reading the results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Response rate per group</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See how many employees completed the survey in all of your groups.</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Current</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042345"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571500"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Communication</a:t>
            </a:r>
          </a:p>
        </p:txBody>
      </p:sp>
      <p:sp>
        <p:nvSpPr>
          <p:cNvPr id="14"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68%</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6"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17"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457200" y="2144554"/>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txBox="1"/>
          <p:nvPr/>
        </p:nvSpPr>
        <p:spPr>
          <a:xfrm>
            <a:off x="571500"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Customer Success</a:t>
            </a:r>
          </a:p>
        </p:txBody>
      </p:sp>
      <p:sp>
        <p:nvSpPr>
          <p:cNvPr id="20"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1" name="New picture"/>
          <p:cNvPicPr/>
          <p:nvPr/>
        </p:nvPicPr>
        <p:blipFill>
          <a:blip>
            <a:extLst>
              <a:ext uri="{96DAC541-7B7A-43D3-8B79-37D633B846F1}">
                <asvg:svgBlip xmlns:asvg="http://schemas.microsoft.com/office/drawing/2016/SVG/main" r:embed="rId3"/>
              </a:ext>
            </a:extLst>
          </a:blip>
          <a:stretch>
            <a:fillRect/>
          </a:stretch>
        </p:blipFill>
        <p:spPr>
          <a:xfrm>
            <a:off x="7986712" y="2226707"/>
            <a:ext cx="150019" cy="150019"/>
          </a:xfrm>
          <a:prstGeom prst="rect">
            <a:avLst/>
          </a:prstGeom>
        </p:spPr>
      </p:pic>
      <p:sp>
        <p:nvSpPr>
          <p:cNvPr id="22" name="New shape"/>
          <p:cNvSpPr txBox="1"/>
          <p:nvPr/>
        </p:nvSpPr>
        <p:spPr>
          <a:xfrm>
            <a:off x="8208169"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112</a:t>
            </a:r>
          </a:p>
        </p:txBody>
      </p:sp>
      <p:sp>
        <p:nvSpPr>
          <p:cNvPr id="23" name="New shape"/>
          <p:cNvSpPr/>
          <p:nvPr/>
        </p:nvSpPr>
        <p:spPr>
          <a:xfrm>
            <a:off x="457200" y="25731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New shape"/>
          <p:cNvSpPr/>
          <p:nvPr/>
        </p:nvSpPr>
        <p:spPr>
          <a:xfrm>
            <a:off x="457200" y="2573179"/>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New shape"/>
          <p:cNvSpPr txBox="1"/>
          <p:nvPr/>
        </p:nvSpPr>
        <p:spPr>
          <a:xfrm>
            <a:off x="571500" y="25731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Finance</a:t>
            </a:r>
          </a:p>
        </p:txBody>
      </p:sp>
      <p:sp>
        <p:nvSpPr>
          <p:cNvPr id="26" name="New shape"/>
          <p:cNvSpPr txBox="1"/>
          <p:nvPr/>
        </p:nvSpPr>
        <p:spPr>
          <a:xfrm>
            <a:off x="6645831"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7" name="New picture"/>
          <p:cNvPicPr/>
          <p:nvPr/>
        </p:nvPicPr>
        <p:blipFill>
          <a:blip>
            <a:extLst>
              <a:ext uri="{96DAC541-7B7A-43D3-8B79-37D633B846F1}">
                <asvg:svgBlip xmlns:asvg="http://schemas.microsoft.com/office/drawing/2016/SVG/main" r:embed="rId3"/>
              </a:ext>
            </a:extLst>
          </a:blip>
          <a:stretch>
            <a:fillRect/>
          </a:stretch>
        </p:blipFill>
        <p:spPr>
          <a:xfrm>
            <a:off x="7986712" y="2655332"/>
            <a:ext cx="150019" cy="150019"/>
          </a:xfrm>
          <a:prstGeom prst="rect">
            <a:avLst/>
          </a:prstGeom>
        </p:spPr>
      </p:pic>
      <p:sp>
        <p:nvSpPr>
          <p:cNvPr id="28" name="New shape"/>
          <p:cNvSpPr txBox="1"/>
          <p:nvPr/>
        </p:nvSpPr>
        <p:spPr>
          <a:xfrm>
            <a:off x="8208169"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29" name="New shape"/>
          <p:cNvSpPr/>
          <p:nvPr/>
        </p:nvSpPr>
        <p:spPr>
          <a:xfrm>
            <a:off x="457200" y="300180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0" name="New shape"/>
          <p:cNvSpPr/>
          <p:nvPr/>
        </p:nvSpPr>
        <p:spPr>
          <a:xfrm>
            <a:off x="457200" y="3001804"/>
            <a:ext cx="570971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txBox="1"/>
          <p:nvPr/>
        </p:nvSpPr>
        <p:spPr>
          <a:xfrm>
            <a:off x="571500" y="300180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Human Resources</a:t>
            </a:r>
          </a:p>
        </p:txBody>
      </p:sp>
      <p:sp>
        <p:nvSpPr>
          <p:cNvPr id="32" name="New shape"/>
          <p:cNvSpPr txBox="1"/>
          <p:nvPr/>
        </p:nvSpPr>
        <p:spPr>
          <a:xfrm>
            <a:off x="6645831"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77%</a:t>
            </a:r>
          </a:p>
        </p:txBody>
      </p:sp>
      <p:pic>
        <p:nvPicPr>
          <p:cNvPr id="33" name="New picture"/>
          <p:cNvPicPr/>
          <p:nvPr/>
        </p:nvPicPr>
        <p:blipFill>
          <a:blip>
            <a:extLst>
              <a:ext uri="{96DAC541-7B7A-43D3-8B79-37D633B846F1}">
                <asvg:svgBlip xmlns:asvg="http://schemas.microsoft.com/office/drawing/2016/SVG/main" r:embed="rId3"/>
              </a:ext>
            </a:extLst>
          </a:blip>
          <a:stretch>
            <a:fillRect/>
          </a:stretch>
        </p:blipFill>
        <p:spPr>
          <a:xfrm>
            <a:off x="7986712" y="3083957"/>
            <a:ext cx="150019" cy="150019"/>
          </a:xfrm>
          <a:prstGeom prst="rect">
            <a:avLst/>
          </a:prstGeom>
        </p:spPr>
      </p:pic>
      <p:sp>
        <p:nvSpPr>
          <p:cNvPr id="34" name="New shape"/>
          <p:cNvSpPr txBox="1"/>
          <p:nvPr/>
        </p:nvSpPr>
        <p:spPr>
          <a:xfrm>
            <a:off x="8208169"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35" name="New shape"/>
          <p:cNvSpPr/>
          <p:nvPr/>
        </p:nvSpPr>
        <p:spPr>
          <a:xfrm>
            <a:off x="457200" y="34304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txBox="1"/>
          <p:nvPr/>
        </p:nvSpPr>
        <p:spPr>
          <a:xfrm>
            <a:off x="571500" y="34304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Management</a:t>
            </a:r>
          </a:p>
        </p:txBody>
      </p:sp>
      <p:sp>
        <p:nvSpPr>
          <p:cNvPr id="37" name="New shape"/>
          <p:cNvSpPr/>
          <p:nvPr/>
        </p:nvSpPr>
        <p:spPr>
          <a:xfrm>
            <a:off x="6645831"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endParaRPr sz="788" b="0" i="0">
              <a:solidFill>
                <a:srgbClr val="546178"/>
              </a:solidFill>
              <a:latin typeface="Poppins"/>
            </a:endParaRPr>
          </a:p>
        </p:txBody>
      </p:sp>
      <p:pic>
        <p:nvPicPr>
          <p:cNvPr id="38" name="New picture"/>
          <p:cNvPicPr/>
          <p:nvPr/>
        </p:nvPicPr>
        <p:blipFill>
          <a:blip>
            <a:extLst>
              <a:ext uri="{96DAC541-7B7A-43D3-8B79-37D633B846F1}">
                <asvg:svgBlip xmlns:asvg="http://schemas.microsoft.com/office/drawing/2016/SVG/main" r:embed="rId4"/>
              </a:ext>
            </a:extLst>
          </a:blip>
          <a:stretch>
            <a:fillRect/>
          </a:stretch>
        </p:blipFill>
        <p:spPr>
          <a:xfrm>
            <a:off x="7986712" y="3526870"/>
            <a:ext cx="114300" cy="121444"/>
          </a:xfrm>
          <a:prstGeom prst="rect">
            <a:avLst/>
          </a:prstGeom>
        </p:spPr>
      </p:pic>
      <p:sp>
        <p:nvSpPr>
          <p:cNvPr id="39" name="New shape"/>
          <p:cNvSpPr/>
          <p:nvPr/>
        </p:nvSpPr>
        <p:spPr>
          <a:xfrm>
            <a:off x="8172450"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endParaRPr sz="788" b="0" i="0">
              <a:solidFill>
                <a:srgbClr val="546178"/>
              </a:solidFill>
              <a:latin typeface="Poppins"/>
            </a:endParaRPr>
          </a:p>
        </p:txBody>
      </p:sp>
      <p:sp>
        <p:nvSpPr>
          <p:cNvPr id="40" name="New shape"/>
          <p:cNvSpPr/>
          <p:nvPr/>
        </p:nvSpPr>
        <p:spPr>
          <a:xfrm>
            <a:off x="457200" y="38590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 y="3859054"/>
            <a:ext cx="6377083"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571500" y="38590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Marketing &amp; Sales</a:t>
            </a:r>
          </a:p>
        </p:txBody>
      </p:sp>
      <p:sp>
        <p:nvSpPr>
          <p:cNvPr id="43" name="New shape"/>
          <p:cNvSpPr txBox="1"/>
          <p:nvPr/>
        </p:nvSpPr>
        <p:spPr>
          <a:xfrm>
            <a:off x="6645831"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86%</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7986712" y="3941207"/>
            <a:ext cx="150019" cy="150019"/>
          </a:xfrm>
          <a:prstGeom prst="rect">
            <a:avLst/>
          </a:prstGeom>
        </p:spPr>
      </p:pic>
      <p:sp>
        <p:nvSpPr>
          <p:cNvPr id="45" name="New shape"/>
          <p:cNvSpPr txBox="1"/>
          <p:nvPr/>
        </p:nvSpPr>
        <p:spPr>
          <a:xfrm>
            <a:off x="8208169"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46" name="New shape"/>
          <p:cNvSpPr/>
          <p:nvPr/>
        </p:nvSpPr>
        <p:spPr>
          <a:xfrm>
            <a:off x="457200" y="42876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p:nvPr/>
        </p:nvSpPr>
        <p:spPr>
          <a:xfrm>
            <a:off x="457200" y="4287679"/>
            <a:ext cx="608047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8" name="New shape"/>
          <p:cNvSpPr txBox="1"/>
          <p:nvPr/>
        </p:nvSpPr>
        <p:spPr>
          <a:xfrm>
            <a:off x="571500" y="42876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Product &amp; Development</a:t>
            </a:r>
          </a:p>
        </p:txBody>
      </p:sp>
      <p:sp>
        <p:nvSpPr>
          <p:cNvPr id="49" name="New shape"/>
          <p:cNvSpPr txBox="1"/>
          <p:nvPr/>
        </p:nvSpPr>
        <p:spPr>
          <a:xfrm>
            <a:off x="6645831"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82%</a:t>
            </a:r>
          </a:p>
        </p:txBody>
      </p:sp>
      <p:pic>
        <p:nvPicPr>
          <p:cNvPr id="50" name="New picture"/>
          <p:cNvPicPr/>
          <p:nvPr/>
        </p:nvPicPr>
        <p:blipFill>
          <a:blip>
            <a:extLst>
              <a:ext uri="{96DAC541-7B7A-43D3-8B79-37D633B846F1}">
                <asvg:svgBlip xmlns:asvg="http://schemas.microsoft.com/office/drawing/2016/SVG/main" r:embed="rId3"/>
              </a:ext>
            </a:extLst>
          </a:blip>
          <a:stretch>
            <a:fillRect/>
          </a:stretch>
        </p:blipFill>
        <p:spPr>
          <a:xfrm>
            <a:off x="7986712" y="4369832"/>
            <a:ext cx="150019" cy="150019"/>
          </a:xfrm>
          <a:prstGeom prst="rect">
            <a:avLst/>
          </a:prstGeom>
        </p:spPr>
      </p:pic>
      <p:sp>
        <p:nvSpPr>
          <p:cNvPr id="51" name="New shape"/>
          <p:cNvSpPr txBox="1"/>
          <p:nvPr/>
        </p:nvSpPr>
        <p:spPr>
          <a:xfrm>
            <a:off x="8208169"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81</a:t>
            </a:r>
          </a:p>
        </p:txBody>
      </p:sp>
      <p:pic>
        <p:nvPicPr>
          <p:cNvPr id="52"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53" name="New shape"/>
          <p:cNvSpPr txBox="1"/>
          <p:nvPr/>
        </p:nvSpPr>
        <p:spPr>
          <a:xfrm>
            <a:off x="335756" y="4897155"/>
            <a:ext cx="634936"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respondents</a:t>
            </a: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170718" y="4897041"/>
            <a:ext cx="114300" cy="121444"/>
          </a:xfrm>
          <a:prstGeom prst="rect">
            <a:avLst/>
          </a:prstGeom>
        </p:spPr>
      </p:pic>
      <p:sp>
        <p:nvSpPr>
          <p:cNvPr id="55" name="New shape"/>
          <p:cNvSpPr txBox="1"/>
          <p:nvPr/>
        </p:nvSpPr>
        <p:spPr>
          <a:xfrm>
            <a:off x="1356455"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Response rate too low</a:t>
            </a:r>
          </a:p>
        </p:txBody>
      </p:sp>
      <p:sp>
        <p:nvSpPr>
          <p:cNvPr id="5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a:t>
            </a:r>
          </a:p>
        </p:txBody>
      </p:sp>
      <p:sp>
        <p:nvSpPr>
          <p:cNvPr id="5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8"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59"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1" name="New shape"/>
          <p:cNvSpPr txBox="1"/>
          <p:nvPr/>
        </p:nvSpPr>
        <p:spPr>
          <a:xfrm flipV="1">
            <a:off x="0" y="0"/>
            <a:ext cx="113082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Reading the results</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Questions that stand out</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457200" y="1114425"/>
            <a:ext cx="285750" cy="285750"/>
          </a:xfrm>
          <a:prstGeom prst="rect">
            <a:avLst/>
          </a:prstGeom>
        </p:spPr>
      </p:pic>
      <p:sp>
        <p:nvSpPr>
          <p:cNvPr id="4" name="New shape"/>
          <p:cNvSpPr txBox="1"/>
          <p:nvPr/>
        </p:nvSpPr>
        <p:spPr>
          <a:xfrm>
            <a:off x="814388" y="1114425"/>
            <a:ext cx="307181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1350" b="0" i="0">
                <a:solidFill>
                  <a:srgbClr val="000000"/>
                </a:solidFill>
                <a:latin typeface="Poppins"/>
              </a:rPr>
              <a:t>Highest scores</a:t>
            </a:r>
          </a:p>
        </p:txBody>
      </p:sp>
      <p:pic>
        <p:nvPicPr>
          <p:cNvPr id="5" name="New picture"/>
          <p:cNvPicPr/>
          <p:nvPr/>
        </p:nvPicPr>
        <p:blipFill>
          <a:blip>
            <a:extLst>
              <a:ext uri="{96DAC541-7B7A-43D3-8B79-37D633B846F1}">
                <asvg:svgBlip xmlns:asvg="http://schemas.microsoft.com/office/drawing/2016/SVG/main" r:embed="rId3"/>
              </a:ext>
            </a:extLst>
          </a:blip>
          <a:stretch>
            <a:fillRect/>
          </a:stretch>
        </p:blipFill>
        <p:spPr>
          <a:xfrm>
            <a:off x="4864894" y="1114425"/>
            <a:ext cx="285750" cy="285750"/>
          </a:xfrm>
          <a:prstGeom prst="rect">
            <a:avLst/>
          </a:prstGeom>
        </p:spPr>
      </p:pic>
      <p:sp>
        <p:nvSpPr>
          <p:cNvPr id="6" name="New shape"/>
          <p:cNvSpPr txBox="1"/>
          <p:nvPr/>
        </p:nvSpPr>
        <p:spPr>
          <a:xfrm>
            <a:off x="5222081" y="1114425"/>
            <a:ext cx="307181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1350" b="0" i="0">
                <a:solidFill>
                  <a:srgbClr val="000000"/>
                </a:solidFill>
                <a:latin typeface="Poppins"/>
              </a:rPr>
              <a:t>Lowest scores</a:t>
            </a:r>
          </a:p>
        </p:txBody>
      </p:sp>
      <p:sp>
        <p:nvSpPr>
          <p:cNvPr id="7" name="New shape"/>
          <p:cNvSpPr txBox="1"/>
          <p:nvPr/>
        </p:nvSpPr>
        <p:spPr>
          <a:xfrm>
            <a:off x="457200" y="1757362"/>
            <a:ext cx="176971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 feel that I fit in at </a:t>
            </a:r>
            <a:r>
              <a:rPr lang="en-US" sz="900" b="0" i="0" dirty="0">
                <a:solidFill>
                  <a:srgbClr val="192743"/>
                </a:solidFill>
                <a:latin typeface="Poppins"/>
              </a:rPr>
              <a:t>Novanta B.V.</a:t>
            </a:r>
            <a:endParaRPr sz="900" b="0" i="0" dirty="0">
              <a:solidFill>
                <a:srgbClr val="192743"/>
              </a:solidFill>
              <a:latin typeface="Poppins"/>
            </a:endParaRPr>
          </a:p>
        </p:txBody>
      </p:sp>
      <p:sp>
        <p:nvSpPr>
          <p:cNvPr id="8" name="New shape"/>
          <p:cNvSpPr/>
          <p:nvPr/>
        </p:nvSpPr>
        <p:spPr>
          <a:xfrm>
            <a:off x="2180257" y="1814512"/>
            <a:ext cx="1648793"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 name="New shape"/>
          <p:cNvSpPr txBox="1"/>
          <p:nvPr/>
        </p:nvSpPr>
        <p:spPr>
          <a:xfrm>
            <a:off x="3886200" y="16716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0" name="New shape"/>
          <p:cNvSpPr txBox="1"/>
          <p:nvPr/>
        </p:nvSpPr>
        <p:spPr>
          <a:xfrm>
            <a:off x="457200" y="2271712"/>
            <a:ext cx="1908016"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 can cope well with my workload</a:t>
            </a:r>
          </a:p>
        </p:txBody>
      </p:sp>
      <p:sp>
        <p:nvSpPr>
          <p:cNvPr id="11" name="New shape"/>
          <p:cNvSpPr/>
          <p:nvPr/>
        </p:nvSpPr>
        <p:spPr>
          <a:xfrm>
            <a:off x="2422366" y="2328862"/>
            <a:ext cx="140668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 name="New shape"/>
          <p:cNvSpPr txBox="1"/>
          <p:nvPr/>
        </p:nvSpPr>
        <p:spPr>
          <a:xfrm>
            <a:off x="3886200" y="21859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75%</a:t>
            </a:r>
          </a:p>
        </p:txBody>
      </p:sp>
      <p:sp>
        <p:nvSpPr>
          <p:cNvPr id="14" name="New shape"/>
          <p:cNvSpPr txBox="1"/>
          <p:nvPr/>
        </p:nvSpPr>
        <p:spPr>
          <a:xfrm>
            <a:off x="457200" y="27003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 have good opportunities to develop myself professionally and personally</a:t>
            </a:r>
          </a:p>
        </p:txBody>
      </p:sp>
      <p:sp>
        <p:nvSpPr>
          <p:cNvPr id="15" name="New shape"/>
          <p:cNvSpPr txBox="1"/>
          <p:nvPr/>
        </p:nvSpPr>
        <p:spPr>
          <a:xfrm>
            <a:off x="3886200" y="27003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6" name="New shape"/>
          <p:cNvSpPr txBox="1"/>
          <p:nvPr/>
        </p:nvSpPr>
        <p:spPr>
          <a:xfrm>
            <a:off x="457200" y="3300412"/>
            <a:ext cx="329653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My team regularly develops good ideas for improvement</a:t>
            </a:r>
          </a:p>
        </p:txBody>
      </p:sp>
      <p:sp>
        <p:nvSpPr>
          <p:cNvPr id="17" name="New shape"/>
          <p:cNvSpPr/>
          <p:nvPr/>
        </p:nvSpPr>
        <p:spPr>
          <a:xfrm>
            <a:off x="3810889" y="3357562"/>
            <a:ext cx="18161"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8" name="New shape"/>
          <p:cNvSpPr txBox="1"/>
          <p:nvPr/>
        </p:nvSpPr>
        <p:spPr>
          <a:xfrm>
            <a:off x="3886200" y="32146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9" name="New shape"/>
          <p:cNvSpPr txBox="1"/>
          <p:nvPr/>
        </p:nvSpPr>
        <p:spPr>
          <a:xfrm>
            <a:off x="457200" y="3814762"/>
            <a:ext cx="293830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The vision for the future of </a:t>
            </a:r>
            <a:r>
              <a:rPr lang="en-US" sz="900" b="0" i="0" dirty="0">
                <a:solidFill>
                  <a:srgbClr val="192743"/>
                </a:solidFill>
                <a:latin typeface="Poppins"/>
              </a:rPr>
              <a:t>Novanta B.V.</a:t>
            </a:r>
            <a:r>
              <a:rPr sz="900" b="0" i="0" dirty="0">
                <a:solidFill>
                  <a:srgbClr val="192743"/>
                </a:solidFill>
                <a:latin typeface="Poppins"/>
              </a:rPr>
              <a:t> inspires me</a:t>
            </a:r>
          </a:p>
        </p:txBody>
      </p:sp>
      <p:sp>
        <p:nvSpPr>
          <p:cNvPr id="20" name="New shape"/>
          <p:cNvSpPr/>
          <p:nvPr/>
        </p:nvSpPr>
        <p:spPr>
          <a:xfrm>
            <a:off x="3349117" y="3871912"/>
            <a:ext cx="479933"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txBox="1"/>
          <p:nvPr/>
        </p:nvSpPr>
        <p:spPr>
          <a:xfrm>
            <a:off x="3886200" y="37290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22" name="New shape"/>
          <p:cNvSpPr txBox="1"/>
          <p:nvPr/>
        </p:nvSpPr>
        <p:spPr>
          <a:xfrm>
            <a:off x="4864894" y="1757362"/>
            <a:ext cx="167071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 enjoy doing my work / tasks</a:t>
            </a:r>
          </a:p>
        </p:txBody>
      </p:sp>
      <p:sp>
        <p:nvSpPr>
          <p:cNvPr id="23" name="New shape"/>
          <p:cNvSpPr/>
          <p:nvPr/>
        </p:nvSpPr>
        <p:spPr>
          <a:xfrm>
            <a:off x="6592760" y="1814512"/>
            <a:ext cx="1643983"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txBox="1"/>
          <p:nvPr/>
        </p:nvSpPr>
        <p:spPr>
          <a:xfrm>
            <a:off x="8293894" y="16716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25" name="New shape"/>
          <p:cNvSpPr txBox="1"/>
          <p:nvPr/>
        </p:nvSpPr>
        <p:spPr>
          <a:xfrm>
            <a:off x="4864894" y="2271712"/>
            <a:ext cx="2703290"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 know what results are expected of me at work</a:t>
            </a:r>
          </a:p>
        </p:txBody>
      </p:sp>
      <p:sp>
        <p:nvSpPr>
          <p:cNvPr id="26" name="New shape"/>
          <p:cNvSpPr/>
          <p:nvPr/>
        </p:nvSpPr>
        <p:spPr>
          <a:xfrm>
            <a:off x="7625334" y="2328862"/>
            <a:ext cx="61141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7" name="New shape"/>
          <p:cNvSpPr txBox="1"/>
          <p:nvPr/>
        </p:nvSpPr>
        <p:spPr>
          <a:xfrm>
            <a:off x="8293894" y="21859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66%</a:t>
            </a:r>
          </a:p>
        </p:txBody>
      </p:sp>
      <p:sp>
        <p:nvSpPr>
          <p:cNvPr id="28" name="New shape"/>
          <p:cNvSpPr txBox="1"/>
          <p:nvPr/>
        </p:nvSpPr>
        <p:spPr>
          <a:xfrm>
            <a:off x="4864894" y="2786062"/>
            <a:ext cx="3417602"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Within </a:t>
            </a:r>
            <a:r>
              <a:rPr lang="en-US" sz="900" b="0" i="0" dirty="0">
                <a:solidFill>
                  <a:srgbClr val="192743"/>
                </a:solidFill>
                <a:latin typeface="Poppins"/>
              </a:rPr>
              <a:t>Novanta B.V.</a:t>
            </a:r>
            <a:r>
              <a:rPr sz="900" b="0" i="0" dirty="0">
                <a:solidFill>
                  <a:srgbClr val="192743"/>
                </a:solidFill>
                <a:latin typeface="Poppins"/>
              </a:rPr>
              <a:t> employees are treated in a fair manner</a:t>
            </a:r>
          </a:p>
        </p:txBody>
      </p:sp>
      <p:sp>
        <p:nvSpPr>
          <p:cNvPr id="29" name="New shape"/>
          <p:cNvSpPr/>
          <p:nvPr/>
        </p:nvSpPr>
        <p:spPr>
          <a:xfrm>
            <a:off x="8236220" y="2843212"/>
            <a:ext cx="52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0" name="New shape"/>
          <p:cNvSpPr txBox="1"/>
          <p:nvPr/>
        </p:nvSpPr>
        <p:spPr>
          <a:xfrm>
            <a:off x="8293894" y="27003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67%</a:t>
            </a:r>
          </a:p>
        </p:txBody>
      </p:sp>
      <p:sp>
        <p:nvSpPr>
          <p:cNvPr id="31" name="New shape"/>
          <p:cNvSpPr txBox="1"/>
          <p:nvPr/>
        </p:nvSpPr>
        <p:spPr>
          <a:xfrm>
            <a:off x="4864894" y="3300412"/>
            <a:ext cx="198291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 am proud to work at </a:t>
            </a:r>
            <a:r>
              <a:rPr lang="en-US" sz="900" b="0" i="0" dirty="0">
                <a:solidFill>
                  <a:srgbClr val="192743"/>
                </a:solidFill>
                <a:latin typeface="Poppins"/>
              </a:rPr>
              <a:t>Novanta B.V.</a:t>
            </a:r>
            <a:endParaRPr sz="900" b="0" i="0" dirty="0">
              <a:solidFill>
                <a:srgbClr val="192743"/>
              </a:solidFill>
              <a:latin typeface="Poppins"/>
            </a:endParaRPr>
          </a:p>
        </p:txBody>
      </p:sp>
      <p:sp>
        <p:nvSpPr>
          <p:cNvPr id="32" name="New shape"/>
          <p:cNvSpPr/>
          <p:nvPr/>
        </p:nvSpPr>
        <p:spPr>
          <a:xfrm>
            <a:off x="6801200" y="3357562"/>
            <a:ext cx="143554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8293894" y="32146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35" name="New shape"/>
          <p:cNvSpPr txBox="1"/>
          <p:nvPr/>
        </p:nvSpPr>
        <p:spPr>
          <a:xfrm>
            <a:off x="4864894" y="37290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900" b="0" i="0" dirty="0">
                <a:solidFill>
                  <a:srgbClr val="192743"/>
                </a:solidFill>
                <a:latin typeface="Poppins"/>
              </a:rPr>
              <a:t>Novanta B.V.</a:t>
            </a:r>
            <a:r>
              <a:rPr sz="900" b="0" i="0" dirty="0">
                <a:solidFill>
                  <a:srgbClr val="192743"/>
                </a:solidFill>
                <a:latin typeface="Poppins"/>
              </a:rPr>
              <a:t> uses employees' ideas and suggestions to improve</a:t>
            </a:r>
          </a:p>
        </p:txBody>
      </p:sp>
      <p:sp>
        <p:nvSpPr>
          <p:cNvPr id="36" name="New shape"/>
          <p:cNvSpPr txBox="1"/>
          <p:nvPr/>
        </p:nvSpPr>
        <p:spPr>
          <a:xfrm>
            <a:off x="8293894" y="37290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37" name="New shape"/>
          <p:cNvSpPr/>
          <p:nvPr/>
        </p:nvSpPr>
        <p:spPr>
          <a:xfrm flipH="1">
            <a:off x="4579144" y="1585912"/>
            <a:ext cx="0" cy="25717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a:t>
            </a:r>
          </a:p>
        </p:txBody>
      </p:sp>
      <p:sp>
        <p:nvSpPr>
          <p:cNvPr id="40" name="New shape"/>
          <p:cNvSpPr txBox="1"/>
          <p:nvPr/>
        </p:nvSpPr>
        <p:spPr>
          <a:xfrm flipV="1">
            <a:off x="0" y="0"/>
            <a:ext cx="113082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Reading the results</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Employee Net Promoter Score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&amp; Benchmark comparison</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 eNPS shows you to what extent your employees would recommend your organisation as a good employer.</a:t>
            </a:r>
          </a:p>
        </p:txBody>
      </p:sp>
      <p:sp>
        <p:nvSpPr>
          <p:cNvPr id="4" name="New shape"/>
          <p:cNvSpPr/>
          <p:nvPr/>
        </p:nvSpPr>
        <p:spPr>
          <a:xfrm>
            <a:off x="457200" y="1314450"/>
            <a:ext cx="1971675" cy="628650"/>
          </a:xfrm>
          <a:prstGeom prst="roundRect">
            <a:avLst>
              <a:gd name="adj" fmla="val 6000"/>
            </a:avLst>
          </a:prstGeom>
          <a:solidFill>
            <a:srgbClr val="F5F7FA"/>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5" name="Group 4"/>
          <p:cNvGrpSpPr/>
          <p:nvPr/>
        </p:nvGrpSpPr>
        <p:grpSpPr>
          <a:xfrm>
            <a:off x="1131824" y="1428750"/>
            <a:ext cx="736727" cy="171450"/>
            <a:chOff x="-120650" y="793750"/>
            <a:chExt cx="736727" cy="171450"/>
          </a:xfrm>
        </p:grpSpPr>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120650" y="793750"/>
              <a:ext cx="171450" cy="171450"/>
            </a:xfrm>
            <a:prstGeom prst="rect">
              <a:avLst/>
            </a:prstGeom>
          </p:spPr>
        </p:pic>
        <p:sp>
          <p:nvSpPr>
            <p:cNvPr id="7" name="New shape"/>
            <p:cNvSpPr txBox="1"/>
            <p:nvPr/>
          </p:nvSpPr>
          <p:spPr>
            <a:xfrm>
              <a:off x="122237" y="810209"/>
              <a:ext cx="49383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Passives</a:t>
              </a:r>
            </a:p>
          </p:txBody>
        </p:sp>
      </p:grpSp>
      <p:sp>
        <p:nvSpPr>
          <p:cNvPr id="8" name="New shape"/>
          <p:cNvSpPr txBox="1"/>
          <p:nvPr/>
        </p:nvSpPr>
        <p:spPr>
          <a:xfrm>
            <a:off x="457200"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17%</a:t>
            </a:r>
          </a:p>
        </p:txBody>
      </p:sp>
      <p:grpSp>
        <p:nvGrpSpPr>
          <p:cNvPr id="9" name="Group 8"/>
          <p:cNvGrpSpPr/>
          <p:nvPr/>
        </p:nvGrpSpPr>
        <p:grpSpPr>
          <a:xfrm>
            <a:off x="1347827" y="2025367"/>
            <a:ext cx="304721" cy="121215"/>
            <a:chOff x="-120650" y="1390367"/>
            <a:chExt cx="304721" cy="121215"/>
          </a:xfrm>
        </p:grpSpPr>
        <p:pic>
          <p:nvPicPr>
            <p:cNvPr id="10" name="New picture"/>
            <p:cNvPicPr/>
            <p:nvPr/>
          </p:nvPicPr>
          <p:blipFill>
            <a:blip>
              <a:extLst>
                <a:ext uri="{96DAC541-7B7A-43D3-8B79-37D633B846F1}">
                  <asvg:svgBlip xmlns:asvg="http://schemas.microsoft.com/office/drawing/2016/SVG/main" r:embed="rId3"/>
                </a:ext>
              </a:extLst>
            </a:blip>
            <a:stretch>
              <a:fillRect/>
            </a:stretch>
          </p:blipFill>
          <p:spPr>
            <a:xfrm>
              <a:off x="-120650" y="1398468"/>
              <a:ext cx="105013" cy="105013"/>
            </a:xfrm>
            <a:prstGeom prst="rect">
              <a:avLst/>
            </a:prstGeom>
          </p:spPr>
        </p:pic>
        <p:sp>
          <p:nvSpPr>
            <p:cNvPr id="11" name="New shape"/>
            <p:cNvSpPr txBox="1"/>
            <p:nvPr/>
          </p:nvSpPr>
          <p:spPr>
            <a:xfrm>
              <a:off x="55801" y="1390367"/>
              <a:ext cx="12827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48</a:t>
              </a:r>
            </a:p>
          </p:txBody>
        </p:sp>
      </p:grpSp>
      <p:sp>
        <p:nvSpPr>
          <p:cNvPr id="12" name="New shape"/>
          <p:cNvSpPr/>
          <p:nvPr/>
        </p:nvSpPr>
        <p:spPr>
          <a:xfrm flipH="1">
            <a:off x="2571750" y="1457325"/>
            <a:ext cx="0" cy="342900"/>
          </a:xfrm>
          <a:prstGeom prst="line">
            <a:avLst/>
          </a:prstGeom>
          <a:ln w="254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p:nvPr/>
        </p:nvSpPr>
        <p:spPr>
          <a:xfrm>
            <a:off x="27146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3338743" y="1428750"/>
            <a:ext cx="837740" cy="171450"/>
            <a:chOff x="2136775" y="793750"/>
            <a:chExt cx="837740" cy="171450"/>
          </a:xfrm>
        </p:grpSpPr>
        <p:pic>
          <p:nvPicPr>
            <p:cNvPr id="15" name="New picture"/>
            <p:cNvPicPr/>
            <p:nvPr/>
          </p:nvPicPr>
          <p:blipFill>
            <a:blip>
              <a:extLst>
                <a:ext uri="{96DAC541-7B7A-43D3-8B79-37D633B846F1}">
                  <asvg:svgBlip xmlns:asvg="http://schemas.microsoft.com/office/drawing/2016/SVG/main" r:embed="rId4"/>
                </a:ext>
              </a:extLst>
            </a:blip>
            <a:stretch>
              <a:fillRect/>
            </a:stretch>
          </p:blipFill>
          <p:spPr>
            <a:xfrm>
              <a:off x="2136775" y="793750"/>
              <a:ext cx="171450" cy="171450"/>
            </a:xfrm>
            <a:prstGeom prst="rect">
              <a:avLst/>
            </a:prstGeom>
          </p:spPr>
        </p:pic>
        <p:sp>
          <p:nvSpPr>
            <p:cNvPr id="16" name="New shape"/>
            <p:cNvSpPr txBox="1"/>
            <p:nvPr/>
          </p:nvSpPr>
          <p:spPr>
            <a:xfrm>
              <a:off x="2379662" y="810209"/>
              <a:ext cx="594852"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Promoters</a:t>
              </a:r>
            </a:p>
          </p:txBody>
        </p:sp>
      </p:grpSp>
      <p:sp>
        <p:nvSpPr>
          <p:cNvPr id="17" name="New shape"/>
          <p:cNvSpPr txBox="1"/>
          <p:nvPr/>
        </p:nvSpPr>
        <p:spPr>
          <a:xfrm>
            <a:off x="27146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59%</a:t>
            </a:r>
          </a:p>
        </p:txBody>
      </p:sp>
      <p:grpSp>
        <p:nvGrpSpPr>
          <p:cNvPr id="18" name="Group 17"/>
          <p:cNvGrpSpPr/>
          <p:nvPr/>
        </p:nvGrpSpPr>
        <p:grpSpPr>
          <a:xfrm>
            <a:off x="3596434" y="2025367"/>
            <a:ext cx="322358" cy="121215"/>
            <a:chOff x="2136775" y="1390367"/>
            <a:chExt cx="322358" cy="121215"/>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2136775" y="1398468"/>
              <a:ext cx="105013" cy="105013"/>
            </a:xfrm>
            <a:prstGeom prst="rect">
              <a:avLst/>
            </a:prstGeom>
          </p:spPr>
        </p:pic>
        <p:sp>
          <p:nvSpPr>
            <p:cNvPr id="20" name="New shape"/>
            <p:cNvSpPr txBox="1"/>
            <p:nvPr/>
          </p:nvSpPr>
          <p:spPr>
            <a:xfrm>
              <a:off x="2313225" y="1390367"/>
              <a:ext cx="14590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173</a:t>
              </a:r>
            </a:p>
          </p:txBody>
        </p:sp>
      </p:grpSp>
      <p:sp>
        <p:nvSpPr>
          <p:cNvPr id="21" name="New shape"/>
          <p:cNvSpPr/>
          <p:nvPr/>
        </p:nvSpPr>
        <p:spPr>
          <a:xfrm>
            <a:off x="4829175" y="1628775"/>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New shape"/>
          <p:cNvSpPr/>
          <p:nvPr/>
        </p:nvSpPr>
        <p:spPr>
          <a:xfrm>
            <a:off x="51149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23" name="Group 22"/>
          <p:cNvGrpSpPr/>
          <p:nvPr/>
        </p:nvGrpSpPr>
        <p:grpSpPr>
          <a:xfrm>
            <a:off x="5732629" y="1428750"/>
            <a:ext cx="850567" cy="171450"/>
            <a:chOff x="4537075" y="793750"/>
            <a:chExt cx="850567" cy="171450"/>
          </a:xfrm>
        </p:grpSpPr>
        <p:pic>
          <p:nvPicPr>
            <p:cNvPr id="24" name="New picture"/>
            <p:cNvPicPr/>
            <p:nvPr/>
          </p:nvPicPr>
          <p:blipFill>
            <a:blip>
              <a:extLst>
                <a:ext uri="{96DAC541-7B7A-43D3-8B79-37D633B846F1}">
                  <asvg:svgBlip xmlns:asvg="http://schemas.microsoft.com/office/drawing/2016/SVG/main" r:embed="rId5"/>
                </a:ext>
              </a:extLst>
            </a:blip>
            <a:stretch>
              <a:fillRect/>
            </a:stretch>
          </p:blipFill>
          <p:spPr>
            <a:xfrm>
              <a:off x="4537075" y="793750"/>
              <a:ext cx="171450" cy="171450"/>
            </a:xfrm>
            <a:prstGeom prst="rect">
              <a:avLst/>
            </a:prstGeom>
          </p:spPr>
        </p:pic>
        <p:sp>
          <p:nvSpPr>
            <p:cNvPr id="25" name="New shape"/>
            <p:cNvSpPr txBox="1"/>
            <p:nvPr/>
          </p:nvSpPr>
          <p:spPr>
            <a:xfrm>
              <a:off x="4779962" y="810209"/>
              <a:ext cx="60767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Detractors</a:t>
              </a:r>
            </a:p>
          </p:txBody>
        </p:sp>
      </p:grpSp>
      <p:sp>
        <p:nvSpPr>
          <p:cNvPr id="26" name="New shape"/>
          <p:cNvSpPr txBox="1"/>
          <p:nvPr/>
        </p:nvSpPr>
        <p:spPr>
          <a:xfrm>
            <a:off x="51149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24%</a:t>
            </a:r>
          </a:p>
        </p:txBody>
      </p:sp>
      <p:grpSp>
        <p:nvGrpSpPr>
          <p:cNvPr id="27" name="Group 26"/>
          <p:cNvGrpSpPr/>
          <p:nvPr/>
        </p:nvGrpSpPr>
        <p:grpSpPr>
          <a:xfrm>
            <a:off x="6010362" y="2025367"/>
            <a:ext cx="295101" cy="121215"/>
            <a:chOff x="4537075" y="1390367"/>
            <a:chExt cx="295101" cy="121215"/>
          </a:xfrm>
        </p:grpSpPr>
        <p:pic>
          <p:nvPicPr>
            <p:cNvPr id="28" name="New picture"/>
            <p:cNvPicPr/>
            <p:nvPr/>
          </p:nvPicPr>
          <p:blipFill>
            <a:blip>
              <a:extLst>
                <a:ext uri="{96DAC541-7B7A-43D3-8B79-37D633B846F1}">
                  <asvg:svgBlip xmlns:asvg="http://schemas.microsoft.com/office/drawing/2016/SVG/main" r:embed="rId3"/>
                </a:ext>
              </a:extLst>
            </a:blip>
            <a:stretch>
              <a:fillRect/>
            </a:stretch>
          </p:blipFill>
          <p:spPr>
            <a:xfrm>
              <a:off x="4537075" y="1398468"/>
              <a:ext cx="105013" cy="105013"/>
            </a:xfrm>
            <a:prstGeom prst="rect">
              <a:avLst/>
            </a:prstGeom>
          </p:spPr>
        </p:pic>
        <p:sp>
          <p:nvSpPr>
            <p:cNvPr id="29" name="New shape"/>
            <p:cNvSpPr txBox="1"/>
            <p:nvPr/>
          </p:nvSpPr>
          <p:spPr>
            <a:xfrm>
              <a:off x="4713526" y="1390367"/>
              <a:ext cx="11865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70</a:t>
              </a:r>
            </a:p>
          </p:txBody>
        </p:sp>
      </p:grpSp>
      <p:sp>
        <p:nvSpPr>
          <p:cNvPr id="30" name="New shape"/>
          <p:cNvSpPr/>
          <p:nvPr/>
        </p:nvSpPr>
        <p:spPr>
          <a:xfrm>
            <a:off x="7229475" y="160020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p:nvPr/>
        </p:nvSpPr>
        <p:spPr>
          <a:xfrm>
            <a:off x="7229475" y="165735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7515225" y="1314450"/>
            <a:ext cx="1143000" cy="628650"/>
          </a:xfrm>
          <a:prstGeom prst="roundRect">
            <a:avLst>
              <a:gd name="adj" fmla="val 6000"/>
            </a:avLst>
          </a:prstGeom>
          <a:solidFill>
            <a:srgbClr val="EFF4FF"/>
          </a:solidFill>
          <a:ln w="12700">
            <a:solidFill>
              <a:srgbClr val="E4E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7515225" y="14287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0" i="0">
                <a:solidFill>
                  <a:srgbClr val="1C55C7"/>
                </a:solidFill>
                <a:latin typeface="Poppins"/>
              </a:rPr>
              <a:t>eNPS</a:t>
            </a:r>
          </a:p>
        </p:txBody>
      </p:sp>
      <p:sp>
        <p:nvSpPr>
          <p:cNvPr id="34" name="New shape"/>
          <p:cNvSpPr txBox="1"/>
          <p:nvPr/>
        </p:nvSpPr>
        <p:spPr>
          <a:xfrm>
            <a:off x="7515225" y="16573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462" b="1" i="0">
                <a:solidFill>
                  <a:srgbClr val="192743"/>
                </a:solidFill>
                <a:latin typeface="Poppins"/>
              </a:rPr>
              <a:t>35</a:t>
            </a:r>
          </a:p>
        </p:txBody>
      </p:sp>
      <p:sp>
        <p:nvSpPr>
          <p:cNvPr id="35" name="New shape"/>
          <p:cNvSpPr/>
          <p:nvPr/>
        </p:nvSpPr>
        <p:spPr>
          <a:xfrm>
            <a:off x="457200" y="2443162"/>
            <a:ext cx="8229600" cy="257175"/>
          </a:xfrm>
          <a:prstGeom prst="roundRect">
            <a:avLst>
              <a:gd name="adj" fmla="val 12000"/>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p:nvPr/>
        </p:nvSpPr>
        <p:spPr>
          <a:xfrm>
            <a:off x="4572000" y="2443162"/>
            <a:ext cx="1440180" cy="257175"/>
          </a:xfrm>
          <a:prstGeom prst="roundRect">
            <a:avLst>
              <a:gd name="adj" fmla="val 12000"/>
            </a:avLst>
          </a:prstGeom>
          <a:solidFill>
            <a:srgbClr val="C3D4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New shape"/>
          <p:cNvSpPr txBox="1"/>
          <p:nvPr/>
        </p:nvSpPr>
        <p:spPr>
          <a:xfrm>
            <a:off x="4572000" y="24431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35</a:t>
            </a: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1500" y="2486025"/>
            <a:ext cx="142875" cy="171450"/>
          </a:xfrm>
          <a:prstGeom prst="rect">
            <a:avLst/>
          </a:prstGeom>
        </p:spPr>
      </p:pic>
      <p:sp>
        <p:nvSpPr>
          <p:cNvPr id="39" name="New shape"/>
          <p:cNvSpPr txBox="1"/>
          <p:nvPr/>
        </p:nvSpPr>
        <p:spPr>
          <a:xfrm>
            <a:off x="785812" y="24431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Current</a:t>
            </a:r>
          </a:p>
        </p:txBody>
      </p:sp>
      <p:sp>
        <p:nvSpPr>
          <p:cNvPr id="40" name="New shape"/>
          <p:cNvSpPr/>
          <p:nvPr/>
        </p:nvSpPr>
        <p:spPr>
          <a:xfrm>
            <a:off x="457200" y="27574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0" y="2757488"/>
            <a:ext cx="94640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4572000" y="27574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23</a:t>
            </a:r>
          </a:p>
        </p:txBody>
      </p:sp>
      <p:pic>
        <p:nvPicPr>
          <p:cNvPr id="43" name="New picture"/>
          <p:cNvPicPr/>
          <p:nvPr/>
        </p:nvPicPr>
        <p:blipFill>
          <a:blip>
            <a:extLst>
              <a:ext uri="{96DAC541-7B7A-43D3-8B79-37D633B846F1}">
                <asvg:svgBlip xmlns:asvg="http://schemas.microsoft.com/office/drawing/2016/SVG/main" r:embed="rId7"/>
              </a:ext>
            </a:extLst>
          </a:blip>
          <a:stretch>
            <a:fillRect/>
          </a:stretch>
        </p:blipFill>
        <p:spPr>
          <a:xfrm>
            <a:off x="571500" y="2811066"/>
            <a:ext cx="150019" cy="150019"/>
          </a:xfrm>
          <a:prstGeom prst="rect">
            <a:avLst/>
          </a:prstGeom>
        </p:spPr>
      </p:pic>
      <p:sp>
        <p:nvSpPr>
          <p:cNvPr id="44" name="New shape"/>
          <p:cNvSpPr txBox="1"/>
          <p:nvPr/>
        </p:nvSpPr>
        <p:spPr>
          <a:xfrm>
            <a:off x="792956" y="27574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Previous survey</a:t>
            </a:r>
          </a:p>
        </p:txBody>
      </p:sp>
      <p:sp>
        <p:nvSpPr>
          <p:cNvPr id="45" name="New shape"/>
          <p:cNvSpPr/>
          <p:nvPr/>
        </p:nvSpPr>
        <p:spPr>
          <a:xfrm>
            <a:off x="457200" y="307181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572000" y="3071812"/>
            <a:ext cx="82296"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572000" y="307181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a:t>
            </a:r>
          </a:p>
        </p:txBody>
      </p:sp>
      <p:pic>
        <p:nvPicPr>
          <p:cNvPr id="48" name="New picture"/>
          <p:cNvPicPr/>
          <p:nvPr/>
        </p:nvPicPr>
        <p:blipFill>
          <a:blip>
            <a:extLst>
              <a:ext uri="{96DAC541-7B7A-43D3-8B79-37D633B846F1}">
                <asvg:svgBlip xmlns:asvg="http://schemas.microsoft.com/office/drawing/2016/SVG/main" r:embed="rId8"/>
              </a:ext>
            </a:extLst>
          </a:blip>
          <a:stretch>
            <a:fillRect/>
          </a:stretch>
        </p:blipFill>
        <p:spPr>
          <a:xfrm>
            <a:off x="571500" y="3125391"/>
            <a:ext cx="150019" cy="150019"/>
          </a:xfrm>
          <a:prstGeom prst="rect">
            <a:avLst/>
          </a:prstGeom>
        </p:spPr>
      </p:pic>
      <p:sp>
        <p:nvSpPr>
          <p:cNvPr id="49" name="New shape"/>
          <p:cNvSpPr txBox="1"/>
          <p:nvPr/>
        </p:nvSpPr>
        <p:spPr>
          <a:xfrm>
            <a:off x="792956" y="307181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Global Index</a:t>
            </a:r>
          </a:p>
        </p:txBody>
      </p:sp>
      <p:sp>
        <p:nvSpPr>
          <p:cNvPr id="50" name="New shape"/>
          <p:cNvSpPr/>
          <p:nvPr/>
        </p:nvSpPr>
        <p:spPr>
          <a:xfrm>
            <a:off x="457200" y="338613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1" name="New shape"/>
          <p:cNvSpPr txBox="1"/>
          <p:nvPr/>
        </p:nvSpPr>
        <p:spPr>
          <a:xfrm>
            <a:off x="457200" y="3386138"/>
            <a:ext cx="822960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0" i="0">
                <a:solidFill>
                  <a:srgbClr val="192743"/>
                </a:solidFill>
                <a:latin typeface="Poppins"/>
              </a:rPr>
              <a:t>results unavailable</a:t>
            </a:r>
          </a:p>
        </p:txBody>
      </p:sp>
      <p:pic>
        <p:nvPicPr>
          <p:cNvPr id="52" name="New picture"/>
          <p:cNvPicPr/>
          <p:nvPr/>
        </p:nvPicPr>
        <p:blipFill>
          <a:blip>
            <a:extLst>
              <a:ext uri="{96DAC541-7B7A-43D3-8B79-37D633B846F1}">
                <asvg:svgBlip xmlns:asvg="http://schemas.microsoft.com/office/drawing/2016/SVG/main" r:embed="rId9"/>
              </a:ext>
            </a:extLst>
          </a:blip>
          <a:stretch>
            <a:fillRect/>
          </a:stretch>
        </p:blipFill>
        <p:spPr>
          <a:xfrm>
            <a:off x="571500" y="3439716"/>
            <a:ext cx="150019" cy="150019"/>
          </a:xfrm>
          <a:prstGeom prst="rect">
            <a:avLst/>
          </a:prstGeom>
        </p:spPr>
      </p:pic>
      <p:sp>
        <p:nvSpPr>
          <p:cNvPr id="53" name="New shape"/>
          <p:cNvSpPr txBox="1"/>
          <p:nvPr/>
        </p:nvSpPr>
        <p:spPr>
          <a:xfrm>
            <a:off x="792956" y="338613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Global Index</a:t>
            </a:r>
          </a:p>
        </p:txBody>
      </p:sp>
      <p:sp>
        <p:nvSpPr>
          <p:cNvPr id="54" name="New shape"/>
          <p:cNvSpPr/>
          <p:nvPr/>
        </p:nvSpPr>
        <p:spPr>
          <a:xfrm>
            <a:off x="457200" y="370046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5" name="New shape"/>
          <p:cNvSpPr/>
          <p:nvPr/>
        </p:nvSpPr>
        <p:spPr>
          <a:xfrm>
            <a:off x="4572000" y="3700462"/>
            <a:ext cx="658368"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6" name="New shape"/>
          <p:cNvSpPr txBox="1"/>
          <p:nvPr/>
        </p:nvSpPr>
        <p:spPr>
          <a:xfrm>
            <a:off x="4572000" y="37004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16</a:t>
            </a:r>
          </a:p>
        </p:txBody>
      </p:sp>
      <p:pic>
        <p:nvPicPr>
          <p:cNvPr id="57" name="New picture"/>
          <p:cNvPicPr/>
          <p:nvPr/>
        </p:nvPicPr>
        <p:blipFill>
          <a:blip>
            <a:extLst>
              <a:ext uri="{96DAC541-7B7A-43D3-8B79-37D633B846F1}">
                <asvg:svgBlip xmlns:asvg="http://schemas.microsoft.com/office/drawing/2016/SVG/main" r:embed="rId8"/>
              </a:ext>
            </a:extLst>
          </a:blip>
          <a:stretch>
            <a:fillRect/>
          </a:stretch>
        </p:blipFill>
        <p:spPr>
          <a:xfrm>
            <a:off x="571500" y="3754041"/>
            <a:ext cx="150019" cy="150019"/>
          </a:xfrm>
          <a:prstGeom prst="rect">
            <a:avLst/>
          </a:prstGeom>
        </p:spPr>
      </p:pic>
      <p:sp>
        <p:nvSpPr>
          <p:cNvPr id="58" name="New shape"/>
          <p:cNvSpPr txBox="1"/>
          <p:nvPr/>
        </p:nvSpPr>
        <p:spPr>
          <a:xfrm>
            <a:off x="792956" y="37004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59" name="New shape"/>
          <p:cNvSpPr/>
          <p:nvPr/>
        </p:nvSpPr>
        <p:spPr>
          <a:xfrm>
            <a:off x="457200" y="40147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0" name="New shape"/>
          <p:cNvSpPr/>
          <p:nvPr/>
        </p:nvSpPr>
        <p:spPr>
          <a:xfrm>
            <a:off x="4572000" y="4014788"/>
            <a:ext cx="279806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1" name="New shape"/>
          <p:cNvSpPr txBox="1"/>
          <p:nvPr/>
        </p:nvSpPr>
        <p:spPr>
          <a:xfrm>
            <a:off x="4572000" y="40147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68</a:t>
            </a:r>
          </a:p>
        </p:txBody>
      </p:sp>
      <p:pic>
        <p:nvPicPr>
          <p:cNvPr id="62" name="New picture"/>
          <p:cNvPicPr/>
          <p:nvPr/>
        </p:nvPicPr>
        <p:blipFill>
          <a:blip>
            <a:extLst>
              <a:ext uri="{96DAC541-7B7A-43D3-8B79-37D633B846F1}">
                <asvg:svgBlip xmlns:asvg="http://schemas.microsoft.com/office/drawing/2016/SVG/main" r:embed="rId10"/>
              </a:ext>
            </a:extLst>
          </a:blip>
          <a:stretch>
            <a:fillRect/>
          </a:stretch>
        </p:blipFill>
        <p:spPr>
          <a:xfrm>
            <a:off x="571500" y="4068366"/>
            <a:ext cx="150019" cy="150019"/>
          </a:xfrm>
          <a:prstGeom prst="rect">
            <a:avLst/>
          </a:prstGeom>
        </p:spPr>
      </p:pic>
      <p:sp>
        <p:nvSpPr>
          <p:cNvPr id="63" name="New shape"/>
          <p:cNvSpPr txBox="1"/>
          <p:nvPr/>
        </p:nvSpPr>
        <p:spPr>
          <a:xfrm>
            <a:off x="792956" y="40147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B2B</a:t>
            </a:r>
          </a:p>
        </p:txBody>
      </p:sp>
      <p:sp>
        <p:nvSpPr>
          <p:cNvPr id="64" name="New shape"/>
          <p:cNvSpPr/>
          <p:nvPr/>
        </p:nvSpPr>
        <p:spPr>
          <a:xfrm>
            <a:off x="457200" y="4400550"/>
            <a:ext cx="8229600" cy="0"/>
          </a:xfrm>
          <a:prstGeom prst="line">
            <a:avLst/>
          </a:prstGeom>
          <a:ln w="1270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5" name="New shape"/>
          <p:cNvSpPr/>
          <p:nvPr/>
        </p:nvSpPr>
        <p:spPr>
          <a:xfrm flipH="1">
            <a:off x="4572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0" i="0">
                <a:solidFill>
                  <a:srgbClr val="546178"/>
                </a:solidFill>
                <a:latin typeface="Poppins"/>
              </a:rPr>
              <a:t>-100</a:t>
            </a:r>
          </a:p>
        </p:txBody>
      </p:sp>
      <p:sp>
        <p:nvSpPr>
          <p:cNvPr id="67" name="New shape"/>
          <p:cNvSpPr/>
          <p:nvPr/>
        </p:nvSpPr>
        <p:spPr>
          <a:xfrm flipH="1">
            <a:off x="45720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8" name="New shape"/>
          <p:cNvSpPr txBox="1"/>
          <p:nvPr/>
        </p:nvSpPr>
        <p:spPr>
          <a:xfrm>
            <a:off x="4429125"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788" b="0" i="0">
                <a:solidFill>
                  <a:srgbClr val="546178"/>
                </a:solidFill>
                <a:latin typeface="Poppins"/>
              </a:rPr>
              <a:t>0</a:t>
            </a:r>
          </a:p>
        </p:txBody>
      </p:sp>
      <p:sp>
        <p:nvSpPr>
          <p:cNvPr id="69" name="New shape"/>
          <p:cNvSpPr/>
          <p:nvPr/>
        </p:nvSpPr>
        <p:spPr>
          <a:xfrm flipH="1">
            <a:off x="86868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0" name="New shape"/>
          <p:cNvSpPr txBox="1"/>
          <p:nvPr/>
        </p:nvSpPr>
        <p:spPr>
          <a:xfrm>
            <a:off x="840105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r">
              <a:lnSpc>
                <a:spcPct val="100000"/>
              </a:lnSpc>
            </a:pPr>
            <a:r>
              <a:rPr sz="788" b="0" i="0">
                <a:solidFill>
                  <a:srgbClr val="546178"/>
                </a:solidFill>
                <a:latin typeface="Poppins"/>
              </a:rPr>
              <a:t>100</a:t>
            </a:r>
          </a:p>
        </p:txBody>
      </p:sp>
      <p:pic>
        <p:nvPicPr>
          <p:cNvPr id="71" name="New picture"/>
          <p:cNvPicPr/>
          <p:nvPr/>
        </p:nvPicPr>
        <p:blipFill>
          <a:blip>
            <a:extLst>
              <a:ext uri="{96DAC541-7B7A-43D3-8B79-37D633B846F1}">
                <asvg:svgBlip xmlns:asvg="http://schemas.microsoft.com/office/drawing/2016/SVG/main" r:embed="rId11"/>
              </a:ext>
            </a:extLst>
          </a:blip>
          <a:stretch>
            <a:fillRect/>
          </a:stretch>
        </p:blipFill>
        <p:spPr>
          <a:xfrm>
            <a:off x="114300" y="4882753"/>
            <a:ext cx="150019" cy="150019"/>
          </a:xfrm>
          <a:prstGeom prst="rect">
            <a:avLst/>
          </a:prstGeom>
        </p:spPr>
      </p:pic>
      <p:sp>
        <p:nvSpPr>
          <p:cNvPr id="72" name="New shape"/>
          <p:cNvSpPr txBox="1"/>
          <p:nvPr/>
        </p:nvSpPr>
        <p:spPr>
          <a:xfrm>
            <a:off x="335756" y="4897155"/>
            <a:ext cx="634936"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respondents</a:t>
            </a:r>
          </a:p>
        </p:txBody>
      </p:sp>
      <p:sp>
        <p:nvSpPr>
          <p:cNvPr id="73" name="New shape"/>
          <p:cNvSpPr txBox="1"/>
          <p:nvPr/>
        </p:nvSpPr>
        <p:spPr>
          <a:xfrm>
            <a:off x="2093119" y="4829368"/>
            <a:ext cx="3571875" cy="24250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dirty="0">
                <a:solidFill>
                  <a:srgbClr val="192743"/>
                </a:solidFill>
                <a:latin typeface="Poppins"/>
              </a:rPr>
              <a:t>How likely is it that you would recommend </a:t>
            </a:r>
            <a:r>
              <a:rPr lang="en-US" sz="788" b="0" i="0" dirty="0">
                <a:solidFill>
                  <a:srgbClr val="192743"/>
                </a:solidFill>
                <a:latin typeface="Poppins"/>
              </a:rPr>
              <a:t>Novanta B.V.</a:t>
            </a:r>
            <a:r>
              <a:rPr sz="788" b="0" i="0" dirty="0">
                <a:solidFill>
                  <a:srgbClr val="192743"/>
                </a:solidFill>
                <a:latin typeface="Poppins"/>
              </a:rPr>
              <a:t> as an employer to others?</a:t>
            </a:r>
          </a:p>
        </p:txBody>
      </p:sp>
      <p:pic>
        <p:nvPicPr>
          <p:cNvPr id="74" name="New picture"/>
          <p:cNvPicPr/>
          <p:nvPr/>
        </p:nvPicPr>
        <p:blipFill>
          <a:blip>
            <a:extLst>
              <a:ext uri="{96DAC541-7B7A-43D3-8B79-37D633B846F1}">
                <asvg:svgBlip xmlns:asvg="http://schemas.microsoft.com/office/drawing/2016/SVG/main" r:embed="rId5"/>
              </a:ext>
            </a:extLst>
          </a:blip>
          <a:stretch>
            <a:fillRect/>
          </a:stretch>
        </p:blipFill>
        <p:spPr>
          <a:xfrm>
            <a:off x="5750719" y="4857750"/>
            <a:ext cx="171450" cy="171450"/>
          </a:xfrm>
          <a:prstGeom prst="rect">
            <a:avLst/>
          </a:prstGeom>
        </p:spPr>
      </p:pic>
      <p:sp>
        <p:nvSpPr>
          <p:cNvPr id="75" name="New shape"/>
          <p:cNvSpPr txBox="1"/>
          <p:nvPr/>
        </p:nvSpPr>
        <p:spPr>
          <a:xfrm>
            <a:off x="597931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0</a:t>
            </a:r>
          </a:p>
        </p:txBody>
      </p:sp>
      <p:sp>
        <p:nvSpPr>
          <p:cNvPr id="76" name="New shape"/>
          <p:cNvSpPr txBox="1"/>
          <p:nvPr/>
        </p:nvSpPr>
        <p:spPr>
          <a:xfrm>
            <a:off x="616505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1</a:t>
            </a:r>
          </a:p>
        </p:txBody>
      </p:sp>
      <p:sp>
        <p:nvSpPr>
          <p:cNvPr id="77" name="New shape"/>
          <p:cNvSpPr txBox="1"/>
          <p:nvPr/>
        </p:nvSpPr>
        <p:spPr>
          <a:xfrm>
            <a:off x="635079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2</a:t>
            </a:r>
          </a:p>
        </p:txBody>
      </p:sp>
      <p:sp>
        <p:nvSpPr>
          <p:cNvPr id="78" name="New shape"/>
          <p:cNvSpPr txBox="1"/>
          <p:nvPr/>
        </p:nvSpPr>
        <p:spPr>
          <a:xfrm>
            <a:off x="6536531"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3</a:t>
            </a:r>
          </a:p>
        </p:txBody>
      </p:sp>
      <p:sp>
        <p:nvSpPr>
          <p:cNvPr id="79" name="New shape"/>
          <p:cNvSpPr txBox="1"/>
          <p:nvPr/>
        </p:nvSpPr>
        <p:spPr>
          <a:xfrm>
            <a:off x="672226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4</a:t>
            </a:r>
          </a:p>
        </p:txBody>
      </p:sp>
      <p:sp>
        <p:nvSpPr>
          <p:cNvPr id="80" name="New shape"/>
          <p:cNvSpPr txBox="1"/>
          <p:nvPr/>
        </p:nvSpPr>
        <p:spPr>
          <a:xfrm>
            <a:off x="690800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5</a:t>
            </a:r>
          </a:p>
        </p:txBody>
      </p:sp>
      <p:sp>
        <p:nvSpPr>
          <p:cNvPr id="81" name="New shape"/>
          <p:cNvSpPr txBox="1"/>
          <p:nvPr/>
        </p:nvSpPr>
        <p:spPr>
          <a:xfrm>
            <a:off x="709374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6</a:t>
            </a:r>
          </a:p>
        </p:txBody>
      </p:sp>
      <p:pic>
        <p:nvPicPr>
          <p:cNvPr id="82" name="New picture"/>
          <p:cNvPicPr/>
          <p:nvPr/>
        </p:nvPicPr>
        <p:blipFill>
          <a:blip>
            <a:extLst>
              <a:ext uri="{96DAC541-7B7A-43D3-8B79-37D633B846F1}">
                <asvg:svgBlip xmlns:asvg="http://schemas.microsoft.com/office/drawing/2016/SVG/main" r:embed="rId2"/>
              </a:ext>
            </a:extLst>
          </a:blip>
          <a:stretch>
            <a:fillRect/>
          </a:stretch>
        </p:blipFill>
        <p:spPr>
          <a:xfrm>
            <a:off x="7350919" y="4857750"/>
            <a:ext cx="171450" cy="171450"/>
          </a:xfrm>
          <a:prstGeom prst="rect">
            <a:avLst/>
          </a:prstGeom>
        </p:spPr>
      </p:pic>
      <p:sp>
        <p:nvSpPr>
          <p:cNvPr id="83" name="New shape"/>
          <p:cNvSpPr txBox="1"/>
          <p:nvPr/>
        </p:nvSpPr>
        <p:spPr>
          <a:xfrm>
            <a:off x="7579519"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7</a:t>
            </a:r>
          </a:p>
        </p:txBody>
      </p:sp>
      <p:sp>
        <p:nvSpPr>
          <p:cNvPr id="84" name="New shape"/>
          <p:cNvSpPr txBox="1"/>
          <p:nvPr/>
        </p:nvSpPr>
        <p:spPr>
          <a:xfrm>
            <a:off x="7765256"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8</a:t>
            </a:r>
          </a:p>
        </p:txBody>
      </p:sp>
      <p:pic>
        <p:nvPicPr>
          <p:cNvPr id="85" name="New picture"/>
          <p:cNvPicPr/>
          <p:nvPr/>
        </p:nvPicPr>
        <p:blipFill>
          <a:blip>
            <a:extLst>
              <a:ext uri="{96DAC541-7B7A-43D3-8B79-37D633B846F1}">
                <asvg:svgBlip xmlns:asvg="http://schemas.microsoft.com/office/drawing/2016/SVG/main" r:embed="rId4"/>
              </a:ext>
            </a:extLst>
          </a:blip>
          <a:stretch>
            <a:fillRect/>
          </a:stretch>
        </p:blipFill>
        <p:spPr>
          <a:xfrm>
            <a:off x="8022431" y="4857750"/>
            <a:ext cx="171450" cy="171450"/>
          </a:xfrm>
          <a:prstGeom prst="rect">
            <a:avLst/>
          </a:prstGeom>
        </p:spPr>
      </p:pic>
      <p:sp>
        <p:nvSpPr>
          <p:cNvPr id="86" name="New shape"/>
          <p:cNvSpPr txBox="1"/>
          <p:nvPr/>
        </p:nvSpPr>
        <p:spPr>
          <a:xfrm>
            <a:off x="8251031"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9</a:t>
            </a:r>
          </a:p>
        </p:txBody>
      </p:sp>
      <p:sp>
        <p:nvSpPr>
          <p:cNvPr id="87" name="New shape"/>
          <p:cNvSpPr txBox="1"/>
          <p:nvPr/>
        </p:nvSpPr>
        <p:spPr>
          <a:xfrm>
            <a:off x="8436769"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10</a:t>
            </a:r>
          </a:p>
        </p:txBody>
      </p:sp>
      <p:sp>
        <p:nvSpPr>
          <p:cNvPr id="8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10</a:t>
            </a:r>
          </a:p>
        </p:txBody>
      </p:sp>
      <p:sp>
        <p:nvSpPr>
          <p:cNvPr id="8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2" name="New shape"/>
          <p:cNvSpPr txBox="1"/>
          <p:nvPr/>
        </p:nvSpPr>
        <p:spPr>
          <a:xfrm flipV="1">
            <a:off x="0" y="0"/>
            <a:ext cx="165673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Employee Net Promoter Score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Breakdown per group</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 eNPS score compared between all of your groups.</a:t>
            </a:r>
          </a:p>
        </p:txBody>
      </p:sp>
      <p:sp>
        <p:nvSpPr>
          <p:cNvPr id="4" name="New shape"/>
          <p:cNvSpPr/>
          <p:nvPr/>
        </p:nvSpPr>
        <p:spPr>
          <a:xfrm>
            <a:off x="457200" y="1314450"/>
            <a:ext cx="7572375" cy="342900"/>
          </a:xfrm>
          <a:prstGeom prst="roundRect">
            <a:avLst>
              <a:gd name="adj" fmla="val 6000"/>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600075" y="1400175"/>
            <a:ext cx="142875" cy="171450"/>
          </a:xfrm>
          <a:prstGeom prst="rect">
            <a:avLst/>
          </a:prstGeom>
        </p:spPr>
      </p:pic>
      <p:sp>
        <p:nvSpPr>
          <p:cNvPr id="6" name="New shape"/>
          <p:cNvSpPr txBox="1"/>
          <p:nvPr/>
        </p:nvSpPr>
        <p:spPr>
          <a:xfrm>
            <a:off x="814388" y="1399318"/>
            <a:ext cx="375190" cy="17316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1125" b="1" i="0">
                <a:solidFill>
                  <a:srgbClr val="1C55C7"/>
                </a:solidFill>
                <a:latin typeface="Poppins"/>
              </a:rPr>
              <a:t>eNPS</a:t>
            </a:r>
          </a:p>
        </p:txBody>
      </p:sp>
      <p:sp>
        <p:nvSpPr>
          <p:cNvPr id="7" name="New shape"/>
          <p:cNvSpPr txBox="1"/>
          <p:nvPr/>
        </p:nvSpPr>
        <p:spPr>
          <a:xfrm>
            <a:off x="7679579" y="1373343"/>
            <a:ext cx="235696" cy="225114"/>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1462" b="1" i="0">
                <a:solidFill>
                  <a:srgbClr val="1C55C7"/>
                </a:solidFill>
                <a:latin typeface="Poppins"/>
              </a:rPr>
              <a:t>35</a:t>
            </a:r>
          </a:p>
        </p:txBody>
      </p:sp>
      <p:sp>
        <p:nvSpPr>
          <p:cNvPr id="8" name="New shape"/>
          <p:cNvSpPr/>
          <p:nvPr/>
        </p:nvSpPr>
        <p:spPr>
          <a:xfrm>
            <a:off x="1303877" y="1485900"/>
            <a:ext cx="6261402" cy="0"/>
          </a:xfrm>
          <a:prstGeom prst="line">
            <a:avLst/>
          </a:prstGeom>
          <a:ln w="10160">
            <a:solidFill>
              <a:srgbClr val="5B8EF5"/>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8129588" y="1425893"/>
            <a:ext cx="120015" cy="120015"/>
          </a:xfrm>
          <a:prstGeom prst="rect">
            <a:avLst/>
          </a:prstGeom>
        </p:spPr>
      </p:pic>
      <p:sp>
        <p:nvSpPr>
          <p:cNvPr id="10" name="New shape"/>
          <p:cNvSpPr txBox="1"/>
          <p:nvPr/>
        </p:nvSpPr>
        <p:spPr>
          <a:xfrm>
            <a:off x="8321040" y="1425292"/>
            <a:ext cx="15392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291</a:t>
            </a:r>
          </a:p>
        </p:txBody>
      </p:sp>
      <p:sp>
        <p:nvSpPr>
          <p:cNvPr id="11" name="New shape"/>
          <p:cNvSpPr txBox="1"/>
          <p:nvPr/>
        </p:nvSpPr>
        <p:spPr>
          <a:xfrm>
            <a:off x="457200" y="2131009"/>
            <a:ext cx="94438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Communication</a:t>
            </a:r>
          </a:p>
        </p:txBody>
      </p:sp>
      <p:sp>
        <p:nvSpPr>
          <p:cNvPr id="12" name="New shape"/>
          <p:cNvSpPr/>
          <p:nvPr/>
        </p:nvSpPr>
        <p:spPr>
          <a:xfrm>
            <a:off x="1458738" y="2200275"/>
            <a:ext cx="60564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7572375" y="20574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35</a:t>
            </a:r>
          </a:p>
        </p:txBody>
      </p:sp>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8129588" y="2128361"/>
            <a:ext cx="120015" cy="120015"/>
          </a:xfrm>
          <a:prstGeom prst="rect">
            <a:avLst/>
          </a:prstGeom>
        </p:spPr>
      </p:pic>
      <p:sp>
        <p:nvSpPr>
          <p:cNvPr id="15" name="New shape"/>
          <p:cNvSpPr txBox="1"/>
          <p:nvPr/>
        </p:nvSpPr>
        <p:spPr>
          <a:xfrm>
            <a:off x="8321040" y="21277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16" name="New shape"/>
          <p:cNvSpPr txBox="1"/>
          <p:nvPr/>
        </p:nvSpPr>
        <p:spPr>
          <a:xfrm>
            <a:off x="457200" y="2473909"/>
            <a:ext cx="108067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Customer Success</a:t>
            </a:r>
          </a:p>
        </p:txBody>
      </p:sp>
      <p:sp>
        <p:nvSpPr>
          <p:cNvPr id="17" name="New shape"/>
          <p:cNvSpPr/>
          <p:nvPr/>
        </p:nvSpPr>
        <p:spPr>
          <a:xfrm>
            <a:off x="1595025" y="2543175"/>
            <a:ext cx="59202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8" name="New shape"/>
          <p:cNvSpPr txBox="1"/>
          <p:nvPr/>
        </p:nvSpPr>
        <p:spPr>
          <a:xfrm>
            <a:off x="7572375" y="24003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39</a:t>
            </a:r>
          </a:p>
        </p:txBody>
      </p:sp>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8129588" y="2471261"/>
            <a:ext cx="120015" cy="120015"/>
          </a:xfrm>
          <a:prstGeom prst="rect">
            <a:avLst/>
          </a:prstGeom>
        </p:spPr>
      </p:pic>
      <p:sp>
        <p:nvSpPr>
          <p:cNvPr id="20" name="New shape"/>
          <p:cNvSpPr txBox="1"/>
          <p:nvPr/>
        </p:nvSpPr>
        <p:spPr>
          <a:xfrm>
            <a:off x="8321040" y="2470661"/>
            <a:ext cx="12185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112</a:t>
            </a:r>
          </a:p>
        </p:txBody>
      </p:sp>
      <p:sp>
        <p:nvSpPr>
          <p:cNvPr id="21" name="New shape"/>
          <p:cNvSpPr txBox="1"/>
          <p:nvPr/>
        </p:nvSpPr>
        <p:spPr>
          <a:xfrm>
            <a:off x="457200" y="2816809"/>
            <a:ext cx="45535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Finance</a:t>
            </a:r>
          </a:p>
        </p:txBody>
      </p:sp>
      <p:sp>
        <p:nvSpPr>
          <p:cNvPr id="22" name="New shape"/>
          <p:cNvSpPr/>
          <p:nvPr/>
        </p:nvSpPr>
        <p:spPr>
          <a:xfrm>
            <a:off x="969709" y="2886075"/>
            <a:ext cx="654551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7572375" y="27432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40</a:t>
            </a:r>
          </a:p>
        </p:txBody>
      </p:sp>
      <p:pic>
        <p:nvPicPr>
          <p:cNvPr id="24" name="New picture"/>
          <p:cNvPicPr/>
          <p:nvPr/>
        </p:nvPicPr>
        <p:blipFill>
          <a:blip>
            <a:extLst>
              <a:ext uri="{96DAC541-7B7A-43D3-8B79-37D633B846F1}">
                <asvg:svgBlip xmlns:asvg="http://schemas.microsoft.com/office/drawing/2016/SVG/main" r:embed="rId3"/>
              </a:ext>
            </a:extLst>
          </a:blip>
          <a:stretch>
            <a:fillRect/>
          </a:stretch>
        </p:blipFill>
        <p:spPr>
          <a:xfrm>
            <a:off x="8129588" y="2814161"/>
            <a:ext cx="120015" cy="120015"/>
          </a:xfrm>
          <a:prstGeom prst="rect">
            <a:avLst/>
          </a:prstGeom>
        </p:spPr>
      </p:pic>
      <p:sp>
        <p:nvSpPr>
          <p:cNvPr id="25" name="New shape"/>
          <p:cNvSpPr txBox="1"/>
          <p:nvPr/>
        </p:nvSpPr>
        <p:spPr>
          <a:xfrm>
            <a:off x="8321040" y="28135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26" name="New shape"/>
          <p:cNvSpPr txBox="1"/>
          <p:nvPr/>
        </p:nvSpPr>
        <p:spPr>
          <a:xfrm>
            <a:off x="457200" y="3159709"/>
            <a:ext cx="105341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Human Resources</a:t>
            </a:r>
          </a:p>
        </p:txBody>
      </p:sp>
      <p:sp>
        <p:nvSpPr>
          <p:cNvPr id="27" name="New shape"/>
          <p:cNvSpPr/>
          <p:nvPr/>
        </p:nvSpPr>
        <p:spPr>
          <a:xfrm>
            <a:off x="1567767" y="3228975"/>
            <a:ext cx="594745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8" name="New shape"/>
          <p:cNvSpPr txBox="1"/>
          <p:nvPr/>
        </p:nvSpPr>
        <p:spPr>
          <a:xfrm>
            <a:off x="7572375" y="30861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47</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8129588" y="3157061"/>
            <a:ext cx="120015" cy="120015"/>
          </a:xfrm>
          <a:prstGeom prst="rect">
            <a:avLst/>
          </a:prstGeom>
        </p:spPr>
      </p:pic>
      <p:sp>
        <p:nvSpPr>
          <p:cNvPr id="30" name="New shape"/>
          <p:cNvSpPr txBox="1"/>
          <p:nvPr/>
        </p:nvSpPr>
        <p:spPr>
          <a:xfrm>
            <a:off x="8321040" y="31564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31" name="New shape"/>
          <p:cNvSpPr txBox="1"/>
          <p:nvPr/>
        </p:nvSpPr>
        <p:spPr>
          <a:xfrm>
            <a:off x="457200" y="3502609"/>
            <a:ext cx="78725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Management</a:t>
            </a:r>
          </a:p>
        </p:txBody>
      </p:sp>
      <p:sp>
        <p:nvSpPr>
          <p:cNvPr id="32" name="New shape"/>
          <p:cNvSpPr/>
          <p:nvPr/>
        </p:nvSpPr>
        <p:spPr>
          <a:xfrm>
            <a:off x="1301607" y="3571875"/>
            <a:ext cx="621361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7572375" y="3429000"/>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a:t>
            </a:r>
          </a:p>
        </p:txBody>
      </p:sp>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8129588" y="3511391"/>
            <a:ext cx="91440" cy="97155"/>
          </a:xfrm>
          <a:prstGeom prst="rect">
            <a:avLst/>
          </a:prstGeom>
        </p:spPr>
      </p:pic>
      <p:sp>
        <p:nvSpPr>
          <p:cNvPr id="35" name="New shape"/>
          <p:cNvSpPr/>
          <p:nvPr/>
        </p:nvSpPr>
        <p:spPr>
          <a:xfrm flipH="1">
            <a:off x="8292465" y="3499361"/>
            <a:ext cx="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endParaRPr sz="788" b="0" i="0">
              <a:solidFill>
                <a:srgbClr val="546178"/>
              </a:solidFill>
              <a:latin typeface="Poppins"/>
            </a:endParaRPr>
          </a:p>
        </p:txBody>
      </p:sp>
      <p:sp>
        <p:nvSpPr>
          <p:cNvPr id="36" name="New shape"/>
          <p:cNvSpPr txBox="1"/>
          <p:nvPr/>
        </p:nvSpPr>
        <p:spPr>
          <a:xfrm>
            <a:off x="457200" y="3845509"/>
            <a:ext cx="102936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Marketing &amp; Sales</a:t>
            </a:r>
          </a:p>
        </p:txBody>
      </p:sp>
      <p:sp>
        <p:nvSpPr>
          <p:cNvPr id="37" name="New shape"/>
          <p:cNvSpPr/>
          <p:nvPr/>
        </p:nvSpPr>
        <p:spPr>
          <a:xfrm>
            <a:off x="1543717" y="3914775"/>
            <a:ext cx="597150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p:cNvSpPr txBox="1"/>
          <p:nvPr/>
        </p:nvSpPr>
        <p:spPr>
          <a:xfrm>
            <a:off x="7572375" y="37719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34</a:t>
            </a:r>
          </a:p>
        </p:txBody>
      </p:sp>
      <p:pic>
        <p:nvPicPr>
          <p:cNvPr id="39" name="New picture"/>
          <p:cNvPicPr/>
          <p:nvPr/>
        </p:nvPicPr>
        <p:blipFill>
          <a:blip>
            <a:extLst>
              <a:ext uri="{96DAC541-7B7A-43D3-8B79-37D633B846F1}">
                <asvg:svgBlip xmlns:asvg="http://schemas.microsoft.com/office/drawing/2016/SVG/main" r:embed="rId3"/>
              </a:ext>
            </a:extLst>
          </a:blip>
          <a:stretch>
            <a:fillRect/>
          </a:stretch>
        </p:blipFill>
        <p:spPr>
          <a:xfrm>
            <a:off x="8129588" y="3842861"/>
            <a:ext cx="120015" cy="120015"/>
          </a:xfrm>
          <a:prstGeom prst="rect">
            <a:avLst/>
          </a:prstGeom>
        </p:spPr>
      </p:pic>
      <p:sp>
        <p:nvSpPr>
          <p:cNvPr id="40" name="New shape"/>
          <p:cNvSpPr txBox="1"/>
          <p:nvPr/>
        </p:nvSpPr>
        <p:spPr>
          <a:xfrm>
            <a:off x="8321040" y="38422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41" name="New shape"/>
          <p:cNvSpPr txBox="1"/>
          <p:nvPr/>
        </p:nvSpPr>
        <p:spPr>
          <a:xfrm>
            <a:off x="457200" y="4188409"/>
            <a:ext cx="137248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Product &amp; Development</a:t>
            </a:r>
          </a:p>
        </p:txBody>
      </p:sp>
      <p:sp>
        <p:nvSpPr>
          <p:cNvPr id="42" name="New shape"/>
          <p:cNvSpPr/>
          <p:nvPr/>
        </p:nvSpPr>
        <p:spPr>
          <a:xfrm>
            <a:off x="1886839" y="4257675"/>
            <a:ext cx="562838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7572375" y="41148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33</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8129588" y="4185761"/>
            <a:ext cx="120015" cy="120015"/>
          </a:xfrm>
          <a:prstGeom prst="rect">
            <a:avLst/>
          </a:prstGeom>
        </p:spPr>
      </p:pic>
      <p:sp>
        <p:nvSpPr>
          <p:cNvPr id="45" name="New shape"/>
          <p:cNvSpPr txBox="1"/>
          <p:nvPr/>
        </p:nvSpPr>
        <p:spPr>
          <a:xfrm>
            <a:off x="8321040" y="4185161"/>
            <a:ext cx="9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81</a:t>
            </a:r>
          </a:p>
        </p:txBody>
      </p:sp>
      <p:pic>
        <p:nvPicPr>
          <p:cNvPr id="46"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47" name="New shape"/>
          <p:cNvSpPr txBox="1"/>
          <p:nvPr/>
        </p:nvSpPr>
        <p:spPr>
          <a:xfrm>
            <a:off x="335756" y="4897155"/>
            <a:ext cx="634936"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respondents</a:t>
            </a:r>
          </a:p>
        </p:txBody>
      </p:sp>
      <p:pic>
        <p:nvPicPr>
          <p:cNvPr id="48" name="New picture"/>
          <p:cNvPicPr/>
          <p:nvPr/>
        </p:nvPicPr>
        <p:blipFill>
          <a:blip>
            <a:extLst>
              <a:ext uri="{96DAC541-7B7A-43D3-8B79-37D633B846F1}">
                <asvg:svgBlip xmlns:asvg="http://schemas.microsoft.com/office/drawing/2016/SVG/main" r:embed="rId4"/>
              </a:ext>
            </a:extLst>
          </a:blip>
          <a:stretch>
            <a:fillRect/>
          </a:stretch>
        </p:blipFill>
        <p:spPr>
          <a:xfrm>
            <a:off x="1227868" y="4897041"/>
            <a:ext cx="114300" cy="121444"/>
          </a:xfrm>
          <a:prstGeom prst="rect">
            <a:avLst/>
          </a:prstGeom>
        </p:spPr>
      </p:pic>
      <p:sp>
        <p:nvSpPr>
          <p:cNvPr id="49" name="New shape"/>
          <p:cNvSpPr txBox="1"/>
          <p:nvPr/>
        </p:nvSpPr>
        <p:spPr>
          <a:xfrm>
            <a:off x="1413605"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Response rate too low</a:t>
            </a:r>
          </a:p>
        </p:txBody>
      </p:sp>
      <p:sp>
        <p:nvSpPr>
          <p:cNvPr id="5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11</a:t>
            </a:r>
          </a:p>
        </p:txBody>
      </p:sp>
      <p:sp>
        <p:nvSpPr>
          <p:cNvPr id="5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4" name="New shape"/>
          <p:cNvSpPr txBox="1"/>
          <p:nvPr/>
        </p:nvSpPr>
        <p:spPr>
          <a:xfrm flipV="1">
            <a:off x="0" y="0"/>
            <a:ext cx="165673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Employee Net Promoter Score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091690"/>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Organizational Effectiveness - Overall profile</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A short guide:</a:t>
            </a:r>
            <a:r>
              <a:rPr sz="2250" b="1" i="0">
                <a:solidFill>
                  <a:srgbClr val="30B3AF"/>
                </a:solidFill>
                <a:latin typeface="Poppins"/>
              </a:rPr>
              <a:t> Reading the results</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Compared items and score calculation</a:t>
            </a:r>
          </a:p>
        </p:txBody>
      </p:sp>
      <p:sp>
        <p:nvSpPr>
          <p:cNvPr id="4" name="New shape"/>
          <p:cNvSpPr txBox="1"/>
          <p:nvPr/>
        </p:nvSpPr>
        <p:spPr>
          <a:xfrm>
            <a:off x="457200" y="1343025"/>
            <a:ext cx="3714750"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1125" b="1" i="0">
                <a:solidFill>
                  <a:srgbClr val="192743"/>
                </a:solidFill>
                <a:latin typeface="Poppins"/>
              </a:rPr>
              <a:t>Top-two box or "Yes" scoring</a:t>
            </a:r>
          </a:p>
        </p:txBody>
      </p:sp>
      <p:sp>
        <p:nvSpPr>
          <p:cNvPr id="5" name="New shape"/>
          <p:cNvSpPr txBox="1"/>
          <p:nvPr/>
        </p:nvSpPr>
        <p:spPr>
          <a:xfrm>
            <a:off x="457200" y="1628775"/>
            <a:ext cx="3714750"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With a top-two box calculation, the final score per question combines the percentages of people that have selected either "strongly agree" or "agree".</a:t>
            </a:r>
          </a:p>
        </p:txBody>
      </p:sp>
      <p:graphicFrame>
        <p:nvGraphicFramePr>
          <p:cNvPr id="6" name="New Table"/>
          <p:cNvGraphicFramePr>
            <a:graphicFrameLocks noGrp="1"/>
          </p:cNvGraphicFramePr>
          <p:nvPr/>
        </p:nvGraphicFramePr>
        <p:xfrm>
          <a:off x="457200" y="2160270"/>
          <a:ext cx="3707606" cy="1543050"/>
        </p:xfrm>
        <a:graphic>
          <a:graphicData uri="http://schemas.openxmlformats.org/drawingml/2006/table">
            <a:tbl>
              <a:tblPr bandRow="1">
                <a:tableStyleId>{5C22544A-7EE6-4342-B048-85BDC9FD1C3A}</a:tableStyleId>
              </a:tblPr>
              <a:tblGrid>
                <a:gridCol w="2135981">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257175">
                <a:tc>
                  <a:txBody>
                    <a:bodyPr/>
                    <a:lstStyle/>
                    <a:p>
                      <a:pPr algn="l"/>
                      <a:r>
                        <a:rPr sz="788" b="1" i="0">
                          <a:solidFill>
                            <a:srgbClr val="192743"/>
                          </a:solidFill>
                          <a:latin typeface="Poppins"/>
                        </a:rPr>
                        <a:t>Possible answers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l"/>
                      <a:r>
                        <a:rPr sz="788" b="1" i="0">
                          <a:solidFill>
                            <a:srgbClr val="192743"/>
                          </a:solidFill>
                          <a:latin typeface="Poppins"/>
                        </a:rPr>
                        <a:t>Percentage distribution</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1" i="0">
                          <a:solidFill>
                            <a:srgbClr val="30B3AF"/>
                          </a:solidFill>
                          <a:latin typeface="Poppins"/>
                        </a:rPr>
                        <a:t>Strongly 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rowSpan="2">
                  <a:txBody>
                    <a:bodyPr/>
                    <a:lstStyle/>
                    <a:p>
                      <a:pPr algn="ctr"/>
                      <a:r>
                        <a:rPr sz="788" b="1" i="0">
                          <a:solidFill>
                            <a:srgbClr val="30B3AF"/>
                          </a:solidFill>
                          <a:latin typeface="Poppins"/>
                        </a:rPr>
                        <a:t>Yes %</a:t>
                      </a:r>
                    </a:p>
                    <a:p>
                      <a:pPr algn="ctr"/>
                      <a:r>
                        <a:rPr sz="788" b="1" i="0">
                          <a:solidFill>
                            <a:srgbClr val="30B3AF"/>
                          </a:solidFill>
                          <a:latin typeface="Poppins"/>
                        </a:rPr>
                        <a:t>Top-two box</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1"/>
                  </a:ext>
                </a:extLst>
              </a:tr>
              <a:tr h="257175">
                <a:tc>
                  <a:txBody>
                    <a:bodyPr/>
                    <a:lstStyle/>
                    <a:p>
                      <a:pPr algn="l"/>
                      <a:r>
                        <a:rPr sz="788" b="1" i="0">
                          <a:solidFill>
                            <a:srgbClr val="30B3AF"/>
                          </a:solidFill>
                          <a:latin typeface="Poppins"/>
                        </a:rPr>
                        <a:t>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vMerge="1">
                  <a:txBody>
                    <a:bodyPr/>
                    <a:lstStyle/>
                    <a:p>
                      <a:pPr algn="ctr"/>
                      <a:endParaRPr sz="788" b="1" i="0">
                        <a:solidFill>
                          <a:srgbClr val="30B3AF"/>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Neither agree nor disagree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788" b="0" i="0">
                          <a:solidFill>
                            <a:srgbClr val="192743"/>
                          </a:solidFill>
                          <a:latin typeface="Poppins"/>
                        </a:rPr>
                        <a:t>Neutral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extLst>
                  <a:ext uri="{0D108BD9-81ED-4DB2-BD59-A6C34878D82A}">
                    <a16:rowId xmlns:a16="http://schemas.microsoft.com/office/drawing/2014/main" val="10003"/>
                  </a:ext>
                </a:extLst>
              </a:tr>
              <a:tr h="257175">
                <a:tc>
                  <a:txBody>
                    <a:bodyPr/>
                    <a:lstStyle/>
                    <a:p>
                      <a:pPr algn="l"/>
                      <a:r>
                        <a:rPr sz="788" b="0" i="0">
                          <a:solidFill>
                            <a:srgbClr val="192743"/>
                          </a:solidFill>
                          <a:latin typeface="Poppins"/>
                        </a:rPr>
                        <a:t>Disagree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rowSpan="2">
                  <a:txBody>
                    <a:bodyPr/>
                    <a:lstStyle/>
                    <a:p>
                      <a:pPr algn="ctr"/>
                      <a:r>
                        <a:rPr sz="788" b="0" i="0">
                          <a:solidFill>
                            <a:srgbClr val="192743"/>
                          </a:solidFill>
                          <a:latin typeface="Poppins"/>
                        </a:rPr>
                        <a:t>No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4"/>
                  </a:ext>
                </a:extLst>
              </a:tr>
              <a:tr h="257175">
                <a:tc>
                  <a:txBody>
                    <a:bodyPr/>
                    <a:lstStyle/>
                    <a:p>
                      <a:pPr algn="l"/>
                      <a:r>
                        <a:rPr sz="788" b="0" i="0">
                          <a:solidFill>
                            <a:srgbClr val="192743"/>
                          </a:solidFill>
                          <a:latin typeface="Poppins"/>
                        </a:rPr>
                        <a:t>Strongly disagree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vMerge="1">
                  <a:txBody>
                    <a:bodyPr/>
                    <a:lstStyle/>
                    <a:p>
                      <a:pPr algn="ctr"/>
                      <a:endParaRPr sz="788" b="0" i="0">
                        <a:solidFill>
                          <a:srgbClr val="192743"/>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5"/>
                  </a:ext>
                </a:extLst>
              </a:tr>
            </a:tbl>
          </a:graphicData>
        </a:graphic>
      </p:graphicFrame>
      <p:sp>
        <p:nvSpPr>
          <p:cNvPr id="7" name="New shape"/>
          <p:cNvSpPr txBox="1"/>
          <p:nvPr/>
        </p:nvSpPr>
        <p:spPr>
          <a:xfrm>
            <a:off x="4972050" y="1343025"/>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Question score example</a:t>
            </a:r>
          </a:p>
        </p:txBody>
      </p:sp>
      <p:graphicFrame>
        <p:nvGraphicFramePr>
          <p:cNvPr id="8" name="New Table"/>
          <p:cNvGraphicFramePr>
            <a:graphicFrameLocks noGrp="1"/>
          </p:cNvGraphicFramePr>
          <p:nvPr/>
        </p:nvGraphicFramePr>
        <p:xfrm>
          <a:off x="4972050" y="1543050"/>
          <a:ext cx="3707606" cy="1028700"/>
        </p:xfrm>
        <a:graphic>
          <a:graphicData uri="http://schemas.openxmlformats.org/drawingml/2006/table">
            <a:tbl>
              <a:tblPr bandRow="1">
                <a:tableStyleId>{5C22544A-7EE6-4342-B048-85BDC9FD1C3A}</a:tableStyleId>
              </a:tblPr>
              <a:tblGrid>
                <a:gridCol w="2150269">
                  <a:extLst>
                    <a:ext uri="{9D8B030D-6E8A-4147-A177-3AD203B41FA5}">
                      <a16:colId xmlns:a16="http://schemas.microsoft.com/office/drawing/2014/main" val="20000"/>
                    </a:ext>
                  </a:extLst>
                </a:gridCol>
                <a:gridCol w="1557338">
                  <a:extLst>
                    <a:ext uri="{9D8B030D-6E8A-4147-A177-3AD203B41FA5}">
                      <a16:colId xmlns:a16="http://schemas.microsoft.com/office/drawing/2014/main" val="20001"/>
                    </a:ext>
                  </a:extLst>
                </a:gridCol>
              </a:tblGrid>
              <a:tr h="257175">
                <a:tc>
                  <a:txBody>
                    <a:bodyPr/>
                    <a:lstStyle/>
                    <a:p>
                      <a:pPr algn="l"/>
                      <a:r>
                        <a:rPr sz="788" b="0" i="0">
                          <a:solidFill>
                            <a:srgbClr val="192743"/>
                          </a:solidFill>
                          <a:latin typeface="Poppins"/>
                        </a:rPr>
                        <a:t>Participant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Participant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Strongly 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Participant 3</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Disagree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Yes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a:txBody>
                    <a:bodyPr/>
                    <a:lstStyle/>
                    <a:p>
                      <a:pPr algn="ctr"/>
                      <a:r>
                        <a:rPr sz="788" b="1" i="0">
                          <a:solidFill>
                            <a:srgbClr val="30B3AF"/>
                          </a:solidFill>
                          <a:latin typeface="Poppins"/>
                        </a:rPr>
                        <a:t>2 out of 3 = 67%</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3"/>
                  </a:ext>
                </a:extLst>
              </a:tr>
            </a:tbl>
          </a:graphicData>
        </a:graphic>
      </p:graphicFrame>
      <p:sp>
        <p:nvSpPr>
          <p:cNvPr id="9" name="New shape"/>
          <p:cNvSpPr txBox="1"/>
          <p:nvPr/>
        </p:nvSpPr>
        <p:spPr>
          <a:xfrm>
            <a:off x="4972050" y="2743200"/>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Theme score example</a:t>
            </a:r>
          </a:p>
        </p:txBody>
      </p:sp>
      <p:sp>
        <p:nvSpPr>
          <p:cNvPr id="10" name="New shape"/>
          <p:cNvSpPr txBox="1"/>
          <p:nvPr/>
        </p:nvSpPr>
        <p:spPr>
          <a:xfrm>
            <a:off x="4972050" y="294322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The percentage of people that "agree" or "strongly agree" across all theme questions.</a:t>
            </a:r>
          </a:p>
        </p:txBody>
      </p:sp>
      <p:graphicFrame>
        <p:nvGraphicFramePr>
          <p:cNvPr id="11" name="New Table"/>
          <p:cNvGraphicFramePr>
            <a:graphicFrameLocks noGrp="1"/>
          </p:cNvGraphicFramePr>
          <p:nvPr/>
        </p:nvGraphicFramePr>
        <p:xfrm>
          <a:off x="4972050" y="3268980"/>
          <a:ext cx="3707606" cy="1028700"/>
        </p:xfrm>
        <a:graphic>
          <a:graphicData uri="http://schemas.openxmlformats.org/drawingml/2006/table">
            <a:tbl>
              <a:tblPr bandRow="1">
                <a:tableStyleId>{5C22544A-7EE6-4342-B048-85BDC9FD1C3A}</a:tableStyleId>
              </a:tblPr>
              <a:tblGrid>
                <a:gridCol w="2157412">
                  <a:extLst>
                    <a:ext uri="{9D8B030D-6E8A-4147-A177-3AD203B41FA5}">
                      <a16:colId xmlns:a16="http://schemas.microsoft.com/office/drawing/2014/main" val="20000"/>
                    </a:ext>
                  </a:extLst>
                </a:gridCol>
                <a:gridCol w="775097">
                  <a:extLst>
                    <a:ext uri="{9D8B030D-6E8A-4147-A177-3AD203B41FA5}">
                      <a16:colId xmlns:a16="http://schemas.microsoft.com/office/drawing/2014/main" val="20001"/>
                    </a:ext>
                  </a:extLst>
                </a:gridCol>
                <a:gridCol w="775097">
                  <a:extLst>
                    <a:ext uri="{9D8B030D-6E8A-4147-A177-3AD203B41FA5}">
                      <a16:colId xmlns:a16="http://schemas.microsoft.com/office/drawing/2014/main" val="20002"/>
                    </a:ext>
                  </a:extLst>
                </a:gridCol>
              </a:tblGrid>
              <a:tr h="257175">
                <a:tc>
                  <a:txBody>
                    <a:bodyPr/>
                    <a:lstStyle/>
                    <a:p>
                      <a:pPr algn="l"/>
                      <a:r>
                        <a:rPr sz="788" b="0" i="0">
                          <a:solidFill>
                            <a:srgbClr val="192743"/>
                          </a:solidFill>
                          <a:latin typeface="Poppins"/>
                        </a:rPr>
                        <a:t>Participants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Theme question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Theme question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Disagree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Agree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Yes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gridSpan="2">
                  <a:txBody>
                    <a:bodyPr/>
                    <a:lstStyle/>
                    <a:p>
                      <a:pPr algn="ctr"/>
                      <a:r>
                        <a:rPr sz="788" b="1" i="0">
                          <a:solidFill>
                            <a:srgbClr val="30B3AF"/>
                          </a:solidFill>
                          <a:latin typeface="Poppins"/>
                        </a:rPr>
                        <a:t>3 out of 4 = 75%</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hMerge="1">
                  <a:txBody>
                    <a:bodyPr/>
                    <a:lstStyle/>
                    <a:p>
                      <a:pPr algn="ctr"/>
                      <a:endParaRPr sz="788" b="1" i="0">
                        <a:solidFill>
                          <a:srgbClr val="30B3AF"/>
                        </a:solidFill>
                        <a:latin typeface="Poppins"/>
                      </a:endParaRP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3"/>
                  </a:ext>
                </a:extLst>
              </a:tr>
            </a:tbl>
          </a:graphicData>
        </a:graphic>
      </p:graphicFrame>
      <p:sp>
        <p:nvSpPr>
          <p:cNvPr id="12" name="New shape"/>
          <p:cNvSpPr/>
          <p:nvPr/>
        </p:nvSpPr>
        <p:spPr>
          <a:xfrm flipH="1">
            <a:off x="4572000" y="1343025"/>
            <a:ext cx="0" cy="2954655"/>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13</a:t>
            </a:r>
          </a:p>
        </p:txBody>
      </p:sp>
      <p:pic>
        <p:nvPicPr>
          <p:cNvPr id="1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16"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A short guide:</a:t>
            </a:r>
            <a:r>
              <a:rPr sz="2250" b="1" i="0">
                <a:solidFill>
                  <a:srgbClr val="30B3AF"/>
                </a:solidFill>
                <a:latin typeface="Poppins"/>
              </a:rPr>
              <a:t> Reading the results</a:t>
            </a:r>
          </a:p>
        </p:txBody>
      </p:sp>
      <p:sp>
        <p:nvSpPr>
          <p:cNvPr id="3" name="New shape"/>
          <p:cNvSpPr txBox="1"/>
          <p:nvPr/>
        </p:nvSpPr>
        <p:spPr>
          <a:xfrm>
            <a:off x="457200" y="857250"/>
            <a:ext cx="4286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Score differences and how the results are compared</a:t>
            </a:r>
          </a:p>
        </p:txBody>
      </p:sp>
      <p:sp>
        <p:nvSpPr>
          <p:cNvPr id="4" name="New shape"/>
          <p:cNvSpPr/>
          <p:nvPr/>
        </p:nvSpPr>
        <p:spPr>
          <a:xfrm>
            <a:off x="457200" y="161163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69449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Current survey score is lower by at least 20 % points.</a:t>
            </a:r>
          </a:p>
        </p:txBody>
      </p:sp>
      <p:sp>
        <p:nvSpPr>
          <p:cNvPr id="6" name="New shape"/>
          <p:cNvSpPr/>
          <p:nvPr/>
        </p:nvSpPr>
        <p:spPr>
          <a:xfrm>
            <a:off x="457200" y="209740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2180273"/>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Current survey score is lower by at least 10 % points.</a:t>
            </a:r>
          </a:p>
        </p:txBody>
      </p:sp>
      <p:sp>
        <p:nvSpPr>
          <p:cNvPr id="8" name="New shape"/>
          <p:cNvSpPr/>
          <p:nvPr/>
        </p:nvSpPr>
        <p:spPr>
          <a:xfrm>
            <a:off x="457200" y="258318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666048"/>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Not relevant since difference is smaller than 10 % points.</a:t>
            </a:r>
          </a:p>
        </p:txBody>
      </p:sp>
      <p:sp>
        <p:nvSpPr>
          <p:cNvPr id="10" name="New shape"/>
          <p:cNvSpPr/>
          <p:nvPr/>
        </p:nvSpPr>
        <p:spPr>
          <a:xfrm>
            <a:off x="457200" y="306895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3151823"/>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Current survey score is higher by at least 10 % points.</a:t>
            </a:r>
          </a:p>
        </p:txBody>
      </p:sp>
      <p:sp>
        <p:nvSpPr>
          <p:cNvPr id="12" name="New shape"/>
          <p:cNvSpPr/>
          <p:nvPr/>
        </p:nvSpPr>
        <p:spPr>
          <a:xfrm>
            <a:off x="457200" y="355473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63759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Current survey score is higher by at least 20 % points.</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Example result</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1C55C7"/>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1C55C7"/>
                </a:solidFill>
                <a:latin typeface="Poppins"/>
              </a:rPr>
              <a:t>Higher by 20 % points</a:t>
            </a:r>
          </a:p>
        </p:txBody>
      </p:sp>
      <p:grpSp>
        <p:nvGrpSpPr>
          <p:cNvPr id="27" name="Group 26"/>
          <p:cNvGrpSpPr/>
          <p:nvPr/>
        </p:nvGrpSpPr>
        <p:grpSpPr>
          <a:xfrm rot="18900000">
            <a:off x="6275374" y="1889607"/>
            <a:ext cx="557434" cy="171450"/>
            <a:chOff x="5801519" y="1436688"/>
            <a:chExt cx="557434"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70463"/>
              <a:ext cx="343122"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C55C7"/>
                  </a:solidFill>
                  <a:latin typeface="Poppins"/>
                </a:rPr>
                <a:t>Current</a:t>
              </a:r>
            </a:p>
          </p:txBody>
        </p:sp>
      </p:grpSp>
      <p:grpSp>
        <p:nvGrpSpPr>
          <p:cNvPr id="30" name="Group 29"/>
          <p:cNvGrpSpPr/>
          <p:nvPr/>
        </p:nvGrpSpPr>
        <p:grpSpPr>
          <a:xfrm rot="18900000">
            <a:off x="7204235" y="1840379"/>
            <a:ext cx="740950" cy="150019"/>
            <a:chOff x="6744494" y="1447403"/>
            <a:chExt cx="740950" cy="150019"/>
          </a:xfrm>
        </p:grpSpPr>
        <p:pic>
          <p:nvPicPr>
            <p:cNvPr id="31" name="New picture"/>
            <p:cNvPicPr/>
            <p:nvPr/>
          </p:nvPicPr>
          <p:blipFill>
            <a:blip>
              <a:extLst>
                <a:ext uri="{96DAC541-7B7A-43D3-8B79-37D633B846F1}">
                  <asvg:svgBlip xmlns:asvg="http://schemas.microsoft.com/office/drawing/2016/SVG/main" r:embed="rId3"/>
                </a:ext>
              </a:extLst>
            </a:blip>
            <a:stretch>
              <a:fillRect/>
            </a:stretch>
          </p:blipFill>
          <p:spPr>
            <a:xfrm>
              <a:off x="6744494" y="1447403"/>
              <a:ext cx="150019" cy="150019"/>
            </a:xfrm>
            <a:prstGeom prst="rect">
              <a:avLst/>
            </a:prstGeom>
          </p:spPr>
        </p:pic>
        <p:sp>
          <p:nvSpPr>
            <p:cNvPr id="32" name="New shape"/>
            <p:cNvSpPr txBox="1"/>
            <p:nvPr/>
          </p:nvSpPr>
          <p:spPr>
            <a:xfrm>
              <a:off x="6965950" y="1470463"/>
              <a:ext cx="5194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Benchmark</a:t>
              </a:r>
            </a:p>
          </p:txBody>
        </p:sp>
      </p:grpSp>
      <p:grpSp>
        <p:nvGrpSpPr>
          <p:cNvPr id="33" name="Group 32"/>
          <p:cNvGrpSpPr/>
          <p:nvPr/>
        </p:nvGrpSpPr>
        <p:grpSpPr>
          <a:xfrm rot="18900000">
            <a:off x="8138099" y="1818382"/>
            <a:ext cx="808292" cy="150019"/>
            <a:chOff x="7687469" y="1447403"/>
            <a:chExt cx="808292" cy="150019"/>
          </a:xfrm>
        </p:grpSpPr>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7687469" y="1447403"/>
              <a:ext cx="150019" cy="150019"/>
            </a:xfrm>
            <a:prstGeom prst="rect">
              <a:avLst/>
            </a:prstGeom>
          </p:spPr>
        </p:pic>
        <p:sp>
          <p:nvSpPr>
            <p:cNvPr id="35" name="New shape"/>
            <p:cNvSpPr txBox="1"/>
            <p:nvPr/>
          </p:nvSpPr>
          <p:spPr>
            <a:xfrm>
              <a:off x="7908925" y="1470463"/>
              <a:ext cx="586835"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Organisation</a:t>
              </a:r>
            </a:p>
          </p:txBody>
        </p:sp>
      </p:grpSp>
      <p:sp>
        <p:nvSpPr>
          <p:cNvPr id="36"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Significance (*)</a:t>
            </a:r>
          </a:p>
        </p:txBody>
      </p:sp>
      <p:sp>
        <p:nvSpPr>
          <p:cNvPr id="37" name="New shape"/>
          <p:cNvSpPr txBox="1"/>
          <p:nvPr/>
        </p:nvSpPr>
        <p:spPr>
          <a:xfrm>
            <a:off x="4029075" y="4254817"/>
            <a:ext cx="4029075"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Significance helps identify whether the difference between two scores is meaningful and not due to random chance. A score marked with an asterisk indicates that the difference between this score and Current’s score is considered significant. It reflects a real difference worth paying attention to.</a:t>
            </a: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14</a:t>
            </a:r>
          </a:p>
        </p:txBody>
      </p:sp>
      <p:pic>
        <p:nvPicPr>
          <p:cNvPr id="39"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41"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Where you stand</a:t>
            </a:r>
          </a:p>
        </p:txBody>
      </p:sp>
      <p:sp>
        <p:nvSpPr>
          <p:cNvPr id="3" name="New shape"/>
          <p:cNvSpPr txBox="1"/>
          <p:nvPr/>
        </p:nvSpPr>
        <p:spPr>
          <a:xfrm>
            <a:off x="457200" y="1028700"/>
            <a:ext cx="3793331"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Employee engagement and the quality of the performance environment are crucial for top performance, innovative strength, and high adaptability.</a:t>
            </a:r>
          </a:p>
        </p:txBody>
      </p:sp>
      <p:sp>
        <p:nvSpPr>
          <p:cNvPr id="4" name="New shape"/>
          <p:cNvSpPr txBox="1"/>
          <p:nvPr/>
        </p:nvSpPr>
        <p:spPr>
          <a:xfrm>
            <a:off x="742950" y="1411605"/>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Effective</a:t>
            </a:r>
          </a:p>
        </p:txBody>
      </p:sp>
      <p:sp>
        <p:nvSpPr>
          <p:cNvPr id="5" name="New shape"/>
          <p:cNvSpPr/>
          <p:nvPr/>
        </p:nvSpPr>
        <p:spPr>
          <a:xfrm>
            <a:off x="457200" y="1411605"/>
            <a:ext cx="171450" cy="171450"/>
          </a:xfrm>
          <a:prstGeom prst="roundRect">
            <a:avLst/>
          </a:prstGeom>
          <a:solidFill>
            <a:srgbClr val="2DAC6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txBox="1"/>
          <p:nvPr/>
        </p:nvSpPr>
        <p:spPr>
          <a:xfrm>
            <a:off x="742950" y="1560195"/>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Engagement can unfold its full potential thanks to the excellent performance environment. Focus on maintaining and consolidating your strengths!</a:t>
            </a:r>
          </a:p>
        </p:txBody>
      </p:sp>
      <p:sp>
        <p:nvSpPr>
          <p:cNvPr id="7" name="New shape"/>
          <p:cNvSpPr txBox="1"/>
          <p:nvPr/>
        </p:nvSpPr>
        <p:spPr>
          <a:xfrm>
            <a:off x="742950" y="1965960"/>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Ineffective</a:t>
            </a:r>
          </a:p>
        </p:txBody>
      </p:sp>
      <p:sp>
        <p:nvSpPr>
          <p:cNvPr id="8" name="New shape"/>
          <p:cNvSpPr/>
          <p:nvPr/>
        </p:nvSpPr>
        <p:spPr>
          <a:xfrm>
            <a:off x="457200" y="1965960"/>
            <a:ext cx="171450" cy="171450"/>
          </a:xfrm>
          <a:prstGeom prst="roundRect">
            <a:avLst/>
          </a:prstGeom>
          <a:solidFill>
            <a:srgbClr val="D01F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742950" y="2114550"/>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Focus on the continuous improvement of the performance environment, especially with issues of particular importance to engagement and performance.</a:t>
            </a:r>
          </a:p>
        </p:txBody>
      </p:sp>
      <p:sp>
        <p:nvSpPr>
          <p:cNvPr id="10" name="New shape"/>
          <p:cNvSpPr txBox="1"/>
          <p:nvPr/>
        </p:nvSpPr>
        <p:spPr>
          <a:xfrm>
            <a:off x="742950" y="2520315"/>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Not fully utilized</a:t>
            </a:r>
          </a:p>
        </p:txBody>
      </p:sp>
      <p:sp>
        <p:nvSpPr>
          <p:cNvPr id="11" name="New shape"/>
          <p:cNvSpPr/>
          <p:nvPr/>
        </p:nvSpPr>
        <p:spPr>
          <a:xfrm>
            <a:off x="457200" y="2520315"/>
            <a:ext cx="171450" cy="171450"/>
          </a:xfrm>
          <a:prstGeom prst="roundRect">
            <a:avLst/>
          </a:prstGeom>
          <a:solidFill>
            <a:srgbClr val="FFA11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742950" y="2668905"/>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People are engaged but struggle to perform at their best. Improve their performance environment to make the group thrive.</a:t>
            </a:r>
          </a:p>
        </p:txBody>
      </p:sp>
      <p:sp>
        <p:nvSpPr>
          <p:cNvPr id="13" name="New shape"/>
          <p:cNvSpPr txBox="1"/>
          <p:nvPr/>
        </p:nvSpPr>
        <p:spPr>
          <a:xfrm>
            <a:off x="742950" y="3074670"/>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Detached</a:t>
            </a:r>
          </a:p>
        </p:txBody>
      </p:sp>
      <p:sp>
        <p:nvSpPr>
          <p:cNvPr id="14" name="New shape"/>
          <p:cNvSpPr/>
          <p:nvPr/>
        </p:nvSpPr>
        <p:spPr>
          <a:xfrm>
            <a:off x="457200" y="3074670"/>
            <a:ext cx="171450" cy="171450"/>
          </a:xfrm>
          <a:prstGeom prst="roundRect">
            <a:avLst/>
          </a:prstGeom>
          <a:solidFill>
            <a:srgbClr val="CFD4D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742950" y="3223260"/>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Maintain your good performance environment and review your drivers of employee engagement for opportunities to boost it.</a:t>
            </a:r>
          </a:p>
        </p:txBody>
      </p:sp>
      <p:sp>
        <p:nvSpPr>
          <p:cNvPr id="16" name="New shape"/>
          <p:cNvSpPr/>
          <p:nvPr/>
        </p:nvSpPr>
        <p:spPr>
          <a:xfrm flipH="1">
            <a:off x="4536281" y="1028700"/>
            <a:ext cx="0" cy="34861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p:nvPr/>
        </p:nvSpPr>
        <p:spPr>
          <a:xfrm>
            <a:off x="5557838" y="1028700"/>
            <a:ext cx="1478756" cy="1478756"/>
          </a:xfrm>
          <a:prstGeom prst="roundRect">
            <a:avLst>
              <a:gd name="adj" fmla="val 3000"/>
            </a:avLst>
          </a:prstGeom>
          <a:gradFill>
            <a:gsLst>
              <a:gs pos="70000">
                <a:srgbClr val="CFD4DC"/>
              </a:gs>
              <a:gs pos="0">
                <a:srgbClr val="FFFFFF"/>
              </a:gs>
            </a:gsLst>
            <a:lin ang="135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7065169" y="1028700"/>
            <a:ext cx="1478756" cy="1478756"/>
          </a:xfrm>
          <a:prstGeom prst="roundRect">
            <a:avLst>
              <a:gd name="adj" fmla="val 3000"/>
            </a:avLst>
          </a:prstGeom>
          <a:gradFill>
            <a:gsLst>
              <a:gs pos="70000">
                <a:srgbClr val="2DAC6F"/>
              </a:gs>
              <a:gs pos="0">
                <a:srgbClr val="FFFFFF"/>
              </a:gs>
            </a:gsLst>
            <a:lin ang="189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5557838" y="2536031"/>
            <a:ext cx="1478756" cy="1478756"/>
          </a:xfrm>
          <a:prstGeom prst="roundRect">
            <a:avLst>
              <a:gd name="adj" fmla="val 3000"/>
            </a:avLst>
          </a:prstGeom>
          <a:gradFill>
            <a:gsLst>
              <a:gs pos="70000">
                <a:srgbClr val="D01F1F"/>
              </a:gs>
              <a:gs pos="0">
                <a:srgbClr val="FFFFFF"/>
              </a:gs>
            </a:gsLst>
            <a:lin ang="81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7065169" y="2536031"/>
            <a:ext cx="1478756" cy="1478756"/>
          </a:xfrm>
          <a:prstGeom prst="roundRect">
            <a:avLst>
              <a:gd name="adj" fmla="val 3000"/>
            </a:avLst>
          </a:prstGeom>
          <a:gradFill>
            <a:gsLst>
              <a:gs pos="70000">
                <a:srgbClr val="FFA113"/>
              </a:gs>
              <a:gs pos="0">
                <a:srgbClr val="FFFFFF"/>
              </a:gs>
            </a:gsLst>
            <a:lin ang="27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300662"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0</a:t>
            </a:r>
          </a:p>
        </p:txBody>
      </p:sp>
      <p:sp>
        <p:nvSpPr>
          <p:cNvPr id="22" name="New shape"/>
          <p:cNvSpPr txBox="1"/>
          <p:nvPr/>
        </p:nvSpPr>
        <p:spPr>
          <a:xfrm>
            <a:off x="5685404"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10</a:t>
            </a:r>
          </a:p>
        </p:txBody>
      </p:sp>
      <p:sp>
        <p:nvSpPr>
          <p:cNvPr id="23" name="New shape"/>
          <p:cNvSpPr txBox="1"/>
          <p:nvPr/>
        </p:nvSpPr>
        <p:spPr>
          <a:xfrm>
            <a:off x="5898697"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20</a:t>
            </a:r>
          </a:p>
        </p:txBody>
      </p:sp>
      <p:sp>
        <p:nvSpPr>
          <p:cNvPr id="24" name="New shape"/>
          <p:cNvSpPr txBox="1"/>
          <p:nvPr/>
        </p:nvSpPr>
        <p:spPr>
          <a:xfrm>
            <a:off x="611198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30</a:t>
            </a:r>
          </a:p>
        </p:txBody>
      </p:sp>
      <p:sp>
        <p:nvSpPr>
          <p:cNvPr id="25" name="New shape"/>
          <p:cNvSpPr txBox="1"/>
          <p:nvPr/>
        </p:nvSpPr>
        <p:spPr>
          <a:xfrm>
            <a:off x="6325281"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40</a:t>
            </a:r>
          </a:p>
        </p:txBody>
      </p:sp>
      <p:sp>
        <p:nvSpPr>
          <p:cNvPr id="26" name="New shape"/>
          <p:cNvSpPr txBox="1"/>
          <p:nvPr/>
        </p:nvSpPr>
        <p:spPr>
          <a:xfrm>
            <a:off x="6538572"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50</a:t>
            </a:r>
          </a:p>
        </p:txBody>
      </p:sp>
      <p:sp>
        <p:nvSpPr>
          <p:cNvPr id="27" name="New shape"/>
          <p:cNvSpPr txBox="1"/>
          <p:nvPr/>
        </p:nvSpPr>
        <p:spPr>
          <a:xfrm>
            <a:off x="6751864"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60</a:t>
            </a:r>
          </a:p>
        </p:txBody>
      </p:sp>
      <p:sp>
        <p:nvSpPr>
          <p:cNvPr id="28" name="New shape"/>
          <p:cNvSpPr txBox="1"/>
          <p:nvPr/>
        </p:nvSpPr>
        <p:spPr>
          <a:xfrm>
            <a:off x="6965156"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70</a:t>
            </a:r>
          </a:p>
        </p:txBody>
      </p:sp>
      <p:sp>
        <p:nvSpPr>
          <p:cNvPr id="29" name="New shape"/>
          <p:cNvSpPr txBox="1"/>
          <p:nvPr/>
        </p:nvSpPr>
        <p:spPr>
          <a:xfrm>
            <a:off x="746283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80</a:t>
            </a:r>
          </a:p>
        </p:txBody>
      </p:sp>
      <p:sp>
        <p:nvSpPr>
          <p:cNvPr id="30" name="New shape"/>
          <p:cNvSpPr txBox="1"/>
          <p:nvPr/>
        </p:nvSpPr>
        <p:spPr>
          <a:xfrm>
            <a:off x="796051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90</a:t>
            </a:r>
          </a:p>
        </p:txBody>
      </p:sp>
      <p:sp>
        <p:nvSpPr>
          <p:cNvPr id="31" name="New shape"/>
          <p:cNvSpPr txBox="1"/>
          <p:nvPr/>
        </p:nvSpPr>
        <p:spPr>
          <a:xfrm>
            <a:off x="8458200"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100</a:t>
            </a:r>
          </a:p>
        </p:txBody>
      </p:sp>
      <p:sp>
        <p:nvSpPr>
          <p:cNvPr id="32" name="New shape"/>
          <p:cNvSpPr txBox="1"/>
          <p:nvPr/>
        </p:nvSpPr>
        <p:spPr>
          <a:xfrm>
            <a:off x="5300662" y="380450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10</a:t>
            </a:r>
          </a:p>
        </p:txBody>
      </p:sp>
      <p:sp>
        <p:nvSpPr>
          <p:cNvPr id="33" name="New shape"/>
          <p:cNvSpPr txBox="1"/>
          <p:nvPr/>
        </p:nvSpPr>
        <p:spPr>
          <a:xfrm>
            <a:off x="5300662" y="35942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20</a:t>
            </a:r>
          </a:p>
        </p:txBody>
      </p:sp>
      <p:sp>
        <p:nvSpPr>
          <p:cNvPr id="34" name="New shape"/>
          <p:cNvSpPr txBox="1"/>
          <p:nvPr/>
        </p:nvSpPr>
        <p:spPr>
          <a:xfrm>
            <a:off x="5300662" y="3383924"/>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30</a:t>
            </a:r>
          </a:p>
        </p:txBody>
      </p:sp>
      <p:sp>
        <p:nvSpPr>
          <p:cNvPr id="35" name="New shape"/>
          <p:cNvSpPr txBox="1"/>
          <p:nvPr/>
        </p:nvSpPr>
        <p:spPr>
          <a:xfrm>
            <a:off x="5300662" y="3173636"/>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40</a:t>
            </a:r>
          </a:p>
        </p:txBody>
      </p:sp>
      <p:sp>
        <p:nvSpPr>
          <p:cNvPr id="36" name="New shape"/>
          <p:cNvSpPr txBox="1"/>
          <p:nvPr/>
        </p:nvSpPr>
        <p:spPr>
          <a:xfrm>
            <a:off x="5300662" y="2963348"/>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50</a:t>
            </a:r>
          </a:p>
        </p:txBody>
      </p:sp>
      <p:sp>
        <p:nvSpPr>
          <p:cNvPr id="37" name="New shape"/>
          <p:cNvSpPr txBox="1"/>
          <p:nvPr/>
        </p:nvSpPr>
        <p:spPr>
          <a:xfrm>
            <a:off x="5300662" y="275306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60</a:t>
            </a:r>
          </a:p>
        </p:txBody>
      </p:sp>
      <p:sp>
        <p:nvSpPr>
          <p:cNvPr id="38" name="New shape"/>
          <p:cNvSpPr txBox="1"/>
          <p:nvPr/>
        </p:nvSpPr>
        <p:spPr>
          <a:xfrm>
            <a:off x="5300662" y="2542773"/>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70</a:t>
            </a:r>
          </a:p>
        </p:txBody>
      </p:sp>
      <p:sp>
        <p:nvSpPr>
          <p:cNvPr id="39" name="New shape"/>
          <p:cNvSpPr txBox="1"/>
          <p:nvPr/>
        </p:nvSpPr>
        <p:spPr>
          <a:xfrm>
            <a:off x="5300662" y="2058385"/>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80</a:t>
            </a:r>
          </a:p>
        </p:txBody>
      </p:sp>
      <p:sp>
        <p:nvSpPr>
          <p:cNvPr id="40" name="New shape"/>
          <p:cNvSpPr txBox="1"/>
          <p:nvPr/>
        </p:nvSpPr>
        <p:spPr>
          <a:xfrm>
            <a:off x="5300662" y="1543543"/>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90</a:t>
            </a:r>
          </a:p>
        </p:txBody>
      </p:sp>
      <p:sp>
        <p:nvSpPr>
          <p:cNvPr id="41" name="New shape"/>
          <p:cNvSpPr txBox="1"/>
          <p:nvPr/>
        </p:nvSpPr>
        <p:spPr>
          <a:xfrm>
            <a:off x="5300662" y="102870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100</a:t>
            </a:r>
          </a:p>
        </p:txBody>
      </p:sp>
      <p:grpSp>
        <p:nvGrpSpPr>
          <p:cNvPr id="46" name="Group 45"/>
          <p:cNvGrpSpPr/>
          <p:nvPr/>
        </p:nvGrpSpPr>
        <p:grpSpPr>
          <a:xfrm>
            <a:off x="4786312" y="1285875"/>
            <a:ext cx="428625" cy="200025"/>
            <a:chOff x="4151312" y="650875"/>
            <a:chExt cx="428625" cy="200025"/>
          </a:xfrm>
        </p:grpSpPr>
        <p:sp>
          <p:nvSpPr>
            <p:cNvPr id="47" name="New shape"/>
            <p:cNvSpPr/>
            <p:nvPr/>
          </p:nvSpPr>
          <p:spPr>
            <a:xfrm>
              <a:off x="4151312" y="650875"/>
              <a:ext cx="37147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8" name="New picture"/>
            <p:cNvPicPr/>
            <p:nvPr/>
          </p:nvPicPr>
          <p:blipFill>
            <a:blip>
              <a:extLst>
                <a:ext uri="{96DAC541-7B7A-43D3-8B79-37D633B846F1}">
                  <asvg:svgBlip xmlns:asvg="http://schemas.microsoft.com/office/drawing/2016/SVG/main" r:embed="rId2"/>
                </a:ext>
              </a:extLst>
            </a:blip>
            <a:stretch>
              <a:fillRect/>
            </a:stretch>
          </p:blipFill>
          <p:spPr>
            <a:xfrm>
              <a:off x="4208462" y="698381"/>
              <a:ext cx="105013" cy="105013"/>
            </a:xfrm>
            <a:prstGeom prst="rect">
              <a:avLst/>
            </a:prstGeom>
          </p:spPr>
        </p:pic>
        <p:sp>
          <p:nvSpPr>
            <p:cNvPr id="49" name="New shape"/>
            <p:cNvSpPr txBox="1"/>
            <p:nvPr/>
          </p:nvSpPr>
          <p:spPr>
            <a:xfrm>
              <a:off x="4351338" y="693738"/>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72</a:t>
              </a:r>
            </a:p>
          </p:txBody>
        </p:sp>
      </p:grpSp>
      <p:grpSp>
        <p:nvGrpSpPr>
          <p:cNvPr id="50" name="Group 49"/>
          <p:cNvGrpSpPr/>
          <p:nvPr/>
        </p:nvGrpSpPr>
        <p:grpSpPr>
          <a:xfrm>
            <a:off x="6886575" y="4321969"/>
            <a:ext cx="428625" cy="200025"/>
            <a:chOff x="6251575" y="3686969"/>
            <a:chExt cx="428625" cy="200025"/>
          </a:xfrm>
        </p:grpSpPr>
        <p:sp>
          <p:nvSpPr>
            <p:cNvPr id="51" name="New shape"/>
            <p:cNvSpPr/>
            <p:nvPr/>
          </p:nvSpPr>
          <p:spPr>
            <a:xfrm>
              <a:off x="6251575" y="3686969"/>
              <a:ext cx="37147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2"/>
                </a:ext>
              </a:extLst>
            </a:blip>
            <a:stretch>
              <a:fillRect/>
            </a:stretch>
          </p:blipFill>
          <p:spPr>
            <a:xfrm>
              <a:off x="6308725" y="3734475"/>
              <a:ext cx="105013" cy="105013"/>
            </a:xfrm>
            <a:prstGeom prst="rect">
              <a:avLst/>
            </a:prstGeom>
          </p:spPr>
        </p:pic>
        <p:sp>
          <p:nvSpPr>
            <p:cNvPr id="53" name="New shape"/>
            <p:cNvSpPr txBox="1"/>
            <p:nvPr/>
          </p:nvSpPr>
          <p:spPr>
            <a:xfrm>
              <a:off x="6451600"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70</a:t>
              </a:r>
            </a:p>
          </p:txBody>
        </p:sp>
      </p:grpSp>
      <p:sp>
        <p:nvSpPr>
          <p:cNvPr id="54" name="New shape"/>
          <p:cNvSpPr/>
          <p:nvPr/>
        </p:nvSpPr>
        <p:spPr>
          <a:xfrm flipH="1">
            <a:off x="7050881" y="1028700"/>
            <a:ext cx="0" cy="2986088"/>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5" name="New shape"/>
          <p:cNvSpPr/>
          <p:nvPr/>
        </p:nvSpPr>
        <p:spPr>
          <a:xfrm>
            <a:off x="5557838" y="2521744"/>
            <a:ext cx="2986088" cy="0"/>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pSp>
        <p:nvGrpSpPr>
          <p:cNvPr id="60" name="Group 59"/>
          <p:cNvGrpSpPr/>
          <p:nvPr/>
        </p:nvGrpSpPr>
        <p:grpSpPr>
          <a:xfrm>
            <a:off x="4786312" y="1543050"/>
            <a:ext cx="428625" cy="200025"/>
            <a:chOff x="4151312" y="908050"/>
            <a:chExt cx="428625" cy="200025"/>
          </a:xfrm>
        </p:grpSpPr>
        <p:sp>
          <p:nvSpPr>
            <p:cNvPr id="61" name="New shape"/>
            <p:cNvSpPr/>
            <p:nvPr/>
          </p:nvSpPr>
          <p:spPr>
            <a:xfrm>
              <a:off x="4151312" y="908050"/>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2" name="New picture"/>
            <p:cNvPicPr/>
            <p:nvPr/>
          </p:nvPicPr>
          <p:blipFill>
            <a:blip>
              <a:extLst>
                <a:ext uri="{96DAC541-7B7A-43D3-8B79-37D633B846F1}">
                  <asvg:svgBlip xmlns:asvg="http://schemas.microsoft.com/office/drawing/2016/SVG/main" r:embed="rId3"/>
                </a:ext>
              </a:extLst>
            </a:blip>
            <a:stretch>
              <a:fillRect/>
            </a:stretch>
          </p:blipFill>
          <p:spPr>
            <a:xfrm>
              <a:off x="4208462" y="955556"/>
              <a:ext cx="105013" cy="105013"/>
            </a:xfrm>
            <a:prstGeom prst="rect">
              <a:avLst/>
            </a:prstGeom>
          </p:spPr>
        </p:pic>
        <p:sp>
          <p:nvSpPr>
            <p:cNvPr id="63" name="New shape"/>
            <p:cNvSpPr txBox="1"/>
            <p:nvPr/>
          </p:nvSpPr>
          <p:spPr>
            <a:xfrm>
              <a:off x="4351338" y="950912"/>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71</a:t>
              </a:r>
            </a:p>
          </p:txBody>
        </p:sp>
      </p:grpSp>
      <p:grpSp>
        <p:nvGrpSpPr>
          <p:cNvPr id="64" name="Group 63"/>
          <p:cNvGrpSpPr/>
          <p:nvPr/>
        </p:nvGrpSpPr>
        <p:grpSpPr>
          <a:xfrm>
            <a:off x="7315200" y="4321969"/>
            <a:ext cx="428625" cy="200025"/>
            <a:chOff x="6680200" y="3686969"/>
            <a:chExt cx="428625" cy="200025"/>
          </a:xfrm>
        </p:grpSpPr>
        <p:sp>
          <p:nvSpPr>
            <p:cNvPr id="65" name="New shape"/>
            <p:cNvSpPr/>
            <p:nvPr/>
          </p:nvSpPr>
          <p:spPr>
            <a:xfrm>
              <a:off x="6680200" y="3686969"/>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6" name="New picture"/>
            <p:cNvPicPr/>
            <p:nvPr/>
          </p:nvPicPr>
          <p:blipFill>
            <a:blip>
              <a:extLst>
                <a:ext uri="{96DAC541-7B7A-43D3-8B79-37D633B846F1}">
                  <asvg:svgBlip xmlns:asvg="http://schemas.microsoft.com/office/drawing/2016/SVG/main" r:embed="rId3"/>
                </a:ext>
              </a:extLst>
            </a:blip>
            <a:stretch>
              <a:fillRect/>
            </a:stretch>
          </p:blipFill>
          <p:spPr>
            <a:xfrm>
              <a:off x="6737350" y="3734475"/>
              <a:ext cx="105013" cy="105013"/>
            </a:xfrm>
            <a:prstGeom prst="rect">
              <a:avLst/>
            </a:prstGeom>
          </p:spPr>
        </p:pic>
        <p:sp>
          <p:nvSpPr>
            <p:cNvPr id="67" name="New shape"/>
            <p:cNvSpPr txBox="1"/>
            <p:nvPr/>
          </p:nvSpPr>
          <p:spPr>
            <a:xfrm>
              <a:off x="6880225"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79</a:t>
              </a:r>
            </a:p>
          </p:txBody>
        </p:sp>
      </p:grpSp>
      <p:grpSp>
        <p:nvGrpSpPr>
          <p:cNvPr id="72" name="Group 71"/>
          <p:cNvGrpSpPr/>
          <p:nvPr/>
        </p:nvGrpSpPr>
        <p:grpSpPr>
          <a:xfrm>
            <a:off x="4786312" y="1800225"/>
            <a:ext cx="428625" cy="200025"/>
            <a:chOff x="4151312" y="1165225"/>
            <a:chExt cx="428625" cy="200025"/>
          </a:xfrm>
        </p:grpSpPr>
        <p:sp>
          <p:nvSpPr>
            <p:cNvPr id="73" name="New shape"/>
            <p:cNvSpPr/>
            <p:nvPr/>
          </p:nvSpPr>
          <p:spPr>
            <a:xfrm>
              <a:off x="4151312" y="1165225"/>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4" name="New picture"/>
            <p:cNvPicPr/>
            <p:nvPr/>
          </p:nvPicPr>
          <p:blipFill>
            <a:blip>
              <a:extLst>
                <a:ext uri="{96DAC541-7B7A-43D3-8B79-37D633B846F1}">
                  <asvg:svgBlip xmlns:asvg="http://schemas.microsoft.com/office/drawing/2016/SVG/main" r:embed="rId4"/>
                </a:ext>
              </a:extLst>
            </a:blip>
            <a:stretch>
              <a:fillRect/>
            </a:stretch>
          </p:blipFill>
          <p:spPr>
            <a:xfrm>
              <a:off x="4208462" y="1212731"/>
              <a:ext cx="105013" cy="105013"/>
            </a:xfrm>
            <a:prstGeom prst="rect">
              <a:avLst/>
            </a:prstGeom>
          </p:spPr>
        </p:pic>
        <p:sp>
          <p:nvSpPr>
            <p:cNvPr id="75" name="New shape"/>
            <p:cNvSpPr txBox="1"/>
            <p:nvPr/>
          </p:nvSpPr>
          <p:spPr>
            <a:xfrm>
              <a:off x="4351338" y="1208088"/>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80</a:t>
              </a:r>
            </a:p>
          </p:txBody>
        </p:sp>
      </p:grpSp>
      <p:grpSp>
        <p:nvGrpSpPr>
          <p:cNvPr id="76" name="Group 75"/>
          <p:cNvGrpSpPr/>
          <p:nvPr/>
        </p:nvGrpSpPr>
        <p:grpSpPr>
          <a:xfrm>
            <a:off x="7743825" y="4321969"/>
            <a:ext cx="428625" cy="200025"/>
            <a:chOff x="7108825" y="3686969"/>
            <a:chExt cx="428625" cy="200025"/>
          </a:xfrm>
        </p:grpSpPr>
        <p:sp>
          <p:nvSpPr>
            <p:cNvPr id="77" name="New shape"/>
            <p:cNvSpPr/>
            <p:nvPr/>
          </p:nvSpPr>
          <p:spPr>
            <a:xfrm>
              <a:off x="7108825" y="3686969"/>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8" name="New picture"/>
            <p:cNvPicPr/>
            <p:nvPr/>
          </p:nvPicPr>
          <p:blipFill>
            <a:blip>
              <a:extLst>
                <a:ext uri="{96DAC541-7B7A-43D3-8B79-37D633B846F1}">
                  <asvg:svgBlip xmlns:asvg="http://schemas.microsoft.com/office/drawing/2016/SVG/main" r:embed="rId4"/>
                </a:ext>
              </a:extLst>
            </a:blip>
            <a:stretch>
              <a:fillRect/>
            </a:stretch>
          </p:blipFill>
          <p:spPr>
            <a:xfrm>
              <a:off x="7165975" y="3734475"/>
              <a:ext cx="105013" cy="105013"/>
            </a:xfrm>
            <a:prstGeom prst="rect">
              <a:avLst/>
            </a:prstGeom>
          </p:spPr>
        </p:pic>
        <p:sp>
          <p:nvSpPr>
            <p:cNvPr id="79" name="New shape"/>
            <p:cNvSpPr txBox="1"/>
            <p:nvPr/>
          </p:nvSpPr>
          <p:spPr>
            <a:xfrm>
              <a:off x="7308850"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92</a:t>
              </a:r>
            </a:p>
          </p:txBody>
        </p:sp>
      </p:grpSp>
      <p:grpSp>
        <p:nvGrpSpPr>
          <p:cNvPr id="84" name="Group 83"/>
          <p:cNvGrpSpPr/>
          <p:nvPr/>
        </p:nvGrpSpPr>
        <p:grpSpPr>
          <a:xfrm>
            <a:off x="4786312" y="1028700"/>
            <a:ext cx="428625" cy="200025"/>
            <a:chOff x="4151312" y="393700"/>
            <a:chExt cx="428625" cy="200025"/>
          </a:xfrm>
        </p:grpSpPr>
        <p:sp>
          <p:nvSpPr>
            <p:cNvPr id="85" name="New shape"/>
            <p:cNvSpPr/>
            <p:nvPr/>
          </p:nvSpPr>
          <p:spPr>
            <a:xfrm>
              <a:off x="4151312" y="393700"/>
              <a:ext cx="37147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6" name="New picture"/>
            <p:cNvPicPr/>
            <p:nvPr/>
          </p:nvPicPr>
          <p:blipFill>
            <a:blip>
              <a:extLst>
                <a:ext uri="{96DAC541-7B7A-43D3-8B79-37D633B846F1}">
                  <asvg:svgBlip xmlns:asvg="http://schemas.microsoft.com/office/drawing/2016/SVG/main" r:embed="rId5"/>
                </a:ext>
              </a:extLst>
            </a:blip>
            <a:stretch>
              <a:fillRect/>
            </a:stretch>
          </p:blipFill>
          <p:spPr>
            <a:xfrm>
              <a:off x="4208462" y="433705"/>
              <a:ext cx="100012" cy="120015"/>
            </a:xfrm>
            <a:prstGeom prst="rect">
              <a:avLst/>
            </a:prstGeom>
          </p:spPr>
        </p:pic>
        <p:sp>
          <p:nvSpPr>
            <p:cNvPr id="87" name="New shape"/>
            <p:cNvSpPr txBox="1"/>
            <p:nvPr/>
          </p:nvSpPr>
          <p:spPr>
            <a:xfrm>
              <a:off x="4351338" y="436562"/>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C55C7"/>
                  </a:solidFill>
                  <a:latin typeface="Poppins"/>
                </a:rPr>
                <a:t>71</a:t>
              </a:r>
            </a:p>
          </p:txBody>
        </p:sp>
      </p:grpSp>
      <p:grpSp>
        <p:nvGrpSpPr>
          <p:cNvPr id="88" name="Group 87"/>
          <p:cNvGrpSpPr/>
          <p:nvPr/>
        </p:nvGrpSpPr>
        <p:grpSpPr>
          <a:xfrm>
            <a:off x="6457950" y="4321969"/>
            <a:ext cx="428625" cy="200025"/>
            <a:chOff x="5822950" y="3686969"/>
            <a:chExt cx="428625" cy="200025"/>
          </a:xfrm>
        </p:grpSpPr>
        <p:sp>
          <p:nvSpPr>
            <p:cNvPr id="89" name="New shape"/>
            <p:cNvSpPr/>
            <p:nvPr/>
          </p:nvSpPr>
          <p:spPr>
            <a:xfrm>
              <a:off x="5822950" y="3686969"/>
              <a:ext cx="37147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0" name="New picture"/>
            <p:cNvPicPr/>
            <p:nvPr/>
          </p:nvPicPr>
          <p:blipFill>
            <a:blip>
              <a:extLst>
                <a:ext uri="{96DAC541-7B7A-43D3-8B79-37D633B846F1}">
                  <asvg:svgBlip xmlns:asvg="http://schemas.microsoft.com/office/drawing/2016/SVG/main" r:embed="rId5"/>
                </a:ext>
              </a:extLst>
            </a:blip>
            <a:stretch>
              <a:fillRect/>
            </a:stretch>
          </p:blipFill>
          <p:spPr>
            <a:xfrm>
              <a:off x="5880100" y="3726974"/>
              <a:ext cx="100012" cy="120015"/>
            </a:xfrm>
            <a:prstGeom prst="rect">
              <a:avLst/>
            </a:prstGeom>
          </p:spPr>
        </p:pic>
        <p:sp>
          <p:nvSpPr>
            <p:cNvPr id="91" name="New shape"/>
            <p:cNvSpPr txBox="1"/>
            <p:nvPr/>
          </p:nvSpPr>
          <p:spPr>
            <a:xfrm>
              <a:off x="6022975"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C55C7"/>
                  </a:solidFill>
                  <a:latin typeface="Poppins"/>
                </a:rPr>
                <a:t>70</a:t>
              </a:r>
            </a:p>
          </p:txBody>
        </p:sp>
      </p:grpSp>
      <p:grpSp>
        <p:nvGrpSpPr>
          <p:cNvPr id="42" name="Group 41"/>
          <p:cNvGrpSpPr/>
          <p:nvPr/>
        </p:nvGrpSpPr>
        <p:grpSpPr>
          <a:xfrm>
            <a:off x="6950869" y="2213084"/>
            <a:ext cx="200025" cy="257175"/>
            <a:chOff x="6315869" y="1578084"/>
            <a:chExt cx="200025" cy="257175"/>
          </a:xfrm>
        </p:grpSpPr>
        <p:sp>
          <p:nvSpPr>
            <p:cNvPr id="43" name="New shape"/>
            <p:cNvSpPr/>
            <p:nvPr/>
          </p:nvSpPr>
          <p:spPr>
            <a:xfrm>
              <a:off x="6315869" y="1578084"/>
              <a:ext cx="20002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4" name="New shape"/>
            <p:cNvSpPr/>
            <p:nvPr/>
          </p:nvSpPr>
          <p:spPr>
            <a:xfrm rot="10800000">
              <a:off x="6373019" y="1785253"/>
              <a:ext cx="85725" cy="50006"/>
            </a:xfrm>
            <a:prstGeom prst="triangl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2"/>
                </a:ext>
              </a:extLst>
            </a:blip>
            <a:stretch>
              <a:fillRect/>
            </a:stretch>
          </p:blipFill>
          <p:spPr>
            <a:xfrm>
              <a:off x="6363376" y="1625590"/>
              <a:ext cx="105013" cy="105013"/>
            </a:xfrm>
            <a:prstGeom prst="rect">
              <a:avLst/>
            </a:prstGeom>
          </p:spPr>
        </p:pic>
      </p:grpSp>
      <p:grpSp>
        <p:nvGrpSpPr>
          <p:cNvPr id="56" name="Group 55"/>
          <p:cNvGrpSpPr/>
          <p:nvPr/>
        </p:nvGrpSpPr>
        <p:grpSpPr>
          <a:xfrm>
            <a:off x="7398782" y="2264569"/>
            <a:ext cx="200025" cy="257175"/>
            <a:chOff x="6763782" y="1629569"/>
            <a:chExt cx="200025" cy="257175"/>
          </a:xfrm>
        </p:grpSpPr>
        <p:sp>
          <p:nvSpPr>
            <p:cNvPr id="57" name="New shape"/>
            <p:cNvSpPr/>
            <p:nvPr/>
          </p:nvSpPr>
          <p:spPr>
            <a:xfrm>
              <a:off x="6763782" y="1629569"/>
              <a:ext cx="20002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rot="10800000">
              <a:off x="6820932" y="1836738"/>
              <a:ext cx="85725" cy="50006"/>
            </a:xfrm>
            <a:prstGeom prst="triangle">
              <a:avLst/>
            </a:prstGeom>
            <a:solidFill>
              <a:srgbClr val="19274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9" name="New picture"/>
            <p:cNvPicPr/>
            <p:nvPr/>
          </p:nvPicPr>
          <p:blipFill>
            <a:blip>
              <a:extLst>
                <a:ext uri="{96DAC541-7B7A-43D3-8B79-37D633B846F1}">
                  <asvg:svgBlip xmlns:asvg="http://schemas.microsoft.com/office/drawing/2016/SVG/main" r:embed="rId3"/>
                </a:ext>
              </a:extLst>
            </a:blip>
            <a:stretch>
              <a:fillRect/>
            </a:stretch>
          </p:blipFill>
          <p:spPr>
            <a:xfrm>
              <a:off x="6811287" y="1677075"/>
              <a:ext cx="105013" cy="105013"/>
            </a:xfrm>
            <a:prstGeom prst="rect">
              <a:avLst/>
            </a:prstGeom>
          </p:spPr>
        </p:pic>
      </p:grpSp>
      <p:grpSp>
        <p:nvGrpSpPr>
          <p:cNvPr id="68" name="Group 67"/>
          <p:cNvGrpSpPr/>
          <p:nvPr/>
        </p:nvGrpSpPr>
        <p:grpSpPr>
          <a:xfrm>
            <a:off x="8045767" y="1801210"/>
            <a:ext cx="200025" cy="257175"/>
            <a:chOff x="7410767" y="1166210"/>
            <a:chExt cx="200025" cy="257175"/>
          </a:xfrm>
        </p:grpSpPr>
        <p:sp>
          <p:nvSpPr>
            <p:cNvPr id="69" name="New shape"/>
            <p:cNvSpPr/>
            <p:nvPr/>
          </p:nvSpPr>
          <p:spPr>
            <a:xfrm>
              <a:off x="7410767" y="1166210"/>
              <a:ext cx="20002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rot="10800000">
              <a:off x="7467917" y="1373379"/>
              <a:ext cx="85725" cy="50006"/>
            </a:xfrm>
            <a:prstGeom prst="triangle">
              <a:avLst/>
            </a:prstGeom>
            <a:solidFill>
              <a:srgbClr val="19274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1" name="New picture"/>
            <p:cNvPicPr/>
            <p:nvPr/>
          </p:nvPicPr>
          <p:blipFill>
            <a:blip>
              <a:extLst>
                <a:ext uri="{96DAC541-7B7A-43D3-8B79-37D633B846F1}">
                  <asvg:svgBlip xmlns:asvg="http://schemas.microsoft.com/office/drawing/2016/SVG/main" r:embed="rId4"/>
                </a:ext>
              </a:extLst>
            </a:blip>
            <a:stretch>
              <a:fillRect/>
            </a:stretch>
          </p:blipFill>
          <p:spPr>
            <a:xfrm>
              <a:off x="7458273" y="1213716"/>
              <a:ext cx="105013" cy="105013"/>
            </a:xfrm>
            <a:prstGeom prst="rect">
              <a:avLst/>
            </a:prstGeom>
          </p:spPr>
        </p:pic>
      </p:grpSp>
      <p:grpSp>
        <p:nvGrpSpPr>
          <p:cNvPr id="80" name="Group 79"/>
          <p:cNvGrpSpPr/>
          <p:nvPr/>
        </p:nvGrpSpPr>
        <p:grpSpPr>
          <a:xfrm>
            <a:off x="6950869" y="2264569"/>
            <a:ext cx="200025" cy="257175"/>
            <a:chOff x="6315869" y="1629569"/>
            <a:chExt cx="200025" cy="257175"/>
          </a:xfrm>
        </p:grpSpPr>
        <p:sp>
          <p:nvSpPr>
            <p:cNvPr id="81" name="New shape"/>
            <p:cNvSpPr/>
            <p:nvPr/>
          </p:nvSpPr>
          <p:spPr>
            <a:xfrm>
              <a:off x="6315869" y="1629569"/>
              <a:ext cx="20002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2" name="New shape"/>
            <p:cNvSpPr/>
            <p:nvPr/>
          </p:nvSpPr>
          <p:spPr>
            <a:xfrm rot="10800000">
              <a:off x="6373019" y="1836738"/>
              <a:ext cx="85725" cy="50006"/>
            </a:xfrm>
            <a:prstGeom prst="triangle">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3" name="New picture"/>
            <p:cNvPicPr/>
            <p:nvPr/>
          </p:nvPicPr>
          <p:blipFill>
            <a:blip>
              <a:extLst>
                <a:ext uri="{96DAC541-7B7A-43D3-8B79-37D633B846F1}">
                  <asvg:svgBlip xmlns:asvg="http://schemas.microsoft.com/office/drawing/2016/SVG/main" r:embed="rId5"/>
                </a:ext>
              </a:extLst>
            </a:blip>
            <a:stretch>
              <a:fillRect/>
            </a:stretch>
          </p:blipFill>
          <p:spPr>
            <a:xfrm>
              <a:off x="6365875" y="1669574"/>
              <a:ext cx="100012" cy="120015"/>
            </a:xfrm>
            <a:prstGeom prst="rect">
              <a:avLst/>
            </a:prstGeom>
          </p:spPr>
        </p:pic>
      </p:grpSp>
      <p:sp>
        <p:nvSpPr>
          <p:cNvPr id="92" name="New shape"/>
          <p:cNvSpPr txBox="1"/>
          <p:nvPr/>
        </p:nvSpPr>
        <p:spPr>
          <a:xfrm>
            <a:off x="4786312" y="771525"/>
            <a:ext cx="7572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1" i="0">
                <a:solidFill>
                  <a:srgbClr val="192743"/>
                </a:solidFill>
                <a:latin typeface="Poppins"/>
              </a:rPr>
              <a:t>Performance environment</a:t>
            </a:r>
          </a:p>
        </p:txBody>
      </p:sp>
      <p:sp>
        <p:nvSpPr>
          <p:cNvPr id="93" name="New shape"/>
          <p:cNvSpPr txBox="1"/>
          <p:nvPr/>
        </p:nvSpPr>
        <p:spPr>
          <a:xfrm>
            <a:off x="5586412" y="4371975"/>
            <a:ext cx="7572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1" i="0">
                <a:solidFill>
                  <a:srgbClr val="192743"/>
                </a:solidFill>
                <a:latin typeface="Poppins"/>
              </a:rPr>
              <a:t>Engagement</a:t>
            </a:r>
          </a:p>
        </p:txBody>
      </p:sp>
      <p:pic>
        <p:nvPicPr>
          <p:cNvPr id="94" name="New picture"/>
          <p:cNvPicPr/>
          <p:nvPr/>
        </p:nvPicPr>
        <p:blipFill>
          <a:blip>
            <a:extLst>
              <a:ext uri="{96DAC541-7B7A-43D3-8B79-37D633B846F1}">
                <asvg:svgBlip xmlns:asvg="http://schemas.microsoft.com/office/drawing/2016/SVG/main" r:embed="rId6"/>
              </a:ext>
            </a:extLst>
          </a:blip>
          <a:stretch>
            <a:fillRect/>
          </a:stretch>
        </p:blipFill>
        <p:spPr>
          <a:xfrm>
            <a:off x="178594" y="4883467"/>
            <a:ext cx="100012" cy="120015"/>
          </a:xfrm>
          <a:prstGeom prst="rect">
            <a:avLst/>
          </a:prstGeom>
        </p:spPr>
      </p:pic>
      <p:sp>
        <p:nvSpPr>
          <p:cNvPr id="95" name="New shape"/>
          <p:cNvSpPr txBox="1"/>
          <p:nvPr/>
        </p:nvSpPr>
        <p:spPr>
          <a:xfrm>
            <a:off x="350044"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a:solidFill>
                  <a:srgbClr val="1C55C7"/>
                </a:solidFill>
                <a:latin typeface="Poppins"/>
              </a:rPr>
              <a:t>Current: </a:t>
            </a:r>
            <a:r>
              <a:rPr lang="en-US" sz="675" b="0" i="0" dirty="0">
                <a:solidFill>
                  <a:srgbClr val="1C55C7"/>
                </a:solidFill>
                <a:latin typeface="Poppins"/>
              </a:rPr>
              <a:t>Novanta B.V.</a:t>
            </a:r>
            <a:endParaRPr sz="675" b="0" i="0" dirty="0">
              <a:solidFill>
                <a:srgbClr val="1C55C7"/>
              </a:solidFill>
              <a:latin typeface="Poppins"/>
            </a:endParaRPr>
          </a:p>
        </p:txBody>
      </p:sp>
      <p:pic>
        <p:nvPicPr>
          <p:cNvPr id="96" name="New picture"/>
          <p:cNvPicPr/>
          <p:nvPr/>
        </p:nvPicPr>
        <p:blipFill>
          <a:blip>
            <a:extLst>
              <a:ext uri="{96DAC541-7B7A-43D3-8B79-37D633B846F1}">
                <asvg:svgBlip xmlns:asvg="http://schemas.microsoft.com/office/drawing/2016/SVG/main" r:embed="rId2"/>
              </a:ext>
            </a:extLst>
          </a:blip>
          <a:stretch>
            <a:fillRect/>
          </a:stretch>
        </p:blipFill>
        <p:spPr>
          <a:xfrm>
            <a:off x="1300162" y="4890969"/>
            <a:ext cx="105013" cy="105013"/>
          </a:xfrm>
          <a:prstGeom prst="rect">
            <a:avLst/>
          </a:prstGeom>
        </p:spPr>
      </p:pic>
      <p:sp>
        <p:nvSpPr>
          <p:cNvPr id="97" name="New shape"/>
          <p:cNvSpPr txBox="1"/>
          <p:nvPr/>
        </p:nvSpPr>
        <p:spPr>
          <a:xfrm>
            <a:off x="1476613"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546178"/>
                </a:solidFill>
                <a:latin typeface="Poppins"/>
              </a:rPr>
              <a:t>Previous survey</a:t>
            </a:r>
          </a:p>
        </p:txBody>
      </p:sp>
      <p:sp>
        <p:nvSpPr>
          <p:cNvPr id="98" name="New shape"/>
          <p:cNvSpPr/>
          <p:nvPr/>
        </p:nvSpPr>
        <p:spPr>
          <a:xfrm>
            <a:off x="2319576" y="4943475"/>
            <a:ext cx="142875" cy="0"/>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9" name="New shape"/>
          <p:cNvSpPr txBox="1"/>
          <p:nvPr/>
        </p:nvSpPr>
        <p:spPr>
          <a:xfrm>
            <a:off x="2519601"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Global Index</a:t>
            </a:r>
          </a:p>
        </p:txBody>
      </p:sp>
      <p:pic>
        <p:nvPicPr>
          <p:cNvPr id="100" name="New picture"/>
          <p:cNvPicPr/>
          <p:nvPr/>
        </p:nvPicPr>
        <p:blipFill>
          <a:blip>
            <a:extLst>
              <a:ext uri="{96DAC541-7B7A-43D3-8B79-37D633B846F1}">
                <asvg:svgBlip xmlns:asvg="http://schemas.microsoft.com/office/drawing/2016/SVG/main" r:embed="rId7"/>
              </a:ext>
            </a:extLst>
          </a:blip>
          <a:stretch>
            <a:fillRect/>
          </a:stretch>
        </p:blipFill>
        <p:spPr>
          <a:xfrm>
            <a:off x="3469720" y="4890969"/>
            <a:ext cx="105013" cy="105013"/>
          </a:xfrm>
          <a:prstGeom prst="rect">
            <a:avLst/>
          </a:prstGeom>
        </p:spPr>
      </p:pic>
      <p:sp>
        <p:nvSpPr>
          <p:cNvPr id="101" name="New shape"/>
          <p:cNvSpPr txBox="1"/>
          <p:nvPr/>
        </p:nvSpPr>
        <p:spPr>
          <a:xfrm>
            <a:off x="3646170"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Global Index</a:t>
            </a:r>
          </a:p>
        </p:txBody>
      </p:sp>
      <p:pic>
        <p:nvPicPr>
          <p:cNvPr id="102" name="New picture"/>
          <p:cNvPicPr/>
          <p:nvPr/>
        </p:nvPicPr>
        <p:blipFill>
          <a:blip>
            <a:extLst>
              <a:ext uri="{96DAC541-7B7A-43D3-8B79-37D633B846F1}">
                <asvg:svgBlip xmlns:asvg="http://schemas.microsoft.com/office/drawing/2016/SVG/main" r:embed="rId3"/>
              </a:ext>
            </a:extLst>
          </a:blip>
          <a:stretch>
            <a:fillRect/>
          </a:stretch>
        </p:blipFill>
        <p:spPr>
          <a:xfrm>
            <a:off x="4596289" y="4890969"/>
            <a:ext cx="105013" cy="105013"/>
          </a:xfrm>
          <a:prstGeom prst="rect">
            <a:avLst/>
          </a:prstGeom>
        </p:spPr>
      </p:pic>
      <p:sp>
        <p:nvSpPr>
          <p:cNvPr id="103" name="New shape"/>
          <p:cNvSpPr txBox="1"/>
          <p:nvPr/>
        </p:nvSpPr>
        <p:spPr>
          <a:xfrm>
            <a:off x="4772740"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pic>
        <p:nvPicPr>
          <p:cNvPr id="104" name="New picture"/>
          <p:cNvPicPr/>
          <p:nvPr/>
        </p:nvPicPr>
        <p:blipFill>
          <a:blip>
            <a:extLst>
              <a:ext uri="{96DAC541-7B7A-43D3-8B79-37D633B846F1}">
                <asvg:svgBlip xmlns:asvg="http://schemas.microsoft.com/office/drawing/2016/SVG/main" r:embed="rId4"/>
              </a:ext>
            </a:extLst>
          </a:blip>
          <a:stretch>
            <a:fillRect/>
          </a:stretch>
        </p:blipFill>
        <p:spPr>
          <a:xfrm>
            <a:off x="5722858" y="4890969"/>
            <a:ext cx="105013" cy="105013"/>
          </a:xfrm>
          <a:prstGeom prst="rect">
            <a:avLst/>
          </a:prstGeom>
        </p:spPr>
      </p:pic>
      <p:sp>
        <p:nvSpPr>
          <p:cNvPr id="105" name="New shape"/>
          <p:cNvSpPr txBox="1"/>
          <p:nvPr/>
        </p:nvSpPr>
        <p:spPr>
          <a:xfrm>
            <a:off x="5899309"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
        <p:nvSpPr>
          <p:cNvPr id="10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15</a:t>
            </a:r>
          </a:p>
        </p:txBody>
      </p:sp>
      <p:sp>
        <p:nvSpPr>
          <p:cNvPr id="10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8"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0"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Theme scores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Compared by benchmarks</a:t>
            </a:r>
          </a:p>
        </p:txBody>
      </p:sp>
      <p:sp>
        <p:nvSpPr>
          <p:cNvPr id="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2" name="New Table"/>
          <p:cNvGraphicFramePr>
            <a:graphicFrameLocks noGrp="1"/>
          </p:cNvGraphicFramePr>
          <p:nvPr/>
        </p:nvGraphicFramePr>
        <p:xfrm>
          <a:off x="457200" y="1835944"/>
          <a:ext cx="7772400" cy="2685796"/>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900" b="1" i="0">
                          <a:solidFill>
                            <a:srgbClr val="192743"/>
                          </a:solidFill>
                          <a:latin typeface="Poppins"/>
                        </a:rPr>
                        <a:t>Engagement</a:t>
                      </a:r>
                    </a:p>
                    <a:p>
                      <a:pPr>
                        <a:spcBef>
                          <a:spcPct val="40000"/>
                        </a:spcBef>
                        <a:spcAft>
                          <a:spcPct val="40000"/>
                        </a:spcAft>
                      </a:pPr>
                      <a:r>
                        <a:rPr sz="788" i="0">
                          <a:solidFill>
                            <a:srgbClr val="546178"/>
                          </a:solidFill>
                          <a:latin typeface="Poppins"/>
                        </a:rPr>
                        <a:t>Describes the extent to which employees are intrinsically tied to the organization they work for and their work.</a:t>
                      </a:r>
                    </a:p>
                  </a:txBody>
                  <a:tcPr marL="0" marR="0" marT="101600" marB="10160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900" b="1" i="0">
                          <a:solidFill>
                            <a:srgbClr val="192743"/>
                          </a:solidFill>
                          <a:latin typeface="Poppins"/>
                        </a:rPr>
                        <a:t>Performance environment</a:t>
                      </a:r>
                    </a:p>
                    <a:p>
                      <a:pPr>
                        <a:spcBef>
                          <a:spcPct val="40000"/>
                        </a:spcBef>
                        <a:spcAft>
                          <a:spcPct val="40000"/>
                        </a:spcAft>
                      </a:pPr>
                      <a:r>
                        <a:rPr sz="788" i="0">
                          <a:solidFill>
                            <a:srgbClr val="546178"/>
                          </a:solidFill>
                          <a:latin typeface="Poppins"/>
                        </a:rPr>
                        <a:t>Describes important basic conditions which enable employees to work effectively and efficiently.</a:t>
                      </a:r>
                    </a:p>
                  </a:txBody>
                  <a:tcPr marL="0" marR="0" marT="101600" marB="10160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Leading Change</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Providing direction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Managing people</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Managing systems</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6"/>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3" name="Group 22"/>
          <p:cNvGrpSpPr/>
          <p:nvPr/>
        </p:nvGrpSpPr>
        <p:grpSpPr>
          <a:xfrm rot="18900000">
            <a:off x="6640973" y="1107643"/>
            <a:ext cx="1477328" cy="120015"/>
            <a:chOff x="6265862" y="95519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Theme scores</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Compared by benchmarks</a:t>
            </a:r>
          </a:p>
        </p:txBody>
      </p:sp>
      <p:sp>
        <p:nvSpPr>
          <p:cNvPr id="3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3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3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16</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46434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Engagement</a:t>
            </a:r>
          </a:p>
        </p:txBody>
      </p:sp>
      <p:sp>
        <p:nvSpPr>
          <p:cNvPr id="3" name="New shape"/>
          <p:cNvSpPr txBox="1"/>
          <p:nvPr/>
        </p:nvSpPr>
        <p:spPr>
          <a:xfrm>
            <a:off x="7170111"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7305842" y="857250"/>
            <a:ext cx="105013" cy="105013"/>
          </a:xfrm>
          <a:prstGeom prst="rect">
            <a:avLst/>
          </a:prstGeom>
        </p:spPr>
      </p:pic>
      <p:sp>
        <p:nvSpPr>
          <p:cNvPr id="5" name="New shape"/>
          <p:cNvSpPr txBox="1"/>
          <p:nvPr/>
        </p:nvSpPr>
        <p:spPr>
          <a:xfrm>
            <a:off x="7559874"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6" name="New picture"/>
          <p:cNvPicPr/>
          <p:nvPr/>
        </p:nvPicPr>
        <p:blipFill>
          <a:blip>
            <a:extLst>
              <a:ext uri="{96DAC541-7B7A-43D3-8B79-37D633B846F1}">
                <asvg:svgBlip xmlns:asvg="http://schemas.microsoft.com/office/drawing/2016/SVG/main" r:embed="rId3"/>
              </a:ext>
            </a:extLst>
          </a:blip>
          <a:stretch>
            <a:fillRect/>
          </a:stretch>
        </p:blipFill>
        <p:spPr>
          <a:xfrm>
            <a:off x="7695605" y="857250"/>
            <a:ext cx="105013" cy="105013"/>
          </a:xfrm>
          <a:prstGeom prst="rect">
            <a:avLst/>
          </a:prstGeom>
        </p:spPr>
      </p:pic>
      <p:sp>
        <p:nvSpPr>
          <p:cNvPr id="7" name="New shape"/>
          <p:cNvSpPr txBox="1"/>
          <p:nvPr/>
        </p:nvSpPr>
        <p:spPr>
          <a:xfrm>
            <a:off x="7949638"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8" name="New picture"/>
          <p:cNvPicPr/>
          <p:nvPr/>
        </p:nvPicPr>
        <p:blipFill>
          <a:blip>
            <a:extLst>
              <a:ext uri="{96DAC541-7B7A-43D3-8B79-37D633B846F1}">
                <asvg:svgBlip xmlns:asvg="http://schemas.microsoft.com/office/drawing/2016/SVG/main" r:embed="rId2"/>
              </a:ext>
            </a:extLst>
          </a:blip>
          <a:stretch>
            <a:fillRect/>
          </a:stretch>
        </p:blipFill>
        <p:spPr>
          <a:xfrm>
            <a:off x="8085369" y="857250"/>
            <a:ext cx="105013" cy="105013"/>
          </a:xfrm>
          <a:prstGeom prst="rect">
            <a:avLst/>
          </a:prstGeom>
        </p:spPr>
      </p:pic>
      <p:sp>
        <p:nvSpPr>
          <p:cNvPr id="9" name="New shape"/>
          <p:cNvSpPr txBox="1"/>
          <p:nvPr/>
        </p:nvSpPr>
        <p:spPr>
          <a:xfrm>
            <a:off x="8339401"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0" name="New picture"/>
          <p:cNvPicPr/>
          <p:nvPr/>
        </p:nvPicPr>
        <p:blipFill>
          <a:blip>
            <a:extLst>
              <a:ext uri="{96DAC541-7B7A-43D3-8B79-37D633B846F1}">
                <asvg:svgBlip xmlns:asvg="http://schemas.microsoft.com/office/drawing/2016/SVG/main" r:embed="rId4"/>
              </a:ext>
            </a:extLst>
          </a:blip>
          <a:stretch>
            <a:fillRect/>
          </a:stretch>
        </p:blipFill>
        <p:spPr>
          <a:xfrm>
            <a:off x="8475132" y="857250"/>
            <a:ext cx="105013" cy="105013"/>
          </a:xfrm>
          <a:prstGeom prst="rect">
            <a:avLst/>
          </a:prstGeom>
        </p:spPr>
      </p:pic>
      <p:sp>
        <p:nvSpPr>
          <p:cNvPr id="11" name="New shape"/>
          <p:cNvSpPr txBox="1"/>
          <p:nvPr/>
        </p:nvSpPr>
        <p:spPr>
          <a:xfrm>
            <a:off x="457200" y="10287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enjoy doing my work / tasks</a:t>
            </a:r>
          </a:p>
        </p:txBody>
      </p:sp>
      <p:sp>
        <p:nvSpPr>
          <p:cNvPr id="12" name="New shape"/>
          <p:cNvSpPr/>
          <p:nvPr/>
        </p:nvSpPr>
        <p:spPr>
          <a:xfrm>
            <a:off x="4000500" y="1028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5"/>
              </a:ext>
            </a:extLst>
          </a:blip>
          <a:stretch>
            <a:fillRect/>
          </a:stretch>
        </p:blipFill>
        <p:spPr>
          <a:xfrm>
            <a:off x="4079081" y="1071562"/>
            <a:ext cx="71438" cy="85725"/>
          </a:xfrm>
          <a:prstGeom prst="rect">
            <a:avLst/>
          </a:prstGeom>
        </p:spPr>
      </p:pic>
      <p:sp>
        <p:nvSpPr>
          <p:cNvPr id="14" name="New shape"/>
          <p:cNvSpPr/>
          <p:nvPr/>
        </p:nvSpPr>
        <p:spPr>
          <a:xfrm>
            <a:off x="4243388" y="1028700"/>
            <a:ext cx="1676827"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64%</a:t>
            </a:r>
          </a:p>
        </p:txBody>
      </p:sp>
      <p:sp>
        <p:nvSpPr>
          <p:cNvPr id="15" name="New shape"/>
          <p:cNvSpPr/>
          <p:nvPr/>
        </p:nvSpPr>
        <p:spPr>
          <a:xfrm>
            <a:off x="5934502" y="102870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16" name="New shape"/>
          <p:cNvSpPr/>
          <p:nvPr/>
        </p:nvSpPr>
        <p:spPr>
          <a:xfrm>
            <a:off x="6263194" y="1028700"/>
            <a:ext cx="628810"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24%</a:t>
            </a:r>
          </a:p>
        </p:txBody>
      </p:sp>
      <p:sp>
        <p:nvSpPr>
          <p:cNvPr id="17" name="New shape"/>
          <p:cNvSpPr txBox="1"/>
          <p:nvPr/>
        </p:nvSpPr>
        <p:spPr>
          <a:xfrm>
            <a:off x="7149179"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18" name="New shape"/>
          <p:cNvSpPr txBox="1"/>
          <p:nvPr/>
        </p:nvSpPr>
        <p:spPr>
          <a:xfrm>
            <a:off x="7538943"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19" name="New shape"/>
          <p:cNvSpPr txBox="1"/>
          <p:nvPr/>
        </p:nvSpPr>
        <p:spPr>
          <a:xfrm>
            <a:off x="7928706"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85</a:t>
            </a:r>
          </a:p>
        </p:txBody>
      </p:sp>
      <p:sp>
        <p:nvSpPr>
          <p:cNvPr id="20" name="New shape"/>
          <p:cNvSpPr txBox="1"/>
          <p:nvPr/>
        </p:nvSpPr>
        <p:spPr>
          <a:xfrm>
            <a:off x="8318470"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98</a:t>
            </a:r>
          </a:p>
        </p:txBody>
      </p:sp>
      <p:sp>
        <p:nvSpPr>
          <p:cNvPr id="21" name="New shape"/>
          <p:cNvSpPr/>
          <p:nvPr/>
        </p:nvSpPr>
        <p:spPr>
          <a:xfrm>
            <a:off x="4000500" y="12573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2" name="New picture"/>
          <p:cNvPicPr/>
          <p:nvPr/>
        </p:nvPicPr>
        <p:blipFill>
          <a:blip>
            <a:extLst>
              <a:ext uri="{96DAC541-7B7A-43D3-8B79-37D633B846F1}">
                <asvg:svgBlip xmlns:asvg="http://schemas.microsoft.com/office/drawing/2016/SVG/main" r:embed="rId6"/>
              </a:ext>
            </a:extLst>
          </a:blip>
          <a:stretch>
            <a:fillRect/>
          </a:stretch>
        </p:blipFill>
        <p:spPr>
          <a:xfrm>
            <a:off x="4079081" y="1305520"/>
            <a:ext cx="75009" cy="75009"/>
          </a:xfrm>
          <a:prstGeom prst="rect">
            <a:avLst/>
          </a:prstGeom>
        </p:spPr>
      </p:pic>
      <p:sp>
        <p:nvSpPr>
          <p:cNvPr id="23" name="New shape"/>
          <p:cNvSpPr/>
          <p:nvPr/>
        </p:nvSpPr>
        <p:spPr>
          <a:xfrm>
            <a:off x="4243388" y="125730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24" name="New shape"/>
          <p:cNvSpPr/>
          <p:nvPr/>
        </p:nvSpPr>
        <p:spPr>
          <a:xfrm>
            <a:off x="6117904" y="125730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25" name="New shape"/>
          <p:cNvSpPr/>
          <p:nvPr/>
        </p:nvSpPr>
        <p:spPr>
          <a:xfrm>
            <a:off x="6472797" y="125730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26" name="New shape"/>
          <p:cNvSpPr/>
          <p:nvPr/>
        </p:nvSpPr>
        <p:spPr>
          <a:xfrm>
            <a:off x="457200" y="15430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7" name="New shape"/>
          <p:cNvSpPr txBox="1"/>
          <p:nvPr/>
        </p:nvSpPr>
        <p:spPr>
          <a:xfrm>
            <a:off x="457200" y="16573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Doing my work gives me energy</a:t>
            </a:r>
          </a:p>
        </p:txBody>
      </p:sp>
      <p:sp>
        <p:nvSpPr>
          <p:cNvPr id="28" name="New shape"/>
          <p:cNvSpPr/>
          <p:nvPr/>
        </p:nvSpPr>
        <p:spPr>
          <a:xfrm>
            <a:off x="4000500" y="1657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5"/>
              </a:ext>
            </a:extLst>
          </a:blip>
          <a:stretch>
            <a:fillRect/>
          </a:stretch>
        </p:blipFill>
        <p:spPr>
          <a:xfrm>
            <a:off x="4079081" y="1700212"/>
            <a:ext cx="71438" cy="85725"/>
          </a:xfrm>
          <a:prstGeom prst="rect">
            <a:avLst/>
          </a:prstGeom>
        </p:spPr>
      </p:pic>
      <p:sp>
        <p:nvSpPr>
          <p:cNvPr id="30" name="New shape"/>
          <p:cNvSpPr/>
          <p:nvPr/>
        </p:nvSpPr>
        <p:spPr>
          <a:xfrm>
            <a:off x="4243388" y="16573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31" name="New shape"/>
          <p:cNvSpPr/>
          <p:nvPr/>
        </p:nvSpPr>
        <p:spPr>
          <a:xfrm>
            <a:off x="6144105" y="165735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72797" y="16573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33" name="New shape"/>
          <p:cNvSpPr txBox="1"/>
          <p:nvPr/>
        </p:nvSpPr>
        <p:spPr>
          <a:xfrm>
            <a:off x="7149179"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34" name="New shape"/>
          <p:cNvSpPr txBox="1"/>
          <p:nvPr/>
        </p:nvSpPr>
        <p:spPr>
          <a:xfrm>
            <a:off x="7538943"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35" name="New shape"/>
          <p:cNvSpPr txBox="1"/>
          <p:nvPr/>
        </p:nvSpPr>
        <p:spPr>
          <a:xfrm>
            <a:off x="7928706"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52</a:t>
            </a:r>
          </a:p>
        </p:txBody>
      </p:sp>
      <p:sp>
        <p:nvSpPr>
          <p:cNvPr id="36" name="New shape"/>
          <p:cNvSpPr txBox="1"/>
          <p:nvPr/>
        </p:nvSpPr>
        <p:spPr>
          <a:xfrm>
            <a:off x="8318470"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37" name="New shape"/>
          <p:cNvSpPr/>
          <p:nvPr/>
        </p:nvSpPr>
        <p:spPr>
          <a:xfrm>
            <a:off x="4000500" y="18859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4079081" y="1934170"/>
            <a:ext cx="75009" cy="75009"/>
          </a:xfrm>
          <a:prstGeom prst="rect">
            <a:avLst/>
          </a:prstGeom>
        </p:spPr>
      </p:pic>
      <p:sp>
        <p:nvSpPr>
          <p:cNvPr id="39" name="New shape"/>
          <p:cNvSpPr/>
          <p:nvPr/>
        </p:nvSpPr>
        <p:spPr>
          <a:xfrm>
            <a:off x="4243388" y="1885950"/>
            <a:ext cx="17292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66%</a:t>
            </a:r>
          </a:p>
        </p:txBody>
      </p:sp>
      <p:sp>
        <p:nvSpPr>
          <p:cNvPr id="40" name="New shape"/>
          <p:cNvSpPr/>
          <p:nvPr/>
        </p:nvSpPr>
        <p:spPr>
          <a:xfrm>
            <a:off x="5986902" y="1885950"/>
            <a:ext cx="4192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41" name="New shape"/>
          <p:cNvSpPr/>
          <p:nvPr/>
        </p:nvSpPr>
        <p:spPr>
          <a:xfrm>
            <a:off x="6420396" y="1885950"/>
            <a:ext cx="4716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18%</a:t>
            </a:r>
          </a:p>
        </p:txBody>
      </p:sp>
      <p:sp>
        <p:nvSpPr>
          <p:cNvPr id="42" name="New shape"/>
          <p:cNvSpPr/>
          <p:nvPr/>
        </p:nvSpPr>
        <p:spPr>
          <a:xfrm>
            <a:off x="457200" y="21717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457200" y="22860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 am proud to work at </a:t>
            </a:r>
            <a:r>
              <a:rPr lang="en-US" sz="788" b="0" i="0" dirty="0">
                <a:solidFill>
                  <a:srgbClr val="546178"/>
                </a:solidFill>
                <a:latin typeface="Poppins"/>
              </a:rPr>
              <a:t>Novanta B.V.</a:t>
            </a:r>
            <a:endParaRPr sz="788" b="0" i="0" dirty="0">
              <a:solidFill>
                <a:srgbClr val="546178"/>
              </a:solidFill>
              <a:latin typeface="Poppins"/>
            </a:endParaRPr>
          </a:p>
        </p:txBody>
      </p:sp>
      <p:sp>
        <p:nvSpPr>
          <p:cNvPr id="44" name="New shape"/>
          <p:cNvSpPr/>
          <p:nvPr/>
        </p:nvSpPr>
        <p:spPr>
          <a:xfrm>
            <a:off x="4000500" y="22860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5"/>
              </a:ext>
            </a:extLst>
          </a:blip>
          <a:stretch>
            <a:fillRect/>
          </a:stretch>
        </p:blipFill>
        <p:spPr>
          <a:xfrm>
            <a:off x="4079081" y="2328862"/>
            <a:ext cx="71438" cy="85725"/>
          </a:xfrm>
          <a:prstGeom prst="rect">
            <a:avLst/>
          </a:prstGeom>
        </p:spPr>
      </p:pic>
      <p:sp>
        <p:nvSpPr>
          <p:cNvPr id="46" name="New shape"/>
          <p:cNvSpPr/>
          <p:nvPr/>
        </p:nvSpPr>
        <p:spPr>
          <a:xfrm>
            <a:off x="4243388" y="228600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47" name="New shape"/>
          <p:cNvSpPr/>
          <p:nvPr/>
        </p:nvSpPr>
        <p:spPr>
          <a:xfrm>
            <a:off x="6065504" y="228600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48" name="New shape"/>
          <p:cNvSpPr/>
          <p:nvPr/>
        </p:nvSpPr>
        <p:spPr>
          <a:xfrm>
            <a:off x="6315596" y="2286000"/>
            <a:ext cx="576409"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22%</a:t>
            </a:r>
          </a:p>
        </p:txBody>
      </p:sp>
      <p:sp>
        <p:nvSpPr>
          <p:cNvPr id="49" name="New shape"/>
          <p:cNvSpPr txBox="1"/>
          <p:nvPr/>
        </p:nvSpPr>
        <p:spPr>
          <a:xfrm>
            <a:off x="7149179"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50" name="New shape"/>
          <p:cNvSpPr txBox="1"/>
          <p:nvPr/>
        </p:nvSpPr>
        <p:spPr>
          <a:xfrm>
            <a:off x="7538943"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1" name="New shape"/>
          <p:cNvSpPr txBox="1"/>
          <p:nvPr/>
        </p:nvSpPr>
        <p:spPr>
          <a:xfrm>
            <a:off x="7928706"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52" name="New shape"/>
          <p:cNvSpPr txBox="1"/>
          <p:nvPr/>
        </p:nvSpPr>
        <p:spPr>
          <a:xfrm>
            <a:off x="8318470"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97</a:t>
            </a:r>
          </a:p>
        </p:txBody>
      </p:sp>
      <p:sp>
        <p:nvSpPr>
          <p:cNvPr id="53" name="New shape"/>
          <p:cNvSpPr/>
          <p:nvPr/>
        </p:nvSpPr>
        <p:spPr>
          <a:xfrm>
            <a:off x="4000500" y="25146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6"/>
              </a:ext>
            </a:extLst>
          </a:blip>
          <a:stretch>
            <a:fillRect/>
          </a:stretch>
        </p:blipFill>
        <p:spPr>
          <a:xfrm>
            <a:off x="4079081" y="2562820"/>
            <a:ext cx="75009" cy="75009"/>
          </a:xfrm>
          <a:prstGeom prst="rect">
            <a:avLst/>
          </a:prstGeom>
        </p:spPr>
      </p:pic>
      <p:sp>
        <p:nvSpPr>
          <p:cNvPr id="55" name="New shape"/>
          <p:cNvSpPr/>
          <p:nvPr/>
        </p:nvSpPr>
        <p:spPr>
          <a:xfrm>
            <a:off x="4243388" y="251460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56" name="New shape"/>
          <p:cNvSpPr/>
          <p:nvPr/>
        </p:nvSpPr>
        <p:spPr>
          <a:xfrm>
            <a:off x="6144105" y="2514600"/>
            <a:ext cx="3668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7" name="New shape"/>
          <p:cNvSpPr/>
          <p:nvPr/>
        </p:nvSpPr>
        <p:spPr>
          <a:xfrm>
            <a:off x="6525199" y="251460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8" name="New shape"/>
          <p:cNvSpPr/>
          <p:nvPr/>
        </p:nvSpPr>
        <p:spPr>
          <a:xfrm>
            <a:off x="457200" y="28003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9" name="New shape"/>
          <p:cNvSpPr txBox="1"/>
          <p:nvPr/>
        </p:nvSpPr>
        <p:spPr>
          <a:xfrm>
            <a:off x="457200" y="29146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 feel that I fit in at </a:t>
            </a:r>
            <a:r>
              <a:rPr lang="en-US" sz="788" b="0" i="0" dirty="0">
                <a:solidFill>
                  <a:srgbClr val="546178"/>
                </a:solidFill>
                <a:latin typeface="Poppins"/>
              </a:rPr>
              <a:t>Novanta B.V.</a:t>
            </a:r>
            <a:endParaRPr sz="788" b="0" i="0" dirty="0">
              <a:solidFill>
                <a:srgbClr val="546178"/>
              </a:solidFill>
              <a:latin typeface="Poppins"/>
            </a:endParaRPr>
          </a:p>
        </p:txBody>
      </p:sp>
      <p:sp>
        <p:nvSpPr>
          <p:cNvPr id="60" name="New shape"/>
          <p:cNvSpPr/>
          <p:nvPr/>
        </p:nvSpPr>
        <p:spPr>
          <a:xfrm>
            <a:off x="4000500" y="29146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5"/>
              </a:ext>
            </a:extLst>
          </a:blip>
          <a:stretch>
            <a:fillRect/>
          </a:stretch>
        </p:blipFill>
        <p:spPr>
          <a:xfrm>
            <a:off x="4079081" y="2957512"/>
            <a:ext cx="71438" cy="85725"/>
          </a:xfrm>
          <a:prstGeom prst="rect">
            <a:avLst/>
          </a:prstGeom>
        </p:spPr>
      </p:pic>
      <p:sp>
        <p:nvSpPr>
          <p:cNvPr id="62" name="New shape"/>
          <p:cNvSpPr/>
          <p:nvPr/>
        </p:nvSpPr>
        <p:spPr>
          <a:xfrm>
            <a:off x="4243388" y="2914650"/>
            <a:ext cx="1991232"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63" name="New shape"/>
          <p:cNvSpPr/>
          <p:nvPr/>
        </p:nvSpPr>
        <p:spPr>
          <a:xfrm>
            <a:off x="6248907" y="291465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64" name="New shape"/>
          <p:cNvSpPr/>
          <p:nvPr/>
        </p:nvSpPr>
        <p:spPr>
          <a:xfrm>
            <a:off x="6498998" y="2914650"/>
            <a:ext cx="3930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65" name="New shape"/>
          <p:cNvSpPr txBox="1"/>
          <p:nvPr/>
        </p:nvSpPr>
        <p:spPr>
          <a:xfrm>
            <a:off x="7149179"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66" name="New shape"/>
          <p:cNvSpPr txBox="1"/>
          <p:nvPr/>
        </p:nvSpPr>
        <p:spPr>
          <a:xfrm>
            <a:off x="7538943"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67" name="New shape"/>
          <p:cNvSpPr txBox="1"/>
          <p:nvPr/>
        </p:nvSpPr>
        <p:spPr>
          <a:xfrm>
            <a:off x="7928706"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68" name="New shape"/>
          <p:cNvSpPr txBox="1"/>
          <p:nvPr/>
        </p:nvSpPr>
        <p:spPr>
          <a:xfrm>
            <a:off x="8318470"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97</a:t>
            </a:r>
          </a:p>
        </p:txBody>
      </p:sp>
      <p:sp>
        <p:nvSpPr>
          <p:cNvPr id="69" name="New shape"/>
          <p:cNvSpPr/>
          <p:nvPr/>
        </p:nvSpPr>
        <p:spPr>
          <a:xfrm>
            <a:off x="4000500" y="31432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0" name="New picture"/>
          <p:cNvPicPr/>
          <p:nvPr/>
        </p:nvPicPr>
        <p:blipFill>
          <a:blip>
            <a:extLst>
              <a:ext uri="{96DAC541-7B7A-43D3-8B79-37D633B846F1}">
                <asvg:svgBlip xmlns:asvg="http://schemas.microsoft.com/office/drawing/2016/SVG/main" r:embed="rId6"/>
              </a:ext>
            </a:extLst>
          </a:blip>
          <a:stretch>
            <a:fillRect/>
          </a:stretch>
        </p:blipFill>
        <p:spPr>
          <a:xfrm>
            <a:off x="4079081" y="3191470"/>
            <a:ext cx="75009" cy="75009"/>
          </a:xfrm>
          <a:prstGeom prst="rect">
            <a:avLst/>
          </a:prstGeom>
        </p:spPr>
      </p:pic>
      <p:sp>
        <p:nvSpPr>
          <p:cNvPr id="71" name="New shape"/>
          <p:cNvSpPr/>
          <p:nvPr/>
        </p:nvSpPr>
        <p:spPr>
          <a:xfrm>
            <a:off x="4243388" y="3143250"/>
            <a:ext cx="18078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69%</a:t>
            </a:r>
          </a:p>
        </p:txBody>
      </p:sp>
      <p:sp>
        <p:nvSpPr>
          <p:cNvPr id="72" name="New shape"/>
          <p:cNvSpPr/>
          <p:nvPr/>
        </p:nvSpPr>
        <p:spPr>
          <a:xfrm>
            <a:off x="6065504" y="3143250"/>
            <a:ext cx="3930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73" name="New shape"/>
          <p:cNvSpPr/>
          <p:nvPr/>
        </p:nvSpPr>
        <p:spPr>
          <a:xfrm>
            <a:off x="6472797" y="31432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74" name="New shape"/>
          <p:cNvSpPr/>
          <p:nvPr/>
        </p:nvSpPr>
        <p:spPr>
          <a:xfrm>
            <a:off x="457200" y="34290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5"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Positive</a:t>
            </a:r>
          </a:p>
        </p:txBody>
      </p:sp>
      <p:sp>
        <p:nvSpPr>
          <p:cNvPr id="78"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9"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0"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81"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2"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3"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Negative</a:t>
            </a:r>
          </a:p>
        </p:txBody>
      </p:sp>
      <p:sp>
        <p:nvSpPr>
          <p:cNvPr id="84"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5"/>
              </a:ext>
            </a:extLst>
          </a:blip>
          <a:stretch>
            <a:fillRect/>
          </a:stretch>
        </p:blipFill>
        <p:spPr>
          <a:xfrm>
            <a:off x="3286125" y="4883467"/>
            <a:ext cx="100012" cy="120015"/>
          </a:xfrm>
          <a:prstGeom prst="rect">
            <a:avLst/>
          </a:prstGeom>
        </p:spPr>
      </p:pic>
      <p:sp>
        <p:nvSpPr>
          <p:cNvPr id="86"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Current</a:t>
            </a:r>
          </a:p>
        </p:txBody>
      </p:sp>
      <p:pic>
        <p:nvPicPr>
          <p:cNvPr id="87" name="New picture"/>
          <p:cNvPicPr/>
          <p:nvPr/>
        </p:nvPicPr>
        <p:blipFill>
          <a:blip>
            <a:extLst>
              <a:ext uri="{96DAC541-7B7A-43D3-8B79-37D633B846F1}">
                <asvg:svgBlip xmlns:asvg="http://schemas.microsoft.com/office/drawing/2016/SVG/main" r:embed="rId6"/>
              </a:ext>
            </a:extLst>
          </a:blip>
          <a:stretch>
            <a:fillRect/>
          </a:stretch>
        </p:blipFill>
        <p:spPr>
          <a:xfrm>
            <a:off x="4350544" y="4890969"/>
            <a:ext cx="105013" cy="105013"/>
          </a:xfrm>
          <a:prstGeom prst="rect">
            <a:avLst/>
          </a:prstGeom>
        </p:spPr>
      </p:pic>
      <p:sp>
        <p:nvSpPr>
          <p:cNvPr id="88"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Previous survey</a:t>
            </a:r>
          </a:p>
        </p:txBody>
      </p:sp>
      <p:sp>
        <p:nvSpPr>
          <p:cNvPr id="89"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90" name="New picture"/>
          <p:cNvPicPr/>
          <p:nvPr/>
        </p:nvPicPr>
        <p:blipFill>
          <a:blip>
            <a:extLst>
              <a:ext uri="{96DAC541-7B7A-43D3-8B79-37D633B846F1}">
                <asvg:svgBlip xmlns:asvg="http://schemas.microsoft.com/office/drawing/2016/SVG/main" r:embed="rId2"/>
              </a:ext>
            </a:extLst>
          </a:blip>
          <a:stretch>
            <a:fillRect/>
          </a:stretch>
        </p:blipFill>
        <p:spPr>
          <a:xfrm>
            <a:off x="5562838" y="4890969"/>
            <a:ext cx="105013" cy="105013"/>
          </a:xfrm>
          <a:prstGeom prst="rect">
            <a:avLst/>
          </a:prstGeom>
        </p:spPr>
      </p:pic>
      <p:sp>
        <p:nvSpPr>
          <p:cNvPr id="91"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Global Index</a:t>
            </a:r>
          </a:p>
        </p:txBody>
      </p:sp>
      <p:sp>
        <p:nvSpPr>
          <p:cNvPr id="92"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93" name="New picture"/>
          <p:cNvPicPr/>
          <p:nvPr/>
        </p:nvPicPr>
        <p:blipFill>
          <a:blip>
            <a:extLst>
              <a:ext uri="{96DAC541-7B7A-43D3-8B79-37D633B846F1}">
                <asvg:svgBlip xmlns:asvg="http://schemas.microsoft.com/office/drawing/2016/SVG/main" r:embed="rId3"/>
              </a:ext>
            </a:extLst>
          </a:blip>
          <a:stretch>
            <a:fillRect/>
          </a:stretch>
        </p:blipFill>
        <p:spPr>
          <a:xfrm>
            <a:off x="6775133" y="4890969"/>
            <a:ext cx="105013" cy="105013"/>
          </a:xfrm>
          <a:prstGeom prst="rect">
            <a:avLst/>
          </a:prstGeom>
        </p:spPr>
      </p:pic>
      <p:sp>
        <p:nvSpPr>
          <p:cNvPr id="94" name="New shape"/>
          <p:cNvSpPr txBox="1"/>
          <p:nvPr/>
        </p:nvSpPr>
        <p:spPr>
          <a:xfrm>
            <a:off x="6951583"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Global Index</a:t>
            </a:r>
          </a:p>
        </p:txBody>
      </p:sp>
      <p:sp>
        <p:nvSpPr>
          <p:cNvPr id="95"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96" name="New picture"/>
          <p:cNvPicPr/>
          <p:nvPr/>
        </p:nvPicPr>
        <p:blipFill>
          <a:blip>
            <a:extLst>
              <a:ext uri="{96DAC541-7B7A-43D3-8B79-37D633B846F1}">
                <asvg:svgBlip xmlns:asvg="http://schemas.microsoft.com/office/drawing/2016/SVG/main" r:embed="rId2"/>
              </a:ext>
            </a:extLst>
          </a:blip>
          <a:stretch>
            <a:fillRect/>
          </a:stretch>
        </p:blipFill>
        <p:spPr>
          <a:xfrm>
            <a:off x="7987427" y="4890969"/>
            <a:ext cx="105013" cy="105013"/>
          </a:xfrm>
          <a:prstGeom prst="rect">
            <a:avLst/>
          </a:prstGeom>
        </p:spPr>
      </p:pic>
      <p:sp>
        <p:nvSpPr>
          <p:cNvPr id="97"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98"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99" name="New picture"/>
          <p:cNvPicPr/>
          <p:nvPr/>
        </p:nvPicPr>
        <p:blipFill>
          <a:blip>
            <a:extLst>
              <a:ext uri="{96DAC541-7B7A-43D3-8B79-37D633B846F1}">
                <asvg:svgBlip xmlns:asvg="http://schemas.microsoft.com/office/drawing/2016/SVG/main" r:embed="rId4"/>
              </a:ext>
            </a:extLst>
          </a:blip>
          <a:stretch>
            <a:fillRect/>
          </a:stretch>
        </p:blipFill>
        <p:spPr>
          <a:xfrm>
            <a:off x="9199721" y="4890969"/>
            <a:ext cx="105013" cy="105013"/>
          </a:xfrm>
          <a:prstGeom prst="rect">
            <a:avLst/>
          </a:prstGeom>
        </p:spPr>
      </p:pic>
      <p:sp>
        <p:nvSpPr>
          <p:cNvPr id="100"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
        <p:nvSpPr>
          <p:cNvPr id="10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17</a:t>
            </a:r>
          </a:p>
        </p:txBody>
      </p:sp>
      <p:sp>
        <p:nvSpPr>
          <p:cNvPr id="10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3" name="New picture"/>
          <p:cNvPicPr/>
          <p:nvPr/>
        </p:nvPicPr>
        <p:blipFill>
          <a:blip>
            <a:extLst>
              <a:ext uri="{96DAC541-7B7A-43D3-8B79-37D633B846F1}">
                <asvg:svgBlip xmlns:asvg="http://schemas.microsoft.com/office/drawing/2016/SVG/main" r:embed="rId7"/>
              </a:ext>
            </a:extLst>
          </a:blip>
          <a:stretch>
            <a:fillRect/>
          </a:stretch>
        </p:blipFill>
        <p:spPr>
          <a:xfrm>
            <a:off x="8829675" y="147661"/>
            <a:ext cx="217884" cy="217884"/>
          </a:xfrm>
          <a:prstGeom prst="rect">
            <a:avLst/>
          </a:prstGeom>
        </p:spPr>
      </p:pic>
      <p:sp>
        <p:nvSpPr>
          <p:cNvPr id="10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6"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Performance environment</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Leading Change</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My team understands what needs to be done to contribute to the success of </a:t>
            </a:r>
            <a:r>
              <a:rPr lang="en-US" sz="788" b="0" i="0" dirty="0">
                <a:solidFill>
                  <a:srgbClr val="546178"/>
                </a:solidFill>
                <a:latin typeface="Poppins"/>
              </a:rPr>
              <a:t>Novanta B.V.</a:t>
            </a:r>
            <a:endParaRPr sz="788" b="0" i="0" dirty="0">
              <a:solidFill>
                <a:srgbClr val="546178"/>
              </a:solidFill>
              <a:latin typeface="Poppins"/>
            </a:endParaRP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2" name="New shape"/>
          <p:cNvSpPr/>
          <p:nvPr/>
        </p:nvSpPr>
        <p:spPr>
          <a:xfrm>
            <a:off x="6144105" y="12001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23" name="New shape"/>
          <p:cNvSpPr/>
          <p:nvPr/>
        </p:nvSpPr>
        <p:spPr>
          <a:xfrm>
            <a:off x="6420397" y="120015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78</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78</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89</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2017432"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77%</a:t>
            </a:r>
          </a:p>
        </p:txBody>
      </p:sp>
      <p:sp>
        <p:nvSpPr>
          <p:cNvPr id="31" name="New shape"/>
          <p:cNvSpPr/>
          <p:nvPr/>
        </p:nvSpPr>
        <p:spPr>
          <a:xfrm>
            <a:off x="6275107" y="1428750"/>
            <a:ext cx="2620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2" name="New shape"/>
          <p:cNvSpPr/>
          <p:nvPr/>
        </p:nvSpPr>
        <p:spPr>
          <a:xfrm>
            <a:off x="6551399" y="1428750"/>
            <a:ext cx="340605"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My team regularly develops good ideas for improvement</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38" name="New shape"/>
          <p:cNvSpPr/>
          <p:nvPr/>
        </p:nvSpPr>
        <p:spPr>
          <a:xfrm>
            <a:off x="6196506" y="182880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9" name="New shape"/>
          <p:cNvSpPr/>
          <p:nvPr/>
        </p:nvSpPr>
        <p:spPr>
          <a:xfrm>
            <a:off x="6472798" y="182880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87</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2017432"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77%</a:t>
            </a:r>
          </a:p>
        </p:txBody>
      </p:sp>
      <p:sp>
        <p:nvSpPr>
          <p:cNvPr id="47" name="New shape"/>
          <p:cNvSpPr/>
          <p:nvPr/>
        </p:nvSpPr>
        <p:spPr>
          <a:xfrm>
            <a:off x="6275107" y="2057400"/>
            <a:ext cx="209603"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8%</a:t>
            </a:r>
          </a:p>
        </p:txBody>
      </p:sp>
      <p:sp>
        <p:nvSpPr>
          <p:cNvPr id="48" name="New shape"/>
          <p:cNvSpPr/>
          <p:nvPr/>
        </p:nvSpPr>
        <p:spPr>
          <a:xfrm>
            <a:off x="6498998" y="2057400"/>
            <a:ext cx="3930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have confidence in my manager</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54" name="New shape"/>
          <p:cNvSpPr/>
          <p:nvPr/>
        </p:nvSpPr>
        <p:spPr>
          <a:xfrm>
            <a:off x="6144105" y="245745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55" name="New shape"/>
          <p:cNvSpPr/>
          <p:nvPr/>
        </p:nvSpPr>
        <p:spPr>
          <a:xfrm>
            <a:off x="6394197" y="245745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69</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938831"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74%</a:t>
            </a:r>
          </a:p>
        </p:txBody>
      </p:sp>
      <p:sp>
        <p:nvSpPr>
          <p:cNvPr id="63" name="New shape"/>
          <p:cNvSpPr/>
          <p:nvPr/>
        </p:nvSpPr>
        <p:spPr>
          <a:xfrm>
            <a:off x="6196506" y="2686050"/>
            <a:ext cx="2620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64" name="New shape"/>
          <p:cNvSpPr/>
          <p:nvPr/>
        </p:nvSpPr>
        <p:spPr>
          <a:xfrm>
            <a:off x="6472798" y="26860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My manager leads changes in an exemplary manner</a:t>
            </a: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340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70" name="New shape"/>
          <p:cNvSpPr/>
          <p:nvPr/>
        </p:nvSpPr>
        <p:spPr>
          <a:xfrm>
            <a:off x="6091704" y="308610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71" name="New shape"/>
          <p:cNvSpPr/>
          <p:nvPr/>
        </p:nvSpPr>
        <p:spPr>
          <a:xfrm>
            <a:off x="6420396" y="308610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63</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79" name="New shape"/>
          <p:cNvSpPr/>
          <p:nvPr/>
        </p:nvSpPr>
        <p:spPr>
          <a:xfrm>
            <a:off x="6091704" y="331470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80" name="New shape"/>
          <p:cNvSpPr/>
          <p:nvPr/>
        </p:nvSpPr>
        <p:spPr>
          <a:xfrm>
            <a:off x="6394197" y="33147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 identify with the culture of </a:t>
            </a:r>
            <a:r>
              <a:rPr lang="en-US" sz="788" b="0" i="0" dirty="0">
                <a:solidFill>
                  <a:srgbClr val="546178"/>
                </a:solidFill>
                <a:latin typeface="Poppins"/>
              </a:rPr>
              <a:t>Novanta B.V.</a:t>
            </a:r>
            <a:endParaRPr sz="788" b="0" i="0" dirty="0">
              <a:solidFill>
                <a:srgbClr val="546178"/>
              </a:solidFill>
              <a:latin typeface="Poppins"/>
            </a:endParaRP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8602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86" name="New shape"/>
          <p:cNvSpPr/>
          <p:nvPr/>
        </p:nvSpPr>
        <p:spPr>
          <a:xfrm>
            <a:off x="6117904" y="371475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87" name="New shape"/>
          <p:cNvSpPr/>
          <p:nvPr/>
        </p:nvSpPr>
        <p:spPr>
          <a:xfrm>
            <a:off x="6472797" y="37147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88</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95" name="New shape"/>
          <p:cNvSpPr/>
          <p:nvPr/>
        </p:nvSpPr>
        <p:spPr>
          <a:xfrm>
            <a:off x="6117904" y="394335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96" name="New shape"/>
          <p:cNvSpPr/>
          <p:nvPr/>
        </p:nvSpPr>
        <p:spPr>
          <a:xfrm>
            <a:off x="6420397" y="3943350"/>
            <a:ext cx="4716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18%</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Positive</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Negative</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Current</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Previous survey</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Global Index</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Global Index</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Performance environment</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Providing direction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 supported the objectives of </a:t>
            </a:r>
            <a:r>
              <a:rPr lang="en-US" sz="788" b="0" i="0" dirty="0">
                <a:solidFill>
                  <a:srgbClr val="546178"/>
                </a:solidFill>
                <a:latin typeface="Poppins"/>
              </a:rPr>
              <a:t>Novanta B.V.</a:t>
            </a:r>
            <a:endParaRPr sz="788" b="0" i="0" dirty="0">
              <a:solidFill>
                <a:srgbClr val="546178"/>
              </a:solidFill>
              <a:latin typeface="Poppins"/>
            </a:endParaRP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2" name="New shape"/>
          <p:cNvSpPr/>
          <p:nvPr/>
        </p:nvSpPr>
        <p:spPr>
          <a:xfrm>
            <a:off x="6144105" y="12001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23" name="New shape"/>
          <p:cNvSpPr/>
          <p:nvPr/>
        </p:nvSpPr>
        <p:spPr>
          <a:xfrm>
            <a:off x="6525199" y="1200150"/>
            <a:ext cx="3668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14%</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93</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31" name="New shape"/>
          <p:cNvSpPr/>
          <p:nvPr/>
        </p:nvSpPr>
        <p:spPr>
          <a:xfrm>
            <a:off x="6117904" y="142875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2" name="New shape"/>
          <p:cNvSpPr/>
          <p:nvPr/>
        </p:nvSpPr>
        <p:spPr>
          <a:xfrm>
            <a:off x="6472797" y="14287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The vision for the future of </a:t>
            </a:r>
            <a:r>
              <a:rPr lang="en-US" sz="788" b="0" i="0" dirty="0">
                <a:solidFill>
                  <a:srgbClr val="546178"/>
                </a:solidFill>
                <a:latin typeface="Poppins"/>
              </a:rPr>
              <a:t>Novanta B.V.</a:t>
            </a:r>
            <a:r>
              <a:rPr sz="788" b="0" i="0" dirty="0">
                <a:solidFill>
                  <a:srgbClr val="546178"/>
                </a:solidFill>
                <a:latin typeface="Poppins"/>
              </a:rPr>
              <a:t> inspires me</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38" name="New shape"/>
          <p:cNvSpPr/>
          <p:nvPr/>
        </p:nvSpPr>
        <p:spPr>
          <a:xfrm>
            <a:off x="6196506" y="1828800"/>
            <a:ext cx="2882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39" name="New shape"/>
          <p:cNvSpPr/>
          <p:nvPr/>
        </p:nvSpPr>
        <p:spPr>
          <a:xfrm>
            <a:off x="6498998" y="1828800"/>
            <a:ext cx="3930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55</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87</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7554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67%</a:t>
            </a:r>
          </a:p>
        </p:txBody>
      </p:sp>
      <p:sp>
        <p:nvSpPr>
          <p:cNvPr id="47" name="New shape"/>
          <p:cNvSpPr/>
          <p:nvPr/>
        </p:nvSpPr>
        <p:spPr>
          <a:xfrm>
            <a:off x="6013103" y="2057400"/>
            <a:ext cx="4454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48" name="New shape"/>
          <p:cNvSpPr/>
          <p:nvPr/>
        </p:nvSpPr>
        <p:spPr>
          <a:xfrm>
            <a:off x="6472797" y="205740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Within </a:t>
            </a:r>
            <a:r>
              <a:rPr lang="en-US" sz="788" b="0" i="0" dirty="0">
                <a:solidFill>
                  <a:srgbClr val="546178"/>
                </a:solidFill>
                <a:latin typeface="Poppins"/>
              </a:rPr>
              <a:t>Novanta B.V.</a:t>
            </a:r>
            <a:r>
              <a:rPr sz="788" b="0" i="0" dirty="0">
                <a:solidFill>
                  <a:srgbClr val="546178"/>
                </a:solidFill>
                <a:latin typeface="Poppins"/>
              </a:rPr>
              <a:t> employees are treated in a fair manner</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755428"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67%</a:t>
            </a:r>
          </a:p>
        </p:txBody>
      </p:sp>
      <p:sp>
        <p:nvSpPr>
          <p:cNvPr id="54" name="New shape"/>
          <p:cNvSpPr/>
          <p:nvPr/>
        </p:nvSpPr>
        <p:spPr>
          <a:xfrm>
            <a:off x="6013103" y="24574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5" name="New shape"/>
          <p:cNvSpPr/>
          <p:nvPr/>
        </p:nvSpPr>
        <p:spPr>
          <a:xfrm>
            <a:off x="6394196" y="245745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67</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63" name="New shape"/>
          <p:cNvSpPr/>
          <p:nvPr/>
        </p:nvSpPr>
        <p:spPr>
          <a:xfrm>
            <a:off x="6117904" y="26860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64" name="New shape"/>
          <p:cNvSpPr/>
          <p:nvPr/>
        </p:nvSpPr>
        <p:spPr>
          <a:xfrm>
            <a:off x="6446597" y="268605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7"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8"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Positive</a:t>
            </a:r>
          </a:p>
        </p:txBody>
      </p:sp>
      <p:sp>
        <p:nvSpPr>
          <p:cNvPr id="69"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72"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3"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4"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Negative</a:t>
            </a:r>
          </a:p>
        </p:txBody>
      </p:sp>
      <p:sp>
        <p:nvSpPr>
          <p:cNvPr id="75"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76"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77"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Current</a:t>
            </a:r>
          </a:p>
        </p:txBody>
      </p:sp>
      <p:pic>
        <p:nvPicPr>
          <p:cNvPr id="78"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79"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Previous survey</a:t>
            </a:r>
          </a:p>
        </p:txBody>
      </p:sp>
      <p:sp>
        <p:nvSpPr>
          <p:cNvPr id="80"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81"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82"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Global Index</a:t>
            </a:r>
          </a:p>
        </p:txBody>
      </p:sp>
      <p:sp>
        <p:nvSpPr>
          <p:cNvPr id="83"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84"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85" name="New shape"/>
          <p:cNvSpPr txBox="1"/>
          <p:nvPr/>
        </p:nvSpPr>
        <p:spPr>
          <a:xfrm>
            <a:off x="6951583"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Global Index</a:t>
            </a:r>
          </a:p>
        </p:txBody>
      </p:sp>
      <p:sp>
        <p:nvSpPr>
          <p:cNvPr id="86"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87"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88"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89"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90"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91"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Performance environment</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Managing people</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My skills and abilities fit in well with my job</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22" name="New shape"/>
          <p:cNvSpPr/>
          <p:nvPr/>
        </p:nvSpPr>
        <p:spPr>
          <a:xfrm>
            <a:off x="6196506" y="12001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23" name="New shape"/>
          <p:cNvSpPr/>
          <p:nvPr/>
        </p:nvSpPr>
        <p:spPr>
          <a:xfrm>
            <a:off x="6472798" y="12001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95</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31" name="New shape"/>
          <p:cNvSpPr/>
          <p:nvPr/>
        </p:nvSpPr>
        <p:spPr>
          <a:xfrm>
            <a:off x="6144105" y="14287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72797" y="14287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know what results are expected of me at work</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729228"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66%</a:t>
            </a:r>
          </a:p>
        </p:txBody>
      </p:sp>
      <p:sp>
        <p:nvSpPr>
          <p:cNvPr id="38" name="New shape"/>
          <p:cNvSpPr/>
          <p:nvPr/>
        </p:nvSpPr>
        <p:spPr>
          <a:xfrm>
            <a:off x="5986902" y="1828800"/>
            <a:ext cx="3930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39" name="New shape"/>
          <p:cNvSpPr/>
          <p:nvPr/>
        </p:nvSpPr>
        <p:spPr>
          <a:xfrm>
            <a:off x="6394196" y="182880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7554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67%</a:t>
            </a:r>
          </a:p>
        </p:txBody>
      </p:sp>
      <p:sp>
        <p:nvSpPr>
          <p:cNvPr id="47" name="New shape"/>
          <p:cNvSpPr/>
          <p:nvPr/>
        </p:nvSpPr>
        <p:spPr>
          <a:xfrm>
            <a:off x="6013103" y="2057400"/>
            <a:ext cx="3668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48" name="New shape"/>
          <p:cNvSpPr/>
          <p:nvPr/>
        </p:nvSpPr>
        <p:spPr>
          <a:xfrm>
            <a:off x="6394196" y="20574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am regularly given useful performance feedback</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54" name="New shape"/>
          <p:cNvSpPr/>
          <p:nvPr/>
        </p:nvSpPr>
        <p:spPr>
          <a:xfrm>
            <a:off x="6144105" y="2457450"/>
            <a:ext cx="2882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55" name="New shape"/>
          <p:cNvSpPr/>
          <p:nvPr/>
        </p:nvSpPr>
        <p:spPr>
          <a:xfrm>
            <a:off x="6446597" y="2457450"/>
            <a:ext cx="4454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62</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64</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77</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63" name="New shape"/>
          <p:cNvSpPr/>
          <p:nvPr/>
        </p:nvSpPr>
        <p:spPr>
          <a:xfrm>
            <a:off x="6091704" y="2686050"/>
            <a:ext cx="4192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64" name="New shape"/>
          <p:cNvSpPr/>
          <p:nvPr/>
        </p:nvSpPr>
        <p:spPr>
          <a:xfrm>
            <a:off x="6525199" y="268605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Within </a:t>
            </a:r>
            <a:r>
              <a:rPr lang="en-US" sz="788" b="0" i="0" dirty="0">
                <a:solidFill>
                  <a:srgbClr val="546178"/>
                </a:solidFill>
                <a:latin typeface="Poppins"/>
              </a:rPr>
              <a:t>Novanta B.V.</a:t>
            </a:r>
            <a:r>
              <a:rPr sz="788" b="0" i="0" dirty="0">
                <a:solidFill>
                  <a:srgbClr val="546178"/>
                </a:solidFill>
                <a:latin typeface="Poppins"/>
              </a:rPr>
              <a:t> performance is rewarded</a:t>
            </a: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602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70" name="New shape"/>
          <p:cNvSpPr/>
          <p:nvPr/>
        </p:nvSpPr>
        <p:spPr>
          <a:xfrm>
            <a:off x="6117904" y="308610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71" name="New shape"/>
          <p:cNvSpPr/>
          <p:nvPr/>
        </p:nvSpPr>
        <p:spPr>
          <a:xfrm>
            <a:off x="6394197" y="308610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40</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74</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79" name="New shape"/>
          <p:cNvSpPr/>
          <p:nvPr/>
        </p:nvSpPr>
        <p:spPr>
          <a:xfrm>
            <a:off x="6144105" y="3314700"/>
            <a:ext cx="2358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80" name="New shape"/>
          <p:cNvSpPr/>
          <p:nvPr/>
        </p:nvSpPr>
        <p:spPr>
          <a:xfrm>
            <a:off x="6394197" y="33147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receive praise and recognition when I perform well</a:t>
            </a: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8340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86" name="New shape"/>
          <p:cNvSpPr/>
          <p:nvPr/>
        </p:nvSpPr>
        <p:spPr>
          <a:xfrm>
            <a:off x="6091704" y="37147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87" name="New shape"/>
          <p:cNvSpPr/>
          <p:nvPr/>
        </p:nvSpPr>
        <p:spPr>
          <a:xfrm>
            <a:off x="6367997" y="3714750"/>
            <a:ext cx="5240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20%</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62</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95" name="New shape"/>
          <p:cNvSpPr/>
          <p:nvPr/>
        </p:nvSpPr>
        <p:spPr>
          <a:xfrm>
            <a:off x="6144105" y="394335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96" name="New shape"/>
          <p:cNvSpPr/>
          <p:nvPr/>
        </p:nvSpPr>
        <p:spPr>
          <a:xfrm>
            <a:off x="6498998" y="3943350"/>
            <a:ext cx="3930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Positive</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Negative</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Current</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Previous survey</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Global Index</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Global Index</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9107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Organizational Effectiveness - Overall profile</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Performance environment</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Managing systems</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am provided with good work resources (tools, devices, software, materials, etc.) to do my job well</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22" name="New shape"/>
          <p:cNvSpPr/>
          <p:nvPr/>
        </p:nvSpPr>
        <p:spPr>
          <a:xfrm>
            <a:off x="6065504" y="120015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23" name="New shape"/>
          <p:cNvSpPr/>
          <p:nvPr/>
        </p:nvSpPr>
        <p:spPr>
          <a:xfrm>
            <a:off x="6420396" y="120015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79</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73</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96</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31" name="New shape"/>
          <p:cNvSpPr/>
          <p:nvPr/>
        </p:nvSpPr>
        <p:spPr>
          <a:xfrm>
            <a:off x="6117904" y="14287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46597" y="142875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Important information is readily accessible for me</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38" name="New shape"/>
          <p:cNvSpPr/>
          <p:nvPr/>
        </p:nvSpPr>
        <p:spPr>
          <a:xfrm>
            <a:off x="6065504" y="182880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9" name="New shape"/>
          <p:cNvSpPr/>
          <p:nvPr/>
        </p:nvSpPr>
        <p:spPr>
          <a:xfrm>
            <a:off x="6420396" y="182880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67</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47" name="New shape"/>
          <p:cNvSpPr/>
          <p:nvPr/>
        </p:nvSpPr>
        <p:spPr>
          <a:xfrm>
            <a:off x="6091704" y="205740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48" name="New shape"/>
          <p:cNvSpPr/>
          <p:nvPr/>
        </p:nvSpPr>
        <p:spPr>
          <a:xfrm>
            <a:off x="6446597" y="205740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In my team we collaborate well</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54" name="New shape"/>
          <p:cNvSpPr/>
          <p:nvPr/>
        </p:nvSpPr>
        <p:spPr>
          <a:xfrm>
            <a:off x="6196506" y="24574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5" name="New shape"/>
          <p:cNvSpPr/>
          <p:nvPr/>
        </p:nvSpPr>
        <p:spPr>
          <a:xfrm>
            <a:off x="6577599" y="2457450"/>
            <a:ext cx="314405"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12%</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79</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92</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938831"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74%</a:t>
            </a:r>
          </a:p>
        </p:txBody>
      </p:sp>
      <p:sp>
        <p:nvSpPr>
          <p:cNvPr id="63" name="New shape"/>
          <p:cNvSpPr/>
          <p:nvPr/>
        </p:nvSpPr>
        <p:spPr>
          <a:xfrm>
            <a:off x="6196506" y="2686050"/>
            <a:ext cx="183403"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a:t>
            </a:r>
          </a:p>
        </p:txBody>
      </p:sp>
      <p:sp>
        <p:nvSpPr>
          <p:cNvPr id="64" name="New shape"/>
          <p:cNvSpPr/>
          <p:nvPr/>
        </p:nvSpPr>
        <p:spPr>
          <a:xfrm>
            <a:off x="6394197" y="268605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Within </a:t>
            </a:r>
            <a:r>
              <a:rPr lang="en-US" sz="788" b="0" i="0" dirty="0">
                <a:solidFill>
                  <a:srgbClr val="546178"/>
                </a:solidFill>
                <a:latin typeface="Poppins"/>
              </a:rPr>
              <a:t>Novanta B.V.</a:t>
            </a:r>
            <a:r>
              <a:rPr sz="788" b="0" i="0" dirty="0">
                <a:solidFill>
                  <a:srgbClr val="546178"/>
                </a:solidFill>
                <a:latin typeface="Poppins"/>
              </a:rPr>
              <a:t> work processes are well </a:t>
            </a:r>
            <a:r>
              <a:rPr sz="788" b="0" i="0" dirty="0" err="1">
                <a:solidFill>
                  <a:srgbClr val="546178"/>
                </a:solidFill>
                <a:latin typeface="Poppins"/>
              </a:rPr>
              <a:t>organised</a:t>
            </a:r>
            <a:endParaRPr sz="788" b="0" i="0" dirty="0">
              <a:solidFill>
                <a:srgbClr val="546178"/>
              </a:solidFill>
              <a:latin typeface="Poppins"/>
            </a:endParaRP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70" name="New shape"/>
          <p:cNvSpPr/>
          <p:nvPr/>
        </p:nvSpPr>
        <p:spPr>
          <a:xfrm>
            <a:off x="6144105" y="308610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71" name="New shape"/>
          <p:cNvSpPr/>
          <p:nvPr/>
        </p:nvSpPr>
        <p:spPr>
          <a:xfrm>
            <a:off x="6525199" y="3086100"/>
            <a:ext cx="3668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14%</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44</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82</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79" name="New shape"/>
          <p:cNvSpPr/>
          <p:nvPr/>
        </p:nvSpPr>
        <p:spPr>
          <a:xfrm>
            <a:off x="6117904" y="3314700"/>
            <a:ext cx="3930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80" name="New shape"/>
          <p:cNvSpPr/>
          <p:nvPr/>
        </p:nvSpPr>
        <p:spPr>
          <a:xfrm>
            <a:off x="6525199" y="331470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 have good opportunities to develop myself professionally and personally</a:t>
            </a: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991232"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86" name="New shape"/>
          <p:cNvSpPr/>
          <p:nvPr/>
        </p:nvSpPr>
        <p:spPr>
          <a:xfrm>
            <a:off x="6248907" y="3714750"/>
            <a:ext cx="183403"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a:t>
            </a:r>
          </a:p>
        </p:txBody>
      </p:sp>
      <p:sp>
        <p:nvSpPr>
          <p:cNvPr id="87" name="New shape"/>
          <p:cNvSpPr/>
          <p:nvPr/>
        </p:nvSpPr>
        <p:spPr>
          <a:xfrm>
            <a:off x="6446597" y="3714750"/>
            <a:ext cx="4454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63</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95" name="New shape"/>
          <p:cNvSpPr/>
          <p:nvPr/>
        </p:nvSpPr>
        <p:spPr>
          <a:xfrm>
            <a:off x="6091704" y="394335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96" name="New shape"/>
          <p:cNvSpPr/>
          <p:nvPr/>
        </p:nvSpPr>
        <p:spPr>
          <a:xfrm>
            <a:off x="6394197" y="394335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Positive</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Negative</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Current</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Previous survey</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Global Index</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Global Index</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714375"/>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Themes</a:t>
            </a:r>
          </a:p>
        </p:txBody>
      </p:sp>
      <p:sp>
        <p:nvSpPr>
          <p:cNvPr id="5" name="New shape"/>
          <p:cNvSpPr txBox="1"/>
          <p:nvPr/>
        </p:nvSpPr>
        <p:spPr>
          <a:xfrm>
            <a:off x="457200" y="1230154"/>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Themes combine several related questions into one score. They measure different aspects that are important to organisational success.</a:t>
            </a:r>
          </a:p>
        </p:txBody>
      </p:sp>
      <p:sp>
        <p:nvSpPr>
          <p:cNvPr id="6" name="New shape"/>
          <p:cNvSpPr txBox="1"/>
          <p:nvPr/>
        </p:nvSpPr>
        <p:spPr>
          <a:xfrm>
            <a:off x="457200" y="192738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7" name="New shape"/>
          <p:cNvSpPr txBox="1"/>
          <p:nvPr/>
        </p:nvSpPr>
        <p:spPr>
          <a:xfrm>
            <a:off x="792956" y="192738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Employer Excellence</a:t>
            </a:r>
          </a:p>
        </p:txBody>
      </p:sp>
      <p:sp>
        <p:nvSpPr>
          <p:cNvPr id="8" name="New shape"/>
          <p:cNvSpPr txBox="1"/>
          <p:nvPr/>
        </p:nvSpPr>
        <p:spPr>
          <a:xfrm>
            <a:off x="457200" y="230457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9" name="New shape"/>
          <p:cNvSpPr txBox="1"/>
          <p:nvPr/>
        </p:nvSpPr>
        <p:spPr>
          <a:xfrm>
            <a:off x="792956" y="230457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Engagement</a:t>
            </a:r>
          </a:p>
        </p:txBody>
      </p:sp>
      <p:sp>
        <p:nvSpPr>
          <p:cNvPr id="10" name="New shape"/>
          <p:cNvSpPr txBox="1"/>
          <p:nvPr/>
        </p:nvSpPr>
        <p:spPr>
          <a:xfrm>
            <a:off x="457200" y="268176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11" name="New shape"/>
          <p:cNvSpPr txBox="1"/>
          <p:nvPr/>
        </p:nvSpPr>
        <p:spPr>
          <a:xfrm>
            <a:off x="792956" y="268176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Leading Change</a:t>
            </a:r>
          </a:p>
        </p:txBody>
      </p:sp>
      <p:sp>
        <p:nvSpPr>
          <p:cNvPr id="12" name="New shape"/>
          <p:cNvSpPr txBox="1"/>
          <p:nvPr/>
        </p:nvSpPr>
        <p:spPr>
          <a:xfrm>
            <a:off x="457200" y="305895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3" name="New shape"/>
          <p:cNvSpPr txBox="1"/>
          <p:nvPr/>
        </p:nvSpPr>
        <p:spPr>
          <a:xfrm>
            <a:off x="792956" y="305895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Managing people</a:t>
            </a:r>
          </a:p>
        </p:txBody>
      </p:sp>
      <p:sp>
        <p:nvSpPr>
          <p:cNvPr id="14" name="New shape"/>
          <p:cNvSpPr txBox="1"/>
          <p:nvPr/>
        </p:nvSpPr>
        <p:spPr>
          <a:xfrm>
            <a:off x="457200" y="343614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5.</a:t>
            </a:r>
          </a:p>
        </p:txBody>
      </p:sp>
      <p:sp>
        <p:nvSpPr>
          <p:cNvPr id="15" name="New shape"/>
          <p:cNvSpPr txBox="1"/>
          <p:nvPr/>
        </p:nvSpPr>
        <p:spPr>
          <a:xfrm>
            <a:off x="792956" y="343614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Managing systems</a:t>
            </a:r>
          </a:p>
        </p:txBody>
      </p:sp>
      <p:sp>
        <p:nvSpPr>
          <p:cNvPr id="16" name="New shape"/>
          <p:cNvSpPr txBox="1"/>
          <p:nvPr/>
        </p:nvSpPr>
        <p:spPr>
          <a:xfrm>
            <a:off x="457200" y="381333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6.</a:t>
            </a:r>
          </a:p>
        </p:txBody>
      </p:sp>
      <p:sp>
        <p:nvSpPr>
          <p:cNvPr id="17" name="New shape"/>
          <p:cNvSpPr txBox="1"/>
          <p:nvPr/>
        </p:nvSpPr>
        <p:spPr>
          <a:xfrm>
            <a:off x="792956" y="3813334"/>
            <a:ext cx="2143125"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Performance environment</a:t>
            </a:r>
          </a:p>
        </p:txBody>
      </p:sp>
      <p:sp>
        <p:nvSpPr>
          <p:cNvPr id="18" name="New shape"/>
          <p:cNvSpPr txBox="1"/>
          <p:nvPr/>
        </p:nvSpPr>
        <p:spPr>
          <a:xfrm>
            <a:off x="457200" y="439626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7.</a:t>
            </a:r>
          </a:p>
        </p:txBody>
      </p:sp>
      <p:sp>
        <p:nvSpPr>
          <p:cNvPr id="19" name="New shape"/>
          <p:cNvSpPr txBox="1"/>
          <p:nvPr/>
        </p:nvSpPr>
        <p:spPr>
          <a:xfrm>
            <a:off x="792956" y="439626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Providing direction</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Theme scores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Compared by benchmarks</a:t>
            </a:r>
          </a:p>
        </p:txBody>
      </p:sp>
      <p:sp>
        <p:nvSpPr>
          <p:cNvPr id="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Employer Excellence</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Engagement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Leading Change</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Managing people</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Managing systems</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Performance environment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Providing direction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3" name="Group 22"/>
          <p:cNvGrpSpPr/>
          <p:nvPr/>
        </p:nvGrpSpPr>
        <p:grpSpPr>
          <a:xfrm rot="18900000">
            <a:off x="6640973" y="1107643"/>
            <a:ext cx="1477328" cy="120015"/>
            <a:chOff x="6265862" y="95519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Theme scores</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Compared by benchmarks</a:t>
            </a:r>
          </a:p>
        </p:txBody>
      </p:sp>
      <p:sp>
        <p:nvSpPr>
          <p:cNvPr id="3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3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3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23</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Employer Excellence</a:t>
            </a:r>
          </a:p>
        </p:txBody>
      </p:sp>
      <p:sp>
        <p:nvSpPr>
          <p:cNvPr id="4" name="New shape"/>
          <p:cNvSpPr txBox="1"/>
          <p:nvPr/>
        </p:nvSpPr>
        <p:spPr>
          <a:xfrm>
            <a:off x="457200" y="857250"/>
            <a:ext cx="4457700" cy="426053"/>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Organisations that work on employer excellence provide their employees with a work environment where they feel at home and accepted. Such a work environment enhances your employees' feeling of being connected with their colleagues and your organization. </a:t>
            </a:r>
          </a:p>
        </p:txBody>
      </p:sp>
      <p:sp>
        <p:nvSpPr>
          <p:cNvPr id="5"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7"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8"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9"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66%</a:t>
            </a:r>
          </a:p>
        </p:txBody>
      </p:sp>
      <p:sp>
        <p:nvSpPr>
          <p:cNvPr id="10"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1"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2"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88%</a:t>
            </a:r>
          </a:p>
        </p:txBody>
      </p:sp>
      <p:sp>
        <p:nvSpPr>
          <p:cNvPr id="13"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16"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The vision for the future of </a:t>
                      </a:r>
                      <a:r>
                        <a:rPr lang="en-US" sz="788" b="0" i="0" dirty="0">
                          <a:solidFill>
                            <a:srgbClr val="192743"/>
                          </a:solidFill>
                          <a:latin typeface="Poppins"/>
                        </a:rPr>
                        <a:t>Novanta B.V.</a:t>
                      </a:r>
                      <a:r>
                        <a:rPr sz="788" b="0" i="0" dirty="0">
                          <a:solidFill>
                            <a:srgbClr val="192743"/>
                          </a:solidFill>
                          <a:latin typeface="Poppins"/>
                        </a:rPr>
                        <a:t> inspires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lang="en-US" sz="788" b="0" i="0" dirty="0">
                          <a:solidFill>
                            <a:srgbClr val="192743"/>
                          </a:solidFill>
                          <a:latin typeface="Poppins"/>
                        </a:rPr>
                        <a:t>Novanta B.V.</a:t>
                      </a:r>
                      <a:r>
                        <a:rPr sz="788" b="0" i="0" dirty="0">
                          <a:solidFill>
                            <a:srgbClr val="192743"/>
                          </a:solidFill>
                          <a:latin typeface="Poppins"/>
                        </a:rPr>
                        <a:t> is a good </a:t>
                      </a:r>
                      <a:r>
                        <a:rPr sz="788" b="0" i="0" dirty="0" err="1">
                          <a:solidFill>
                            <a:srgbClr val="192743"/>
                          </a:solidFill>
                          <a:latin typeface="Poppins"/>
                        </a:rPr>
                        <a:t>organisation</a:t>
                      </a:r>
                      <a:r>
                        <a:rPr sz="788" b="0" i="0" dirty="0">
                          <a:solidFill>
                            <a:srgbClr val="192743"/>
                          </a:solidFill>
                          <a:latin typeface="Poppins"/>
                        </a:rPr>
                        <a:t> to work for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 feel appreciated by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lang="en-US" sz="788" b="0" i="0" dirty="0">
                          <a:solidFill>
                            <a:srgbClr val="192743"/>
                          </a:solidFill>
                          <a:latin typeface="Poppins"/>
                        </a:rPr>
                        <a:t>Novanta B.V.</a:t>
                      </a:r>
                      <a:r>
                        <a:rPr sz="788" b="0" i="0" dirty="0">
                          <a:solidFill>
                            <a:srgbClr val="192743"/>
                          </a:solidFill>
                          <a:latin typeface="Poppins"/>
                        </a:rPr>
                        <a:t> uses employees' ideas and suggestions to improve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7" name="Group 16"/>
          <p:cNvGrpSpPr/>
          <p:nvPr/>
        </p:nvGrpSpPr>
        <p:grpSpPr>
          <a:xfrm rot="18900000">
            <a:off x="5134921" y="851958"/>
            <a:ext cx="1471613" cy="240649"/>
            <a:chOff x="4722812" y="793750"/>
            <a:chExt cx="1471613" cy="240649"/>
          </a:xfrm>
        </p:grpSpPr>
        <p:pic>
          <p:nvPicPr>
            <p:cNvPr id="18" name="New picture"/>
            <p:cNvPicPr/>
            <p:nvPr/>
          </p:nvPicPr>
          <p:blipFill>
            <a:blip>
              <a:extLst>
                <a:ext uri="{96DAC541-7B7A-43D3-8B79-37D633B846F1}">
                  <asvg:svgBlip xmlns:asvg="http://schemas.microsoft.com/office/drawing/2016/SVG/main" r:embed="rId3"/>
                </a:ext>
              </a:extLst>
            </a:blip>
            <a:stretch>
              <a:fillRect/>
            </a:stretch>
          </p:blipFill>
          <p:spPr>
            <a:xfrm>
              <a:off x="4722812" y="856615"/>
              <a:ext cx="114300" cy="137160"/>
            </a:xfrm>
            <a:prstGeom prst="rect">
              <a:avLst/>
            </a:prstGeom>
          </p:spPr>
        </p:pic>
        <p:sp>
          <p:nvSpPr>
            <p:cNvPr id="19"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0"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1" name="Group 20"/>
          <p:cNvGrpSpPr/>
          <p:nvPr/>
        </p:nvGrpSpPr>
        <p:grpSpPr>
          <a:xfrm rot="18900000">
            <a:off x="5612274" y="929050"/>
            <a:ext cx="1477327" cy="120015"/>
            <a:chOff x="5237162" y="776605"/>
            <a:chExt cx="1477327" cy="120015"/>
          </a:xfrm>
        </p:grpSpPr>
        <p:pic>
          <p:nvPicPr>
            <p:cNvPr id="22" name="New picture"/>
            <p:cNvPicPr/>
            <p:nvPr/>
          </p:nvPicPr>
          <p:blipFill>
            <a:blip>
              <a:extLst>
                <a:ext uri="{96DAC541-7B7A-43D3-8B79-37D633B846F1}">
                  <asvg:svgBlip xmlns:asvg="http://schemas.microsoft.com/office/drawing/2016/SVG/main" r:embed="rId4"/>
                </a:ext>
              </a:extLst>
            </a:blip>
            <a:stretch>
              <a:fillRect/>
            </a:stretch>
          </p:blipFill>
          <p:spPr>
            <a:xfrm>
              <a:off x="5237162" y="776605"/>
              <a:ext cx="120015" cy="120015"/>
            </a:xfrm>
            <a:prstGeom prst="rect">
              <a:avLst/>
            </a:prstGeom>
          </p:spPr>
        </p:pic>
        <p:sp>
          <p:nvSpPr>
            <p:cNvPr id="23"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4" name="Group 23"/>
          <p:cNvGrpSpPr/>
          <p:nvPr/>
        </p:nvGrpSpPr>
        <p:grpSpPr>
          <a:xfrm rot="18900000">
            <a:off x="6126624" y="929049"/>
            <a:ext cx="1477328" cy="120015"/>
            <a:chOff x="5751512" y="776605"/>
            <a:chExt cx="1477328" cy="120015"/>
          </a:xfrm>
        </p:grpSpPr>
        <p:pic>
          <p:nvPicPr>
            <p:cNvPr id="25" name="New picture"/>
            <p:cNvPicPr/>
            <p:nvPr/>
          </p:nvPicPr>
          <p:blipFill>
            <a:blip>
              <a:extLst>
                <a:ext uri="{96DAC541-7B7A-43D3-8B79-37D633B846F1}">
                  <asvg:svgBlip xmlns:asvg="http://schemas.microsoft.com/office/drawing/2016/SVG/main" r:embed="rId5"/>
                </a:ext>
              </a:extLst>
            </a:blip>
            <a:stretch>
              <a:fillRect/>
            </a:stretch>
          </p:blipFill>
          <p:spPr>
            <a:xfrm>
              <a:off x="5751512" y="776605"/>
              <a:ext cx="120015" cy="120015"/>
            </a:xfrm>
            <a:prstGeom prst="rect">
              <a:avLst/>
            </a:prstGeom>
          </p:spPr>
        </p:pic>
        <p:sp>
          <p:nvSpPr>
            <p:cNvPr id="26"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7" name="Group 26"/>
          <p:cNvGrpSpPr/>
          <p:nvPr/>
        </p:nvGrpSpPr>
        <p:grpSpPr>
          <a:xfrm rot="18900000">
            <a:off x="6640973" y="929049"/>
            <a:ext cx="1477328" cy="120015"/>
            <a:chOff x="6265862" y="776605"/>
            <a:chExt cx="1477328" cy="120015"/>
          </a:xfrm>
        </p:grpSpPr>
        <p:pic>
          <p:nvPicPr>
            <p:cNvPr id="28" name="New picture"/>
            <p:cNvPicPr/>
            <p:nvPr/>
          </p:nvPicPr>
          <p:blipFill>
            <a:blip>
              <a:extLst>
                <a:ext uri="{96DAC541-7B7A-43D3-8B79-37D633B846F1}">
                  <asvg:svgBlip xmlns:asvg="http://schemas.microsoft.com/office/drawing/2016/SVG/main" r:embed="rId6"/>
                </a:ext>
              </a:extLst>
            </a:blip>
            <a:stretch>
              <a:fillRect/>
            </a:stretch>
          </p:blipFill>
          <p:spPr>
            <a:xfrm>
              <a:off x="6265862" y="776605"/>
              <a:ext cx="120015" cy="120015"/>
            </a:xfrm>
            <a:prstGeom prst="rect">
              <a:avLst/>
            </a:prstGeom>
          </p:spPr>
        </p:pic>
        <p:sp>
          <p:nvSpPr>
            <p:cNvPr id="29"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0" name="Group 29"/>
          <p:cNvGrpSpPr/>
          <p:nvPr/>
        </p:nvGrpSpPr>
        <p:grpSpPr>
          <a:xfrm rot="18900000">
            <a:off x="7155324" y="929050"/>
            <a:ext cx="1477327" cy="120015"/>
            <a:chOff x="6780212" y="776605"/>
            <a:chExt cx="1477327" cy="120015"/>
          </a:xfrm>
        </p:grpSpPr>
        <p:pic>
          <p:nvPicPr>
            <p:cNvPr id="31" name="New picture"/>
            <p:cNvPicPr/>
            <p:nvPr/>
          </p:nvPicPr>
          <p:blipFill>
            <a:blip>
              <a:extLst>
                <a:ext uri="{96DAC541-7B7A-43D3-8B79-37D633B846F1}">
                  <asvg:svgBlip xmlns:asvg="http://schemas.microsoft.com/office/drawing/2016/SVG/main" r:embed="rId5"/>
                </a:ext>
              </a:extLst>
            </a:blip>
            <a:stretch>
              <a:fillRect/>
            </a:stretch>
          </p:blipFill>
          <p:spPr>
            <a:xfrm>
              <a:off x="6780212" y="776605"/>
              <a:ext cx="120015" cy="120015"/>
            </a:xfrm>
            <a:prstGeom prst="rect">
              <a:avLst/>
            </a:prstGeom>
          </p:spPr>
        </p:pic>
        <p:sp>
          <p:nvSpPr>
            <p:cNvPr id="32"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3" name="Group 32"/>
          <p:cNvGrpSpPr/>
          <p:nvPr/>
        </p:nvGrpSpPr>
        <p:grpSpPr>
          <a:xfrm rot="18900000">
            <a:off x="7669674" y="929050"/>
            <a:ext cx="1477327" cy="120015"/>
            <a:chOff x="7294562" y="776605"/>
            <a:chExt cx="1477327"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7294562" y="776605"/>
              <a:ext cx="120015" cy="120015"/>
            </a:xfrm>
            <a:prstGeom prst="rect">
              <a:avLst/>
            </a:prstGeom>
          </p:spPr>
        </p:pic>
        <p:sp>
          <p:nvSpPr>
            <p:cNvPr id="35"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6"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37"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38"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39"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1"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2"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3"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4"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
        <p:nvSpPr>
          <p:cNvPr id="45"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24</a:t>
            </a:r>
          </a:p>
        </p:txBody>
      </p:sp>
      <p:sp>
        <p:nvSpPr>
          <p:cNvPr id="46"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8"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Engagement</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Engagement is the degree to which your employees are inspired and energised by their work. It also refers to their positive connection to your organisation. Engaged employees experience their work as meaningful and rewarding, are proud of their jobs, and feel that they fit in at the organisation.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70%</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79%</a:t>
            </a:r>
          </a:p>
        </p:txBody>
      </p:sp>
      <p:sp>
        <p:nvSpPr>
          <p:cNvPr id="18" name="New shape"/>
          <p:cNvSpPr txBox="1"/>
          <p:nvPr/>
        </p:nvSpPr>
        <p:spPr>
          <a:xfrm>
            <a:off x="7715250" y="1657350"/>
            <a:ext cx="514350" cy="34290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92%</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 enjoy doing my work / tasks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*98%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Doing my work gives me energy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 am proud to work at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 feel that I fit in at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4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4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Leading Change</a:t>
            </a:r>
          </a:p>
        </p:txBody>
      </p:sp>
      <p:sp>
        <p:nvSpPr>
          <p:cNvPr id="10" name="New shape"/>
          <p:cNvSpPr txBox="1"/>
          <p:nvPr/>
        </p:nvSpPr>
        <p:spPr>
          <a:xfrm>
            <a:off x="457200" y="857250"/>
            <a:ext cx="4457700" cy="426053"/>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Leading Change should aim to let employees know what has to be changed, why, and how, and to obtain their backing for the necessary changes. For this, managers need to involve their teams in the process so that they understand and trust them.</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72%</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74%</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75%</a:t>
            </a:r>
          </a:p>
        </p:txBody>
      </p:sp>
      <p:sp>
        <p:nvSpPr>
          <p:cNvPr id="18"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85%</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714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My team understands what needs to be done to contribute to the success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My team regularly develops good ideas for improvement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 have confidence in my manager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My manager leads changes in an exemplary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 identify with the culture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4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4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Managing people</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People management ensures employees know the company’s expectations and can apply their knowledge and skills accordingly. This includes constructive feedback and recognition to show that good performance is acknowledged and well-rewarded in the company. </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69%</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714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My skills and abilities fit in well with my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know what results are expected of me at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 am regularly given useful performance feedback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performance is rewarded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I receive praise and recognition when I perform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4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4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Managing systems</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Well-managed systems enable employees to reach the expected performance by providing them with the necessary working conditions. This includes good working tools, effective work processes, good collaboration on different levels, and the availability of development opportunities. </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72%</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73%</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67%</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78%</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8117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 am provided with good work resources (tools, devices, software, materials, etc.) to do my job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Important information is readily accessible for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In my team we collaborate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work processes are well </a:t>
                      </a:r>
                      <a:r>
                        <a:rPr sz="788" b="0" i="0" dirty="0" err="1">
                          <a:solidFill>
                            <a:srgbClr val="192743"/>
                          </a:solidFill>
                          <a:latin typeface="Poppins"/>
                        </a:rPr>
                        <a:t>organised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I have good opportunities to develop myself professionally and personally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4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4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Performance environment</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A performance environment refers to the conditions that enable employees to work efficiently and effectively. It provides the right circumstances for optimal performance. Employees and managers need such an environment to fully utilize their potential individually and within the teams. </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23832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 am provided with good work resources (tools, devices, software, materials, etc.) to do my job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Important information is readily accessible for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skills and abilities fit in well with my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 know what results are expected of me at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My team understands what needs to be done to contribute to the success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In my team we collaborate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My team regularly develops good ideas for improvement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4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4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Performance environment</a:t>
            </a:r>
          </a:p>
        </p:txBody>
      </p:sp>
      <p:sp>
        <p:nvSpPr>
          <p:cNvPr id="9"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1"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2"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3"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4"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5"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7"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0"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21"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22"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23"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4"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5"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26"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7"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8"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29" name="New Table"/>
          <p:cNvGraphicFramePr>
            <a:graphicFrameLocks noGrp="1"/>
          </p:cNvGraphicFramePr>
          <p:nvPr/>
        </p:nvGraphicFramePr>
        <p:xfrm>
          <a:off x="457200" y="2114550"/>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 have confidence in my manager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am regularly given useful performance feedback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manager leads changes in an exemplary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 supported the objectives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The vision for the future of </a:t>
                      </a:r>
                      <a:r>
                        <a:rPr lang="en-US" sz="788" b="0" i="0" dirty="0">
                          <a:solidFill>
                            <a:srgbClr val="192743"/>
                          </a:solidFill>
                          <a:latin typeface="Poppins"/>
                        </a:rPr>
                        <a:t>Novanta B.V.</a:t>
                      </a:r>
                      <a:r>
                        <a:rPr sz="788" b="0" i="0" dirty="0">
                          <a:solidFill>
                            <a:srgbClr val="192743"/>
                          </a:solidFill>
                          <a:latin typeface="Poppins"/>
                        </a:rPr>
                        <a:t> inspires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work processes are well </a:t>
                      </a:r>
                      <a:r>
                        <a:rPr sz="788" b="0" i="0" dirty="0" err="1">
                          <a:solidFill>
                            <a:srgbClr val="192743"/>
                          </a:solidFill>
                          <a:latin typeface="Poppins"/>
                        </a:rPr>
                        <a:t>organised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I identify with the culture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30" name="Group 29"/>
          <p:cNvGrpSpPr/>
          <p:nvPr/>
        </p:nvGrpSpPr>
        <p:grpSpPr>
          <a:xfrm rot="18900000">
            <a:off x="5134921" y="809096"/>
            <a:ext cx="1471613" cy="240650"/>
            <a:chOff x="4722812" y="750887"/>
            <a:chExt cx="1471613" cy="240650"/>
          </a:xfrm>
        </p:grpSpPr>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4722812" y="813752"/>
              <a:ext cx="114300" cy="137160"/>
            </a:xfrm>
            <a:prstGeom prst="rect">
              <a:avLst/>
            </a:prstGeom>
          </p:spPr>
        </p:pic>
        <p:sp>
          <p:nvSpPr>
            <p:cNvPr id="32" name="New shape"/>
            <p:cNvSpPr txBox="1"/>
            <p:nvPr/>
          </p:nvSpPr>
          <p:spPr>
            <a:xfrm>
              <a:off x="4908550" y="750887"/>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33" name="New shape"/>
            <p:cNvSpPr txBox="1"/>
            <p:nvPr/>
          </p:nvSpPr>
          <p:spPr>
            <a:xfrm>
              <a:off x="4908550" y="870285"/>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34" name="Group 33"/>
          <p:cNvGrpSpPr/>
          <p:nvPr/>
        </p:nvGrpSpPr>
        <p:grpSpPr>
          <a:xfrm rot="18900000">
            <a:off x="5612274" y="886187"/>
            <a:ext cx="1477327" cy="120015"/>
            <a:chOff x="5237162" y="733743"/>
            <a:chExt cx="1477327" cy="120015"/>
          </a:xfrm>
        </p:grpSpPr>
        <p:pic>
          <p:nvPicPr>
            <p:cNvPr id="35" name="New picture"/>
            <p:cNvPicPr/>
            <p:nvPr/>
          </p:nvPicPr>
          <p:blipFill>
            <a:blip>
              <a:extLst>
                <a:ext uri="{96DAC541-7B7A-43D3-8B79-37D633B846F1}">
                  <asvg:svgBlip xmlns:asvg="http://schemas.microsoft.com/office/drawing/2016/SVG/main" r:embed="rId5"/>
                </a:ext>
              </a:extLst>
            </a:blip>
            <a:stretch>
              <a:fillRect/>
            </a:stretch>
          </p:blipFill>
          <p:spPr>
            <a:xfrm>
              <a:off x="5237162" y="733743"/>
              <a:ext cx="120015" cy="120015"/>
            </a:xfrm>
            <a:prstGeom prst="rect">
              <a:avLst/>
            </a:prstGeom>
          </p:spPr>
        </p:pic>
        <p:sp>
          <p:nvSpPr>
            <p:cNvPr id="36" name="New shape"/>
            <p:cNvSpPr txBox="1"/>
            <p:nvPr/>
          </p:nvSpPr>
          <p:spPr>
            <a:xfrm>
              <a:off x="54286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7" name="Group 36"/>
          <p:cNvGrpSpPr/>
          <p:nvPr/>
        </p:nvGrpSpPr>
        <p:grpSpPr>
          <a:xfrm rot="18900000">
            <a:off x="6126624" y="886187"/>
            <a:ext cx="1477328" cy="120015"/>
            <a:chOff x="5751512" y="733743"/>
            <a:chExt cx="1477328" cy="120015"/>
          </a:xfrm>
        </p:grpSpPr>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51512" y="733743"/>
              <a:ext cx="120015" cy="120015"/>
            </a:xfrm>
            <a:prstGeom prst="rect">
              <a:avLst/>
            </a:prstGeom>
          </p:spPr>
        </p:pic>
        <p:sp>
          <p:nvSpPr>
            <p:cNvPr id="39" name="New shape"/>
            <p:cNvSpPr txBox="1"/>
            <p:nvPr/>
          </p:nvSpPr>
          <p:spPr>
            <a:xfrm>
              <a:off x="5942966"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40" name="Group 39"/>
          <p:cNvGrpSpPr/>
          <p:nvPr/>
        </p:nvGrpSpPr>
        <p:grpSpPr>
          <a:xfrm rot="18900000">
            <a:off x="6640973" y="886187"/>
            <a:ext cx="1477328" cy="120015"/>
            <a:chOff x="6265862" y="733743"/>
            <a:chExt cx="1477328" cy="120015"/>
          </a:xfrm>
        </p:grpSpPr>
        <p:pic>
          <p:nvPicPr>
            <p:cNvPr id="41" name="New picture"/>
            <p:cNvPicPr/>
            <p:nvPr/>
          </p:nvPicPr>
          <p:blipFill>
            <a:blip>
              <a:extLst>
                <a:ext uri="{96DAC541-7B7A-43D3-8B79-37D633B846F1}">
                  <asvg:svgBlip xmlns:asvg="http://schemas.microsoft.com/office/drawing/2016/SVG/main" r:embed="rId7"/>
                </a:ext>
              </a:extLst>
            </a:blip>
            <a:stretch>
              <a:fillRect/>
            </a:stretch>
          </p:blipFill>
          <p:spPr>
            <a:xfrm>
              <a:off x="6265862" y="733743"/>
              <a:ext cx="120015" cy="120015"/>
            </a:xfrm>
            <a:prstGeom prst="rect">
              <a:avLst/>
            </a:prstGeom>
          </p:spPr>
        </p:pic>
        <p:sp>
          <p:nvSpPr>
            <p:cNvPr id="42" name="New shape"/>
            <p:cNvSpPr txBox="1"/>
            <p:nvPr/>
          </p:nvSpPr>
          <p:spPr>
            <a:xfrm>
              <a:off x="6457315"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43" name="Group 42"/>
          <p:cNvGrpSpPr/>
          <p:nvPr/>
        </p:nvGrpSpPr>
        <p:grpSpPr>
          <a:xfrm rot="18900000">
            <a:off x="7155324" y="886187"/>
            <a:ext cx="1477327" cy="120015"/>
            <a:chOff x="6780212" y="733743"/>
            <a:chExt cx="1477327" cy="120015"/>
          </a:xfrm>
        </p:grpSpPr>
        <p:pic>
          <p:nvPicPr>
            <p:cNvPr id="44" name="New picture"/>
            <p:cNvPicPr/>
            <p:nvPr/>
          </p:nvPicPr>
          <p:blipFill>
            <a:blip>
              <a:extLst>
                <a:ext uri="{96DAC541-7B7A-43D3-8B79-37D633B846F1}">
                  <asvg:svgBlip xmlns:asvg="http://schemas.microsoft.com/office/drawing/2016/SVG/main" r:embed="rId6"/>
                </a:ext>
              </a:extLst>
            </a:blip>
            <a:stretch>
              <a:fillRect/>
            </a:stretch>
          </p:blipFill>
          <p:spPr>
            <a:xfrm>
              <a:off x="6780212" y="733743"/>
              <a:ext cx="120015" cy="120015"/>
            </a:xfrm>
            <a:prstGeom prst="rect">
              <a:avLst/>
            </a:prstGeom>
          </p:spPr>
        </p:pic>
        <p:sp>
          <p:nvSpPr>
            <p:cNvPr id="45" name="New shape"/>
            <p:cNvSpPr txBox="1"/>
            <p:nvPr/>
          </p:nvSpPr>
          <p:spPr>
            <a:xfrm>
              <a:off x="697166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46" name="Group 45"/>
          <p:cNvGrpSpPr/>
          <p:nvPr/>
        </p:nvGrpSpPr>
        <p:grpSpPr>
          <a:xfrm rot="18900000">
            <a:off x="7669674" y="886187"/>
            <a:ext cx="1477327" cy="120015"/>
            <a:chOff x="7294562" y="733743"/>
            <a:chExt cx="1477327" cy="120015"/>
          </a:xfrm>
        </p:grpSpPr>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7294562" y="733743"/>
              <a:ext cx="120015" cy="120015"/>
            </a:xfrm>
            <a:prstGeom prst="rect">
              <a:avLst/>
            </a:prstGeom>
          </p:spPr>
        </p:pic>
        <p:sp>
          <p:nvSpPr>
            <p:cNvPr id="48" name="New shape"/>
            <p:cNvSpPr txBox="1"/>
            <p:nvPr/>
          </p:nvSpPr>
          <p:spPr>
            <a:xfrm>
              <a:off x="74860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Performance environment</a:t>
            </a:r>
          </a:p>
        </p:txBody>
      </p:sp>
      <p:sp>
        <p:nvSpPr>
          <p:cNvPr id="9"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1"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2"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3"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4"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5"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7"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0"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21"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22"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23"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4"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5"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26"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7"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8"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29"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employees are treated in a fair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performance is rewarded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 receive praise and recognition when I perform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 have good opportunities to develop myself professionally and personally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30" name="Group 29"/>
          <p:cNvGrpSpPr/>
          <p:nvPr/>
        </p:nvGrpSpPr>
        <p:grpSpPr>
          <a:xfrm rot="18900000">
            <a:off x="5134921" y="809096"/>
            <a:ext cx="1471613" cy="240650"/>
            <a:chOff x="4722812" y="750887"/>
            <a:chExt cx="1471613" cy="240650"/>
          </a:xfrm>
        </p:grpSpPr>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4722812" y="813752"/>
              <a:ext cx="114300" cy="137160"/>
            </a:xfrm>
            <a:prstGeom prst="rect">
              <a:avLst/>
            </a:prstGeom>
          </p:spPr>
        </p:pic>
        <p:sp>
          <p:nvSpPr>
            <p:cNvPr id="32" name="New shape"/>
            <p:cNvSpPr txBox="1"/>
            <p:nvPr/>
          </p:nvSpPr>
          <p:spPr>
            <a:xfrm>
              <a:off x="4908550" y="750887"/>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33" name="New shape"/>
            <p:cNvSpPr txBox="1"/>
            <p:nvPr/>
          </p:nvSpPr>
          <p:spPr>
            <a:xfrm>
              <a:off x="4908550" y="870285"/>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34" name="Group 33"/>
          <p:cNvGrpSpPr/>
          <p:nvPr/>
        </p:nvGrpSpPr>
        <p:grpSpPr>
          <a:xfrm rot="18900000">
            <a:off x="5612274" y="886187"/>
            <a:ext cx="1477327" cy="120015"/>
            <a:chOff x="5237162" y="733743"/>
            <a:chExt cx="1477327" cy="120015"/>
          </a:xfrm>
        </p:grpSpPr>
        <p:pic>
          <p:nvPicPr>
            <p:cNvPr id="35" name="New picture"/>
            <p:cNvPicPr/>
            <p:nvPr/>
          </p:nvPicPr>
          <p:blipFill>
            <a:blip>
              <a:extLst>
                <a:ext uri="{96DAC541-7B7A-43D3-8B79-37D633B846F1}">
                  <asvg:svgBlip xmlns:asvg="http://schemas.microsoft.com/office/drawing/2016/SVG/main" r:embed="rId5"/>
                </a:ext>
              </a:extLst>
            </a:blip>
            <a:stretch>
              <a:fillRect/>
            </a:stretch>
          </p:blipFill>
          <p:spPr>
            <a:xfrm>
              <a:off x="5237162" y="733743"/>
              <a:ext cx="120015" cy="120015"/>
            </a:xfrm>
            <a:prstGeom prst="rect">
              <a:avLst/>
            </a:prstGeom>
          </p:spPr>
        </p:pic>
        <p:sp>
          <p:nvSpPr>
            <p:cNvPr id="36" name="New shape"/>
            <p:cNvSpPr txBox="1"/>
            <p:nvPr/>
          </p:nvSpPr>
          <p:spPr>
            <a:xfrm>
              <a:off x="54286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7" name="Group 36"/>
          <p:cNvGrpSpPr/>
          <p:nvPr/>
        </p:nvGrpSpPr>
        <p:grpSpPr>
          <a:xfrm rot="18900000">
            <a:off x="6126624" y="886187"/>
            <a:ext cx="1477328" cy="120015"/>
            <a:chOff x="5751512" y="733743"/>
            <a:chExt cx="1477328" cy="120015"/>
          </a:xfrm>
        </p:grpSpPr>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51512" y="733743"/>
              <a:ext cx="120015" cy="120015"/>
            </a:xfrm>
            <a:prstGeom prst="rect">
              <a:avLst/>
            </a:prstGeom>
          </p:spPr>
        </p:pic>
        <p:sp>
          <p:nvSpPr>
            <p:cNvPr id="39" name="New shape"/>
            <p:cNvSpPr txBox="1"/>
            <p:nvPr/>
          </p:nvSpPr>
          <p:spPr>
            <a:xfrm>
              <a:off x="5942966"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40" name="Group 39"/>
          <p:cNvGrpSpPr/>
          <p:nvPr/>
        </p:nvGrpSpPr>
        <p:grpSpPr>
          <a:xfrm rot="18900000">
            <a:off x="6640973" y="886187"/>
            <a:ext cx="1477328" cy="120015"/>
            <a:chOff x="6265862" y="733743"/>
            <a:chExt cx="1477328" cy="120015"/>
          </a:xfrm>
        </p:grpSpPr>
        <p:pic>
          <p:nvPicPr>
            <p:cNvPr id="41" name="New picture"/>
            <p:cNvPicPr/>
            <p:nvPr/>
          </p:nvPicPr>
          <p:blipFill>
            <a:blip>
              <a:extLst>
                <a:ext uri="{96DAC541-7B7A-43D3-8B79-37D633B846F1}">
                  <asvg:svgBlip xmlns:asvg="http://schemas.microsoft.com/office/drawing/2016/SVG/main" r:embed="rId7"/>
                </a:ext>
              </a:extLst>
            </a:blip>
            <a:stretch>
              <a:fillRect/>
            </a:stretch>
          </p:blipFill>
          <p:spPr>
            <a:xfrm>
              <a:off x="6265862" y="733743"/>
              <a:ext cx="120015" cy="120015"/>
            </a:xfrm>
            <a:prstGeom prst="rect">
              <a:avLst/>
            </a:prstGeom>
          </p:spPr>
        </p:pic>
        <p:sp>
          <p:nvSpPr>
            <p:cNvPr id="42" name="New shape"/>
            <p:cNvSpPr txBox="1"/>
            <p:nvPr/>
          </p:nvSpPr>
          <p:spPr>
            <a:xfrm>
              <a:off x="6457315"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43" name="Group 42"/>
          <p:cNvGrpSpPr/>
          <p:nvPr/>
        </p:nvGrpSpPr>
        <p:grpSpPr>
          <a:xfrm rot="18900000">
            <a:off x="7155324" y="886187"/>
            <a:ext cx="1477327" cy="120015"/>
            <a:chOff x="6780212" y="733743"/>
            <a:chExt cx="1477327" cy="120015"/>
          </a:xfrm>
        </p:grpSpPr>
        <p:pic>
          <p:nvPicPr>
            <p:cNvPr id="44" name="New picture"/>
            <p:cNvPicPr/>
            <p:nvPr/>
          </p:nvPicPr>
          <p:blipFill>
            <a:blip>
              <a:extLst>
                <a:ext uri="{96DAC541-7B7A-43D3-8B79-37D633B846F1}">
                  <asvg:svgBlip xmlns:asvg="http://schemas.microsoft.com/office/drawing/2016/SVG/main" r:embed="rId6"/>
                </a:ext>
              </a:extLst>
            </a:blip>
            <a:stretch>
              <a:fillRect/>
            </a:stretch>
          </p:blipFill>
          <p:spPr>
            <a:xfrm>
              <a:off x="6780212" y="733743"/>
              <a:ext cx="120015" cy="120015"/>
            </a:xfrm>
            <a:prstGeom prst="rect">
              <a:avLst/>
            </a:prstGeom>
          </p:spPr>
        </p:pic>
        <p:sp>
          <p:nvSpPr>
            <p:cNvPr id="45" name="New shape"/>
            <p:cNvSpPr txBox="1"/>
            <p:nvPr/>
          </p:nvSpPr>
          <p:spPr>
            <a:xfrm>
              <a:off x="697166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46" name="Group 45"/>
          <p:cNvGrpSpPr/>
          <p:nvPr/>
        </p:nvGrpSpPr>
        <p:grpSpPr>
          <a:xfrm rot="18900000">
            <a:off x="7669674" y="886187"/>
            <a:ext cx="1477327" cy="120015"/>
            <a:chOff x="7294562" y="733743"/>
            <a:chExt cx="1477327" cy="120015"/>
          </a:xfrm>
        </p:grpSpPr>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7294562" y="733743"/>
              <a:ext cx="120015" cy="120015"/>
            </a:xfrm>
            <a:prstGeom prst="rect">
              <a:avLst/>
            </a:prstGeom>
          </p:spPr>
        </p:pic>
        <p:sp>
          <p:nvSpPr>
            <p:cNvPr id="48" name="New shape"/>
            <p:cNvSpPr txBox="1"/>
            <p:nvPr/>
          </p:nvSpPr>
          <p:spPr>
            <a:xfrm>
              <a:off x="74860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6483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Providing direction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Providing Direction should aim to make employees enthusiastic about the company’s vision, familiar with and convinced by the company’s strategy, and feel treated in a fair and just manner within the overall “ecosystem” of their company. Then, the employees will also be willing to go along with strategically necessary changes. </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Theme 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68%</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8"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82%</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 supported the objectives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The vision for the future of </a:t>
                      </a:r>
                      <a:r>
                        <a:rPr lang="en-US" sz="788" b="0" i="0" dirty="0">
                          <a:solidFill>
                            <a:srgbClr val="192743"/>
                          </a:solidFill>
                          <a:latin typeface="Poppins"/>
                        </a:rPr>
                        <a:t>Novanta B.V.</a:t>
                      </a:r>
                      <a:r>
                        <a:rPr sz="788" b="0" i="0" dirty="0">
                          <a:solidFill>
                            <a:srgbClr val="192743"/>
                          </a:solidFill>
                          <a:latin typeface="Poppins"/>
                        </a:rPr>
                        <a:t> inspires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employees are treated in a fair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4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4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108121"/>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Question performance</a:t>
            </a:r>
          </a:p>
        </p:txBody>
      </p:sp>
      <p:sp>
        <p:nvSpPr>
          <p:cNvPr id="5" name="New shape"/>
          <p:cNvSpPr txBox="1"/>
          <p:nvPr/>
        </p:nvSpPr>
        <p:spPr>
          <a:xfrm>
            <a:off x="457200" y="262389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dirty="0">
                <a:solidFill>
                  <a:srgbClr val="000000"/>
                </a:solidFill>
                <a:latin typeface="Poppins"/>
              </a:rPr>
              <a:t>The following questions and their scores are </a:t>
            </a:r>
            <a:r>
              <a:rPr sz="1350" b="0" i="0" dirty="0" err="1">
                <a:solidFill>
                  <a:srgbClr val="000000"/>
                </a:solidFill>
                <a:latin typeface="Poppins"/>
              </a:rPr>
              <a:t>categorised</a:t>
            </a:r>
            <a:r>
              <a:rPr sz="1350" b="0" i="0" dirty="0">
                <a:solidFill>
                  <a:srgbClr val="000000"/>
                </a:solidFill>
                <a:latin typeface="Poppins"/>
              </a:rPr>
              <a:t> under specific topics that are relevant for </a:t>
            </a:r>
            <a:r>
              <a:rPr lang="en-US" sz="1350" b="0" i="0" dirty="0">
                <a:solidFill>
                  <a:srgbClr val="000000"/>
                </a:solidFill>
                <a:latin typeface="Poppins"/>
              </a:rPr>
              <a:t>Novanta B.V.</a:t>
            </a:r>
            <a:r>
              <a:rPr sz="1350" b="0" i="0" dirty="0">
                <a:solidFill>
                  <a:srgbClr val="000000"/>
                </a:solidFill>
                <a:latin typeface="Poppins"/>
              </a:rPr>
              <a:t>.</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enjoyment</a:t>
            </a:r>
          </a:p>
        </p:txBody>
      </p:sp>
      <p:sp>
        <p:nvSpPr>
          <p:cNvPr id="3"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2"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 enjoy doing my work / tasks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*98%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3" name="Group 12"/>
          <p:cNvGrpSpPr/>
          <p:nvPr/>
        </p:nvGrpSpPr>
        <p:grpSpPr>
          <a:xfrm rot="18900000">
            <a:off x="5134921" y="859102"/>
            <a:ext cx="1471613" cy="240649"/>
            <a:chOff x="4722812" y="80089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15"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16"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5612274" y="936193"/>
            <a:ext cx="1477327" cy="120015"/>
            <a:chOff x="5237162" y="78374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19"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0" name="Group 19"/>
          <p:cNvGrpSpPr/>
          <p:nvPr/>
        </p:nvGrpSpPr>
        <p:grpSpPr>
          <a:xfrm rot="18900000">
            <a:off x="6126624" y="936193"/>
            <a:ext cx="1477328" cy="120015"/>
            <a:chOff x="5751512" y="78374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2"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3" name="Group 22"/>
          <p:cNvGrpSpPr/>
          <p:nvPr/>
        </p:nvGrpSpPr>
        <p:grpSpPr>
          <a:xfrm rot="18900000">
            <a:off x="6640973" y="936193"/>
            <a:ext cx="1477328" cy="120015"/>
            <a:chOff x="6265862" y="78374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25"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26" name="Group 25"/>
          <p:cNvGrpSpPr/>
          <p:nvPr/>
        </p:nvGrpSpPr>
        <p:grpSpPr>
          <a:xfrm rot="18900000">
            <a:off x="7155324" y="936193"/>
            <a:ext cx="1477327" cy="120015"/>
            <a:chOff x="6780212" y="78374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28"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936193"/>
            <a:ext cx="1477327" cy="120015"/>
            <a:chOff x="7294562" y="78374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1"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34</a:t>
            </a:r>
          </a:p>
        </p:txBody>
      </p:sp>
      <p:sp>
        <p:nvSpPr>
          <p:cNvPr id="3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enablement</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95453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 am provided with good work resources (tools, devices, software, materials, etc.) to do my job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Important information is readily accessible for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performance</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My skills and abilities fit in well with my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know what results are expected of me at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At work I feel fit and energetic</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experience a good balance between work and my personal life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 have enough time to do my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Doing my work gives me energy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My workload is</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Far too light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Too light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Good</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Too heavy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Far too heavy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 can cope well with my workload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At work I am able to deal with stress effectively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893331"/>
            <a:ext cx="1477328" cy="120015"/>
            <a:chOff x="6265862" y="740886"/>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(3)</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23832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 am able to maintain a good balance between working and relaxing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feel that the way I currently work is sustainable for the next three months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Time flies when I am working</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 have experienced undesirable behaviour by colleagues in the past year (such as verbal aggression, physical abuse, sexual harassment, bullying, discrimination,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Never</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Occasionally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30%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Regularly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893331"/>
            <a:ext cx="1477328" cy="120015"/>
            <a:chOff x="6265862" y="740886"/>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(4)</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224439"/>
          <a:ext cx="7772400" cy="152603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 have experienced undesirable behaviour by customers/ clients in the past year (such as verbal agression, physical abuse, sexual harassment, bullying, discrimination,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Never</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Occasionally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Regularly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893331"/>
            <a:ext cx="1477328" cy="120015"/>
            <a:chOff x="6265862" y="740886"/>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 collaboration and performance</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My team understands what needs to be done to contribute to the success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In my team we collaborate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team regularly develops good ideas for improvement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 leadership</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 have confidence in my manager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am regularly given useful performance feedback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manager leads changes in an exemplary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strategy</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 supported the objectives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The vision for the future of </a:t>
                      </a:r>
                      <a:r>
                        <a:rPr lang="en-US" sz="788" b="0" i="0" dirty="0">
                          <a:solidFill>
                            <a:srgbClr val="192743"/>
                          </a:solidFill>
                          <a:latin typeface="Poppins"/>
                        </a:rPr>
                        <a:t>Novanta B.V.</a:t>
                      </a:r>
                      <a:r>
                        <a:rPr sz="788" b="0" i="0" dirty="0">
                          <a:solidFill>
                            <a:srgbClr val="192743"/>
                          </a:solidFill>
                          <a:latin typeface="Poppins"/>
                        </a:rPr>
                        <a:t> inspires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communication and collaboration</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work processes are well </a:t>
                      </a:r>
                      <a:r>
                        <a:rPr sz="788" b="0" i="0" dirty="0" err="1">
                          <a:solidFill>
                            <a:srgbClr val="192743"/>
                          </a:solidFill>
                          <a:latin typeface="Poppins"/>
                        </a:rPr>
                        <a:t>organised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culture</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is a good </a:t>
                      </a:r>
                      <a:r>
                        <a:rPr sz="788" b="0" i="0" dirty="0" err="1">
                          <a:solidFill>
                            <a:srgbClr val="192743"/>
                          </a:solidFill>
                          <a:latin typeface="Poppins"/>
                        </a:rPr>
                        <a:t>organisation</a:t>
                      </a:r>
                      <a:r>
                        <a:rPr sz="788" b="0" i="0" dirty="0">
                          <a:solidFill>
                            <a:srgbClr val="192743"/>
                          </a:solidFill>
                          <a:latin typeface="Poppins"/>
                        </a:rPr>
                        <a:t> to work for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 am proud to work at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 feel that I fit in at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 feel appreciated by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 identify with the culture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employees are treated in a fair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performance is rewarded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I receive praise and recognition when I perform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and action</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uses employees' ideas and suggestions to improve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Growth and development</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 have good opportunities to develop myself professionally and personally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03988"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Question performance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How likely is it that you would recommend </a:t>
                      </a:r>
                      <a:r>
                        <a:rPr lang="en-US" sz="788" b="0" i="0" dirty="0">
                          <a:solidFill>
                            <a:srgbClr val="192743"/>
                          </a:solidFill>
                          <a:latin typeface="Poppins"/>
                        </a:rPr>
                        <a:t>Novanta B.V.</a:t>
                      </a:r>
                      <a:r>
                        <a:rPr sz="788" b="0" i="0" dirty="0">
                          <a:solidFill>
                            <a:srgbClr val="192743"/>
                          </a:solidFill>
                          <a:latin typeface="Poppins"/>
                        </a:rPr>
                        <a:t> as an employer to others?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Previous survey</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Global Index</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Global Index</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108121"/>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Deep dive: Group scores</a:t>
            </a:r>
          </a:p>
        </p:txBody>
      </p:sp>
      <p:sp>
        <p:nvSpPr>
          <p:cNvPr id="5" name="New shape"/>
          <p:cNvSpPr txBox="1"/>
          <p:nvPr/>
        </p:nvSpPr>
        <p:spPr>
          <a:xfrm>
            <a:off x="457200" y="262389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Let’s take a closer look and dive into the scores of all groups on the different themes and topics you have chosen.</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A short guide:</a:t>
            </a:r>
            <a:r>
              <a:rPr sz="2250" b="1" i="0">
                <a:solidFill>
                  <a:srgbClr val="30B3AF"/>
                </a:solidFill>
                <a:latin typeface="Poppins"/>
              </a:rPr>
              <a:t> Comparing groups</a:t>
            </a:r>
          </a:p>
        </p:txBody>
      </p:sp>
      <p:sp>
        <p:nvSpPr>
          <p:cNvPr id="3" name="New shape"/>
          <p:cNvSpPr txBox="1"/>
          <p:nvPr/>
        </p:nvSpPr>
        <p:spPr>
          <a:xfrm>
            <a:off x="457200" y="857250"/>
            <a:ext cx="4286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Score differences and how the results are compared</a:t>
            </a:r>
          </a:p>
        </p:txBody>
      </p:sp>
      <p:sp>
        <p:nvSpPr>
          <p:cNvPr id="4" name="New shape"/>
          <p:cNvSpPr/>
          <p:nvPr/>
        </p:nvSpPr>
        <p:spPr>
          <a:xfrm>
            <a:off x="457200" y="161163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69449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Group score is higher by at least 20 % points.</a:t>
            </a:r>
          </a:p>
        </p:txBody>
      </p:sp>
      <p:sp>
        <p:nvSpPr>
          <p:cNvPr id="6" name="New shape"/>
          <p:cNvSpPr/>
          <p:nvPr/>
        </p:nvSpPr>
        <p:spPr>
          <a:xfrm>
            <a:off x="457200" y="209740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2180273"/>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Group score is higher by at least 10 % points.</a:t>
            </a:r>
          </a:p>
        </p:txBody>
      </p:sp>
      <p:sp>
        <p:nvSpPr>
          <p:cNvPr id="8" name="New shape"/>
          <p:cNvSpPr/>
          <p:nvPr/>
        </p:nvSpPr>
        <p:spPr>
          <a:xfrm>
            <a:off x="457200" y="258318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666048"/>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Not relevant since difference is smaller than 10 % points.</a:t>
            </a:r>
          </a:p>
        </p:txBody>
      </p:sp>
      <p:sp>
        <p:nvSpPr>
          <p:cNvPr id="10" name="New shape"/>
          <p:cNvSpPr/>
          <p:nvPr/>
        </p:nvSpPr>
        <p:spPr>
          <a:xfrm>
            <a:off x="457200" y="306895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3151823"/>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Group score is lower by at least 10 % points.</a:t>
            </a:r>
          </a:p>
        </p:txBody>
      </p:sp>
      <p:sp>
        <p:nvSpPr>
          <p:cNvPr id="12" name="New shape"/>
          <p:cNvSpPr/>
          <p:nvPr/>
        </p:nvSpPr>
        <p:spPr>
          <a:xfrm>
            <a:off x="457200" y="355473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63759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Group score is lower by at least 20 % points.</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Example result</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1C55C7"/>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1C55C7"/>
                </a:solidFill>
                <a:latin typeface="Poppins"/>
              </a:rPr>
              <a:t>Group A scored higher by 20 % points</a:t>
            </a:r>
          </a:p>
        </p:txBody>
      </p:sp>
      <p:grpSp>
        <p:nvGrpSpPr>
          <p:cNvPr id="27" name="Group 26"/>
          <p:cNvGrpSpPr/>
          <p:nvPr/>
        </p:nvGrpSpPr>
        <p:grpSpPr>
          <a:xfrm rot="18900000">
            <a:off x="6270384" y="1877561"/>
            <a:ext cx="594313" cy="171450"/>
            <a:chOff x="5801519" y="1436688"/>
            <a:chExt cx="594313"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61805"/>
              <a:ext cx="38000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C55C7"/>
                  </a:solidFill>
                  <a:latin typeface="Poppins"/>
                </a:rPr>
                <a:t>Current</a:t>
              </a:r>
            </a:p>
          </p:txBody>
        </p:sp>
      </p:grpSp>
      <p:grpSp>
        <p:nvGrpSpPr>
          <p:cNvPr id="30" name="Group 29"/>
          <p:cNvGrpSpPr/>
          <p:nvPr/>
        </p:nvGrpSpPr>
        <p:grpSpPr>
          <a:xfrm rot="18900000">
            <a:off x="7254119" y="1940444"/>
            <a:ext cx="478695" cy="121215"/>
            <a:chOff x="6744494" y="1461805"/>
            <a:chExt cx="407257" cy="121215"/>
          </a:xfrm>
        </p:grpSpPr>
        <p:sp>
          <p:nvSpPr>
            <p:cNvPr id="31" name="New shape"/>
            <p:cNvSpPr txBox="1"/>
            <p:nvPr/>
          </p:nvSpPr>
          <p:spPr>
            <a:xfrm>
              <a:off x="6744494" y="1461805"/>
              <a:ext cx="40725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92743"/>
                  </a:solidFill>
                  <a:latin typeface="Poppins"/>
                </a:rPr>
                <a:t>Group A</a:t>
              </a:r>
            </a:p>
          </p:txBody>
        </p:sp>
      </p:grpSp>
      <p:grpSp>
        <p:nvGrpSpPr>
          <p:cNvPr id="32" name="Group 31"/>
          <p:cNvGrpSpPr/>
          <p:nvPr/>
        </p:nvGrpSpPr>
        <p:grpSpPr>
          <a:xfrm rot="18900000">
            <a:off x="8197745" y="1942015"/>
            <a:ext cx="473885" cy="121215"/>
            <a:chOff x="7687469" y="1461805"/>
            <a:chExt cx="402447" cy="121215"/>
          </a:xfrm>
        </p:grpSpPr>
        <p:sp>
          <p:nvSpPr>
            <p:cNvPr id="33" name="New shape"/>
            <p:cNvSpPr txBox="1"/>
            <p:nvPr/>
          </p:nvSpPr>
          <p:spPr>
            <a:xfrm>
              <a:off x="7687469" y="1461805"/>
              <a:ext cx="40244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92743"/>
                  </a:solidFill>
                  <a:latin typeface="Poppins"/>
                </a:rPr>
                <a:t>Group B</a:t>
              </a:r>
            </a:p>
          </p:txBody>
        </p:sp>
      </p:grpSp>
      <p:sp>
        <p:nvSpPr>
          <p:cNvPr id="34"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Significance (*)</a:t>
            </a:r>
          </a:p>
        </p:txBody>
      </p:sp>
      <p:sp>
        <p:nvSpPr>
          <p:cNvPr id="35" name="New shape"/>
          <p:cNvSpPr txBox="1"/>
          <p:nvPr/>
        </p:nvSpPr>
        <p:spPr>
          <a:xfrm>
            <a:off x="4029075" y="4254817"/>
            <a:ext cx="4029075"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Significance helps identify whether the difference between two scores is meaningful and not due to random chance. A score marked with an asterisk indicates that the difference between this score and Current’s score is considered significant. It reflects a real difference worth paying attention to.</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50</a:t>
            </a:r>
          </a:p>
        </p:txBody>
      </p:sp>
      <p:pic>
        <p:nvPicPr>
          <p:cNvPr id="37" name="New picture"/>
          <p:cNvPicPr/>
          <p:nvPr/>
        </p:nvPicPr>
        <p:blipFill>
          <a:blip>
            <a:extLst>
              <a:ext uri="{96DAC541-7B7A-43D3-8B79-37D633B846F1}">
                <asvg:svgBlip xmlns:asvg="http://schemas.microsoft.com/office/drawing/2016/SVG/main" r:embed="rId3"/>
              </a:ext>
            </a:extLst>
          </a:blip>
          <a:stretch>
            <a:fillRect/>
          </a:stretch>
        </p:blipFill>
        <p:spPr>
          <a:xfrm>
            <a:off x="8829675" y="147661"/>
            <a:ext cx="217884" cy="217884"/>
          </a:xfrm>
          <a:prstGeom prst="rect">
            <a:avLst/>
          </a:prstGeom>
        </p:spPr>
      </p:pic>
      <p:sp>
        <p:nvSpPr>
          <p:cNvPr id="39"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Theme scores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Themes compared by group</a:t>
            </a:r>
          </a:p>
        </p:txBody>
      </p:sp>
      <p:sp>
        <p:nvSpPr>
          <p:cNvPr id="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36576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14350">
                  <a:extLst>
                    <a:ext uri="{9D8B030D-6E8A-4147-A177-3AD203B41FA5}">
                      <a16:colId xmlns:a16="http://schemas.microsoft.com/office/drawing/2014/main" val="20008"/>
                    </a:ext>
                  </a:extLst>
                </a:gridCol>
              </a:tblGrid>
              <a:tr h="285750">
                <a:tc>
                  <a:txBody>
                    <a:bodyPr/>
                    <a:lstStyle/>
                    <a:p>
                      <a:pPr algn="l"/>
                      <a:r>
                        <a:rPr sz="788" b="0" i="0">
                          <a:solidFill>
                            <a:srgbClr val="192743"/>
                          </a:solidFill>
                          <a:latin typeface="Poppins"/>
                        </a:rPr>
                        <a:t>Employer Excellence</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Engagement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Leading Change</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Managing people</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Managing systems</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Performance environment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Providing direction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671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4106221" y="1030552"/>
            <a:ext cx="1471613" cy="240649"/>
            <a:chOff x="36941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3694112" y="1035209"/>
              <a:ext cx="114300" cy="137160"/>
            </a:xfrm>
            <a:prstGeom prst="rect">
              <a:avLst/>
            </a:prstGeom>
          </p:spPr>
        </p:pic>
        <p:sp>
          <p:nvSpPr>
            <p:cNvPr id="15" name="New shape"/>
            <p:cNvSpPr txBox="1"/>
            <p:nvPr/>
          </p:nvSpPr>
          <p:spPr>
            <a:xfrm>
              <a:off x="38798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16" name="New shape"/>
            <p:cNvSpPr txBox="1"/>
            <p:nvPr/>
          </p:nvSpPr>
          <p:spPr>
            <a:xfrm>
              <a:off x="38798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4599812" y="1146845"/>
            <a:ext cx="1357312" cy="120015"/>
            <a:chOff x="4208462" y="955199"/>
            <a:chExt cx="1285875" cy="120015"/>
          </a:xfrm>
        </p:grpSpPr>
        <p:sp>
          <p:nvSpPr>
            <p:cNvPr id="18" name="New shape"/>
            <p:cNvSpPr txBox="1"/>
            <p:nvPr/>
          </p:nvSpPr>
          <p:spPr>
            <a:xfrm>
              <a:off x="42084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114162" y="1146845"/>
            <a:ext cx="1357312" cy="120015"/>
            <a:chOff x="4722812" y="955199"/>
            <a:chExt cx="1285875" cy="120015"/>
          </a:xfrm>
        </p:grpSpPr>
        <p:sp>
          <p:nvSpPr>
            <p:cNvPr id="20" name="New shape"/>
            <p:cNvSpPr txBox="1"/>
            <p:nvPr/>
          </p:nvSpPr>
          <p:spPr>
            <a:xfrm>
              <a:off x="47228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5628512" y="1146845"/>
            <a:ext cx="1357312" cy="120015"/>
            <a:chOff x="5237162" y="955199"/>
            <a:chExt cx="1285875" cy="120015"/>
          </a:xfrm>
        </p:grpSpPr>
        <p:sp>
          <p:nvSpPr>
            <p:cNvPr id="22" name="New shape"/>
            <p:cNvSpPr txBox="1"/>
            <p:nvPr/>
          </p:nvSpPr>
          <p:spPr>
            <a:xfrm>
              <a:off x="52371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142862" y="1146845"/>
            <a:ext cx="1357312" cy="120015"/>
            <a:chOff x="5751512" y="955199"/>
            <a:chExt cx="1285875" cy="120015"/>
          </a:xfrm>
        </p:grpSpPr>
        <p:sp>
          <p:nvSpPr>
            <p:cNvPr id="24" name="New shape"/>
            <p:cNvSpPr txBox="1"/>
            <p:nvPr/>
          </p:nvSpPr>
          <p:spPr>
            <a:xfrm>
              <a:off x="57515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6657212" y="1146845"/>
            <a:ext cx="1357312" cy="120015"/>
            <a:chOff x="6265862" y="955199"/>
            <a:chExt cx="1285875" cy="120015"/>
          </a:xfrm>
        </p:grpSpPr>
        <p:sp>
          <p:nvSpPr>
            <p:cNvPr id="26" name="New shape"/>
            <p:cNvSpPr txBox="1"/>
            <p:nvPr/>
          </p:nvSpPr>
          <p:spPr>
            <a:xfrm>
              <a:off x="62658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171562" y="1146845"/>
            <a:ext cx="1357312" cy="120015"/>
            <a:chOff x="6780212" y="955199"/>
            <a:chExt cx="1285875" cy="120015"/>
          </a:xfrm>
        </p:grpSpPr>
        <p:sp>
          <p:nvSpPr>
            <p:cNvPr id="28" name="New shape"/>
            <p:cNvSpPr txBox="1"/>
            <p:nvPr/>
          </p:nvSpPr>
          <p:spPr>
            <a:xfrm>
              <a:off x="67802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grpSp>
        <p:nvGrpSpPr>
          <p:cNvPr id="29" name="Group 28"/>
          <p:cNvGrpSpPr/>
          <p:nvPr/>
        </p:nvGrpSpPr>
        <p:grpSpPr>
          <a:xfrm rot="18900000">
            <a:off x="7685912" y="1146845"/>
            <a:ext cx="1357312" cy="120015"/>
            <a:chOff x="7294562" y="955199"/>
            <a:chExt cx="1285875" cy="120015"/>
          </a:xfrm>
        </p:grpSpPr>
        <p:sp>
          <p:nvSpPr>
            <p:cNvPr id="30" name="New shape"/>
            <p:cNvSpPr txBox="1"/>
            <p:nvPr/>
          </p:nvSpPr>
          <p:spPr>
            <a:xfrm>
              <a:off x="72945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
        <p:nvSpPr>
          <p:cNvPr id="31"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Theme scores</a:t>
            </a:r>
          </a:p>
        </p:txBody>
      </p:sp>
      <p:sp>
        <p:nvSpPr>
          <p:cNvPr id="32"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Themes compared by group</a:t>
            </a:r>
          </a:p>
        </p:txBody>
      </p:sp>
      <p:sp>
        <p:nvSpPr>
          <p:cNvPr id="33"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34"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35"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6"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7"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8"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9"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sp>
        <p:nvSpPr>
          <p:cNvPr id="4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51</a:t>
            </a:r>
          </a:p>
        </p:txBody>
      </p:sp>
      <p:sp>
        <p:nvSpPr>
          <p:cNvPr id="4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8829675" y="147661"/>
            <a:ext cx="217884" cy="217884"/>
          </a:xfrm>
          <a:prstGeom prst="rect">
            <a:avLst/>
          </a:prstGeom>
        </p:spPr>
      </p:pic>
      <p:sp>
        <p:nvSpPr>
          <p:cNvPr id="4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enjoyment (1)</a:t>
            </a:r>
          </a:p>
        </p:txBody>
      </p:sp>
      <p:sp>
        <p:nvSpPr>
          <p:cNvPr id="3"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4"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5"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6"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2"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 enjoy doing my work / tasks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3" name="Group 12"/>
          <p:cNvGrpSpPr/>
          <p:nvPr/>
        </p:nvGrpSpPr>
        <p:grpSpPr>
          <a:xfrm rot="18900000">
            <a:off x="4620571" y="859102"/>
            <a:ext cx="1471613" cy="240649"/>
            <a:chOff x="4208462" y="80089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15"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16"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5114162" y="975395"/>
            <a:ext cx="1357312" cy="120015"/>
            <a:chOff x="4722812" y="783749"/>
            <a:chExt cx="1285875" cy="120015"/>
          </a:xfrm>
        </p:grpSpPr>
        <p:sp>
          <p:nvSpPr>
            <p:cNvPr id="18"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628512" y="975395"/>
            <a:ext cx="1357312" cy="120015"/>
            <a:chOff x="5237162" y="783749"/>
            <a:chExt cx="1285875" cy="120015"/>
          </a:xfrm>
        </p:grpSpPr>
        <p:sp>
          <p:nvSpPr>
            <p:cNvPr id="20"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6142862" y="975395"/>
            <a:ext cx="1357312" cy="120015"/>
            <a:chOff x="5751512" y="783749"/>
            <a:chExt cx="1285875" cy="120015"/>
          </a:xfrm>
        </p:grpSpPr>
        <p:sp>
          <p:nvSpPr>
            <p:cNvPr id="22"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657212" y="975395"/>
            <a:ext cx="1357312" cy="120015"/>
            <a:chOff x="6265862" y="783749"/>
            <a:chExt cx="1285875" cy="120015"/>
          </a:xfrm>
        </p:grpSpPr>
        <p:sp>
          <p:nvSpPr>
            <p:cNvPr id="24"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7171562" y="975395"/>
            <a:ext cx="1357312" cy="120015"/>
            <a:chOff x="6780212" y="783749"/>
            <a:chExt cx="1285875" cy="120015"/>
          </a:xfrm>
        </p:grpSpPr>
        <p:sp>
          <p:nvSpPr>
            <p:cNvPr id="26"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685912" y="975395"/>
            <a:ext cx="1357312" cy="120015"/>
            <a:chOff x="7294562" y="783749"/>
            <a:chExt cx="1285875" cy="120015"/>
          </a:xfrm>
        </p:grpSpPr>
        <p:sp>
          <p:nvSpPr>
            <p:cNvPr id="28"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
        <p:nvSpPr>
          <p:cNvPr id="29"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52</a:t>
            </a:r>
          </a:p>
        </p:txBody>
      </p:sp>
      <p:sp>
        <p:nvSpPr>
          <p:cNvPr id="30"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enjoyment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 enjoy doing my work / tasks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enablement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95453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 am provided with good work resources (tools, devices, software, materials, etc.) to do my job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Important information is readily accessible for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enablement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 am provided with good work resources (tools, devices, software, materials, etc.) to do my job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Important information is readily accessible for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performance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My skills and abilities fit in well with my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know what results are expected of me at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Work performance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My skills and abilities fit in well with my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know what results are expected of me at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At work I feel fit and energetic</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experience a good balance between work and my personal life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 have enough time to do my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Doing my work gives me energy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At work I feel fit and energetic</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experience a good balance between work and my personal life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 have enough time to do my work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Doing my work gives me energy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(3)</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My workload is</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Far too light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41%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Too light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22%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41%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13%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Good</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Too heavy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Far too heavy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 can cope well with my workload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At work I am able to deal with stress effectively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(4)</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My workload is</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Far too light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Too light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Good</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Too heavy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Far too heavy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 can cope well with my workload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At work I am able to deal with stress effectively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(5)</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2503362"/>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 am able to maintain a good balance between working and relaxing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feel that the way I currently work is sustainable for the next three months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Time flies when I am working</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 have experienced undesirable behaviour by colleagues in the past year (such as verbal aggression, physical abuse, sexual harassment, bullying, discrimination,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Never</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Occasionally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Regularly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(6)</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2383283"/>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 am able to maintain a good balance between working and relaxing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feel that the way I currently work is sustainable for the next three months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Time flies when I am working</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 have experienced undesirable behaviour by colleagues in the past year (such as verbal aggression, physical abuse, sexual harassment, bullying, discrimination,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Never</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Occasionally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Regularly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(7)</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104424"/>
          <a:ext cx="7772400" cy="1646112"/>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 have experienced undesirable behaviour by customers/ clients in the past year (such as verbal agression, physical abuse, sexual harassment, bullying, discrimination,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Never</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Occasionally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Regularly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Wellbeing and workload (8)</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224439"/>
          <a:ext cx="7772400" cy="1526033"/>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 have experienced undesirable behaviour by customers/ clients in the past year (such as verbal agression, physical abuse, sexual harassment, bullying, discrimination,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Never</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Occasionally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Regularly</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 collaboration and performance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24028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My team understands what needs to be done to contribute to the success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In my team we collaborate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team regularly develops good ideas for improvement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 collaboration and performance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My team understands what needs to be done to contribute to the success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In my team we collaborate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team regularly develops good ideas for improvement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 leadership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 have confidence in my manager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am regularly given useful performance feedback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manager leads changes in an exemplary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 leadership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 have confidence in my manager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 am regularly given useful performance feedback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My manager leads changes in an exemplary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strategy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I supported the objectives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The vision for the future of </a:t>
                      </a:r>
                      <a:r>
                        <a:rPr lang="en-US" sz="788" b="0" i="0" dirty="0">
                          <a:solidFill>
                            <a:srgbClr val="192743"/>
                          </a:solidFill>
                          <a:latin typeface="Poppins"/>
                        </a:rPr>
                        <a:t>Novanta B.V.</a:t>
                      </a:r>
                      <a:r>
                        <a:rPr sz="788" b="0" i="0" dirty="0">
                          <a:solidFill>
                            <a:srgbClr val="192743"/>
                          </a:solidFill>
                          <a:latin typeface="Poppins"/>
                        </a:rPr>
                        <a:t> inspires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strategy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I supported the objectives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The vision for the future of </a:t>
                      </a:r>
                      <a:r>
                        <a:rPr lang="en-US" sz="788" b="0" i="0" dirty="0">
                          <a:solidFill>
                            <a:srgbClr val="192743"/>
                          </a:solidFill>
                          <a:latin typeface="Poppins"/>
                        </a:rPr>
                        <a:t>Novanta B.V.</a:t>
                      </a:r>
                      <a:r>
                        <a:rPr sz="788" b="0" i="0" dirty="0">
                          <a:solidFill>
                            <a:srgbClr val="192743"/>
                          </a:solidFill>
                          <a:latin typeface="Poppins"/>
                        </a:rPr>
                        <a:t> inspires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communication and collaboration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work processes are well </a:t>
                      </a:r>
                      <a:r>
                        <a:rPr sz="788" b="0" i="0" dirty="0" err="1">
                          <a:solidFill>
                            <a:srgbClr val="192743"/>
                          </a:solidFill>
                          <a:latin typeface="Poppins"/>
                        </a:rPr>
                        <a:t>organised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communication and collaboration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work processes are well </a:t>
                      </a:r>
                      <a:r>
                        <a:rPr sz="788" b="0" i="0" dirty="0" err="1">
                          <a:solidFill>
                            <a:srgbClr val="192743"/>
                          </a:solidFill>
                          <a:latin typeface="Poppins"/>
                        </a:rPr>
                        <a:t>organised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culture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is a good </a:t>
                      </a:r>
                      <a:r>
                        <a:rPr sz="788" b="0" i="0" dirty="0" err="1">
                          <a:solidFill>
                            <a:srgbClr val="192743"/>
                          </a:solidFill>
                          <a:latin typeface="Poppins"/>
                        </a:rPr>
                        <a:t>organisation</a:t>
                      </a:r>
                      <a:r>
                        <a:rPr sz="788" b="0" i="0" dirty="0">
                          <a:solidFill>
                            <a:srgbClr val="192743"/>
                          </a:solidFill>
                          <a:latin typeface="Poppins"/>
                        </a:rPr>
                        <a:t> to work for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 am proud to work at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 feel that I fit in at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58%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 feel appreciated by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 identify with the culture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employees are treated in a fair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50%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performance is rewarded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I receive praise and recognition when I perform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Company culture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is a good </a:t>
                      </a:r>
                      <a:r>
                        <a:rPr sz="788" b="0" i="0" dirty="0" err="1">
                          <a:solidFill>
                            <a:srgbClr val="192743"/>
                          </a:solidFill>
                          <a:latin typeface="Poppins"/>
                        </a:rPr>
                        <a:t>organisation</a:t>
                      </a:r>
                      <a:r>
                        <a:rPr sz="788" b="0" i="0" dirty="0">
                          <a:solidFill>
                            <a:srgbClr val="192743"/>
                          </a:solidFill>
                          <a:latin typeface="Poppins"/>
                        </a:rPr>
                        <a:t> to work for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 am proud to work at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 feel that I fit in at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 feel appreciated by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 identify with the culture of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employees are treated in a fair manner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Within </a:t>
                      </a:r>
                      <a:r>
                        <a:rPr lang="en-US" sz="788" b="0" i="0" dirty="0">
                          <a:solidFill>
                            <a:srgbClr val="192743"/>
                          </a:solidFill>
                          <a:latin typeface="Poppins"/>
                        </a:rPr>
                        <a:t>Novanta B.V.</a:t>
                      </a:r>
                      <a:r>
                        <a:rPr sz="788" b="0" i="0" dirty="0">
                          <a:solidFill>
                            <a:srgbClr val="192743"/>
                          </a:solidFill>
                          <a:latin typeface="Poppins"/>
                        </a:rPr>
                        <a:t> performance is rewarded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I receive praise and recognition when I perform well</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and action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uses employees' ideas and suggestions to improve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and action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uses employees' ideas and suggestions to improve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Growth and development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 have good opportunities to develop myself professionally and personally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Growth and development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 have good opportunities to develop myself professionally and personally</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(1)</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How likely is it that you would recommend </a:t>
                      </a:r>
                      <a:r>
                        <a:rPr lang="en-US" sz="788" b="0" i="0" dirty="0">
                          <a:solidFill>
                            <a:srgbClr val="192743"/>
                          </a:solidFill>
                          <a:latin typeface="Poppins"/>
                        </a:rPr>
                        <a:t>Novanta B.V.</a:t>
                      </a:r>
                      <a:r>
                        <a:rPr sz="788" b="0" i="0" dirty="0">
                          <a:solidFill>
                            <a:srgbClr val="192743"/>
                          </a:solidFill>
                          <a:latin typeface="Poppins"/>
                        </a:rPr>
                        <a:t> as an employer to others?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39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34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38736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Deep dive: Group 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(2)</a:t>
            </a:r>
          </a:p>
        </p:txBody>
      </p:sp>
      <p:sp>
        <p:nvSpPr>
          <p:cNvPr id="8" name="New shape"/>
          <p:cNvSpPr txBox="1"/>
          <p:nvPr/>
        </p:nvSpPr>
        <p:spPr>
          <a:xfrm>
            <a:off x="3621548" y="4885296"/>
            <a:ext cx="123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difference (*)</a:t>
            </a:r>
          </a:p>
        </p:txBody>
      </p:sp>
      <p:sp>
        <p:nvSpPr>
          <p:cNvPr id="9" name="New shape"/>
          <p:cNvSpPr txBox="1"/>
          <p:nvPr/>
        </p:nvSpPr>
        <p:spPr>
          <a:xfrm>
            <a:off x="4629150"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Current survey is:</a:t>
            </a:r>
          </a:p>
        </p:txBody>
      </p:sp>
      <p:sp>
        <p:nvSpPr>
          <p:cNvPr id="10" name="New shape"/>
          <p:cNvSpPr txBox="1"/>
          <p:nvPr/>
        </p:nvSpPr>
        <p:spPr>
          <a:xfrm>
            <a:off x="5886450" y="4885296"/>
            <a:ext cx="32708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Higher</a:t>
            </a:r>
          </a:p>
        </p:txBody>
      </p:sp>
      <p:sp>
        <p:nvSpPr>
          <p:cNvPr id="11" name="New shape"/>
          <p:cNvSpPr txBox="1"/>
          <p:nvPr/>
        </p:nvSpPr>
        <p:spPr>
          <a:xfrm>
            <a:off x="6242114"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656451"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7070789"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485126"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899464"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342376" y="4885296"/>
            <a:ext cx="2902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Lower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How likely is it that you would recommend </a:t>
                      </a:r>
                      <a:r>
                        <a:rPr lang="en-US" sz="788" b="0" i="0" dirty="0">
                          <a:solidFill>
                            <a:srgbClr val="192743"/>
                          </a:solidFill>
                          <a:latin typeface="Poppins"/>
                        </a:rPr>
                        <a:t>Novanta B.V.</a:t>
                      </a:r>
                      <a:r>
                        <a:rPr sz="788" b="0" i="0" dirty="0">
                          <a:solidFill>
                            <a:srgbClr val="192743"/>
                          </a:solidFill>
                          <a:latin typeface="Poppins"/>
                        </a:rPr>
                        <a:t> as an employer to others?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respondents</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Current</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1970961"/>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Topics your employees point out</a:t>
            </a:r>
          </a:p>
        </p:txBody>
      </p:sp>
      <p:sp>
        <p:nvSpPr>
          <p:cNvPr id="5" name="New shape"/>
          <p:cNvSpPr txBox="1"/>
          <p:nvPr/>
        </p:nvSpPr>
        <p:spPr>
          <a:xfrm>
            <a:off x="457200" y="2966799"/>
            <a:ext cx="628650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See what they are most proud of and where they see room for growth.</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5525"/>
            <a:ext cx="3412794" cy="34624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2250" b="1" i="0" dirty="0">
                <a:solidFill>
                  <a:srgbClr val="192743"/>
                </a:solidFill>
                <a:latin typeface="Poppins"/>
              </a:rPr>
              <a:t>Topics for </a:t>
            </a:r>
            <a:r>
              <a:rPr lang="en-US" sz="2250" b="1" i="0" dirty="0">
                <a:solidFill>
                  <a:srgbClr val="192743"/>
                </a:solidFill>
                <a:latin typeface="Poppins"/>
              </a:rPr>
              <a:t>Novanta B.V.</a:t>
            </a:r>
            <a:endParaRPr sz="2250" b="1" i="0" dirty="0">
              <a:solidFill>
                <a:srgbClr val="192743"/>
              </a:solidFill>
              <a:latin typeface="Poppins"/>
            </a:endParaRPr>
          </a:p>
        </p:txBody>
      </p:sp>
      <p:sp>
        <p:nvSpPr>
          <p:cNvPr id="3" name="New shape"/>
          <p:cNvSpPr txBox="1"/>
          <p:nvPr/>
        </p:nvSpPr>
        <p:spPr>
          <a:xfrm>
            <a:off x="457200" y="838007"/>
            <a:ext cx="136896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a:solidFill>
                  <a:srgbClr val="546178"/>
                </a:solidFill>
                <a:latin typeface="Poppins"/>
              </a:rPr>
              <a:t>Chosen by </a:t>
            </a:r>
            <a:r>
              <a:rPr lang="en-US" sz="900" b="0" i="0" dirty="0">
                <a:solidFill>
                  <a:srgbClr val="546178"/>
                </a:solidFill>
                <a:latin typeface="Poppins"/>
              </a:rPr>
              <a:t>Novanta B.V.</a:t>
            </a:r>
            <a:endParaRPr sz="900" b="0" i="0" dirty="0">
              <a:solidFill>
                <a:srgbClr val="546178"/>
              </a:solidFill>
              <a:latin typeface="Poppins"/>
            </a:endParaRPr>
          </a:p>
        </p:txBody>
      </p:sp>
      <p:sp>
        <p:nvSpPr>
          <p:cNvPr id="4" name="New shape"/>
          <p:cNvSpPr/>
          <p:nvPr/>
        </p:nvSpPr>
        <p:spPr>
          <a:xfrm flipH="1">
            <a:off x="4572000" y="1243012"/>
            <a:ext cx="0" cy="28003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457200" y="1271588"/>
            <a:ext cx="228600" cy="228600"/>
          </a:xfrm>
          <a:prstGeom prst="rect">
            <a:avLst/>
          </a:prstGeom>
        </p:spPr>
      </p:pic>
      <p:sp>
        <p:nvSpPr>
          <p:cNvPr id="6" name="New shape"/>
          <p:cNvSpPr txBox="1"/>
          <p:nvPr/>
        </p:nvSpPr>
        <p:spPr>
          <a:xfrm>
            <a:off x="757238" y="1317307"/>
            <a:ext cx="3214688"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What really stands out for you in a positive way?</a:t>
            </a:r>
          </a:p>
        </p:txBody>
      </p:sp>
      <p:sp>
        <p:nvSpPr>
          <p:cNvPr id="7" name="New shape"/>
          <p:cNvSpPr/>
          <p:nvPr/>
        </p:nvSpPr>
        <p:spPr>
          <a:xfrm>
            <a:off x="4572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457200" y="1700212"/>
            <a:ext cx="1446609"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5286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organisation as an employer</a:t>
            </a:r>
          </a:p>
        </p:txBody>
      </p:sp>
      <p:sp>
        <p:nvSpPr>
          <p:cNvPr id="10" name="New shape"/>
          <p:cNvSpPr txBox="1"/>
          <p:nvPr/>
        </p:nvSpPr>
        <p:spPr>
          <a:xfrm>
            <a:off x="31182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45%</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3786188" y="1768078"/>
            <a:ext cx="150019" cy="150019"/>
          </a:xfrm>
          <a:prstGeom prst="rect">
            <a:avLst/>
          </a:prstGeom>
        </p:spPr>
      </p:pic>
      <p:sp>
        <p:nvSpPr>
          <p:cNvPr id="12" name="New shape"/>
          <p:cNvSpPr txBox="1"/>
          <p:nvPr/>
        </p:nvSpPr>
        <p:spPr>
          <a:xfrm>
            <a:off x="40076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132</a:t>
            </a:r>
          </a:p>
        </p:txBody>
      </p:sp>
      <p:sp>
        <p:nvSpPr>
          <p:cNvPr id="13" name="New shape"/>
          <p:cNvSpPr/>
          <p:nvPr/>
        </p:nvSpPr>
        <p:spPr>
          <a:xfrm>
            <a:off x="4572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57200" y="2100262"/>
            <a:ext cx="417909"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5286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organisation's culture</a:t>
            </a:r>
          </a:p>
        </p:txBody>
      </p:sp>
      <p:sp>
        <p:nvSpPr>
          <p:cNvPr id="16" name="New shape"/>
          <p:cNvSpPr txBox="1"/>
          <p:nvPr/>
        </p:nvSpPr>
        <p:spPr>
          <a:xfrm>
            <a:off x="31182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13%</a:t>
            </a:r>
          </a:p>
        </p:txBody>
      </p:sp>
      <p:pic>
        <p:nvPicPr>
          <p:cNvPr id="17" name="New picture"/>
          <p:cNvPicPr/>
          <p:nvPr/>
        </p:nvPicPr>
        <p:blipFill>
          <a:blip>
            <a:extLst>
              <a:ext uri="{96DAC541-7B7A-43D3-8B79-37D633B846F1}">
                <asvg:svgBlip xmlns:asvg="http://schemas.microsoft.com/office/drawing/2016/SVG/main" r:embed="rId3"/>
              </a:ext>
            </a:extLst>
          </a:blip>
          <a:stretch>
            <a:fillRect/>
          </a:stretch>
        </p:blipFill>
        <p:spPr>
          <a:xfrm>
            <a:off x="3786188" y="2168128"/>
            <a:ext cx="150019" cy="150019"/>
          </a:xfrm>
          <a:prstGeom prst="rect">
            <a:avLst/>
          </a:prstGeom>
        </p:spPr>
      </p:pic>
      <p:sp>
        <p:nvSpPr>
          <p:cNvPr id="18" name="New shape"/>
          <p:cNvSpPr txBox="1"/>
          <p:nvPr/>
        </p:nvSpPr>
        <p:spPr>
          <a:xfrm>
            <a:off x="40076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38</a:t>
            </a:r>
          </a:p>
        </p:txBody>
      </p:sp>
      <p:sp>
        <p:nvSpPr>
          <p:cNvPr id="19" name="New shape"/>
          <p:cNvSpPr/>
          <p:nvPr/>
        </p:nvSpPr>
        <p:spPr>
          <a:xfrm>
            <a:off x="4572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457200" y="2500312"/>
            <a:ext cx="321469"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286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organisation's vision and goals</a:t>
            </a:r>
          </a:p>
        </p:txBody>
      </p:sp>
      <p:sp>
        <p:nvSpPr>
          <p:cNvPr id="22" name="New shape"/>
          <p:cNvSpPr txBox="1"/>
          <p:nvPr/>
        </p:nvSpPr>
        <p:spPr>
          <a:xfrm>
            <a:off x="31182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10%</a:t>
            </a:r>
          </a:p>
        </p:txBody>
      </p:sp>
      <p:pic>
        <p:nvPicPr>
          <p:cNvPr id="23" name="New picture"/>
          <p:cNvPicPr/>
          <p:nvPr/>
        </p:nvPicPr>
        <p:blipFill>
          <a:blip>
            <a:extLst>
              <a:ext uri="{96DAC541-7B7A-43D3-8B79-37D633B846F1}">
                <asvg:svgBlip xmlns:asvg="http://schemas.microsoft.com/office/drawing/2016/SVG/main" r:embed="rId3"/>
              </a:ext>
            </a:extLst>
          </a:blip>
          <a:stretch>
            <a:fillRect/>
          </a:stretch>
        </p:blipFill>
        <p:spPr>
          <a:xfrm>
            <a:off x="3786188" y="2568178"/>
            <a:ext cx="150019" cy="150019"/>
          </a:xfrm>
          <a:prstGeom prst="rect">
            <a:avLst/>
          </a:prstGeom>
        </p:spPr>
      </p:pic>
      <p:sp>
        <p:nvSpPr>
          <p:cNvPr id="24" name="New shape"/>
          <p:cNvSpPr txBox="1"/>
          <p:nvPr/>
        </p:nvSpPr>
        <p:spPr>
          <a:xfrm>
            <a:off x="40076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a:t>
            </a:r>
          </a:p>
        </p:txBody>
      </p:sp>
      <p:sp>
        <p:nvSpPr>
          <p:cNvPr id="25" name="New shape"/>
          <p:cNvSpPr/>
          <p:nvPr/>
        </p:nvSpPr>
        <p:spPr>
          <a:xfrm>
            <a:off x="4572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New shape"/>
          <p:cNvSpPr/>
          <p:nvPr/>
        </p:nvSpPr>
        <p:spPr>
          <a:xfrm>
            <a:off x="457200" y="2900362"/>
            <a:ext cx="289322"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New shape"/>
          <p:cNvSpPr txBox="1"/>
          <p:nvPr/>
        </p:nvSpPr>
        <p:spPr>
          <a:xfrm>
            <a:off x="5286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Customer focus within my organisation</a:t>
            </a:r>
          </a:p>
        </p:txBody>
      </p:sp>
      <p:sp>
        <p:nvSpPr>
          <p:cNvPr id="28" name="New shape"/>
          <p:cNvSpPr txBox="1"/>
          <p:nvPr/>
        </p:nvSpPr>
        <p:spPr>
          <a:xfrm>
            <a:off x="31182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9%</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3786188" y="2968228"/>
            <a:ext cx="150019" cy="150019"/>
          </a:xfrm>
          <a:prstGeom prst="rect">
            <a:avLst/>
          </a:prstGeom>
        </p:spPr>
      </p:pic>
      <p:sp>
        <p:nvSpPr>
          <p:cNvPr id="30" name="New shape"/>
          <p:cNvSpPr txBox="1"/>
          <p:nvPr/>
        </p:nvSpPr>
        <p:spPr>
          <a:xfrm>
            <a:off x="40076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25</a:t>
            </a:r>
          </a:p>
        </p:txBody>
      </p:sp>
      <p:sp>
        <p:nvSpPr>
          <p:cNvPr id="31" name="New shape"/>
          <p:cNvSpPr/>
          <p:nvPr/>
        </p:nvSpPr>
        <p:spPr>
          <a:xfrm>
            <a:off x="4572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457200" y="3300412"/>
            <a:ext cx="22502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5286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Communication within my organisation</a:t>
            </a:r>
          </a:p>
        </p:txBody>
      </p:sp>
      <p:sp>
        <p:nvSpPr>
          <p:cNvPr id="34" name="New shape"/>
          <p:cNvSpPr txBox="1"/>
          <p:nvPr/>
        </p:nvSpPr>
        <p:spPr>
          <a:xfrm>
            <a:off x="31182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a:t>
            </a:r>
          </a:p>
        </p:txBody>
      </p:sp>
      <p:pic>
        <p:nvPicPr>
          <p:cNvPr id="35" name="New picture"/>
          <p:cNvPicPr/>
          <p:nvPr/>
        </p:nvPicPr>
        <p:blipFill>
          <a:blip>
            <a:extLst>
              <a:ext uri="{96DAC541-7B7A-43D3-8B79-37D633B846F1}">
                <asvg:svgBlip xmlns:asvg="http://schemas.microsoft.com/office/drawing/2016/SVG/main" r:embed="rId3"/>
              </a:ext>
            </a:extLst>
          </a:blip>
          <a:stretch>
            <a:fillRect/>
          </a:stretch>
        </p:blipFill>
        <p:spPr>
          <a:xfrm>
            <a:off x="3786188" y="3368278"/>
            <a:ext cx="150019" cy="150019"/>
          </a:xfrm>
          <a:prstGeom prst="rect">
            <a:avLst/>
          </a:prstGeom>
        </p:spPr>
      </p:pic>
      <p:sp>
        <p:nvSpPr>
          <p:cNvPr id="36" name="New shape"/>
          <p:cNvSpPr txBox="1"/>
          <p:nvPr/>
        </p:nvSpPr>
        <p:spPr>
          <a:xfrm>
            <a:off x="40076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19</a:t>
            </a:r>
          </a:p>
        </p:txBody>
      </p:sp>
      <p:sp>
        <p:nvSpPr>
          <p:cNvPr id="37" name="New shape"/>
          <p:cNvSpPr/>
          <p:nvPr/>
        </p:nvSpPr>
        <p:spPr>
          <a:xfrm>
            <a:off x="4572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New shape"/>
          <p:cNvSpPr/>
          <p:nvPr/>
        </p:nvSpPr>
        <p:spPr>
          <a:xfrm>
            <a:off x="457200" y="370046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9" name="New shape"/>
          <p:cNvSpPr txBox="1"/>
          <p:nvPr/>
        </p:nvSpPr>
        <p:spPr>
          <a:xfrm>
            <a:off x="5286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Collaboration within organisation</a:t>
            </a:r>
          </a:p>
        </p:txBody>
      </p:sp>
      <p:sp>
        <p:nvSpPr>
          <p:cNvPr id="40" name="New shape"/>
          <p:cNvSpPr txBox="1"/>
          <p:nvPr/>
        </p:nvSpPr>
        <p:spPr>
          <a:xfrm>
            <a:off x="31182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41" name="New picture"/>
          <p:cNvPicPr/>
          <p:nvPr/>
        </p:nvPicPr>
        <p:blipFill>
          <a:blip>
            <a:extLst>
              <a:ext uri="{96DAC541-7B7A-43D3-8B79-37D633B846F1}">
                <asvg:svgBlip xmlns:asvg="http://schemas.microsoft.com/office/drawing/2016/SVG/main" r:embed="rId3"/>
              </a:ext>
            </a:extLst>
          </a:blip>
          <a:stretch>
            <a:fillRect/>
          </a:stretch>
        </p:blipFill>
        <p:spPr>
          <a:xfrm>
            <a:off x="3786188" y="3768328"/>
            <a:ext cx="150019" cy="150019"/>
          </a:xfrm>
          <a:prstGeom prst="rect">
            <a:avLst/>
          </a:prstGeom>
        </p:spPr>
      </p:pic>
      <p:sp>
        <p:nvSpPr>
          <p:cNvPr id="42" name="New shape"/>
          <p:cNvSpPr txBox="1"/>
          <p:nvPr/>
        </p:nvSpPr>
        <p:spPr>
          <a:xfrm>
            <a:off x="40076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4800600" y="1271588"/>
            <a:ext cx="228600" cy="228600"/>
          </a:xfrm>
          <a:prstGeom prst="rect">
            <a:avLst/>
          </a:prstGeom>
        </p:spPr>
      </p:pic>
      <p:sp>
        <p:nvSpPr>
          <p:cNvPr id="44" name="New shape"/>
          <p:cNvSpPr txBox="1"/>
          <p:nvPr/>
        </p:nvSpPr>
        <p:spPr>
          <a:xfrm>
            <a:off x="5100638" y="1248727"/>
            <a:ext cx="3214688"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What did you see or experience that could be improved? Don't forget to give us your tip!</a:t>
            </a:r>
          </a:p>
        </p:txBody>
      </p:sp>
      <p:sp>
        <p:nvSpPr>
          <p:cNvPr id="45" name="New shape"/>
          <p:cNvSpPr/>
          <p:nvPr/>
        </p:nvSpPr>
        <p:spPr>
          <a:xfrm>
            <a:off x="48006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800600" y="1700212"/>
            <a:ext cx="1253728"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8720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organisation as an employer</a:t>
            </a:r>
          </a:p>
        </p:txBody>
      </p:sp>
      <p:sp>
        <p:nvSpPr>
          <p:cNvPr id="48" name="New shape"/>
          <p:cNvSpPr txBox="1"/>
          <p:nvPr/>
        </p:nvSpPr>
        <p:spPr>
          <a:xfrm>
            <a:off x="74616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39%</a:t>
            </a:r>
          </a:p>
        </p:txBody>
      </p:sp>
      <p:pic>
        <p:nvPicPr>
          <p:cNvPr id="49" name="New picture"/>
          <p:cNvPicPr/>
          <p:nvPr/>
        </p:nvPicPr>
        <p:blipFill>
          <a:blip>
            <a:extLst>
              <a:ext uri="{96DAC541-7B7A-43D3-8B79-37D633B846F1}">
                <asvg:svgBlip xmlns:asvg="http://schemas.microsoft.com/office/drawing/2016/SVG/main" r:embed="rId3"/>
              </a:ext>
            </a:extLst>
          </a:blip>
          <a:stretch>
            <a:fillRect/>
          </a:stretch>
        </p:blipFill>
        <p:spPr>
          <a:xfrm>
            <a:off x="8129588" y="1768078"/>
            <a:ext cx="150019" cy="150019"/>
          </a:xfrm>
          <a:prstGeom prst="rect">
            <a:avLst/>
          </a:prstGeom>
        </p:spPr>
      </p:pic>
      <p:sp>
        <p:nvSpPr>
          <p:cNvPr id="50" name="New shape"/>
          <p:cNvSpPr txBox="1"/>
          <p:nvPr/>
        </p:nvSpPr>
        <p:spPr>
          <a:xfrm>
            <a:off x="83510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113</a:t>
            </a:r>
          </a:p>
        </p:txBody>
      </p:sp>
      <p:sp>
        <p:nvSpPr>
          <p:cNvPr id="51" name="New shape"/>
          <p:cNvSpPr/>
          <p:nvPr/>
        </p:nvSpPr>
        <p:spPr>
          <a:xfrm>
            <a:off x="48006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2" name="New shape"/>
          <p:cNvSpPr/>
          <p:nvPr/>
        </p:nvSpPr>
        <p:spPr>
          <a:xfrm>
            <a:off x="4800600" y="2100262"/>
            <a:ext cx="546497"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3" name="New shape"/>
          <p:cNvSpPr txBox="1"/>
          <p:nvPr/>
        </p:nvSpPr>
        <p:spPr>
          <a:xfrm>
            <a:off x="48720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organisation's vision and goals</a:t>
            </a:r>
          </a:p>
        </p:txBody>
      </p:sp>
      <p:sp>
        <p:nvSpPr>
          <p:cNvPr id="54" name="New shape"/>
          <p:cNvSpPr txBox="1"/>
          <p:nvPr/>
        </p:nvSpPr>
        <p:spPr>
          <a:xfrm>
            <a:off x="74616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17%</a:t>
            </a:r>
          </a:p>
        </p:txBody>
      </p:sp>
      <p:pic>
        <p:nvPicPr>
          <p:cNvPr id="55" name="New picture"/>
          <p:cNvPicPr/>
          <p:nvPr/>
        </p:nvPicPr>
        <p:blipFill>
          <a:blip>
            <a:extLst>
              <a:ext uri="{96DAC541-7B7A-43D3-8B79-37D633B846F1}">
                <asvg:svgBlip xmlns:asvg="http://schemas.microsoft.com/office/drawing/2016/SVG/main" r:embed="rId3"/>
              </a:ext>
            </a:extLst>
          </a:blip>
          <a:stretch>
            <a:fillRect/>
          </a:stretch>
        </p:blipFill>
        <p:spPr>
          <a:xfrm>
            <a:off x="8129588" y="2168128"/>
            <a:ext cx="150019" cy="150019"/>
          </a:xfrm>
          <a:prstGeom prst="rect">
            <a:avLst/>
          </a:prstGeom>
        </p:spPr>
      </p:pic>
      <p:sp>
        <p:nvSpPr>
          <p:cNvPr id="56" name="New shape"/>
          <p:cNvSpPr txBox="1"/>
          <p:nvPr/>
        </p:nvSpPr>
        <p:spPr>
          <a:xfrm>
            <a:off x="83510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49</a:t>
            </a:r>
          </a:p>
        </p:txBody>
      </p:sp>
      <p:sp>
        <p:nvSpPr>
          <p:cNvPr id="57" name="New shape"/>
          <p:cNvSpPr/>
          <p:nvPr/>
        </p:nvSpPr>
        <p:spPr>
          <a:xfrm>
            <a:off x="48006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a:off x="4800600" y="2500312"/>
            <a:ext cx="385762"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9" name="New shape"/>
          <p:cNvSpPr txBox="1"/>
          <p:nvPr/>
        </p:nvSpPr>
        <p:spPr>
          <a:xfrm>
            <a:off x="48720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organisation's culture</a:t>
            </a:r>
          </a:p>
        </p:txBody>
      </p:sp>
      <p:sp>
        <p:nvSpPr>
          <p:cNvPr id="60" name="New shape"/>
          <p:cNvSpPr txBox="1"/>
          <p:nvPr/>
        </p:nvSpPr>
        <p:spPr>
          <a:xfrm>
            <a:off x="74616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12%</a:t>
            </a:r>
          </a:p>
        </p:txBody>
      </p:sp>
      <p:pic>
        <p:nvPicPr>
          <p:cNvPr id="61" name="New picture"/>
          <p:cNvPicPr/>
          <p:nvPr/>
        </p:nvPicPr>
        <p:blipFill>
          <a:blip>
            <a:extLst>
              <a:ext uri="{96DAC541-7B7A-43D3-8B79-37D633B846F1}">
                <asvg:svgBlip xmlns:asvg="http://schemas.microsoft.com/office/drawing/2016/SVG/main" r:embed="rId3"/>
              </a:ext>
            </a:extLst>
          </a:blip>
          <a:stretch>
            <a:fillRect/>
          </a:stretch>
        </p:blipFill>
        <p:spPr>
          <a:xfrm>
            <a:off x="8129588" y="2568178"/>
            <a:ext cx="150019" cy="150019"/>
          </a:xfrm>
          <a:prstGeom prst="rect">
            <a:avLst/>
          </a:prstGeom>
        </p:spPr>
      </p:pic>
      <p:sp>
        <p:nvSpPr>
          <p:cNvPr id="62" name="New shape"/>
          <p:cNvSpPr txBox="1"/>
          <p:nvPr/>
        </p:nvSpPr>
        <p:spPr>
          <a:xfrm>
            <a:off x="83510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36</a:t>
            </a:r>
          </a:p>
        </p:txBody>
      </p:sp>
      <p:sp>
        <p:nvSpPr>
          <p:cNvPr id="63" name="New shape"/>
          <p:cNvSpPr/>
          <p:nvPr/>
        </p:nvSpPr>
        <p:spPr>
          <a:xfrm>
            <a:off x="48006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4" name="New shape"/>
          <p:cNvSpPr/>
          <p:nvPr/>
        </p:nvSpPr>
        <p:spPr>
          <a:xfrm>
            <a:off x="4800600" y="2900362"/>
            <a:ext cx="160734"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5" name="New shape"/>
          <p:cNvSpPr txBox="1"/>
          <p:nvPr/>
        </p:nvSpPr>
        <p:spPr>
          <a:xfrm>
            <a:off x="48720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My team's dynamics (atmosphere, trust)</a:t>
            </a:r>
          </a:p>
        </p:txBody>
      </p:sp>
      <p:sp>
        <p:nvSpPr>
          <p:cNvPr id="66" name="New shape"/>
          <p:cNvSpPr txBox="1"/>
          <p:nvPr/>
        </p:nvSpPr>
        <p:spPr>
          <a:xfrm>
            <a:off x="74616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67" name="New picture"/>
          <p:cNvPicPr/>
          <p:nvPr/>
        </p:nvPicPr>
        <p:blipFill>
          <a:blip>
            <a:extLst>
              <a:ext uri="{96DAC541-7B7A-43D3-8B79-37D633B846F1}">
                <asvg:svgBlip xmlns:asvg="http://schemas.microsoft.com/office/drawing/2016/SVG/main" r:embed="rId3"/>
              </a:ext>
            </a:extLst>
          </a:blip>
          <a:stretch>
            <a:fillRect/>
          </a:stretch>
        </p:blipFill>
        <p:spPr>
          <a:xfrm>
            <a:off x="8129588" y="2968228"/>
            <a:ext cx="150019" cy="150019"/>
          </a:xfrm>
          <a:prstGeom prst="rect">
            <a:avLst/>
          </a:prstGeom>
        </p:spPr>
      </p:pic>
      <p:sp>
        <p:nvSpPr>
          <p:cNvPr id="68" name="New shape"/>
          <p:cNvSpPr txBox="1"/>
          <p:nvPr/>
        </p:nvSpPr>
        <p:spPr>
          <a:xfrm>
            <a:off x="83510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sp>
        <p:nvSpPr>
          <p:cNvPr id="69" name="New shape"/>
          <p:cNvSpPr/>
          <p:nvPr/>
        </p:nvSpPr>
        <p:spPr>
          <a:xfrm>
            <a:off x="48006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a:off x="4800600" y="330041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48720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Customer focus within my organisation</a:t>
            </a:r>
          </a:p>
        </p:txBody>
      </p:sp>
      <p:sp>
        <p:nvSpPr>
          <p:cNvPr id="72" name="New shape"/>
          <p:cNvSpPr txBox="1"/>
          <p:nvPr/>
        </p:nvSpPr>
        <p:spPr>
          <a:xfrm>
            <a:off x="74616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73" name="New picture"/>
          <p:cNvPicPr/>
          <p:nvPr/>
        </p:nvPicPr>
        <p:blipFill>
          <a:blip>
            <a:extLst>
              <a:ext uri="{96DAC541-7B7A-43D3-8B79-37D633B846F1}">
                <asvg:svgBlip xmlns:asvg="http://schemas.microsoft.com/office/drawing/2016/SVG/main" r:embed="rId3"/>
              </a:ext>
            </a:extLst>
          </a:blip>
          <a:stretch>
            <a:fillRect/>
          </a:stretch>
        </p:blipFill>
        <p:spPr>
          <a:xfrm>
            <a:off x="8129588" y="3368278"/>
            <a:ext cx="150019" cy="150019"/>
          </a:xfrm>
          <a:prstGeom prst="rect">
            <a:avLst/>
          </a:prstGeom>
        </p:spPr>
      </p:pic>
      <p:sp>
        <p:nvSpPr>
          <p:cNvPr id="74" name="New shape"/>
          <p:cNvSpPr txBox="1"/>
          <p:nvPr/>
        </p:nvSpPr>
        <p:spPr>
          <a:xfrm>
            <a:off x="83510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14</a:t>
            </a:r>
          </a:p>
        </p:txBody>
      </p:sp>
      <p:sp>
        <p:nvSpPr>
          <p:cNvPr id="75" name="New shape"/>
          <p:cNvSpPr/>
          <p:nvPr/>
        </p:nvSpPr>
        <p:spPr>
          <a:xfrm>
            <a:off x="48006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a:off x="4800600" y="3700462"/>
            <a:ext cx="12858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48720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Collaboration within organisation</a:t>
            </a:r>
          </a:p>
        </p:txBody>
      </p:sp>
      <p:sp>
        <p:nvSpPr>
          <p:cNvPr id="78" name="New shape"/>
          <p:cNvSpPr txBox="1"/>
          <p:nvPr/>
        </p:nvSpPr>
        <p:spPr>
          <a:xfrm>
            <a:off x="74616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a:t>
            </a:r>
          </a:p>
        </p:txBody>
      </p:sp>
      <p:pic>
        <p:nvPicPr>
          <p:cNvPr id="79" name="New picture"/>
          <p:cNvPicPr/>
          <p:nvPr/>
        </p:nvPicPr>
        <p:blipFill>
          <a:blip>
            <a:extLst>
              <a:ext uri="{96DAC541-7B7A-43D3-8B79-37D633B846F1}">
                <asvg:svgBlip xmlns:asvg="http://schemas.microsoft.com/office/drawing/2016/SVG/main" r:embed="rId3"/>
              </a:ext>
            </a:extLst>
          </a:blip>
          <a:stretch>
            <a:fillRect/>
          </a:stretch>
        </p:blipFill>
        <p:spPr>
          <a:xfrm>
            <a:off x="8129588" y="3768328"/>
            <a:ext cx="150019" cy="150019"/>
          </a:xfrm>
          <a:prstGeom prst="rect">
            <a:avLst/>
          </a:prstGeom>
        </p:spPr>
      </p:pic>
      <p:sp>
        <p:nvSpPr>
          <p:cNvPr id="80" name="New shape"/>
          <p:cNvSpPr txBox="1"/>
          <p:nvPr/>
        </p:nvSpPr>
        <p:spPr>
          <a:xfrm>
            <a:off x="83510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12</a:t>
            </a:r>
          </a:p>
        </p:txBody>
      </p:sp>
      <p:pic>
        <p:nvPicPr>
          <p:cNvPr id="81"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82" name="New shape"/>
          <p:cNvSpPr txBox="1"/>
          <p:nvPr/>
        </p:nvSpPr>
        <p:spPr>
          <a:xfrm>
            <a:off x="335756"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respondents</a:t>
            </a:r>
          </a:p>
        </p:txBody>
      </p:sp>
      <p:sp>
        <p:nvSpPr>
          <p:cNvPr id="8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83</a:t>
            </a:r>
          </a:p>
        </p:txBody>
      </p:sp>
      <p:sp>
        <p:nvSpPr>
          <p:cNvPr id="84"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8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8" name="New shape"/>
          <p:cNvSpPr txBox="1"/>
          <p:nvPr/>
        </p:nvSpPr>
        <p:spPr>
          <a:xfrm flipV="1">
            <a:off x="0" y="0"/>
            <a:ext cx="1801035"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Topics your employees point out</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8.0.26"/>
  <p:tag name="AS_OS" val="Unix 6.6.138.1"/>
  <p:tag name="AS_RELEASE_DATE" val="2024.12.14"/>
  <p:tag name="AS_TITLE" val="Aspose.Slides for .NET6"/>
  <p:tag name="AS_VERSION" val="24.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3d46c04-fec7-40b9-84af-deef71223aad}" enabled="1" method="Privileged" siteId="{e9792fd7-4044-47e7-a40d-3fba46f1cd09}" contentBits="0" removed="0"/>
</clbl:labelList>
</file>

<file path=docProps/app.xml><?xml version="1.0" encoding="utf-8"?>
<Properties xmlns="http://schemas.openxmlformats.org/officeDocument/2006/extended-properties" xmlns:vt="http://schemas.openxmlformats.org/officeDocument/2006/docPropsVTypes">
  <TotalTime>1</TotalTime>
  <Words>9302</Words>
  <Application>Microsoft Macintosh PowerPoint</Application>
  <PresentationFormat>On-screen Show (16:9)</PresentationFormat>
  <Paragraphs>3348</Paragraphs>
  <Slides>83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83</vt:i4>
      </vt:variant>
    </vt:vector>
  </HeadingPairs>
  <TitlesOfParts>
    <vt:vector size="87" baseType="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Effectory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client-confidential</dc:title>
  <dc:creator>Results dashboard</dc:creator>
  <cp:keywords>client-confidential</cp:keywords>
  <cp:lastModifiedBy>Jente Insing  Effectory</cp:lastModifiedBy>
  <cp:revision>2</cp:revision>
  <cp:lastPrinted>2026-06-26T13:16:00Z</cp:lastPrinted>
  <dcterms:created xsi:type="dcterms:W3CDTF">2026-06-26T13:16:00Z</dcterms:created>
  <dcterms:modified xsi:type="dcterms:W3CDTF">2026-06-30T12:07:14Z</dcterms:modified>
</cp:coreProperties>
</file>