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9" r:id="rId2"/>
    <p:sldId id="262" r:id="rId3"/>
    <p:sldId id="265" r:id="rId4"/>
    <p:sldId id="268" r:id="rId5"/>
    <p:sldId id="271" r:id="rId6"/>
    <p:sldId id="274" r:id="rId7"/>
    <p:sldId id="277" r:id="rId8"/>
    <p:sldId id="280" r:id="rId9"/>
    <p:sldId id="283" r:id="rId10"/>
    <p:sldId id="286" r:id="rId11"/>
    <p:sldId id="289" r:id="rId12"/>
    <p:sldId id="292" r:id="rId13"/>
    <p:sldId id="295" r:id="rId14"/>
    <p:sldId id="298" r:id="rId15"/>
    <p:sldId id="301" r:id="rId16"/>
    <p:sldId id="304" r:id="rId17"/>
    <p:sldId id="307" r:id="rId18"/>
    <p:sldId id="310" r:id="rId19"/>
    <p:sldId id="313" r:id="rId20"/>
    <p:sldId id="316" r:id="rId21"/>
    <p:sldId id="319" r:id="rId22"/>
    <p:sldId id="322" r:id="rId23"/>
    <p:sldId id="331" r:id="rId24"/>
    <p:sldId id="334" r:id="rId25"/>
    <p:sldId id="337" r:id="rId26"/>
    <p:sldId id="340" r:id="rId27"/>
    <p:sldId id="343" r:id="rId28"/>
    <p:sldId id="346" r:id="rId29"/>
    <p:sldId id="349" r:id="rId30"/>
    <p:sldId id="352" r:id="rId31"/>
    <p:sldId id="355" r:id="rId32"/>
    <p:sldId id="358" r:id="rId33"/>
    <p:sldId id="361" r:id="rId34"/>
    <p:sldId id="370" r:id="rId35"/>
    <p:sldId id="373" r:id="rId36"/>
    <p:sldId id="376" r:id="rId37"/>
    <p:sldId id="379" r:id="rId38"/>
    <p:sldId id="382" r:id="rId39"/>
    <p:sldId id="385" r:id="rId40"/>
    <p:sldId id="388" r:id="rId41"/>
    <p:sldId id="391" r:id="rId42"/>
    <p:sldId id="394" r:id="rId43"/>
    <p:sldId id="397" r:id="rId44"/>
    <p:sldId id="400" r:id="rId45"/>
    <p:sldId id="403" r:id="rId46"/>
    <p:sldId id="406" r:id="rId47"/>
    <p:sldId id="409" r:id="rId48"/>
    <p:sldId id="412" r:id="rId49"/>
    <p:sldId id="415" r:id="rId50"/>
    <p:sldId id="418" r:id="rId51"/>
    <p:sldId id="421" r:id="rId52"/>
    <p:sldId id="424" r:id="rId53"/>
    <p:sldId id="427" r:id="rId54"/>
    <p:sldId id="430" r:id="rId55"/>
    <p:sldId id="433" r:id="rId56"/>
    <p:sldId id="436" r:id="rId57"/>
    <p:sldId id="439" r:id="rId58"/>
    <p:sldId id="442" r:id="rId59"/>
    <p:sldId id="445" r:id="rId60"/>
    <p:sldId id="448" r:id="rId61"/>
    <p:sldId id="457" r:id="rId62"/>
    <p:sldId id="451" r:id="rId63"/>
    <p:sldId id="460" r:id="rId64"/>
    <p:sldId id="454" r:id="rId65"/>
    <p:sldId id="463" r:id="rId66"/>
    <p:sldId id="466" r:id="rId67"/>
    <p:sldId id="469" r:id="rId68"/>
    <p:sldId id="472" r:id="rId69"/>
    <p:sldId id="475" r:id="rId70"/>
    <p:sldId id="478" r:id="rId71"/>
    <p:sldId id="481" r:id="rId72"/>
    <p:sldId id="484" r:id="rId73"/>
    <p:sldId id="487" r:id="rId74"/>
    <p:sldId id="490" r:id="rId75"/>
    <p:sldId id="493" r:id="rId76"/>
    <p:sldId id="496" r:id="rId77"/>
    <p:sldId id="499" r:id="rId78"/>
    <p:sldId id="502" r:id="rId79"/>
    <p:sldId id="505" r:id="rId80"/>
    <p:sldId id="508" r:id="rId81"/>
    <p:sldId id="511" r:id="rId82"/>
    <p:sldId id="514" r:id="rId83"/>
    <p:sldId id="517" r:id="rId84"/>
  </p:sldIdLst>
  <p:sldSz cx="9144000" cy="5143500" type="screen16x9"/>
  <p:notesSz cx="6858000" cy="9144000"/>
  <p:embeddedFontLst>
    <p:embeddedFont>
      <p:font typeface="Poppins" pitchFamily="2" charset="77"/>
      <p:regular r:id="rId85"/>
      <p:bold r:id="rId86"/>
      <p:italic r:id="rId87"/>
      <p:boldItalic r:id="rId88"/>
    </p:embeddedFont>
  </p:embeddedFontLst>
  <p:custDataLst>
    <p:tags r:id="rId8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p:restoredTop sz="0"/>
  </p:normalViewPr>
  <p:slideViewPr>
    <p:cSldViewPr>
      <p:cViewPr varScale="1">
        <p:scale>
          <a:sx n="138" d="100"/>
          <a:sy n="138" d="100"/>
        </p:scale>
        <p:origin x="192" y="696"/>
      </p:cViewPr>
      <p:guideLst>
        <p:guide orient="horz" pos="216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gs" Target="tags/tag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1.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4.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3.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E563E4A3-59E4-4F98-92F5-213B6F318EFF}"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4974B014-2F5A-4023-957B-617808F2E3FC}"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511FA0E2-5137-452B-9262-C16CF40F3E45}"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96932221-6AA1-4AFD-AF95-0930365C6500}"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9B4E42CB-2883-4E06-A4F7-60C0E397D0B0}" type="datetimeFigureOut">
              <a:rPr lang="en-US" smtClean="0"/>
              <a:t>6/30/26</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B09E3EAF-7220-49A3-B03C-8CFB60390E4B}" type="datetimeFigureOut">
              <a:rPr lang="en-US" smtClean="0"/>
              <a:t>6/30/26</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E50DAF99-7672-453C-ABF6-A7829B6C4F4A}" type="datetimeFigureOut">
              <a:rPr lang="en-US" smtClean="0"/>
              <a:t>6/30/26</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F2D49485-7999-4878-BA02-7B1FD3C3CB52}"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89B9B700-878B-4A4F-9E40-F47408FB29D8}" type="datetimeFigureOut">
              <a:rPr lang="en-US" smtClean="0"/>
              <a:t>6/30/26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BA268566-3E80-4A5F-A813-CA2F0BFF476F}"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B029349E-C695-41D0-9B04-7277C1D1FA4B}" type="datetimeFigureOut">
              <a:rPr lang="en-US" smtClean="0"/>
              <a:t>6/30/26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6/30/26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49.xml"/><Relationship Id="rId3" Type="http://schemas.openxmlformats.org/officeDocument/2006/relationships/slide" Target="slide3.xml"/><Relationship Id="rId7" Type="http://schemas.openxmlformats.org/officeDocument/2006/relationships/slide" Target="slide3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slide" Target="slide22.xml"/><Relationship Id="rId5" Type="http://schemas.openxmlformats.org/officeDocument/2006/relationships/slide" Target="slide12.xml"/><Relationship Id="rId4" Type="http://schemas.openxmlformats.org/officeDocument/2006/relationships/slide" Target="slide9.xml"/><Relationship Id="rId9" Type="http://schemas.openxmlformats.org/officeDocument/2006/relationships/slide" Target="slide8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2.svg"/><Relationship Id="rId7" Type="http://schemas.openxmlformats.org/officeDocument/2006/relationships/image" Target="../media/image14.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0.svg"/><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3.sv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12.svg"/><Relationship Id="rId7" Type="http://schemas.openxmlformats.org/officeDocument/2006/relationships/image" Target="../media/image9.svg"/><Relationship Id="rId2"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19.svg"/><Relationship Id="rId10" Type="http://schemas.openxmlformats.org/officeDocument/2006/relationships/image" Target="../media/image20.svg"/><Relationship Id="rId4" Type="http://schemas.openxmlformats.org/officeDocument/2006/relationships/image" Target="../media/image18.svg"/><Relationship Id="rId9"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sv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7.svg"/><Relationship Id="rId2" Type="http://schemas.openxmlformats.org/officeDocument/2006/relationships/image" Target="../media/image24.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1.svg"/><Relationship Id="rId4" Type="http://schemas.openxmlformats.org/officeDocument/2006/relationships/image" Target="../media/image26.svg"/></Relationships>
</file>

<file path=ppt/slides/_rels/slide1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17.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7.svg"/><Relationship Id="rId2"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20.svg"/></Relationships>
</file>

<file path=ppt/slides/_rels/slide18.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19.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1.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20.svg"/><Relationship Id="rId4" Type="http://schemas.openxmlformats.org/officeDocument/2006/relationships/image" Target="../media/image11.svg"/></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2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25.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7.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29.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0.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2.svg"/><Relationship Id="rId7" Type="http://schemas.openxmlformats.org/officeDocument/2006/relationships/image" Target="../media/image27.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8.svg"/><Relationship Id="rId4" Type="http://schemas.openxmlformats.org/officeDocument/2006/relationships/image" Target="../media/image8.svg"/></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7.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39.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0.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1.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7.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6.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5.svg"/><Relationship Id="rId4" Type="http://schemas.openxmlformats.org/officeDocument/2006/relationships/image" Target="../media/image28.svg"/></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1.sv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13.svg"/><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1421606"/>
            <a:ext cx="6286500" cy="14401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dirty="0">
                <a:solidFill>
                  <a:srgbClr val="000000"/>
                </a:solidFill>
                <a:latin typeface="Poppins"/>
              </a:rPr>
              <a:t>Die </a:t>
            </a:r>
            <a:r>
              <a:rPr sz="3150" b="1" i="0" dirty="0" err="1">
                <a:solidFill>
                  <a:srgbClr val="000000"/>
                </a:solidFill>
                <a:latin typeface="Poppins"/>
              </a:rPr>
              <a:t>Ergebnisse</a:t>
            </a:r>
            <a:r>
              <a:rPr sz="3150" b="1" i="0" dirty="0">
                <a:solidFill>
                  <a:srgbClr val="000000"/>
                </a:solidFill>
                <a:latin typeface="Poppins"/>
              </a:rPr>
              <a:t> von Your Voice - 2024 (Top 2 Box) für </a:t>
            </a:r>
            <a:r>
              <a:rPr lang="en-US" sz="3150" b="1" i="0" dirty="0">
                <a:solidFill>
                  <a:srgbClr val="000000"/>
                </a:solidFill>
                <a:latin typeface="Poppins"/>
              </a:rPr>
              <a:t>Team IT</a:t>
            </a:r>
            <a:endParaRPr sz="3150" b="1" i="0" dirty="0">
              <a:solidFill>
                <a:srgbClr val="000000"/>
              </a:solidFill>
              <a:latin typeface="Poppins"/>
            </a:endParaRPr>
          </a:p>
        </p:txBody>
      </p:sp>
      <p:sp>
        <p:nvSpPr>
          <p:cNvPr id="4"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Team IT</a:t>
            </a:r>
            <a:endParaRPr sz="788" b="1" i="0" dirty="0">
              <a:solidFill>
                <a:srgbClr val="192743"/>
              </a:solidFill>
              <a:latin typeface="Poppins"/>
            </a:endParaRPr>
          </a:p>
        </p:txBody>
      </p:sp>
      <p:sp>
        <p:nvSpPr>
          <p:cNvPr id="5"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Befragungszeitraum</a:t>
            </a:r>
            <a:r>
              <a:rPr sz="788" b="0" i="0">
                <a:solidFill>
                  <a:srgbClr val="192743"/>
                </a:solidFill>
                <a:latin typeface="Poppins"/>
              </a:rPr>
              <a:t> Mai 03, 2024 - Mai 08, 2024</a:t>
            </a:r>
          </a:p>
        </p:txBody>
      </p:sp>
      <p:sp>
        <p:nvSpPr>
          <p:cNvPr id="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a:t>
            </a:r>
          </a:p>
        </p:txBody>
      </p:sp>
      <p:sp>
        <p:nvSpPr>
          <p:cNvPr id="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New picture"/>
          <p:cNvPicPr/>
          <p:nvPr/>
        </p:nvPicPr>
        <p:blipFill>
          <a:blip r:embed="rId2"/>
          <a:stretch>
            <a:fillRect/>
          </a:stretch>
        </p:blipFill>
        <p:spPr>
          <a:xfrm>
            <a:off x="0" y="0"/>
            <a:ext cx="9144000" cy="5143500"/>
          </a:xfrm>
          <a:prstGeom prst="rect">
            <a:avLst/>
          </a:prstGeom>
        </p:spPr>
      </p:pic>
      <p:sp>
        <p:nvSpPr>
          <p:cNvPr id="3" name="New shape"/>
          <p:cNvSpPr txBox="1"/>
          <p:nvPr/>
        </p:nvSpPr>
        <p:spPr>
          <a:xfrm>
            <a:off x="457200" y="457200"/>
            <a:ext cx="2857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Inhalt</a:t>
            </a:r>
          </a:p>
        </p:txBody>
      </p:sp>
      <p:sp>
        <p:nvSpPr>
          <p:cNvPr id="4" name="New shape"/>
          <p:cNvSpPr txBox="1"/>
          <p:nvPr/>
        </p:nvSpPr>
        <p:spPr>
          <a:xfrm>
            <a:off x="457200" y="125730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5" name="New shape">
            <a:hlinkClick r:id="rId3" action="ppaction://hlinksldjump"/>
          </p:cNvPr>
          <p:cNvSpPr txBox="1"/>
          <p:nvPr/>
        </p:nvSpPr>
        <p:spPr>
          <a:xfrm>
            <a:off x="835819" y="125730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Interpretation der Ergebnisse</a:t>
            </a:r>
          </a:p>
        </p:txBody>
      </p:sp>
      <p:sp>
        <p:nvSpPr>
          <p:cNvPr id="6" name="New shape"/>
          <p:cNvSpPr txBox="1"/>
          <p:nvPr/>
        </p:nvSpPr>
        <p:spPr>
          <a:xfrm>
            <a:off x="457200" y="163449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7" name="New shape">
            <a:hlinkClick r:id="rId4" action="ppaction://hlinksldjump"/>
          </p:cNvPr>
          <p:cNvSpPr txBox="1"/>
          <p:nvPr/>
        </p:nvSpPr>
        <p:spPr>
          <a:xfrm>
            <a:off x="835819" y="163449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Net Promotor Score für Mitarbeitende</a:t>
            </a:r>
          </a:p>
        </p:txBody>
      </p:sp>
      <p:sp>
        <p:nvSpPr>
          <p:cNvPr id="8" name="New shape"/>
          <p:cNvSpPr txBox="1"/>
          <p:nvPr/>
        </p:nvSpPr>
        <p:spPr>
          <a:xfrm>
            <a:off x="457200" y="221742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9" name="New shape">
            <a:hlinkClick r:id="rId5" action="ppaction://hlinksldjump"/>
          </p:cNvPr>
          <p:cNvSpPr txBox="1"/>
          <p:nvPr/>
        </p:nvSpPr>
        <p:spPr>
          <a:xfrm>
            <a:off x="835819" y="221742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Die Leistungsfähigkeit Ihres Unternehmens - Gesamtprofil</a:t>
            </a:r>
          </a:p>
        </p:txBody>
      </p:sp>
      <p:sp>
        <p:nvSpPr>
          <p:cNvPr id="10" name="New shape"/>
          <p:cNvSpPr txBox="1"/>
          <p:nvPr/>
        </p:nvSpPr>
        <p:spPr>
          <a:xfrm>
            <a:off x="457200" y="280035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1" name="New shape">
            <a:hlinkClick r:id="rId6" action="ppaction://hlinksldjump"/>
          </p:cNvPr>
          <p:cNvSpPr txBox="1"/>
          <p:nvPr/>
        </p:nvSpPr>
        <p:spPr>
          <a:xfrm>
            <a:off x="835819" y="280035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Indizes</a:t>
            </a:r>
          </a:p>
        </p:txBody>
      </p:sp>
      <p:sp>
        <p:nvSpPr>
          <p:cNvPr id="12" name="New shape"/>
          <p:cNvSpPr txBox="1"/>
          <p:nvPr/>
        </p:nvSpPr>
        <p:spPr>
          <a:xfrm>
            <a:off x="457200" y="317754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5.</a:t>
            </a:r>
          </a:p>
        </p:txBody>
      </p:sp>
      <p:sp>
        <p:nvSpPr>
          <p:cNvPr id="13" name="New shape">
            <a:hlinkClick r:id="rId7" action="ppaction://hlinksldjump"/>
          </p:cNvPr>
          <p:cNvSpPr txBox="1"/>
          <p:nvPr/>
        </p:nvSpPr>
        <p:spPr>
          <a:xfrm>
            <a:off x="835819" y="3177540"/>
            <a:ext cx="3143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Fragenergebnisse</a:t>
            </a:r>
          </a:p>
        </p:txBody>
      </p:sp>
      <p:sp>
        <p:nvSpPr>
          <p:cNvPr id="14" name="New shape"/>
          <p:cNvSpPr txBox="1"/>
          <p:nvPr/>
        </p:nvSpPr>
        <p:spPr>
          <a:xfrm>
            <a:off x="457200" y="355473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6.</a:t>
            </a:r>
          </a:p>
        </p:txBody>
      </p:sp>
      <p:sp>
        <p:nvSpPr>
          <p:cNvPr id="15" name="New shape">
            <a:hlinkClick r:id="rId8" action="ppaction://hlinksldjump"/>
          </p:cNvPr>
          <p:cNvSpPr txBox="1"/>
          <p:nvPr/>
        </p:nvSpPr>
        <p:spPr>
          <a:xfrm>
            <a:off x="835819" y="355473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Detaillierte Informationen: Gruppenergebnisse</a:t>
            </a:r>
          </a:p>
        </p:txBody>
      </p:sp>
      <p:sp>
        <p:nvSpPr>
          <p:cNvPr id="16" name="New shape"/>
          <p:cNvSpPr txBox="1"/>
          <p:nvPr/>
        </p:nvSpPr>
        <p:spPr>
          <a:xfrm>
            <a:off x="457200" y="4137660"/>
            <a:ext cx="3429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7.</a:t>
            </a:r>
          </a:p>
        </p:txBody>
      </p:sp>
      <p:sp>
        <p:nvSpPr>
          <p:cNvPr id="17" name="New shape">
            <a:hlinkClick r:id="rId9" action="ppaction://hlinksldjump"/>
          </p:cNvPr>
          <p:cNvSpPr txBox="1"/>
          <p:nvPr/>
        </p:nvSpPr>
        <p:spPr>
          <a:xfrm>
            <a:off x="835819" y="4137660"/>
            <a:ext cx="314325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Themen, auf die Ihre Mitarbeitenden hinweisen</a:t>
            </a:r>
          </a:p>
        </p:txBody>
      </p:sp>
      <p:sp>
        <p:nvSpPr>
          <p:cNvPr id="18" name="New shape"/>
          <p:cNvSpPr txBox="1"/>
          <p:nvPr/>
        </p:nvSpPr>
        <p:spPr>
          <a:xfrm>
            <a:off x="114300" y="4750594"/>
            <a:ext cx="5915025" cy="39290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lang="en-US" sz="788" b="1" i="0" dirty="0">
                <a:solidFill>
                  <a:srgbClr val="192743"/>
                </a:solidFill>
                <a:latin typeface="Poppins"/>
              </a:rPr>
              <a:t>Team IT</a:t>
            </a:r>
            <a:endParaRPr sz="788" b="1" i="0" dirty="0">
              <a:solidFill>
                <a:srgbClr val="192743"/>
              </a:solidFill>
              <a:latin typeface="Poppins"/>
            </a:endParaRPr>
          </a:p>
        </p:txBody>
      </p:sp>
      <p:sp>
        <p:nvSpPr>
          <p:cNvPr id="19" name="New shape"/>
          <p:cNvSpPr txBox="1"/>
          <p:nvPr/>
        </p:nvSpPr>
        <p:spPr>
          <a:xfrm>
            <a:off x="4643438" y="4750594"/>
            <a:ext cx="3929062" cy="392906"/>
          </a:xfrm>
          <a:prstGeom prst="rect">
            <a:avLst/>
          </a:prstGeom>
          <a:solidFill>
            <a:srgbClr val="FFFFFF"/>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oAutofit/>
          </a:bodyPr>
          <a:lstStyle/>
          <a:p>
            <a:pPr algn="r">
              <a:lnSpc>
                <a:spcPct val="100000"/>
              </a:lnSpc>
            </a:pPr>
            <a:r>
              <a:rPr sz="788" b="1" i="0">
                <a:solidFill>
                  <a:srgbClr val="192743"/>
                </a:solidFill>
                <a:latin typeface="Poppins"/>
              </a:rPr>
              <a:t>Befragungszeitraum</a:t>
            </a:r>
            <a:r>
              <a:rPr sz="788" b="0" i="0">
                <a:solidFill>
                  <a:srgbClr val="192743"/>
                </a:solidFill>
                <a:latin typeface="Poppins"/>
              </a:rPr>
              <a:t> Mai 03, 2024 - Mai 08, 2024</a:t>
            </a:r>
          </a:p>
        </p:txBody>
      </p:sp>
      <p:sp>
        <p:nvSpPr>
          <p:cNvPr id="2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a:t>
            </a:r>
          </a:p>
        </p:txBody>
      </p:sp>
      <p:sp>
        <p:nvSpPr>
          <p:cNvPr id="2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331720"/>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Interpretation der Ergebnisse</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Die wichtigsten Eckdaten Ihrer Befragung</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635794" y="1921669"/>
            <a:ext cx="7665244" cy="1914525"/>
          </a:xfrm>
          <a:prstGeom prst="rect">
            <a:avLst/>
          </a:prstGeom>
        </p:spPr>
      </p:pic>
      <p:pic>
        <p:nvPicPr>
          <p:cNvPr id="4" name="New picture"/>
          <p:cNvPicPr/>
          <p:nvPr/>
        </p:nvPicPr>
        <p:blipFill>
          <a:blip>
            <a:extLst>
              <a:ext uri="{96DAC541-7B7A-43D3-8B79-37D633B846F1}">
                <asvg:svgBlip xmlns:asvg="http://schemas.microsoft.com/office/drawing/2016/SVG/main" r:embed="rId3"/>
              </a:ext>
            </a:extLst>
          </a:blip>
          <a:stretch>
            <a:fillRect/>
          </a:stretch>
        </p:blipFill>
        <p:spPr>
          <a:xfrm>
            <a:off x="8236744" y="3564731"/>
            <a:ext cx="350044" cy="414338"/>
          </a:xfrm>
          <a:prstGeom prst="rect">
            <a:avLst/>
          </a:prstGeom>
        </p:spPr>
      </p:pic>
      <p:sp>
        <p:nvSpPr>
          <p:cNvPr id="5" name="New shape"/>
          <p:cNvSpPr/>
          <p:nvPr/>
        </p:nvSpPr>
        <p:spPr>
          <a:xfrm>
            <a:off x="528638" y="1707356"/>
            <a:ext cx="550069" cy="550069"/>
          </a:xfrm>
          <a:prstGeom prst="ellipse">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p:nvPr/>
        </p:nvSpPr>
        <p:spPr>
          <a:xfrm>
            <a:off x="700088" y="1871662"/>
            <a:ext cx="214312" cy="214312"/>
          </a:xfrm>
          <a:prstGeom prst="ellipse">
            <a:avLst/>
          </a:prstGeom>
          <a:solidFill>
            <a:srgbClr val="30B3A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14388" y="1128712"/>
            <a:ext cx="215741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Der Beginn Ihrer Listening Journey!</a:t>
            </a:r>
          </a:p>
        </p:txBody>
      </p:sp>
      <p:pic>
        <p:nvPicPr>
          <p:cNvPr id="8" name="New picture"/>
          <p:cNvPicPr/>
          <p:nvPr/>
        </p:nvPicPr>
        <p:blipFill>
          <a:blip>
            <a:extLst>
              <a:ext uri="{96DAC541-7B7A-43D3-8B79-37D633B846F1}">
                <asvg:svgBlip xmlns:asvg="http://schemas.microsoft.com/office/drawing/2016/SVG/main" r:embed="rId4"/>
              </a:ext>
            </a:extLst>
          </a:blip>
          <a:stretch>
            <a:fillRect/>
          </a:stretch>
        </p:blipFill>
        <p:spPr>
          <a:xfrm>
            <a:off x="935831" y="1364456"/>
            <a:ext cx="428625" cy="464344"/>
          </a:xfrm>
          <a:prstGeom prst="rect">
            <a:avLst/>
          </a:prstGeom>
        </p:spPr>
      </p:pic>
      <p:sp>
        <p:nvSpPr>
          <p:cNvPr id="9" name="New shape"/>
          <p:cNvSpPr txBox="1"/>
          <p:nvPr/>
        </p:nvSpPr>
        <p:spPr>
          <a:xfrm>
            <a:off x="6629400" y="3429000"/>
            <a:ext cx="14430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125" b="0" i="0">
                <a:solidFill>
                  <a:srgbClr val="30B3AF"/>
                </a:solidFill>
                <a:latin typeface="Poppins"/>
              </a:rPr>
              <a:t>Sehen wir uns die Ergebnisse an!</a:t>
            </a:r>
          </a:p>
        </p:txBody>
      </p:sp>
      <p:sp>
        <p:nvSpPr>
          <p:cNvPr id="10" name="New shape"/>
          <p:cNvSpPr/>
          <p:nvPr/>
        </p:nvSpPr>
        <p:spPr>
          <a:xfrm>
            <a:off x="2821781" y="1621631"/>
            <a:ext cx="2714625"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2821781" y="1750219"/>
            <a:ext cx="27146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Befragungszeitraum</a:t>
            </a:r>
          </a:p>
        </p:txBody>
      </p:sp>
      <p:sp>
        <p:nvSpPr>
          <p:cNvPr id="12" name="New shape"/>
          <p:cNvSpPr txBox="1"/>
          <p:nvPr/>
        </p:nvSpPr>
        <p:spPr>
          <a:xfrm>
            <a:off x="3186112"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Mai 03, 2024</a:t>
            </a:r>
          </a:p>
        </p:txBody>
      </p:sp>
      <p:sp>
        <p:nvSpPr>
          <p:cNvPr id="13" name="New shape"/>
          <p:cNvSpPr/>
          <p:nvPr/>
        </p:nvSpPr>
        <p:spPr>
          <a:xfrm>
            <a:off x="3989388"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075112" y="2028825"/>
            <a:ext cx="285750" cy="0"/>
          </a:xfrm>
          <a:prstGeom prst="line">
            <a:avLst/>
          </a:prstGeom>
          <a:ln w="12700">
            <a:solidFill>
              <a:srgbClr val="546178"/>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4360862" y="1978819"/>
            <a:ext cx="85725" cy="85725"/>
          </a:xfrm>
          <a:prstGeom prst="ellips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New shape"/>
          <p:cNvSpPr txBox="1"/>
          <p:nvPr/>
        </p:nvSpPr>
        <p:spPr>
          <a:xfrm>
            <a:off x="4510088" y="1964531"/>
            <a:ext cx="600075"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0" i="0">
                <a:solidFill>
                  <a:srgbClr val="546178"/>
                </a:solidFill>
                <a:latin typeface="Poppins"/>
              </a:rPr>
              <a:t>Mai 08, 2024</a:t>
            </a:r>
          </a:p>
        </p:txBody>
      </p:sp>
      <p:sp>
        <p:nvSpPr>
          <p:cNvPr id="17" name="New shape"/>
          <p:cNvSpPr/>
          <p:nvPr/>
        </p:nvSpPr>
        <p:spPr>
          <a:xfrm>
            <a:off x="5822156" y="1621631"/>
            <a:ext cx="2464594" cy="721519"/>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txBox="1"/>
          <p:nvPr/>
        </p:nvSpPr>
        <p:spPr>
          <a:xfrm>
            <a:off x="6250781" y="1785938"/>
            <a:ext cx="571500"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362" b="1" i="0">
                <a:solidFill>
                  <a:srgbClr val="5B8EF5"/>
                </a:solidFill>
                <a:latin typeface="Poppins"/>
              </a:rPr>
              <a:t>42</a:t>
            </a:r>
          </a:p>
        </p:txBody>
      </p:sp>
      <p:sp>
        <p:nvSpPr>
          <p:cNvPr id="19" name="New shape"/>
          <p:cNvSpPr txBox="1"/>
          <p:nvPr/>
        </p:nvSpPr>
        <p:spPr>
          <a:xfrm>
            <a:off x="6893719" y="1821656"/>
            <a:ext cx="92868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900" b="1" i="0">
                <a:solidFill>
                  <a:srgbClr val="192743"/>
                </a:solidFill>
                <a:latin typeface="Poppins"/>
              </a:rPr>
              <a:t>Fragen wurden ingesamt gefragt</a:t>
            </a:r>
          </a:p>
        </p:txBody>
      </p:sp>
      <p:sp>
        <p:nvSpPr>
          <p:cNvPr id="20" name="New shape"/>
          <p:cNvSpPr/>
          <p:nvPr/>
        </p:nvSpPr>
        <p:spPr>
          <a:xfrm>
            <a:off x="807244" y="2950369"/>
            <a:ext cx="3014662" cy="1685925"/>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807244" y="3207544"/>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zu Indizes wie:</a:t>
            </a:r>
          </a:p>
        </p:txBody>
      </p:sp>
      <p:sp>
        <p:nvSpPr>
          <p:cNvPr id="23" name="New shape"/>
          <p:cNvSpPr txBox="1"/>
          <p:nvPr/>
        </p:nvSpPr>
        <p:spPr>
          <a:xfrm>
            <a:off x="1285875" y="3500438"/>
            <a:ext cx="1358869"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Arbeitgeberkompetenz</a:t>
            </a:r>
          </a:p>
        </p:txBody>
      </p:sp>
      <p:sp>
        <p:nvSpPr>
          <p:cNvPr id="25" name="New shape"/>
          <p:cNvSpPr txBox="1"/>
          <p:nvPr/>
        </p:nvSpPr>
        <p:spPr>
          <a:xfrm>
            <a:off x="2716181" y="3500438"/>
            <a:ext cx="815324"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Engagement</a:t>
            </a:r>
          </a:p>
        </p:txBody>
      </p:sp>
      <p:sp>
        <p:nvSpPr>
          <p:cNvPr id="27" name="New shape"/>
          <p:cNvSpPr txBox="1"/>
          <p:nvPr/>
        </p:nvSpPr>
        <p:spPr>
          <a:xfrm>
            <a:off x="1605764" y="3746954"/>
            <a:ext cx="1360472"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Veränderung gestalten</a:t>
            </a:r>
          </a:p>
        </p:txBody>
      </p:sp>
      <p:sp>
        <p:nvSpPr>
          <p:cNvPr id="29" name="New shape"/>
          <p:cNvSpPr txBox="1"/>
          <p:nvPr/>
        </p:nvSpPr>
        <p:spPr>
          <a:xfrm>
            <a:off x="1737241" y="3993471"/>
            <a:ext cx="1097518" cy="189367"/>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63500" tIns="25400" rIns="63500" bIns="25400" rtlCol="0" anchor="ctr">
            <a:spAutoFit/>
          </a:bodyPr>
          <a:lstStyle/>
          <a:p>
            <a:pPr algn="ctr">
              <a:lnSpc>
                <a:spcPct val="100000"/>
              </a:lnSpc>
            </a:pPr>
            <a:r>
              <a:rPr sz="788" b="1" i="0">
                <a:solidFill>
                  <a:srgbClr val="192743"/>
                </a:solidFill>
                <a:latin typeface="Poppins"/>
              </a:rPr>
              <a:t>Mitarbeiter führen</a:t>
            </a:r>
          </a:p>
        </p:txBody>
      </p:sp>
      <p:sp>
        <p:nvSpPr>
          <p:cNvPr id="31" name="New shape"/>
          <p:cNvSpPr txBox="1"/>
          <p:nvPr/>
        </p:nvSpPr>
        <p:spPr>
          <a:xfrm>
            <a:off x="807244" y="4307681"/>
            <a:ext cx="30146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und mehr...</a:t>
            </a:r>
          </a:p>
        </p:txBody>
      </p:sp>
      <p:sp>
        <p:nvSpPr>
          <p:cNvPr id="32" name="New shape"/>
          <p:cNvSpPr/>
          <p:nvPr/>
        </p:nvSpPr>
        <p:spPr>
          <a:xfrm>
            <a:off x="4157662" y="3107531"/>
            <a:ext cx="1707356" cy="1278731"/>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4443412" y="3450431"/>
            <a:ext cx="1135856" cy="36433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2362" b="1" i="0">
                <a:solidFill>
                  <a:srgbClr val="5B8EF5"/>
                </a:solidFill>
                <a:latin typeface="Poppins"/>
              </a:rPr>
              <a:t>80%</a:t>
            </a:r>
          </a:p>
        </p:txBody>
      </p:sp>
      <p:sp>
        <p:nvSpPr>
          <p:cNvPr id="34" name="New shape"/>
          <p:cNvSpPr txBox="1"/>
          <p:nvPr/>
        </p:nvSpPr>
        <p:spPr>
          <a:xfrm>
            <a:off x="4700588" y="3814762"/>
            <a:ext cx="614362"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1012" b="0" i="0">
                <a:solidFill>
                  <a:srgbClr val="1C55C7"/>
                </a:solidFill>
                <a:latin typeface="Poppins"/>
              </a:rPr>
              <a:t>291/365</a:t>
            </a:r>
          </a:p>
        </p:txBody>
      </p:sp>
      <p:sp>
        <p:nvSpPr>
          <p:cNvPr id="35" name="New shape"/>
          <p:cNvSpPr txBox="1"/>
          <p:nvPr/>
        </p:nvSpPr>
        <p:spPr>
          <a:xfrm>
            <a:off x="4507706" y="4014788"/>
            <a:ext cx="100012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900" b="1" i="0">
                <a:solidFill>
                  <a:srgbClr val="192743"/>
                </a:solidFill>
                <a:latin typeface="Poppins"/>
              </a:rPr>
              <a:t>haben teilgenommen!</a:t>
            </a:r>
          </a:p>
        </p:txBody>
      </p:sp>
      <p:sp>
        <p:nvSpPr>
          <p:cNvPr id="3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a:t>
            </a:r>
          </a:p>
        </p:txBody>
      </p:sp>
      <p:pic>
        <p:nvPicPr>
          <p:cNvPr id="37"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39" name="New shape"/>
          <p:cNvSpPr txBox="1"/>
          <p:nvPr/>
        </p:nvSpPr>
        <p:spPr>
          <a:xfrm flipV="1">
            <a:off x="0" y="0"/>
            <a:ext cx="161985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Interpretation der Ergebnisse</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Eine Kurzanleitung:</a:t>
            </a:r>
            <a:r>
              <a:rPr sz="2250" b="1" i="0">
                <a:solidFill>
                  <a:srgbClr val="30B3AF"/>
                </a:solidFill>
                <a:latin typeface="Poppins"/>
              </a:rPr>
              <a:t> Symbole</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Diese Symbole stehen für die möglichen Vergleichsbenchmarks.</a:t>
            </a:r>
          </a:p>
        </p:txBody>
      </p:sp>
      <p:grpSp>
        <p:nvGrpSpPr>
          <p:cNvPr id="4" name="Group 3"/>
          <p:cNvGrpSpPr/>
          <p:nvPr/>
        </p:nvGrpSpPr>
        <p:grpSpPr>
          <a:xfrm>
            <a:off x="457200" y="1368743"/>
            <a:ext cx="3871912" cy="120015"/>
            <a:chOff x="-177800" y="733743"/>
            <a:chExt cx="3871912" cy="120015"/>
          </a:xfrm>
        </p:grpSpPr>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177800" y="742315"/>
              <a:ext cx="85725" cy="102870"/>
            </a:xfrm>
            <a:prstGeom prst="rect">
              <a:avLst/>
            </a:prstGeom>
          </p:spPr>
        </p:pic>
        <p:sp>
          <p:nvSpPr>
            <p:cNvPr id="6" name="New shape"/>
            <p:cNvSpPr txBox="1"/>
            <p:nvPr/>
          </p:nvSpPr>
          <p:spPr>
            <a:xfrm>
              <a:off x="-20638" y="733743"/>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C55C7"/>
                  </a:solidFill>
                  <a:latin typeface="Poppins"/>
                </a:rPr>
                <a:t>Aktuelle Befragung</a:t>
              </a:r>
            </a:p>
          </p:txBody>
        </p:sp>
      </p:grpSp>
      <p:sp>
        <p:nvSpPr>
          <p:cNvPr id="7" name="New shape"/>
          <p:cNvSpPr txBox="1"/>
          <p:nvPr/>
        </p:nvSpPr>
        <p:spPr>
          <a:xfrm>
            <a:off x="457200" y="1520190"/>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C55C7"/>
                </a:solidFill>
                <a:latin typeface="Poppins"/>
              </a:rPr>
              <a:t>Die aktuellen Befragungsergebnisse sind blau markiert und werden mit einem oder mehreren der unten aufgeführten Elemente verglichen.</a:t>
            </a:r>
          </a:p>
        </p:txBody>
      </p:sp>
      <p:grpSp>
        <p:nvGrpSpPr>
          <p:cNvPr id="8" name="Group 7"/>
          <p:cNvGrpSpPr/>
          <p:nvPr/>
        </p:nvGrpSpPr>
        <p:grpSpPr>
          <a:xfrm>
            <a:off x="457200" y="2014538"/>
            <a:ext cx="3876199" cy="120015"/>
            <a:chOff x="-177800" y="1379538"/>
            <a:chExt cx="3876199" cy="120015"/>
          </a:xfrm>
        </p:grpSpPr>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177800" y="1394540"/>
              <a:ext cx="90011" cy="90011"/>
            </a:xfrm>
            <a:prstGeom prst="rect">
              <a:avLst/>
            </a:prstGeom>
          </p:spPr>
        </p:pic>
        <p:sp>
          <p:nvSpPr>
            <p:cNvPr id="10" name="New shape"/>
            <p:cNvSpPr txBox="1"/>
            <p:nvPr/>
          </p:nvSpPr>
          <p:spPr>
            <a:xfrm>
              <a:off x="-16351" y="1379538"/>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Vorherige Befragung</a:t>
              </a:r>
            </a:p>
          </p:txBody>
        </p:sp>
      </p:grpSp>
      <p:sp>
        <p:nvSpPr>
          <p:cNvPr id="11" name="New shape"/>
          <p:cNvSpPr txBox="1"/>
          <p:nvPr/>
        </p:nvSpPr>
        <p:spPr>
          <a:xfrm>
            <a:off x="457200" y="2165985"/>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zeigt die Ergebnisse der vorherigen Befragung an.</a:t>
            </a:r>
          </a:p>
        </p:txBody>
      </p:sp>
      <p:grpSp>
        <p:nvGrpSpPr>
          <p:cNvPr id="12" name="Group 11"/>
          <p:cNvGrpSpPr/>
          <p:nvPr/>
        </p:nvGrpSpPr>
        <p:grpSpPr>
          <a:xfrm>
            <a:off x="457200" y="2540317"/>
            <a:ext cx="3876199" cy="120015"/>
            <a:chOff x="-177800" y="1905317"/>
            <a:chExt cx="3876199" cy="120015"/>
          </a:xfrm>
        </p:grpSpPr>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177800" y="1920319"/>
              <a:ext cx="90011" cy="90011"/>
            </a:xfrm>
            <a:prstGeom prst="rect">
              <a:avLst/>
            </a:prstGeom>
          </p:spPr>
        </p:pic>
        <p:sp>
          <p:nvSpPr>
            <p:cNvPr id="14" name="New shape"/>
            <p:cNvSpPr txBox="1"/>
            <p:nvPr/>
          </p:nvSpPr>
          <p:spPr>
            <a:xfrm>
              <a:off x="-16351" y="1905317"/>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Benchmark</a:t>
              </a:r>
            </a:p>
          </p:txBody>
        </p:sp>
      </p:grpSp>
      <p:sp>
        <p:nvSpPr>
          <p:cNvPr id="15" name="New shape"/>
          <p:cNvSpPr txBox="1"/>
          <p:nvPr/>
        </p:nvSpPr>
        <p:spPr>
          <a:xfrm>
            <a:off x="457200" y="2691765"/>
            <a:ext cx="3714750"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vergleicht die aktuellen Ergebnisse mit denen Ihrer ausgewählten Benchmark, welche branchenspezifisch, landesspezifisch oder benutzerdefiniert sein kann.</a:t>
            </a:r>
          </a:p>
        </p:txBody>
      </p:sp>
      <p:grpSp>
        <p:nvGrpSpPr>
          <p:cNvPr id="16" name="Group 15"/>
          <p:cNvGrpSpPr/>
          <p:nvPr/>
        </p:nvGrpSpPr>
        <p:grpSpPr>
          <a:xfrm>
            <a:off x="457200" y="3306127"/>
            <a:ext cx="3876199" cy="120015"/>
            <a:chOff x="-177800" y="2671127"/>
            <a:chExt cx="3876199" cy="120015"/>
          </a:xfrm>
        </p:grpSpPr>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177800" y="2686130"/>
              <a:ext cx="90011" cy="90011"/>
            </a:xfrm>
            <a:prstGeom prst="rect">
              <a:avLst/>
            </a:prstGeom>
          </p:spPr>
        </p:pic>
        <p:sp>
          <p:nvSpPr>
            <p:cNvPr id="18" name="New shape"/>
            <p:cNvSpPr txBox="1"/>
            <p:nvPr/>
          </p:nvSpPr>
          <p:spPr>
            <a:xfrm>
              <a:off x="-16351" y="2671127"/>
              <a:ext cx="37147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Top-3-Benchmark</a:t>
              </a:r>
            </a:p>
          </p:txBody>
        </p:sp>
      </p:grpSp>
      <p:sp>
        <p:nvSpPr>
          <p:cNvPr id="19" name="New shape"/>
          <p:cNvSpPr txBox="1"/>
          <p:nvPr/>
        </p:nvSpPr>
        <p:spPr>
          <a:xfrm>
            <a:off x="457200" y="345757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zeigt die Ergebnisse der drei leistungsstärksten Unternehmen in Ihrer ausgewählten Benchmark an.</a:t>
            </a:r>
          </a:p>
        </p:txBody>
      </p:sp>
      <p:sp>
        <p:nvSpPr>
          <p:cNvPr id="2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a:t>
            </a:r>
          </a:p>
        </p:txBody>
      </p:sp>
      <p:pic>
        <p:nvPicPr>
          <p:cNvPr id="21"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23" name="New shape"/>
          <p:cNvSpPr txBox="1"/>
          <p:nvPr/>
        </p:nvSpPr>
        <p:spPr>
          <a:xfrm flipV="1">
            <a:off x="0" y="0"/>
            <a:ext cx="161985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Interpretation der Ergebnisse</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Beteiligungsquote und Vergleich</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Ihre insgesamte Beteiligungsquote im Vergleich zu vorherigen Befragungen und zu der Benchmark</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Aktuell</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413105"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571500" y="1798082"/>
            <a:ext cx="150019" cy="150019"/>
          </a:xfrm>
          <a:prstGeom prst="rect">
            <a:avLst/>
          </a:prstGeom>
        </p:spPr>
      </p:pic>
      <p:sp>
        <p:nvSpPr>
          <p:cNvPr id="14" name="New shape"/>
          <p:cNvSpPr txBox="1"/>
          <p:nvPr/>
        </p:nvSpPr>
        <p:spPr>
          <a:xfrm>
            <a:off x="792956"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Vorherige Befragung</a:t>
            </a:r>
          </a:p>
        </p:txBody>
      </p:sp>
      <p:sp>
        <p:nvSpPr>
          <p:cNvPr id="15"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73%</a:t>
            </a:r>
          </a:p>
        </p:txBody>
      </p:sp>
      <p:pic>
        <p:nvPicPr>
          <p:cNvPr id="16"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7"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268</a:t>
            </a:r>
          </a:p>
        </p:txBody>
      </p:sp>
      <p:sp>
        <p:nvSpPr>
          <p:cNvPr id="18"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457200" y="2144554"/>
            <a:ext cx="5338953" cy="314325"/>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5"/>
              </a:ext>
            </a:extLst>
          </a:blip>
          <a:stretch>
            <a:fillRect/>
          </a:stretch>
        </p:blipFill>
        <p:spPr>
          <a:xfrm>
            <a:off x="571500" y="2226707"/>
            <a:ext cx="150019" cy="150019"/>
          </a:xfrm>
          <a:prstGeom prst="rect">
            <a:avLst/>
          </a:prstGeom>
        </p:spPr>
      </p:pic>
      <p:sp>
        <p:nvSpPr>
          <p:cNvPr id="21" name="New shape"/>
          <p:cNvSpPr txBox="1"/>
          <p:nvPr/>
        </p:nvSpPr>
        <p:spPr>
          <a:xfrm>
            <a:off x="792956"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22"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72%</a:t>
            </a:r>
          </a:p>
        </p:txBody>
      </p:sp>
      <p:pic>
        <p:nvPicPr>
          <p:cNvPr id="23" name="New picture"/>
          <p:cNvPicPr/>
          <p:nvPr/>
        </p:nvPicPr>
        <p:blipFill>
          <a:blip>
            <a:extLst>
              <a:ext uri="{96DAC541-7B7A-43D3-8B79-37D633B846F1}">
                <asvg:svgBlip xmlns:asvg="http://schemas.microsoft.com/office/drawing/2016/SVG/main" r:embed="rId6"/>
              </a:ext>
            </a:extLst>
          </a:blip>
          <a:stretch>
            <a:fillRect/>
          </a:stretch>
        </p:blipFill>
        <p:spPr>
          <a:xfrm>
            <a:off x="114300" y="4882753"/>
            <a:ext cx="150019" cy="150019"/>
          </a:xfrm>
          <a:prstGeom prst="rect">
            <a:avLst/>
          </a:prstGeom>
        </p:spPr>
      </p:pic>
      <p:sp>
        <p:nvSpPr>
          <p:cNvPr id="24"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pic>
        <p:nvPicPr>
          <p:cNvPr id="25" name="New picture"/>
          <p:cNvPicPr/>
          <p:nvPr/>
        </p:nvPicPr>
        <p:blipFill>
          <a:blip>
            <a:extLst>
              <a:ext uri="{96DAC541-7B7A-43D3-8B79-37D633B846F1}">
                <asvg:svgBlip xmlns:asvg="http://schemas.microsoft.com/office/drawing/2016/SVG/main" r:embed="rId7"/>
              </a:ext>
            </a:extLst>
          </a:blip>
          <a:stretch>
            <a:fillRect/>
          </a:stretch>
        </p:blipFill>
        <p:spPr>
          <a:xfrm>
            <a:off x="968693" y="4897041"/>
            <a:ext cx="114300" cy="121444"/>
          </a:xfrm>
          <a:prstGeom prst="rect">
            <a:avLst/>
          </a:prstGeom>
        </p:spPr>
      </p:pic>
      <p:sp>
        <p:nvSpPr>
          <p:cNvPr id="26" name="New shape"/>
          <p:cNvSpPr txBox="1"/>
          <p:nvPr/>
        </p:nvSpPr>
        <p:spPr>
          <a:xfrm>
            <a:off x="115443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Beteiligungsquote zu niedrig</a:t>
            </a:r>
          </a:p>
        </p:txBody>
      </p:sp>
      <p:sp>
        <p:nvSpPr>
          <p:cNvPr id="27"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a:t>
            </a:r>
          </a:p>
        </p:txBody>
      </p:sp>
      <p:sp>
        <p:nvSpPr>
          <p:cNvPr id="28"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3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2" name="New shape"/>
          <p:cNvSpPr txBox="1"/>
          <p:nvPr/>
        </p:nvSpPr>
        <p:spPr>
          <a:xfrm flipV="1">
            <a:off x="0" y="0"/>
            <a:ext cx="161985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Interpretation der Ergebnisse</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Beteiligungsquote pro Befragungsgruppe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Erfahren Sie, wie viele Mitarbeitende die Befragung in all Ihren Befragungsgruppen abgeschlossen haben.</a:t>
            </a:r>
          </a:p>
        </p:txBody>
      </p:sp>
      <p:sp>
        <p:nvSpPr>
          <p:cNvPr id="4" name="New shape"/>
          <p:cNvSpPr/>
          <p:nvPr/>
        </p:nvSpPr>
        <p:spPr>
          <a:xfrm>
            <a:off x="457200" y="1201579"/>
            <a:ext cx="7415212" cy="400050"/>
          </a:xfrm>
          <a:prstGeom prst="round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p:nvPr/>
        </p:nvSpPr>
        <p:spPr>
          <a:xfrm>
            <a:off x="457200" y="1201579"/>
            <a:ext cx="5932170" cy="4000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571500" y="1315879"/>
            <a:ext cx="142875" cy="171450"/>
          </a:xfrm>
          <a:prstGeom prst="rect">
            <a:avLst/>
          </a:prstGeom>
        </p:spPr>
      </p:pic>
      <p:sp>
        <p:nvSpPr>
          <p:cNvPr id="7" name="New shape"/>
          <p:cNvSpPr txBox="1"/>
          <p:nvPr/>
        </p:nvSpPr>
        <p:spPr>
          <a:xfrm>
            <a:off x="785812" y="1201579"/>
            <a:ext cx="593217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Aktuell</a:t>
            </a:r>
          </a:p>
        </p:txBody>
      </p:sp>
      <p:sp>
        <p:nvSpPr>
          <p:cNvPr id="8" name="New shape"/>
          <p:cNvSpPr txBox="1"/>
          <p:nvPr/>
        </p:nvSpPr>
        <p:spPr>
          <a:xfrm>
            <a:off x="6645831"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80%</a:t>
            </a: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7986712" y="1326594"/>
            <a:ext cx="150019" cy="150019"/>
          </a:xfrm>
          <a:prstGeom prst="rect">
            <a:avLst/>
          </a:prstGeom>
        </p:spPr>
      </p:pic>
      <p:sp>
        <p:nvSpPr>
          <p:cNvPr id="10" name="New shape"/>
          <p:cNvSpPr txBox="1"/>
          <p:nvPr/>
        </p:nvSpPr>
        <p:spPr>
          <a:xfrm>
            <a:off x="8208169" y="1201579"/>
            <a:ext cx="1112282"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291</a:t>
            </a:r>
          </a:p>
        </p:txBody>
      </p:sp>
      <p:sp>
        <p:nvSpPr>
          <p:cNvPr id="11" name="New shape"/>
          <p:cNvSpPr/>
          <p:nvPr/>
        </p:nvSpPr>
        <p:spPr>
          <a:xfrm>
            <a:off x="457200" y="17159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p:nvPr/>
        </p:nvSpPr>
        <p:spPr>
          <a:xfrm>
            <a:off x="457200" y="1715929"/>
            <a:ext cx="5042345"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571500" y="17159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Communication</a:t>
            </a:r>
          </a:p>
        </p:txBody>
      </p:sp>
      <p:sp>
        <p:nvSpPr>
          <p:cNvPr id="14" name="New shape"/>
          <p:cNvSpPr txBox="1"/>
          <p:nvPr/>
        </p:nvSpPr>
        <p:spPr>
          <a:xfrm>
            <a:off x="6645831"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68%</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7986712" y="1798082"/>
            <a:ext cx="150019" cy="150019"/>
          </a:xfrm>
          <a:prstGeom prst="rect">
            <a:avLst/>
          </a:prstGeom>
        </p:spPr>
      </p:pic>
      <p:sp>
        <p:nvSpPr>
          <p:cNvPr id="16" name="New shape"/>
          <p:cNvSpPr txBox="1"/>
          <p:nvPr/>
        </p:nvSpPr>
        <p:spPr>
          <a:xfrm>
            <a:off x="8208169" y="17159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17" name="New shape"/>
          <p:cNvSpPr/>
          <p:nvPr/>
        </p:nvSpPr>
        <p:spPr>
          <a:xfrm>
            <a:off x="457200" y="21445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457200" y="2144554"/>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txBox="1"/>
          <p:nvPr/>
        </p:nvSpPr>
        <p:spPr>
          <a:xfrm>
            <a:off x="571500" y="21445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Customer Success</a:t>
            </a:r>
          </a:p>
        </p:txBody>
      </p:sp>
      <p:sp>
        <p:nvSpPr>
          <p:cNvPr id="20" name="New shape"/>
          <p:cNvSpPr txBox="1"/>
          <p:nvPr/>
        </p:nvSpPr>
        <p:spPr>
          <a:xfrm>
            <a:off x="6645831"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1" name="New picture"/>
          <p:cNvPicPr/>
          <p:nvPr/>
        </p:nvPicPr>
        <p:blipFill>
          <a:blip>
            <a:extLst>
              <a:ext uri="{96DAC541-7B7A-43D3-8B79-37D633B846F1}">
                <asvg:svgBlip xmlns:asvg="http://schemas.microsoft.com/office/drawing/2016/SVG/main" r:embed="rId3"/>
              </a:ext>
            </a:extLst>
          </a:blip>
          <a:stretch>
            <a:fillRect/>
          </a:stretch>
        </p:blipFill>
        <p:spPr>
          <a:xfrm>
            <a:off x="7986712" y="2226707"/>
            <a:ext cx="150019" cy="150019"/>
          </a:xfrm>
          <a:prstGeom prst="rect">
            <a:avLst/>
          </a:prstGeom>
        </p:spPr>
      </p:pic>
      <p:sp>
        <p:nvSpPr>
          <p:cNvPr id="22" name="New shape"/>
          <p:cNvSpPr txBox="1"/>
          <p:nvPr/>
        </p:nvSpPr>
        <p:spPr>
          <a:xfrm>
            <a:off x="8208169" y="21445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112</a:t>
            </a:r>
          </a:p>
        </p:txBody>
      </p:sp>
      <p:sp>
        <p:nvSpPr>
          <p:cNvPr id="23" name="New shape"/>
          <p:cNvSpPr/>
          <p:nvPr/>
        </p:nvSpPr>
        <p:spPr>
          <a:xfrm>
            <a:off x="457200" y="25731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4" name="New shape"/>
          <p:cNvSpPr/>
          <p:nvPr/>
        </p:nvSpPr>
        <p:spPr>
          <a:xfrm>
            <a:off x="457200" y="2573179"/>
            <a:ext cx="5858018"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New shape"/>
          <p:cNvSpPr txBox="1"/>
          <p:nvPr/>
        </p:nvSpPr>
        <p:spPr>
          <a:xfrm>
            <a:off x="571500" y="25731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Finance</a:t>
            </a:r>
          </a:p>
        </p:txBody>
      </p:sp>
      <p:sp>
        <p:nvSpPr>
          <p:cNvPr id="26" name="New shape"/>
          <p:cNvSpPr txBox="1"/>
          <p:nvPr/>
        </p:nvSpPr>
        <p:spPr>
          <a:xfrm>
            <a:off x="6645831"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79%</a:t>
            </a:r>
          </a:p>
        </p:txBody>
      </p:sp>
      <p:pic>
        <p:nvPicPr>
          <p:cNvPr id="27" name="New picture"/>
          <p:cNvPicPr/>
          <p:nvPr/>
        </p:nvPicPr>
        <p:blipFill>
          <a:blip>
            <a:extLst>
              <a:ext uri="{96DAC541-7B7A-43D3-8B79-37D633B846F1}">
                <asvg:svgBlip xmlns:asvg="http://schemas.microsoft.com/office/drawing/2016/SVG/main" r:embed="rId3"/>
              </a:ext>
            </a:extLst>
          </a:blip>
          <a:stretch>
            <a:fillRect/>
          </a:stretch>
        </p:blipFill>
        <p:spPr>
          <a:xfrm>
            <a:off x="7986712" y="2655332"/>
            <a:ext cx="150019" cy="150019"/>
          </a:xfrm>
          <a:prstGeom prst="rect">
            <a:avLst/>
          </a:prstGeom>
        </p:spPr>
      </p:pic>
      <p:sp>
        <p:nvSpPr>
          <p:cNvPr id="28" name="New shape"/>
          <p:cNvSpPr txBox="1"/>
          <p:nvPr/>
        </p:nvSpPr>
        <p:spPr>
          <a:xfrm>
            <a:off x="8208169" y="25731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29" name="New shape"/>
          <p:cNvSpPr/>
          <p:nvPr/>
        </p:nvSpPr>
        <p:spPr>
          <a:xfrm>
            <a:off x="457200" y="300180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0" name="New shape"/>
          <p:cNvSpPr/>
          <p:nvPr/>
        </p:nvSpPr>
        <p:spPr>
          <a:xfrm>
            <a:off x="457200" y="3001804"/>
            <a:ext cx="570971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txBox="1"/>
          <p:nvPr/>
        </p:nvSpPr>
        <p:spPr>
          <a:xfrm>
            <a:off x="571500" y="300180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Human Resources</a:t>
            </a:r>
          </a:p>
        </p:txBody>
      </p:sp>
      <p:sp>
        <p:nvSpPr>
          <p:cNvPr id="32" name="New shape"/>
          <p:cNvSpPr txBox="1"/>
          <p:nvPr/>
        </p:nvSpPr>
        <p:spPr>
          <a:xfrm>
            <a:off x="6645831"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77%</a:t>
            </a:r>
          </a:p>
        </p:txBody>
      </p:sp>
      <p:pic>
        <p:nvPicPr>
          <p:cNvPr id="33" name="New picture"/>
          <p:cNvPicPr/>
          <p:nvPr/>
        </p:nvPicPr>
        <p:blipFill>
          <a:blip>
            <a:extLst>
              <a:ext uri="{96DAC541-7B7A-43D3-8B79-37D633B846F1}">
                <asvg:svgBlip xmlns:asvg="http://schemas.microsoft.com/office/drawing/2016/SVG/main" r:embed="rId3"/>
              </a:ext>
            </a:extLst>
          </a:blip>
          <a:stretch>
            <a:fillRect/>
          </a:stretch>
        </p:blipFill>
        <p:spPr>
          <a:xfrm>
            <a:off x="7986712" y="3083957"/>
            <a:ext cx="150019" cy="150019"/>
          </a:xfrm>
          <a:prstGeom prst="rect">
            <a:avLst/>
          </a:prstGeom>
        </p:spPr>
      </p:pic>
      <p:sp>
        <p:nvSpPr>
          <p:cNvPr id="34" name="New shape"/>
          <p:cNvSpPr txBox="1"/>
          <p:nvPr/>
        </p:nvSpPr>
        <p:spPr>
          <a:xfrm>
            <a:off x="8208169" y="300180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17</a:t>
            </a:r>
          </a:p>
        </p:txBody>
      </p:sp>
      <p:sp>
        <p:nvSpPr>
          <p:cNvPr id="35" name="New shape"/>
          <p:cNvSpPr/>
          <p:nvPr/>
        </p:nvSpPr>
        <p:spPr>
          <a:xfrm>
            <a:off x="457200" y="343042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txBox="1"/>
          <p:nvPr/>
        </p:nvSpPr>
        <p:spPr>
          <a:xfrm>
            <a:off x="571500" y="343042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Management</a:t>
            </a:r>
          </a:p>
        </p:txBody>
      </p:sp>
      <p:sp>
        <p:nvSpPr>
          <p:cNvPr id="37" name="New shape"/>
          <p:cNvSpPr/>
          <p:nvPr/>
        </p:nvSpPr>
        <p:spPr>
          <a:xfrm>
            <a:off x="6645831"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endParaRPr sz="788" b="0" i="0">
              <a:solidFill>
                <a:srgbClr val="546178"/>
              </a:solidFill>
              <a:latin typeface="Poppins"/>
            </a:endParaRPr>
          </a:p>
        </p:txBody>
      </p:sp>
      <p:pic>
        <p:nvPicPr>
          <p:cNvPr id="38" name="New picture"/>
          <p:cNvPicPr/>
          <p:nvPr/>
        </p:nvPicPr>
        <p:blipFill>
          <a:blip>
            <a:extLst>
              <a:ext uri="{96DAC541-7B7A-43D3-8B79-37D633B846F1}">
                <asvg:svgBlip xmlns:asvg="http://schemas.microsoft.com/office/drawing/2016/SVG/main" r:embed="rId4"/>
              </a:ext>
            </a:extLst>
          </a:blip>
          <a:stretch>
            <a:fillRect/>
          </a:stretch>
        </p:blipFill>
        <p:spPr>
          <a:xfrm>
            <a:off x="7986712" y="3526870"/>
            <a:ext cx="114300" cy="121444"/>
          </a:xfrm>
          <a:prstGeom prst="rect">
            <a:avLst/>
          </a:prstGeom>
        </p:spPr>
      </p:pic>
      <p:sp>
        <p:nvSpPr>
          <p:cNvPr id="39" name="New shape"/>
          <p:cNvSpPr/>
          <p:nvPr/>
        </p:nvSpPr>
        <p:spPr>
          <a:xfrm>
            <a:off x="8172450" y="343042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endParaRPr sz="788" b="0" i="0">
              <a:solidFill>
                <a:srgbClr val="546178"/>
              </a:solidFill>
              <a:latin typeface="Poppins"/>
            </a:endParaRPr>
          </a:p>
        </p:txBody>
      </p:sp>
      <p:sp>
        <p:nvSpPr>
          <p:cNvPr id="40" name="New shape"/>
          <p:cNvSpPr/>
          <p:nvPr/>
        </p:nvSpPr>
        <p:spPr>
          <a:xfrm>
            <a:off x="457200" y="3859054"/>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 y="3859054"/>
            <a:ext cx="6377083"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571500" y="3859054"/>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Marketing &amp; Sales</a:t>
            </a:r>
          </a:p>
        </p:txBody>
      </p:sp>
      <p:sp>
        <p:nvSpPr>
          <p:cNvPr id="43" name="New shape"/>
          <p:cNvSpPr txBox="1"/>
          <p:nvPr/>
        </p:nvSpPr>
        <p:spPr>
          <a:xfrm>
            <a:off x="6645831"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86%</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7986712" y="3941207"/>
            <a:ext cx="150019" cy="150019"/>
          </a:xfrm>
          <a:prstGeom prst="rect">
            <a:avLst/>
          </a:prstGeom>
        </p:spPr>
      </p:pic>
      <p:sp>
        <p:nvSpPr>
          <p:cNvPr id="45" name="New shape"/>
          <p:cNvSpPr txBox="1"/>
          <p:nvPr/>
        </p:nvSpPr>
        <p:spPr>
          <a:xfrm>
            <a:off x="8208169" y="3859054"/>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30</a:t>
            </a:r>
          </a:p>
        </p:txBody>
      </p:sp>
      <p:sp>
        <p:nvSpPr>
          <p:cNvPr id="46" name="New shape"/>
          <p:cNvSpPr/>
          <p:nvPr/>
        </p:nvSpPr>
        <p:spPr>
          <a:xfrm>
            <a:off x="457200" y="4287679"/>
            <a:ext cx="7415212" cy="314325"/>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p:nvPr/>
        </p:nvSpPr>
        <p:spPr>
          <a:xfrm>
            <a:off x="457200" y="4287679"/>
            <a:ext cx="6080474" cy="314325"/>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8" name="New shape"/>
          <p:cNvSpPr txBox="1"/>
          <p:nvPr/>
        </p:nvSpPr>
        <p:spPr>
          <a:xfrm>
            <a:off x="571500" y="4287679"/>
            <a:ext cx="5932170"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Product &amp; Development</a:t>
            </a:r>
          </a:p>
        </p:txBody>
      </p:sp>
      <p:sp>
        <p:nvSpPr>
          <p:cNvPr id="49" name="New shape"/>
          <p:cNvSpPr txBox="1"/>
          <p:nvPr/>
        </p:nvSpPr>
        <p:spPr>
          <a:xfrm>
            <a:off x="6645831"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82%</a:t>
            </a:r>
          </a:p>
        </p:txBody>
      </p:sp>
      <p:pic>
        <p:nvPicPr>
          <p:cNvPr id="50" name="New picture"/>
          <p:cNvPicPr/>
          <p:nvPr/>
        </p:nvPicPr>
        <p:blipFill>
          <a:blip>
            <a:extLst>
              <a:ext uri="{96DAC541-7B7A-43D3-8B79-37D633B846F1}">
                <asvg:svgBlip xmlns:asvg="http://schemas.microsoft.com/office/drawing/2016/SVG/main" r:embed="rId3"/>
              </a:ext>
            </a:extLst>
          </a:blip>
          <a:stretch>
            <a:fillRect/>
          </a:stretch>
        </p:blipFill>
        <p:spPr>
          <a:xfrm>
            <a:off x="7986712" y="4369832"/>
            <a:ext cx="150019" cy="150019"/>
          </a:xfrm>
          <a:prstGeom prst="rect">
            <a:avLst/>
          </a:prstGeom>
        </p:spPr>
      </p:pic>
      <p:sp>
        <p:nvSpPr>
          <p:cNvPr id="51" name="New shape"/>
          <p:cNvSpPr txBox="1"/>
          <p:nvPr/>
        </p:nvSpPr>
        <p:spPr>
          <a:xfrm>
            <a:off x="8208169" y="4287679"/>
            <a:ext cx="1112282" cy="31432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81</a:t>
            </a:r>
          </a:p>
        </p:txBody>
      </p:sp>
      <p:pic>
        <p:nvPicPr>
          <p:cNvPr id="52"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53"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pic>
        <p:nvPicPr>
          <p:cNvPr id="54" name="New picture"/>
          <p:cNvPicPr/>
          <p:nvPr/>
        </p:nvPicPr>
        <p:blipFill>
          <a:blip>
            <a:extLst>
              <a:ext uri="{96DAC541-7B7A-43D3-8B79-37D633B846F1}">
                <asvg:svgBlip xmlns:asvg="http://schemas.microsoft.com/office/drawing/2016/SVG/main" r:embed="rId4"/>
              </a:ext>
            </a:extLst>
          </a:blip>
          <a:stretch>
            <a:fillRect/>
          </a:stretch>
        </p:blipFill>
        <p:spPr>
          <a:xfrm>
            <a:off x="968693" y="4897041"/>
            <a:ext cx="114300" cy="121444"/>
          </a:xfrm>
          <a:prstGeom prst="rect">
            <a:avLst/>
          </a:prstGeom>
        </p:spPr>
      </p:pic>
      <p:sp>
        <p:nvSpPr>
          <p:cNvPr id="55" name="New shape"/>
          <p:cNvSpPr txBox="1"/>
          <p:nvPr/>
        </p:nvSpPr>
        <p:spPr>
          <a:xfrm>
            <a:off x="115443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Beteiligungsquote zu niedrig</a:t>
            </a:r>
          </a:p>
        </p:txBody>
      </p:sp>
      <p:sp>
        <p:nvSpPr>
          <p:cNvPr id="5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a:t>
            </a:r>
          </a:p>
        </p:txBody>
      </p:sp>
      <p:sp>
        <p:nvSpPr>
          <p:cNvPr id="5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8"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59"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1" name="New shape"/>
          <p:cNvSpPr txBox="1"/>
          <p:nvPr/>
        </p:nvSpPr>
        <p:spPr>
          <a:xfrm flipV="1">
            <a:off x="0" y="0"/>
            <a:ext cx="161985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Interpretation der Ergebnisse</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Auffällige Fragen</a:t>
            </a:r>
          </a:p>
        </p:txBody>
      </p:sp>
      <p:pic>
        <p:nvPicPr>
          <p:cNvPr id="3" name="New picture"/>
          <p:cNvPicPr/>
          <p:nvPr/>
        </p:nvPicPr>
        <p:blipFill>
          <a:blip>
            <a:extLst>
              <a:ext uri="{96DAC541-7B7A-43D3-8B79-37D633B846F1}">
                <asvg:svgBlip xmlns:asvg="http://schemas.microsoft.com/office/drawing/2016/SVG/main" r:embed="rId2"/>
              </a:ext>
            </a:extLst>
          </a:blip>
          <a:stretch>
            <a:fillRect/>
          </a:stretch>
        </p:blipFill>
        <p:spPr>
          <a:xfrm>
            <a:off x="457200" y="1114425"/>
            <a:ext cx="285750" cy="285750"/>
          </a:xfrm>
          <a:prstGeom prst="rect">
            <a:avLst/>
          </a:prstGeom>
        </p:spPr>
      </p:pic>
      <p:sp>
        <p:nvSpPr>
          <p:cNvPr id="4" name="New shape"/>
          <p:cNvSpPr txBox="1"/>
          <p:nvPr/>
        </p:nvSpPr>
        <p:spPr>
          <a:xfrm>
            <a:off x="814388" y="1114425"/>
            <a:ext cx="307181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1350" b="0" i="0">
                <a:solidFill>
                  <a:srgbClr val="000000"/>
                </a:solidFill>
                <a:latin typeface="Poppins"/>
              </a:rPr>
              <a:t>Höchste Ergebnisse</a:t>
            </a:r>
          </a:p>
        </p:txBody>
      </p:sp>
      <p:pic>
        <p:nvPicPr>
          <p:cNvPr id="5" name="New picture"/>
          <p:cNvPicPr/>
          <p:nvPr/>
        </p:nvPicPr>
        <p:blipFill>
          <a:blip>
            <a:extLst>
              <a:ext uri="{96DAC541-7B7A-43D3-8B79-37D633B846F1}">
                <asvg:svgBlip xmlns:asvg="http://schemas.microsoft.com/office/drawing/2016/SVG/main" r:embed="rId3"/>
              </a:ext>
            </a:extLst>
          </a:blip>
          <a:stretch>
            <a:fillRect/>
          </a:stretch>
        </p:blipFill>
        <p:spPr>
          <a:xfrm>
            <a:off x="4864894" y="1114425"/>
            <a:ext cx="285750" cy="285750"/>
          </a:xfrm>
          <a:prstGeom prst="rect">
            <a:avLst/>
          </a:prstGeom>
        </p:spPr>
      </p:pic>
      <p:sp>
        <p:nvSpPr>
          <p:cNvPr id="6" name="New shape"/>
          <p:cNvSpPr txBox="1"/>
          <p:nvPr/>
        </p:nvSpPr>
        <p:spPr>
          <a:xfrm>
            <a:off x="5222081" y="1114425"/>
            <a:ext cx="307181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1350" b="0" i="0">
                <a:solidFill>
                  <a:srgbClr val="000000"/>
                </a:solidFill>
                <a:latin typeface="Poppins"/>
              </a:rPr>
              <a:t>Niedrigste Ergebnisse</a:t>
            </a:r>
          </a:p>
        </p:txBody>
      </p:sp>
      <p:sp>
        <p:nvSpPr>
          <p:cNvPr id="7" name="New shape"/>
          <p:cNvSpPr txBox="1"/>
          <p:nvPr/>
        </p:nvSpPr>
        <p:spPr>
          <a:xfrm>
            <a:off x="457200" y="1757362"/>
            <a:ext cx="2662588"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Ich </a:t>
            </a:r>
            <a:r>
              <a:rPr sz="900" b="0" i="0" dirty="0" err="1">
                <a:solidFill>
                  <a:srgbClr val="192743"/>
                </a:solidFill>
                <a:latin typeface="Poppins"/>
              </a:rPr>
              <a:t>glaube</a:t>
            </a:r>
            <a:r>
              <a:rPr sz="900" b="0" i="0" dirty="0">
                <a:solidFill>
                  <a:srgbClr val="192743"/>
                </a:solidFill>
                <a:latin typeface="Poppins"/>
              </a:rPr>
              <a:t>, </a:t>
            </a:r>
            <a:r>
              <a:rPr sz="900" b="0" i="0" dirty="0" err="1">
                <a:solidFill>
                  <a:srgbClr val="192743"/>
                </a:solidFill>
                <a:latin typeface="Poppins"/>
              </a:rPr>
              <a:t>dass</a:t>
            </a:r>
            <a:r>
              <a:rPr sz="900" b="0" i="0" dirty="0">
                <a:solidFill>
                  <a:srgbClr val="192743"/>
                </a:solidFill>
                <a:latin typeface="Poppins"/>
              </a:rPr>
              <a:t> ich gut </a:t>
            </a:r>
            <a:r>
              <a:rPr sz="900" b="0" i="0" dirty="0" err="1">
                <a:solidFill>
                  <a:srgbClr val="192743"/>
                </a:solidFill>
                <a:latin typeface="Poppins"/>
              </a:rPr>
              <a:t>zu</a:t>
            </a:r>
            <a:r>
              <a:rPr sz="900" b="0" i="0" dirty="0">
                <a:solidFill>
                  <a:srgbClr val="192743"/>
                </a:solidFill>
                <a:latin typeface="Poppins"/>
              </a:rPr>
              <a:t> </a:t>
            </a:r>
            <a:r>
              <a:rPr lang="en-US" sz="900" b="0" i="0" dirty="0">
                <a:solidFill>
                  <a:srgbClr val="192743"/>
                </a:solidFill>
                <a:latin typeface="Poppins"/>
              </a:rPr>
              <a:t>Team IT</a:t>
            </a:r>
            <a:r>
              <a:rPr sz="900" b="0" i="0" dirty="0">
                <a:solidFill>
                  <a:srgbClr val="192743"/>
                </a:solidFill>
                <a:latin typeface="Poppins"/>
              </a:rPr>
              <a:t> passe</a:t>
            </a:r>
          </a:p>
        </p:txBody>
      </p:sp>
      <p:sp>
        <p:nvSpPr>
          <p:cNvPr id="8" name="New shape"/>
          <p:cNvSpPr/>
          <p:nvPr/>
        </p:nvSpPr>
        <p:spPr>
          <a:xfrm>
            <a:off x="3073336" y="1814512"/>
            <a:ext cx="755714"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 name="New shape"/>
          <p:cNvSpPr txBox="1"/>
          <p:nvPr/>
        </p:nvSpPr>
        <p:spPr>
          <a:xfrm>
            <a:off x="3886200" y="16716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0" name="New shape"/>
          <p:cNvSpPr txBox="1"/>
          <p:nvPr/>
        </p:nvSpPr>
        <p:spPr>
          <a:xfrm>
            <a:off x="457200" y="2271712"/>
            <a:ext cx="2809113"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Ich kann meine Arbeitsbelastung gut bewältigen</a:t>
            </a:r>
          </a:p>
        </p:txBody>
      </p:sp>
      <p:sp>
        <p:nvSpPr>
          <p:cNvPr id="11" name="New shape"/>
          <p:cNvSpPr/>
          <p:nvPr/>
        </p:nvSpPr>
        <p:spPr>
          <a:xfrm>
            <a:off x="3323463" y="2328862"/>
            <a:ext cx="5055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 name="New shape"/>
          <p:cNvSpPr txBox="1"/>
          <p:nvPr/>
        </p:nvSpPr>
        <p:spPr>
          <a:xfrm>
            <a:off x="3886200" y="21859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75%</a:t>
            </a:r>
          </a:p>
        </p:txBody>
      </p:sp>
      <p:sp>
        <p:nvSpPr>
          <p:cNvPr id="14" name="New shape"/>
          <p:cNvSpPr txBox="1"/>
          <p:nvPr/>
        </p:nvSpPr>
        <p:spPr>
          <a:xfrm>
            <a:off x="457200" y="27003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Ich habe gute Möglichkeiten, mich beruflich und persönlich weiterzuentwickeln</a:t>
            </a:r>
          </a:p>
        </p:txBody>
      </p:sp>
      <p:sp>
        <p:nvSpPr>
          <p:cNvPr id="15" name="New shape"/>
          <p:cNvSpPr txBox="1"/>
          <p:nvPr/>
        </p:nvSpPr>
        <p:spPr>
          <a:xfrm>
            <a:off x="3886200" y="27003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76%</a:t>
            </a:r>
          </a:p>
        </p:txBody>
      </p:sp>
      <p:sp>
        <p:nvSpPr>
          <p:cNvPr id="17" name="New shape"/>
          <p:cNvSpPr txBox="1"/>
          <p:nvPr/>
        </p:nvSpPr>
        <p:spPr>
          <a:xfrm>
            <a:off x="457200" y="3214687"/>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Mein Team erarbeitet regelmäßig neue und gute Verbesserungsvorschläge</a:t>
            </a:r>
          </a:p>
        </p:txBody>
      </p:sp>
      <p:sp>
        <p:nvSpPr>
          <p:cNvPr id="18" name="New shape"/>
          <p:cNvSpPr txBox="1"/>
          <p:nvPr/>
        </p:nvSpPr>
        <p:spPr>
          <a:xfrm>
            <a:off x="3886200" y="32146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19" name="New shape"/>
          <p:cNvSpPr txBox="1"/>
          <p:nvPr/>
        </p:nvSpPr>
        <p:spPr>
          <a:xfrm>
            <a:off x="457200" y="3814762"/>
            <a:ext cx="287258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Die </a:t>
            </a:r>
            <a:r>
              <a:rPr sz="900" b="0" i="0" dirty="0" err="1">
                <a:solidFill>
                  <a:srgbClr val="192743"/>
                </a:solidFill>
                <a:latin typeface="Poppins"/>
              </a:rPr>
              <a:t>Zukunftsvision</a:t>
            </a:r>
            <a:r>
              <a:rPr sz="900" b="0" i="0" dirty="0">
                <a:solidFill>
                  <a:srgbClr val="192743"/>
                </a:solidFill>
                <a:latin typeface="Poppins"/>
              </a:rPr>
              <a:t> von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inspiriert</a:t>
            </a:r>
            <a:r>
              <a:rPr sz="900" b="0" i="0" dirty="0">
                <a:solidFill>
                  <a:srgbClr val="192743"/>
                </a:solidFill>
                <a:latin typeface="Poppins"/>
              </a:rPr>
              <a:t> </a:t>
            </a:r>
            <a:r>
              <a:rPr sz="900" b="0" i="0" dirty="0" err="1">
                <a:solidFill>
                  <a:srgbClr val="192743"/>
                </a:solidFill>
                <a:latin typeface="Poppins"/>
              </a:rPr>
              <a:t>mich</a:t>
            </a:r>
            <a:endParaRPr sz="900" b="0" i="0" dirty="0">
              <a:solidFill>
                <a:srgbClr val="192743"/>
              </a:solidFill>
              <a:latin typeface="Poppins"/>
            </a:endParaRPr>
          </a:p>
        </p:txBody>
      </p:sp>
      <p:sp>
        <p:nvSpPr>
          <p:cNvPr id="20" name="New shape"/>
          <p:cNvSpPr/>
          <p:nvPr/>
        </p:nvSpPr>
        <p:spPr>
          <a:xfrm>
            <a:off x="3283379" y="3871912"/>
            <a:ext cx="545671"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txBox="1"/>
          <p:nvPr/>
        </p:nvSpPr>
        <p:spPr>
          <a:xfrm>
            <a:off x="3886200" y="37290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74%</a:t>
            </a:r>
          </a:p>
        </p:txBody>
      </p:sp>
      <p:sp>
        <p:nvSpPr>
          <p:cNvPr id="22" name="New shape"/>
          <p:cNvSpPr txBox="1"/>
          <p:nvPr/>
        </p:nvSpPr>
        <p:spPr>
          <a:xfrm>
            <a:off x="4864894" y="1757362"/>
            <a:ext cx="1688354"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a:solidFill>
                  <a:srgbClr val="192743"/>
                </a:solidFill>
                <a:latin typeface="Poppins"/>
              </a:rPr>
              <a:t>Meine Arbeit macht mir Spaß</a:t>
            </a:r>
          </a:p>
        </p:txBody>
      </p:sp>
      <p:sp>
        <p:nvSpPr>
          <p:cNvPr id="23" name="New shape"/>
          <p:cNvSpPr/>
          <p:nvPr/>
        </p:nvSpPr>
        <p:spPr>
          <a:xfrm>
            <a:off x="6610398" y="1814512"/>
            <a:ext cx="162634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txBox="1"/>
          <p:nvPr/>
        </p:nvSpPr>
        <p:spPr>
          <a:xfrm>
            <a:off x="8293894" y="16716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64%</a:t>
            </a:r>
          </a:p>
        </p:txBody>
      </p:sp>
      <p:sp>
        <p:nvSpPr>
          <p:cNvPr id="26" name="New shape"/>
          <p:cNvSpPr txBox="1"/>
          <p:nvPr/>
        </p:nvSpPr>
        <p:spPr>
          <a:xfrm>
            <a:off x="4864894" y="218598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Ich weiß, welche Arbeitsergebnisse von mir erwartet werden</a:t>
            </a:r>
          </a:p>
        </p:txBody>
      </p:sp>
      <p:sp>
        <p:nvSpPr>
          <p:cNvPr id="27" name="New shape"/>
          <p:cNvSpPr txBox="1"/>
          <p:nvPr/>
        </p:nvSpPr>
        <p:spPr>
          <a:xfrm>
            <a:off x="8293894" y="21859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66%</a:t>
            </a:r>
          </a:p>
        </p:txBody>
      </p:sp>
      <p:sp>
        <p:nvSpPr>
          <p:cNvPr id="29" name="New shape"/>
          <p:cNvSpPr txBox="1"/>
          <p:nvPr/>
        </p:nvSpPr>
        <p:spPr>
          <a:xfrm>
            <a:off x="4864894" y="27003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dirty="0" err="1">
                <a:solidFill>
                  <a:srgbClr val="192743"/>
                </a:solidFill>
                <a:latin typeface="Poppins"/>
              </a:rPr>
              <a:t>Innerhalb</a:t>
            </a:r>
            <a:r>
              <a:rPr sz="900" b="0" i="0" dirty="0">
                <a:solidFill>
                  <a:srgbClr val="192743"/>
                </a:solidFill>
                <a:latin typeface="Poppins"/>
              </a:rPr>
              <a:t> von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werden</a:t>
            </a:r>
            <a:r>
              <a:rPr sz="900" b="0" i="0" dirty="0">
                <a:solidFill>
                  <a:srgbClr val="192743"/>
                </a:solidFill>
                <a:latin typeface="Poppins"/>
              </a:rPr>
              <a:t> die </a:t>
            </a:r>
            <a:r>
              <a:rPr sz="900" b="0" i="0" dirty="0" err="1">
                <a:solidFill>
                  <a:srgbClr val="192743"/>
                </a:solidFill>
                <a:latin typeface="Poppins"/>
              </a:rPr>
              <a:t>Mitarbeitenden</a:t>
            </a:r>
            <a:r>
              <a:rPr sz="900" b="0" i="0" dirty="0">
                <a:solidFill>
                  <a:srgbClr val="192743"/>
                </a:solidFill>
                <a:latin typeface="Poppins"/>
              </a:rPr>
              <a:t> fair </a:t>
            </a:r>
            <a:r>
              <a:rPr sz="900" b="0" i="0" dirty="0" err="1">
                <a:solidFill>
                  <a:srgbClr val="192743"/>
                </a:solidFill>
                <a:latin typeface="Poppins"/>
              </a:rPr>
              <a:t>behandelt</a:t>
            </a:r>
            <a:endParaRPr sz="900" b="0" i="0" dirty="0">
              <a:solidFill>
                <a:srgbClr val="192743"/>
              </a:solidFill>
              <a:latin typeface="Poppins"/>
            </a:endParaRPr>
          </a:p>
        </p:txBody>
      </p:sp>
      <p:sp>
        <p:nvSpPr>
          <p:cNvPr id="30" name="New shape"/>
          <p:cNvSpPr txBox="1"/>
          <p:nvPr/>
        </p:nvSpPr>
        <p:spPr>
          <a:xfrm>
            <a:off x="8293894" y="27003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67%</a:t>
            </a:r>
          </a:p>
        </p:txBody>
      </p:sp>
      <p:sp>
        <p:nvSpPr>
          <p:cNvPr id="31" name="New shape"/>
          <p:cNvSpPr txBox="1"/>
          <p:nvPr/>
        </p:nvSpPr>
        <p:spPr>
          <a:xfrm>
            <a:off x="4864894" y="3300412"/>
            <a:ext cx="2765181"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algn="l">
              <a:lnSpc>
                <a:spcPct val="100000"/>
              </a:lnSpc>
            </a:pPr>
            <a:r>
              <a:rPr sz="900" b="0" i="0" dirty="0">
                <a:solidFill>
                  <a:srgbClr val="192743"/>
                </a:solidFill>
                <a:latin typeface="Poppins"/>
              </a:rPr>
              <a:t>Ich war </a:t>
            </a:r>
            <a:r>
              <a:rPr sz="900" b="0" i="0" dirty="0" err="1">
                <a:solidFill>
                  <a:srgbClr val="192743"/>
                </a:solidFill>
                <a:latin typeface="Poppins"/>
              </a:rPr>
              <a:t>stolz</a:t>
            </a:r>
            <a:r>
              <a:rPr sz="900" b="0" i="0" dirty="0">
                <a:solidFill>
                  <a:srgbClr val="192743"/>
                </a:solidFill>
                <a:latin typeface="Poppins"/>
              </a:rPr>
              <a:t> </a:t>
            </a:r>
            <a:r>
              <a:rPr sz="900" b="0" i="0" dirty="0" err="1">
                <a:solidFill>
                  <a:srgbClr val="192743"/>
                </a:solidFill>
                <a:latin typeface="Poppins"/>
              </a:rPr>
              <a:t>darauf</a:t>
            </a:r>
            <a:r>
              <a:rPr sz="900" b="0" i="0" dirty="0">
                <a:solidFill>
                  <a:srgbClr val="192743"/>
                </a:solidFill>
                <a:latin typeface="Poppins"/>
              </a:rPr>
              <a:t>, für </a:t>
            </a: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zu</a:t>
            </a:r>
            <a:r>
              <a:rPr sz="900" b="0" i="0" dirty="0">
                <a:solidFill>
                  <a:srgbClr val="192743"/>
                </a:solidFill>
                <a:latin typeface="Poppins"/>
              </a:rPr>
              <a:t> </a:t>
            </a:r>
            <a:r>
              <a:rPr sz="900" b="0" i="0" dirty="0" err="1">
                <a:solidFill>
                  <a:srgbClr val="192743"/>
                </a:solidFill>
                <a:latin typeface="Poppins"/>
              </a:rPr>
              <a:t>arbeiten</a:t>
            </a:r>
            <a:endParaRPr sz="900" b="0" i="0" dirty="0">
              <a:solidFill>
                <a:srgbClr val="192743"/>
              </a:solidFill>
              <a:latin typeface="Poppins"/>
            </a:endParaRPr>
          </a:p>
        </p:txBody>
      </p:sp>
      <p:sp>
        <p:nvSpPr>
          <p:cNvPr id="32" name="New shape"/>
          <p:cNvSpPr/>
          <p:nvPr/>
        </p:nvSpPr>
        <p:spPr>
          <a:xfrm>
            <a:off x="7583646" y="3357562"/>
            <a:ext cx="65309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8293894" y="321468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35" name="New shape"/>
          <p:cNvSpPr txBox="1"/>
          <p:nvPr/>
        </p:nvSpPr>
        <p:spPr>
          <a:xfrm>
            <a:off x="4864894" y="3729038"/>
            <a:ext cx="3371850" cy="2743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900" b="0" i="0" dirty="0">
                <a:solidFill>
                  <a:srgbClr val="192743"/>
                </a:solidFill>
                <a:latin typeface="Poppins"/>
              </a:rPr>
              <a:t>Team IT</a:t>
            </a:r>
            <a:r>
              <a:rPr sz="900" b="0" i="0" dirty="0">
                <a:solidFill>
                  <a:srgbClr val="192743"/>
                </a:solidFill>
                <a:latin typeface="Poppins"/>
              </a:rPr>
              <a:t> </a:t>
            </a:r>
            <a:r>
              <a:rPr sz="900" b="0" i="0" dirty="0" err="1">
                <a:solidFill>
                  <a:srgbClr val="192743"/>
                </a:solidFill>
                <a:latin typeface="Poppins"/>
              </a:rPr>
              <a:t>nutzt</a:t>
            </a:r>
            <a:r>
              <a:rPr sz="900" b="0" i="0" dirty="0">
                <a:solidFill>
                  <a:srgbClr val="192743"/>
                </a:solidFill>
                <a:latin typeface="Poppins"/>
              </a:rPr>
              <a:t> Ideen und </a:t>
            </a:r>
            <a:r>
              <a:rPr sz="900" b="0" i="0" dirty="0" err="1">
                <a:solidFill>
                  <a:srgbClr val="192743"/>
                </a:solidFill>
                <a:latin typeface="Poppins"/>
              </a:rPr>
              <a:t>Vorschläge</a:t>
            </a:r>
            <a:r>
              <a:rPr sz="900" b="0" i="0" dirty="0">
                <a:solidFill>
                  <a:srgbClr val="192743"/>
                </a:solidFill>
                <a:latin typeface="Poppins"/>
              </a:rPr>
              <a:t> der </a:t>
            </a:r>
            <a:r>
              <a:rPr sz="900" b="0" i="0" dirty="0" err="1">
                <a:solidFill>
                  <a:srgbClr val="192743"/>
                </a:solidFill>
                <a:latin typeface="Poppins"/>
              </a:rPr>
              <a:t>Mitarbeitenden</a:t>
            </a:r>
            <a:r>
              <a:rPr sz="900" b="0" i="0" dirty="0">
                <a:solidFill>
                  <a:srgbClr val="192743"/>
                </a:solidFill>
                <a:latin typeface="Poppins"/>
              </a:rPr>
              <a:t> für </a:t>
            </a:r>
            <a:r>
              <a:rPr sz="900" b="0" i="0" dirty="0" err="1">
                <a:solidFill>
                  <a:srgbClr val="192743"/>
                </a:solidFill>
                <a:latin typeface="Poppins"/>
              </a:rPr>
              <a:t>Verbesserungen</a:t>
            </a:r>
            <a:endParaRPr sz="900" b="0" i="0" dirty="0">
              <a:solidFill>
                <a:srgbClr val="192743"/>
              </a:solidFill>
              <a:latin typeface="Poppins"/>
            </a:endParaRPr>
          </a:p>
        </p:txBody>
      </p:sp>
      <p:sp>
        <p:nvSpPr>
          <p:cNvPr id="36" name="New shape"/>
          <p:cNvSpPr txBox="1"/>
          <p:nvPr/>
        </p:nvSpPr>
        <p:spPr>
          <a:xfrm>
            <a:off x="8293894" y="3729038"/>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69%</a:t>
            </a:r>
          </a:p>
        </p:txBody>
      </p:sp>
      <p:sp>
        <p:nvSpPr>
          <p:cNvPr id="37" name="New shape"/>
          <p:cNvSpPr/>
          <p:nvPr/>
        </p:nvSpPr>
        <p:spPr>
          <a:xfrm flipH="1">
            <a:off x="4579144" y="1585912"/>
            <a:ext cx="0" cy="25717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a:t>
            </a:r>
          </a:p>
        </p:txBody>
      </p:sp>
      <p:sp>
        <p:nvSpPr>
          <p:cNvPr id="40" name="New shape"/>
          <p:cNvSpPr txBox="1"/>
          <p:nvPr/>
        </p:nvSpPr>
        <p:spPr>
          <a:xfrm flipV="1">
            <a:off x="0" y="0"/>
            <a:ext cx="1619853"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Interpretation der Ergebnisse</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091690"/>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Net Promotor Score für Mitarbeitende</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und Benchmark-Vergleich</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Der eNPS gibt an, inwieweit Ihre Mitarbeitenden Ihr Unternehmen als guten Arbeitgeber empfehlen würden.</a:t>
            </a:r>
          </a:p>
        </p:txBody>
      </p:sp>
      <p:sp>
        <p:nvSpPr>
          <p:cNvPr id="4" name="New shape"/>
          <p:cNvSpPr/>
          <p:nvPr/>
        </p:nvSpPr>
        <p:spPr>
          <a:xfrm>
            <a:off x="457200" y="1314450"/>
            <a:ext cx="1971675" cy="628650"/>
          </a:xfrm>
          <a:prstGeom prst="roundRect">
            <a:avLst>
              <a:gd name="adj" fmla="val 6000"/>
            </a:avLst>
          </a:prstGeom>
          <a:solidFill>
            <a:srgbClr val="F5F7FA"/>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5" name="Group 4"/>
          <p:cNvGrpSpPr/>
          <p:nvPr/>
        </p:nvGrpSpPr>
        <p:grpSpPr>
          <a:xfrm>
            <a:off x="1162288" y="1428750"/>
            <a:ext cx="675799" cy="171450"/>
            <a:chOff x="-120650" y="793750"/>
            <a:chExt cx="675799" cy="171450"/>
          </a:xfrm>
        </p:grpSpPr>
        <p:pic>
          <p:nvPicPr>
            <p:cNvPr id="6" name="New picture"/>
            <p:cNvPicPr/>
            <p:nvPr/>
          </p:nvPicPr>
          <p:blipFill>
            <a:blip>
              <a:extLst>
                <a:ext uri="{96DAC541-7B7A-43D3-8B79-37D633B846F1}">
                  <asvg:svgBlip xmlns:asvg="http://schemas.microsoft.com/office/drawing/2016/SVG/main" r:embed="rId2"/>
                </a:ext>
              </a:extLst>
            </a:blip>
            <a:stretch>
              <a:fillRect/>
            </a:stretch>
          </p:blipFill>
          <p:spPr>
            <a:xfrm>
              <a:off x="-120650" y="793750"/>
              <a:ext cx="171450" cy="171450"/>
            </a:xfrm>
            <a:prstGeom prst="rect">
              <a:avLst/>
            </a:prstGeom>
          </p:spPr>
        </p:pic>
        <p:sp>
          <p:nvSpPr>
            <p:cNvPr id="7" name="New shape"/>
            <p:cNvSpPr txBox="1"/>
            <p:nvPr/>
          </p:nvSpPr>
          <p:spPr>
            <a:xfrm>
              <a:off x="122237" y="810209"/>
              <a:ext cx="432911"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Passive</a:t>
              </a:r>
            </a:p>
          </p:txBody>
        </p:sp>
      </p:grpSp>
      <p:sp>
        <p:nvSpPr>
          <p:cNvPr id="8" name="New shape"/>
          <p:cNvSpPr txBox="1"/>
          <p:nvPr/>
        </p:nvSpPr>
        <p:spPr>
          <a:xfrm>
            <a:off x="457200"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17%</a:t>
            </a:r>
          </a:p>
        </p:txBody>
      </p:sp>
      <p:grpSp>
        <p:nvGrpSpPr>
          <p:cNvPr id="9" name="Group 8"/>
          <p:cNvGrpSpPr/>
          <p:nvPr/>
        </p:nvGrpSpPr>
        <p:grpSpPr>
          <a:xfrm>
            <a:off x="1347827" y="2025367"/>
            <a:ext cx="304721" cy="121215"/>
            <a:chOff x="-120650" y="1390367"/>
            <a:chExt cx="304721" cy="121215"/>
          </a:xfrm>
        </p:grpSpPr>
        <p:pic>
          <p:nvPicPr>
            <p:cNvPr id="10" name="New picture"/>
            <p:cNvPicPr/>
            <p:nvPr/>
          </p:nvPicPr>
          <p:blipFill>
            <a:blip>
              <a:extLst>
                <a:ext uri="{96DAC541-7B7A-43D3-8B79-37D633B846F1}">
                  <asvg:svgBlip xmlns:asvg="http://schemas.microsoft.com/office/drawing/2016/SVG/main" r:embed="rId3"/>
                </a:ext>
              </a:extLst>
            </a:blip>
            <a:stretch>
              <a:fillRect/>
            </a:stretch>
          </p:blipFill>
          <p:spPr>
            <a:xfrm>
              <a:off x="-120650" y="1398468"/>
              <a:ext cx="105013" cy="105013"/>
            </a:xfrm>
            <a:prstGeom prst="rect">
              <a:avLst/>
            </a:prstGeom>
          </p:spPr>
        </p:pic>
        <p:sp>
          <p:nvSpPr>
            <p:cNvPr id="11" name="New shape"/>
            <p:cNvSpPr txBox="1"/>
            <p:nvPr/>
          </p:nvSpPr>
          <p:spPr>
            <a:xfrm>
              <a:off x="55801" y="1390367"/>
              <a:ext cx="12827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48</a:t>
              </a:r>
            </a:p>
          </p:txBody>
        </p:sp>
      </p:grpSp>
      <p:sp>
        <p:nvSpPr>
          <p:cNvPr id="12" name="New shape"/>
          <p:cNvSpPr/>
          <p:nvPr/>
        </p:nvSpPr>
        <p:spPr>
          <a:xfrm flipH="1">
            <a:off x="2571750" y="1457325"/>
            <a:ext cx="0" cy="342900"/>
          </a:xfrm>
          <a:prstGeom prst="line">
            <a:avLst/>
          </a:prstGeom>
          <a:ln w="254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p:nvPr/>
        </p:nvSpPr>
        <p:spPr>
          <a:xfrm>
            <a:off x="27146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3195241" y="1428750"/>
            <a:ext cx="1124744" cy="171450"/>
            <a:chOff x="2136775" y="793750"/>
            <a:chExt cx="1124744" cy="171450"/>
          </a:xfrm>
        </p:grpSpPr>
        <p:pic>
          <p:nvPicPr>
            <p:cNvPr id="15" name="New picture"/>
            <p:cNvPicPr/>
            <p:nvPr/>
          </p:nvPicPr>
          <p:blipFill>
            <a:blip>
              <a:extLst>
                <a:ext uri="{96DAC541-7B7A-43D3-8B79-37D633B846F1}">
                  <asvg:svgBlip xmlns:asvg="http://schemas.microsoft.com/office/drawing/2016/SVG/main" r:embed="rId4"/>
                </a:ext>
              </a:extLst>
            </a:blip>
            <a:stretch>
              <a:fillRect/>
            </a:stretch>
          </p:blipFill>
          <p:spPr>
            <a:xfrm>
              <a:off x="2136775" y="793750"/>
              <a:ext cx="171450" cy="171450"/>
            </a:xfrm>
            <a:prstGeom prst="rect">
              <a:avLst/>
            </a:prstGeom>
          </p:spPr>
        </p:pic>
        <p:sp>
          <p:nvSpPr>
            <p:cNvPr id="16" name="New shape"/>
            <p:cNvSpPr txBox="1"/>
            <p:nvPr/>
          </p:nvSpPr>
          <p:spPr>
            <a:xfrm>
              <a:off x="2379662" y="810209"/>
              <a:ext cx="881856"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Promotor:innen</a:t>
              </a:r>
            </a:p>
          </p:txBody>
        </p:sp>
      </p:grpSp>
      <p:sp>
        <p:nvSpPr>
          <p:cNvPr id="17" name="New shape"/>
          <p:cNvSpPr txBox="1"/>
          <p:nvPr/>
        </p:nvSpPr>
        <p:spPr>
          <a:xfrm>
            <a:off x="27146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59%</a:t>
            </a:r>
          </a:p>
        </p:txBody>
      </p:sp>
      <p:grpSp>
        <p:nvGrpSpPr>
          <p:cNvPr id="18" name="Group 17"/>
          <p:cNvGrpSpPr/>
          <p:nvPr/>
        </p:nvGrpSpPr>
        <p:grpSpPr>
          <a:xfrm>
            <a:off x="3596434" y="2025367"/>
            <a:ext cx="322358" cy="121215"/>
            <a:chOff x="2136775" y="1390367"/>
            <a:chExt cx="322358" cy="121215"/>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2136775" y="1398468"/>
              <a:ext cx="105013" cy="105013"/>
            </a:xfrm>
            <a:prstGeom prst="rect">
              <a:avLst/>
            </a:prstGeom>
          </p:spPr>
        </p:pic>
        <p:sp>
          <p:nvSpPr>
            <p:cNvPr id="20" name="New shape"/>
            <p:cNvSpPr txBox="1"/>
            <p:nvPr/>
          </p:nvSpPr>
          <p:spPr>
            <a:xfrm>
              <a:off x="2313225" y="1390367"/>
              <a:ext cx="14590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173</a:t>
              </a:r>
            </a:p>
          </p:txBody>
        </p:sp>
      </p:grpSp>
      <p:sp>
        <p:nvSpPr>
          <p:cNvPr id="21" name="New shape"/>
          <p:cNvSpPr/>
          <p:nvPr/>
        </p:nvSpPr>
        <p:spPr>
          <a:xfrm>
            <a:off x="4829175" y="1628775"/>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New shape"/>
          <p:cNvSpPr/>
          <p:nvPr/>
        </p:nvSpPr>
        <p:spPr>
          <a:xfrm>
            <a:off x="5114925" y="1314450"/>
            <a:ext cx="1971675" cy="628650"/>
          </a:xfrm>
          <a:prstGeom prst="roundRect">
            <a:avLst>
              <a:gd name="adj" fmla="val 6000"/>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23" name="Group 22"/>
          <p:cNvGrpSpPr/>
          <p:nvPr/>
        </p:nvGrpSpPr>
        <p:grpSpPr>
          <a:xfrm>
            <a:off x="5595541" y="1428750"/>
            <a:ext cx="1124744" cy="171450"/>
            <a:chOff x="4537075" y="793750"/>
            <a:chExt cx="1124744" cy="171450"/>
          </a:xfrm>
        </p:grpSpPr>
        <p:pic>
          <p:nvPicPr>
            <p:cNvPr id="24" name="New picture"/>
            <p:cNvPicPr/>
            <p:nvPr/>
          </p:nvPicPr>
          <p:blipFill>
            <a:blip>
              <a:extLst>
                <a:ext uri="{96DAC541-7B7A-43D3-8B79-37D633B846F1}">
                  <asvg:svgBlip xmlns:asvg="http://schemas.microsoft.com/office/drawing/2016/SVG/main" r:embed="rId5"/>
                </a:ext>
              </a:extLst>
            </a:blip>
            <a:stretch>
              <a:fillRect/>
            </a:stretch>
          </p:blipFill>
          <p:spPr>
            <a:xfrm>
              <a:off x="4537075" y="793750"/>
              <a:ext cx="171450" cy="171450"/>
            </a:xfrm>
            <a:prstGeom prst="rect">
              <a:avLst/>
            </a:prstGeom>
          </p:spPr>
        </p:pic>
        <p:sp>
          <p:nvSpPr>
            <p:cNvPr id="25" name="New shape"/>
            <p:cNvSpPr txBox="1"/>
            <p:nvPr/>
          </p:nvSpPr>
          <p:spPr>
            <a:xfrm>
              <a:off x="4779962" y="810209"/>
              <a:ext cx="881856"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546178"/>
                  </a:solidFill>
                  <a:latin typeface="Poppins"/>
                </a:rPr>
                <a:t>Detraktor:innen</a:t>
              </a:r>
            </a:p>
          </p:txBody>
        </p:sp>
      </p:grpSp>
      <p:sp>
        <p:nvSpPr>
          <p:cNvPr id="26" name="New shape"/>
          <p:cNvSpPr txBox="1"/>
          <p:nvPr/>
        </p:nvSpPr>
        <p:spPr>
          <a:xfrm>
            <a:off x="5114925" y="1657350"/>
            <a:ext cx="1971675"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125" b="1" i="0">
                <a:solidFill>
                  <a:srgbClr val="192743"/>
                </a:solidFill>
                <a:latin typeface="Poppins"/>
              </a:rPr>
              <a:t>24%</a:t>
            </a:r>
          </a:p>
        </p:txBody>
      </p:sp>
      <p:grpSp>
        <p:nvGrpSpPr>
          <p:cNvPr id="27" name="Group 26"/>
          <p:cNvGrpSpPr/>
          <p:nvPr/>
        </p:nvGrpSpPr>
        <p:grpSpPr>
          <a:xfrm>
            <a:off x="6010362" y="2025367"/>
            <a:ext cx="295101" cy="121215"/>
            <a:chOff x="4537075" y="1390367"/>
            <a:chExt cx="295101" cy="121215"/>
          </a:xfrm>
        </p:grpSpPr>
        <p:pic>
          <p:nvPicPr>
            <p:cNvPr id="28" name="New picture"/>
            <p:cNvPicPr/>
            <p:nvPr/>
          </p:nvPicPr>
          <p:blipFill>
            <a:blip>
              <a:extLst>
                <a:ext uri="{96DAC541-7B7A-43D3-8B79-37D633B846F1}">
                  <asvg:svgBlip xmlns:asvg="http://schemas.microsoft.com/office/drawing/2016/SVG/main" r:embed="rId3"/>
                </a:ext>
              </a:extLst>
            </a:blip>
            <a:stretch>
              <a:fillRect/>
            </a:stretch>
          </p:blipFill>
          <p:spPr>
            <a:xfrm>
              <a:off x="4537075" y="1398468"/>
              <a:ext cx="105013" cy="105013"/>
            </a:xfrm>
            <a:prstGeom prst="rect">
              <a:avLst/>
            </a:prstGeom>
          </p:spPr>
        </p:pic>
        <p:sp>
          <p:nvSpPr>
            <p:cNvPr id="29" name="New shape"/>
            <p:cNvSpPr txBox="1"/>
            <p:nvPr/>
          </p:nvSpPr>
          <p:spPr>
            <a:xfrm>
              <a:off x="4713526" y="1390367"/>
              <a:ext cx="11865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70</a:t>
              </a:r>
            </a:p>
          </p:txBody>
        </p:sp>
      </p:grpSp>
      <p:sp>
        <p:nvSpPr>
          <p:cNvPr id="30" name="New shape"/>
          <p:cNvSpPr/>
          <p:nvPr/>
        </p:nvSpPr>
        <p:spPr>
          <a:xfrm>
            <a:off x="7229475" y="160020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New shape"/>
          <p:cNvSpPr/>
          <p:nvPr/>
        </p:nvSpPr>
        <p:spPr>
          <a:xfrm>
            <a:off x="7229475" y="1657350"/>
            <a:ext cx="142875" cy="28575"/>
          </a:xfrm>
          <a:prstGeom prst="roundRect">
            <a:avLst>
              <a:gd name="adj" fmla="val 48000"/>
            </a:avLst>
          </a:prstGeom>
          <a:solidFill>
            <a:srgbClr val="5B8EF5"/>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7515225" y="1314450"/>
            <a:ext cx="1143000" cy="628650"/>
          </a:xfrm>
          <a:prstGeom prst="roundRect">
            <a:avLst>
              <a:gd name="adj" fmla="val 6000"/>
            </a:avLst>
          </a:prstGeom>
          <a:solidFill>
            <a:srgbClr val="EFF4FF"/>
          </a:solidFill>
          <a:ln w="12700">
            <a:solidFill>
              <a:srgbClr val="E4E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7515225" y="14287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0" i="0">
                <a:solidFill>
                  <a:srgbClr val="1C55C7"/>
                </a:solidFill>
                <a:latin typeface="Poppins"/>
              </a:rPr>
              <a:t>eNPS</a:t>
            </a:r>
          </a:p>
        </p:txBody>
      </p:sp>
      <p:sp>
        <p:nvSpPr>
          <p:cNvPr id="34" name="New shape"/>
          <p:cNvSpPr txBox="1"/>
          <p:nvPr/>
        </p:nvSpPr>
        <p:spPr>
          <a:xfrm>
            <a:off x="7515225" y="1657350"/>
            <a:ext cx="11430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1462" b="1" i="0">
                <a:solidFill>
                  <a:srgbClr val="192743"/>
                </a:solidFill>
                <a:latin typeface="Poppins"/>
              </a:rPr>
              <a:t>35</a:t>
            </a:r>
          </a:p>
        </p:txBody>
      </p:sp>
      <p:sp>
        <p:nvSpPr>
          <p:cNvPr id="35" name="New shape"/>
          <p:cNvSpPr/>
          <p:nvPr/>
        </p:nvSpPr>
        <p:spPr>
          <a:xfrm>
            <a:off x="457200" y="2443162"/>
            <a:ext cx="8229600" cy="257175"/>
          </a:xfrm>
          <a:prstGeom prst="roundRect">
            <a:avLst>
              <a:gd name="adj" fmla="val 12000"/>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New shape"/>
          <p:cNvSpPr/>
          <p:nvPr/>
        </p:nvSpPr>
        <p:spPr>
          <a:xfrm>
            <a:off x="4572000" y="2443162"/>
            <a:ext cx="1440180" cy="257175"/>
          </a:xfrm>
          <a:prstGeom prst="roundRect">
            <a:avLst>
              <a:gd name="adj" fmla="val 12000"/>
            </a:avLst>
          </a:prstGeom>
          <a:solidFill>
            <a:srgbClr val="C3D4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7" name="New shape"/>
          <p:cNvSpPr txBox="1"/>
          <p:nvPr/>
        </p:nvSpPr>
        <p:spPr>
          <a:xfrm>
            <a:off x="4572000" y="24431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35</a:t>
            </a: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1500" y="2486025"/>
            <a:ext cx="142875" cy="171450"/>
          </a:xfrm>
          <a:prstGeom prst="rect">
            <a:avLst/>
          </a:prstGeom>
        </p:spPr>
      </p:pic>
      <p:sp>
        <p:nvSpPr>
          <p:cNvPr id="39" name="New shape"/>
          <p:cNvSpPr txBox="1"/>
          <p:nvPr/>
        </p:nvSpPr>
        <p:spPr>
          <a:xfrm>
            <a:off x="785812" y="24431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C55C7"/>
                </a:solidFill>
                <a:latin typeface="Poppins"/>
              </a:rPr>
              <a:t>Aktuell</a:t>
            </a:r>
          </a:p>
        </p:txBody>
      </p:sp>
      <p:sp>
        <p:nvSpPr>
          <p:cNvPr id="40" name="New shape"/>
          <p:cNvSpPr/>
          <p:nvPr/>
        </p:nvSpPr>
        <p:spPr>
          <a:xfrm>
            <a:off x="457200" y="27574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1" name="New shape"/>
          <p:cNvSpPr/>
          <p:nvPr/>
        </p:nvSpPr>
        <p:spPr>
          <a:xfrm>
            <a:off x="4572000" y="2757488"/>
            <a:ext cx="94640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2" name="New shape"/>
          <p:cNvSpPr txBox="1"/>
          <p:nvPr/>
        </p:nvSpPr>
        <p:spPr>
          <a:xfrm>
            <a:off x="4572000" y="27574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23</a:t>
            </a:r>
          </a:p>
        </p:txBody>
      </p:sp>
      <p:pic>
        <p:nvPicPr>
          <p:cNvPr id="43" name="New picture"/>
          <p:cNvPicPr/>
          <p:nvPr/>
        </p:nvPicPr>
        <p:blipFill>
          <a:blip>
            <a:extLst>
              <a:ext uri="{96DAC541-7B7A-43D3-8B79-37D633B846F1}">
                <asvg:svgBlip xmlns:asvg="http://schemas.microsoft.com/office/drawing/2016/SVG/main" r:embed="rId7"/>
              </a:ext>
            </a:extLst>
          </a:blip>
          <a:stretch>
            <a:fillRect/>
          </a:stretch>
        </p:blipFill>
        <p:spPr>
          <a:xfrm>
            <a:off x="571500" y="2811066"/>
            <a:ext cx="150019" cy="150019"/>
          </a:xfrm>
          <a:prstGeom prst="rect">
            <a:avLst/>
          </a:prstGeom>
        </p:spPr>
      </p:pic>
      <p:sp>
        <p:nvSpPr>
          <p:cNvPr id="44" name="New shape"/>
          <p:cNvSpPr txBox="1"/>
          <p:nvPr/>
        </p:nvSpPr>
        <p:spPr>
          <a:xfrm>
            <a:off x="792956" y="27574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Vorherige Befragung</a:t>
            </a:r>
          </a:p>
        </p:txBody>
      </p:sp>
      <p:sp>
        <p:nvSpPr>
          <p:cNvPr id="45" name="New shape"/>
          <p:cNvSpPr/>
          <p:nvPr/>
        </p:nvSpPr>
        <p:spPr>
          <a:xfrm>
            <a:off x="457200" y="307181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572000" y="3071812"/>
            <a:ext cx="82296"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572000" y="307181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2</a:t>
            </a:r>
          </a:p>
        </p:txBody>
      </p:sp>
      <p:pic>
        <p:nvPicPr>
          <p:cNvPr id="48" name="New picture"/>
          <p:cNvPicPr/>
          <p:nvPr/>
        </p:nvPicPr>
        <p:blipFill>
          <a:blip>
            <a:extLst>
              <a:ext uri="{96DAC541-7B7A-43D3-8B79-37D633B846F1}">
                <asvg:svgBlip xmlns:asvg="http://schemas.microsoft.com/office/drawing/2016/SVG/main" r:embed="rId8"/>
              </a:ext>
            </a:extLst>
          </a:blip>
          <a:stretch>
            <a:fillRect/>
          </a:stretch>
        </p:blipFill>
        <p:spPr>
          <a:xfrm>
            <a:off x="571500" y="3125391"/>
            <a:ext cx="150019" cy="150019"/>
          </a:xfrm>
          <a:prstGeom prst="rect">
            <a:avLst/>
          </a:prstGeom>
        </p:spPr>
      </p:pic>
      <p:sp>
        <p:nvSpPr>
          <p:cNvPr id="49" name="New shape"/>
          <p:cNvSpPr txBox="1"/>
          <p:nvPr/>
        </p:nvSpPr>
        <p:spPr>
          <a:xfrm>
            <a:off x="792956" y="307181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International</a:t>
            </a:r>
          </a:p>
        </p:txBody>
      </p:sp>
      <p:sp>
        <p:nvSpPr>
          <p:cNvPr id="50" name="New shape"/>
          <p:cNvSpPr/>
          <p:nvPr/>
        </p:nvSpPr>
        <p:spPr>
          <a:xfrm>
            <a:off x="457200" y="338613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1" name="New shape"/>
          <p:cNvSpPr txBox="1"/>
          <p:nvPr/>
        </p:nvSpPr>
        <p:spPr>
          <a:xfrm>
            <a:off x="457200" y="3386138"/>
            <a:ext cx="822960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0" i="0">
                <a:solidFill>
                  <a:srgbClr val="192743"/>
                </a:solidFill>
                <a:latin typeface="Poppins"/>
              </a:rPr>
              <a:t>Ergebnisse nicht verfügbar</a:t>
            </a:r>
          </a:p>
        </p:txBody>
      </p:sp>
      <p:pic>
        <p:nvPicPr>
          <p:cNvPr id="52" name="New picture"/>
          <p:cNvPicPr/>
          <p:nvPr/>
        </p:nvPicPr>
        <p:blipFill>
          <a:blip>
            <a:extLst>
              <a:ext uri="{96DAC541-7B7A-43D3-8B79-37D633B846F1}">
                <asvg:svgBlip xmlns:asvg="http://schemas.microsoft.com/office/drawing/2016/SVG/main" r:embed="rId9"/>
              </a:ext>
            </a:extLst>
          </a:blip>
          <a:stretch>
            <a:fillRect/>
          </a:stretch>
        </p:blipFill>
        <p:spPr>
          <a:xfrm>
            <a:off x="571500" y="3439716"/>
            <a:ext cx="150019" cy="150019"/>
          </a:xfrm>
          <a:prstGeom prst="rect">
            <a:avLst/>
          </a:prstGeom>
        </p:spPr>
      </p:pic>
      <p:sp>
        <p:nvSpPr>
          <p:cNvPr id="53" name="New shape"/>
          <p:cNvSpPr txBox="1"/>
          <p:nvPr/>
        </p:nvSpPr>
        <p:spPr>
          <a:xfrm>
            <a:off x="792956" y="338613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Benchmark International</a:t>
            </a:r>
          </a:p>
        </p:txBody>
      </p:sp>
      <p:sp>
        <p:nvSpPr>
          <p:cNvPr id="54" name="New shape"/>
          <p:cNvSpPr/>
          <p:nvPr/>
        </p:nvSpPr>
        <p:spPr>
          <a:xfrm>
            <a:off x="457200" y="3700462"/>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5" name="New shape"/>
          <p:cNvSpPr/>
          <p:nvPr/>
        </p:nvSpPr>
        <p:spPr>
          <a:xfrm>
            <a:off x="4572000" y="3700462"/>
            <a:ext cx="658368"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6" name="New shape"/>
          <p:cNvSpPr txBox="1"/>
          <p:nvPr/>
        </p:nvSpPr>
        <p:spPr>
          <a:xfrm>
            <a:off x="4572000" y="3700462"/>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16</a:t>
            </a:r>
          </a:p>
        </p:txBody>
      </p:sp>
      <p:pic>
        <p:nvPicPr>
          <p:cNvPr id="57" name="New picture"/>
          <p:cNvPicPr/>
          <p:nvPr/>
        </p:nvPicPr>
        <p:blipFill>
          <a:blip>
            <a:extLst>
              <a:ext uri="{96DAC541-7B7A-43D3-8B79-37D633B846F1}">
                <asvg:svgBlip xmlns:asvg="http://schemas.microsoft.com/office/drawing/2016/SVG/main" r:embed="rId8"/>
              </a:ext>
            </a:extLst>
          </a:blip>
          <a:stretch>
            <a:fillRect/>
          </a:stretch>
        </p:blipFill>
        <p:spPr>
          <a:xfrm>
            <a:off x="571500" y="3754041"/>
            <a:ext cx="150019" cy="150019"/>
          </a:xfrm>
          <a:prstGeom prst="rect">
            <a:avLst/>
          </a:prstGeom>
        </p:spPr>
      </p:pic>
      <p:sp>
        <p:nvSpPr>
          <p:cNvPr id="58" name="New shape"/>
          <p:cNvSpPr txBox="1"/>
          <p:nvPr/>
        </p:nvSpPr>
        <p:spPr>
          <a:xfrm>
            <a:off x="792956" y="3700462"/>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Benchmark B2B</a:t>
            </a:r>
          </a:p>
        </p:txBody>
      </p:sp>
      <p:sp>
        <p:nvSpPr>
          <p:cNvPr id="59" name="New shape"/>
          <p:cNvSpPr/>
          <p:nvPr/>
        </p:nvSpPr>
        <p:spPr>
          <a:xfrm>
            <a:off x="457200" y="4014788"/>
            <a:ext cx="8229600" cy="257175"/>
          </a:xfrm>
          <a:prstGeom prst="roundRect">
            <a:avLst>
              <a:gd name="adj" fmla="val 12000"/>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0" name="New shape"/>
          <p:cNvSpPr/>
          <p:nvPr/>
        </p:nvSpPr>
        <p:spPr>
          <a:xfrm>
            <a:off x="4572000" y="4014788"/>
            <a:ext cx="2798064" cy="257175"/>
          </a:xfrm>
          <a:prstGeom prst="roundRect">
            <a:avLst>
              <a:gd name="adj" fmla="val 12000"/>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1" name="New shape"/>
          <p:cNvSpPr txBox="1"/>
          <p:nvPr/>
        </p:nvSpPr>
        <p:spPr>
          <a:xfrm>
            <a:off x="4572000" y="4014788"/>
            <a:ext cx="164592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101600" tIns="0" rIns="101600" bIns="0" rtlCol="0" anchor="ctr">
            <a:noAutofit/>
          </a:bodyPr>
          <a:lstStyle/>
          <a:p>
            <a:pPr algn="l">
              <a:lnSpc>
                <a:spcPct val="100000"/>
              </a:lnSpc>
            </a:pPr>
            <a:r>
              <a:rPr sz="1125" b="1" i="0">
                <a:solidFill>
                  <a:srgbClr val="192743"/>
                </a:solidFill>
                <a:latin typeface="Poppins"/>
              </a:rPr>
              <a:t>68</a:t>
            </a:r>
          </a:p>
        </p:txBody>
      </p:sp>
      <p:pic>
        <p:nvPicPr>
          <p:cNvPr id="62" name="New picture"/>
          <p:cNvPicPr/>
          <p:nvPr/>
        </p:nvPicPr>
        <p:blipFill>
          <a:blip>
            <a:extLst>
              <a:ext uri="{96DAC541-7B7A-43D3-8B79-37D633B846F1}">
                <asvg:svgBlip xmlns:asvg="http://schemas.microsoft.com/office/drawing/2016/SVG/main" r:embed="rId10"/>
              </a:ext>
            </a:extLst>
          </a:blip>
          <a:stretch>
            <a:fillRect/>
          </a:stretch>
        </p:blipFill>
        <p:spPr>
          <a:xfrm>
            <a:off x="571500" y="4068366"/>
            <a:ext cx="150019" cy="150019"/>
          </a:xfrm>
          <a:prstGeom prst="rect">
            <a:avLst/>
          </a:prstGeom>
        </p:spPr>
      </p:pic>
      <p:sp>
        <p:nvSpPr>
          <p:cNvPr id="63" name="New shape"/>
          <p:cNvSpPr txBox="1"/>
          <p:nvPr/>
        </p:nvSpPr>
        <p:spPr>
          <a:xfrm>
            <a:off x="792956" y="4014788"/>
            <a:ext cx="6583680" cy="2571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192743"/>
                </a:solidFill>
                <a:latin typeface="Poppins"/>
              </a:rPr>
              <a:t>Top 3 Benchmark B2B</a:t>
            </a:r>
          </a:p>
        </p:txBody>
      </p:sp>
      <p:sp>
        <p:nvSpPr>
          <p:cNvPr id="64" name="New shape"/>
          <p:cNvSpPr/>
          <p:nvPr/>
        </p:nvSpPr>
        <p:spPr>
          <a:xfrm>
            <a:off x="457200" y="4400550"/>
            <a:ext cx="8229600" cy="0"/>
          </a:xfrm>
          <a:prstGeom prst="line">
            <a:avLst/>
          </a:prstGeom>
          <a:ln w="1270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5" name="New shape"/>
          <p:cNvSpPr/>
          <p:nvPr/>
        </p:nvSpPr>
        <p:spPr>
          <a:xfrm flipH="1">
            <a:off x="4572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0" i="0">
                <a:solidFill>
                  <a:srgbClr val="546178"/>
                </a:solidFill>
                <a:latin typeface="Poppins"/>
              </a:rPr>
              <a:t>-100</a:t>
            </a:r>
          </a:p>
        </p:txBody>
      </p:sp>
      <p:sp>
        <p:nvSpPr>
          <p:cNvPr id="67" name="New shape"/>
          <p:cNvSpPr/>
          <p:nvPr/>
        </p:nvSpPr>
        <p:spPr>
          <a:xfrm flipH="1">
            <a:off x="45720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8" name="New shape"/>
          <p:cNvSpPr txBox="1"/>
          <p:nvPr/>
        </p:nvSpPr>
        <p:spPr>
          <a:xfrm>
            <a:off x="4429125"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788" b="0" i="0">
                <a:solidFill>
                  <a:srgbClr val="546178"/>
                </a:solidFill>
                <a:latin typeface="Poppins"/>
              </a:rPr>
              <a:t>0</a:t>
            </a:r>
          </a:p>
        </p:txBody>
      </p:sp>
      <p:sp>
        <p:nvSpPr>
          <p:cNvPr id="69" name="New shape"/>
          <p:cNvSpPr/>
          <p:nvPr/>
        </p:nvSpPr>
        <p:spPr>
          <a:xfrm flipH="1">
            <a:off x="8686800" y="4329112"/>
            <a:ext cx="0" cy="71438"/>
          </a:xfrm>
          <a:prstGeom prst="line">
            <a:avLst/>
          </a:prstGeom>
          <a:ln w="8890">
            <a:solidFill>
              <a:srgbClr val="9DA4B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0" name="New shape"/>
          <p:cNvSpPr txBox="1"/>
          <p:nvPr/>
        </p:nvSpPr>
        <p:spPr>
          <a:xfrm>
            <a:off x="8401050" y="4471988"/>
            <a:ext cx="285750" cy="15716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r">
              <a:lnSpc>
                <a:spcPct val="100000"/>
              </a:lnSpc>
            </a:pPr>
            <a:r>
              <a:rPr sz="788" b="0" i="0">
                <a:solidFill>
                  <a:srgbClr val="546178"/>
                </a:solidFill>
                <a:latin typeface="Poppins"/>
              </a:rPr>
              <a:t>100</a:t>
            </a:r>
          </a:p>
        </p:txBody>
      </p:sp>
      <p:pic>
        <p:nvPicPr>
          <p:cNvPr id="71" name="New picture"/>
          <p:cNvPicPr/>
          <p:nvPr/>
        </p:nvPicPr>
        <p:blipFill>
          <a:blip>
            <a:extLst>
              <a:ext uri="{96DAC541-7B7A-43D3-8B79-37D633B846F1}">
                <asvg:svgBlip xmlns:asvg="http://schemas.microsoft.com/office/drawing/2016/SVG/main" r:embed="rId11"/>
              </a:ext>
            </a:extLst>
          </a:blip>
          <a:stretch>
            <a:fillRect/>
          </a:stretch>
        </p:blipFill>
        <p:spPr>
          <a:xfrm>
            <a:off x="114300" y="4882753"/>
            <a:ext cx="150019" cy="150019"/>
          </a:xfrm>
          <a:prstGeom prst="rect">
            <a:avLst/>
          </a:prstGeom>
        </p:spPr>
      </p:pic>
      <p:sp>
        <p:nvSpPr>
          <p:cNvPr id="72"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sp>
        <p:nvSpPr>
          <p:cNvPr id="73" name="New shape"/>
          <p:cNvSpPr txBox="1"/>
          <p:nvPr/>
        </p:nvSpPr>
        <p:spPr>
          <a:xfrm>
            <a:off x="2093119" y="4829368"/>
            <a:ext cx="3571875" cy="24250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dirty="0">
                <a:solidFill>
                  <a:srgbClr val="192743"/>
                </a:solidFill>
                <a:latin typeface="Poppins"/>
              </a:rPr>
              <a:t>Wie </a:t>
            </a:r>
            <a:r>
              <a:rPr sz="788" b="0" i="0" dirty="0" err="1">
                <a:solidFill>
                  <a:srgbClr val="192743"/>
                </a:solidFill>
                <a:latin typeface="Poppins"/>
              </a:rPr>
              <a:t>wahrscheinlich</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es, </a:t>
            </a:r>
            <a:r>
              <a:rPr sz="788" b="0" i="0" dirty="0" err="1">
                <a:solidFill>
                  <a:srgbClr val="192743"/>
                </a:solidFill>
                <a:latin typeface="Poppins"/>
              </a:rPr>
              <a:t>dass</a:t>
            </a:r>
            <a:r>
              <a:rPr sz="788" b="0" i="0" dirty="0">
                <a:solidFill>
                  <a:srgbClr val="192743"/>
                </a:solidFill>
                <a:latin typeface="Poppins"/>
              </a:rPr>
              <a:t> Sie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Arbeitgeber</a:t>
            </a:r>
            <a:r>
              <a:rPr sz="788" b="0" i="0" dirty="0">
                <a:solidFill>
                  <a:srgbClr val="192743"/>
                </a:solidFill>
                <a:latin typeface="Poppins"/>
              </a:rPr>
              <a:t> </a:t>
            </a:r>
            <a:r>
              <a:rPr sz="788" b="0" i="0" dirty="0" err="1">
                <a:solidFill>
                  <a:srgbClr val="192743"/>
                </a:solidFill>
                <a:latin typeface="Poppins"/>
              </a:rPr>
              <a:t>weiterempfehlen</a:t>
            </a:r>
            <a:r>
              <a:rPr sz="788" b="0" i="0" dirty="0">
                <a:solidFill>
                  <a:srgbClr val="192743"/>
                </a:solidFill>
                <a:latin typeface="Poppins"/>
              </a:rPr>
              <a:t>?</a:t>
            </a:r>
          </a:p>
        </p:txBody>
      </p:sp>
      <p:pic>
        <p:nvPicPr>
          <p:cNvPr id="74" name="New picture"/>
          <p:cNvPicPr/>
          <p:nvPr/>
        </p:nvPicPr>
        <p:blipFill>
          <a:blip>
            <a:extLst>
              <a:ext uri="{96DAC541-7B7A-43D3-8B79-37D633B846F1}">
                <asvg:svgBlip xmlns:asvg="http://schemas.microsoft.com/office/drawing/2016/SVG/main" r:embed="rId5"/>
              </a:ext>
            </a:extLst>
          </a:blip>
          <a:stretch>
            <a:fillRect/>
          </a:stretch>
        </p:blipFill>
        <p:spPr>
          <a:xfrm>
            <a:off x="5750719" y="4857750"/>
            <a:ext cx="171450" cy="171450"/>
          </a:xfrm>
          <a:prstGeom prst="rect">
            <a:avLst/>
          </a:prstGeom>
        </p:spPr>
      </p:pic>
      <p:sp>
        <p:nvSpPr>
          <p:cNvPr id="75" name="New shape"/>
          <p:cNvSpPr txBox="1"/>
          <p:nvPr/>
        </p:nvSpPr>
        <p:spPr>
          <a:xfrm>
            <a:off x="597931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0</a:t>
            </a:r>
          </a:p>
        </p:txBody>
      </p:sp>
      <p:sp>
        <p:nvSpPr>
          <p:cNvPr id="76" name="New shape"/>
          <p:cNvSpPr txBox="1"/>
          <p:nvPr/>
        </p:nvSpPr>
        <p:spPr>
          <a:xfrm>
            <a:off x="616505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1</a:t>
            </a:r>
          </a:p>
        </p:txBody>
      </p:sp>
      <p:sp>
        <p:nvSpPr>
          <p:cNvPr id="77" name="New shape"/>
          <p:cNvSpPr txBox="1"/>
          <p:nvPr/>
        </p:nvSpPr>
        <p:spPr>
          <a:xfrm>
            <a:off x="635079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2</a:t>
            </a:r>
          </a:p>
        </p:txBody>
      </p:sp>
      <p:sp>
        <p:nvSpPr>
          <p:cNvPr id="78" name="New shape"/>
          <p:cNvSpPr txBox="1"/>
          <p:nvPr/>
        </p:nvSpPr>
        <p:spPr>
          <a:xfrm>
            <a:off x="6536531"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3</a:t>
            </a:r>
          </a:p>
        </p:txBody>
      </p:sp>
      <p:sp>
        <p:nvSpPr>
          <p:cNvPr id="79" name="New shape"/>
          <p:cNvSpPr txBox="1"/>
          <p:nvPr/>
        </p:nvSpPr>
        <p:spPr>
          <a:xfrm>
            <a:off x="6722269"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4</a:t>
            </a:r>
          </a:p>
        </p:txBody>
      </p:sp>
      <p:sp>
        <p:nvSpPr>
          <p:cNvPr id="80" name="New shape"/>
          <p:cNvSpPr txBox="1"/>
          <p:nvPr/>
        </p:nvSpPr>
        <p:spPr>
          <a:xfrm>
            <a:off x="6908006"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5</a:t>
            </a:r>
          </a:p>
        </p:txBody>
      </p:sp>
      <p:sp>
        <p:nvSpPr>
          <p:cNvPr id="81" name="New shape"/>
          <p:cNvSpPr txBox="1"/>
          <p:nvPr/>
        </p:nvSpPr>
        <p:spPr>
          <a:xfrm>
            <a:off x="7093744" y="4857750"/>
            <a:ext cx="171450" cy="1714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E6373D"/>
                </a:solidFill>
                <a:latin typeface="Poppins"/>
              </a:rPr>
              <a:t>6</a:t>
            </a:r>
          </a:p>
        </p:txBody>
      </p:sp>
      <p:pic>
        <p:nvPicPr>
          <p:cNvPr id="82" name="New picture"/>
          <p:cNvPicPr/>
          <p:nvPr/>
        </p:nvPicPr>
        <p:blipFill>
          <a:blip>
            <a:extLst>
              <a:ext uri="{96DAC541-7B7A-43D3-8B79-37D633B846F1}">
                <asvg:svgBlip xmlns:asvg="http://schemas.microsoft.com/office/drawing/2016/SVG/main" r:embed="rId2"/>
              </a:ext>
            </a:extLst>
          </a:blip>
          <a:stretch>
            <a:fillRect/>
          </a:stretch>
        </p:blipFill>
        <p:spPr>
          <a:xfrm>
            <a:off x="7350919" y="4857750"/>
            <a:ext cx="171450" cy="171450"/>
          </a:xfrm>
          <a:prstGeom prst="rect">
            <a:avLst/>
          </a:prstGeom>
        </p:spPr>
      </p:pic>
      <p:sp>
        <p:nvSpPr>
          <p:cNvPr id="83" name="New shape"/>
          <p:cNvSpPr txBox="1"/>
          <p:nvPr/>
        </p:nvSpPr>
        <p:spPr>
          <a:xfrm>
            <a:off x="7579519"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7</a:t>
            </a:r>
          </a:p>
        </p:txBody>
      </p:sp>
      <p:sp>
        <p:nvSpPr>
          <p:cNvPr id="84" name="New shape"/>
          <p:cNvSpPr txBox="1"/>
          <p:nvPr/>
        </p:nvSpPr>
        <p:spPr>
          <a:xfrm>
            <a:off x="7765256" y="4857750"/>
            <a:ext cx="171450" cy="1714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DBA900"/>
                </a:solidFill>
                <a:latin typeface="Poppins"/>
              </a:rPr>
              <a:t>8</a:t>
            </a:r>
          </a:p>
        </p:txBody>
      </p:sp>
      <p:pic>
        <p:nvPicPr>
          <p:cNvPr id="85" name="New picture"/>
          <p:cNvPicPr/>
          <p:nvPr/>
        </p:nvPicPr>
        <p:blipFill>
          <a:blip>
            <a:extLst>
              <a:ext uri="{96DAC541-7B7A-43D3-8B79-37D633B846F1}">
                <asvg:svgBlip xmlns:asvg="http://schemas.microsoft.com/office/drawing/2016/SVG/main" r:embed="rId4"/>
              </a:ext>
            </a:extLst>
          </a:blip>
          <a:stretch>
            <a:fillRect/>
          </a:stretch>
        </p:blipFill>
        <p:spPr>
          <a:xfrm>
            <a:off x="8022431" y="4857750"/>
            <a:ext cx="171450" cy="171450"/>
          </a:xfrm>
          <a:prstGeom prst="rect">
            <a:avLst/>
          </a:prstGeom>
        </p:spPr>
      </p:pic>
      <p:sp>
        <p:nvSpPr>
          <p:cNvPr id="86" name="New shape"/>
          <p:cNvSpPr txBox="1"/>
          <p:nvPr/>
        </p:nvSpPr>
        <p:spPr>
          <a:xfrm>
            <a:off x="8251031"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9</a:t>
            </a:r>
          </a:p>
        </p:txBody>
      </p:sp>
      <p:sp>
        <p:nvSpPr>
          <p:cNvPr id="87" name="New shape"/>
          <p:cNvSpPr txBox="1"/>
          <p:nvPr/>
        </p:nvSpPr>
        <p:spPr>
          <a:xfrm>
            <a:off x="8436769" y="4857750"/>
            <a:ext cx="171450" cy="1714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675" b="1" i="0">
                <a:solidFill>
                  <a:srgbClr val="66B881"/>
                </a:solidFill>
                <a:latin typeface="Poppins"/>
              </a:rPr>
              <a:t>10</a:t>
            </a:r>
          </a:p>
        </p:txBody>
      </p:sp>
      <p:sp>
        <p:nvSpPr>
          <p:cNvPr id="8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10</a:t>
            </a:r>
          </a:p>
        </p:txBody>
      </p:sp>
      <p:sp>
        <p:nvSpPr>
          <p:cNvPr id="89"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0"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2" name="New shape"/>
          <p:cNvSpPr txBox="1"/>
          <p:nvPr/>
        </p:nvSpPr>
        <p:spPr>
          <a:xfrm flipV="1">
            <a:off x="0" y="0"/>
            <a:ext cx="203031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Net Promotor Score für Mitarbeitende</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Aufschlüsselung nach Gruppe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der eNPS-Ergebnisse zwischen allen Ihren Befragungsgruppen.</a:t>
            </a:r>
          </a:p>
        </p:txBody>
      </p:sp>
      <p:sp>
        <p:nvSpPr>
          <p:cNvPr id="4" name="New shape"/>
          <p:cNvSpPr/>
          <p:nvPr/>
        </p:nvSpPr>
        <p:spPr>
          <a:xfrm>
            <a:off x="457200" y="1314450"/>
            <a:ext cx="7572375" cy="342900"/>
          </a:xfrm>
          <a:prstGeom prst="roundRect">
            <a:avLst>
              <a:gd name="adj" fmla="val 6000"/>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600075" y="1400175"/>
            <a:ext cx="142875" cy="171450"/>
          </a:xfrm>
          <a:prstGeom prst="rect">
            <a:avLst/>
          </a:prstGeom>
        </p:spPr>
      </p:pic>
      <p:sp>
        <p:nvSpPr>
          <p:cNvPr id="6" name="New shape"/>
          <p:cNvSpPr txBox="1"/>
          <p:nvPr/>
        </p:nvSpPr>
        <p:spPr>
          <a:xfrm>
            <a:off x="814388" y="1399318"/>
            <a:ext cx="375190" cy="17316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1125" b="1" i="0">
                <a:solidFill>
                  <a:srgbClr val="1C55C7"/>
                </a:solidFill>
                <a:latin typeface="Poppins"/>
              </a:rPr>
              <a:t>eNPS</a:t>
            </a:r>
          </a:p>
        </p:txBody>
      </p:sp>
      <p:sp>
        <p:nvSpPr>
          <p:cNvPr id="7" name="New shape"/>
          <p:cNvSpPr txBox="1"/>
          <p:nvPr/>
        </p:nvSpPr>
        <p:spPr>
          <a:xfrm>
            <a:off x="7679579" y="1373343"/>
            <a:ext cx="235696" cy="225114"/>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1462" b="1" i="0">
                <a:solidFill>
                  <a:srgbClr val="1C55C7"/>
                </a:solidFill>
                <a:latin typeface="Poppins"/>
              </a:rPr>
              <a:t>35</a:t>
            </a:r>
          </a:p>
        </p:txBody>
      </p:sp>
      <p:sp>
        <p:nvSpPr>
          <p:cNvPr id="8" name="New shape"/>
          <p:cNvSpPr/>
          <p:nvPr/>
        </p:nvSpPr>
        <p:spPr>
          <a:xfrm>
            <a:off x="1303877" y="1485900"/>
            <a:ext cx="6261402" cy="0"/>
          </a:xfrm>
          <a:prstGeom prst="line">
            <a:avLst/>
          </a:prstGeom>
          <a:ln w="10160">
            <a:solidFill>
              <a:srgbClr val="5B8EF5"/>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9" name="New picture"/>
          <p:cNvPicPr/>
          <p:nvPr/>
        </p:nvPicPr>
        <p:blipFill>
          <a:blip>
            <a:extLst>
              <a:ext uri="{96DAC541-7B7A-43D3-8B79-37D633B846F1}">
                <asvg:svgBlip xmlns:asvg="http://schemas.microsoft.com/office/drawing/2016/SVG/main" r:embed="rId3"/>
              </a:ext>
            </a:extLst>
          </a:blip>
          <a:stretch>
            <a:fillRect/>
          </a:stretch>
        </p:blipFill>
        <p:spPr>
          <a:xfrm>
            <a:off x="8129588" y="1425893"/>
            <a:ext cx="120015" cy="120015"/>
          </a:xfrm>
          <a:prstGeom prst="rect">
            <a:avLst/>
          </a:prstGeom>
        </p:spPr>
      </p:pic>
      <p:sp>
        <p:nvSpPr>
          <p:cNvPr id="10" name="New shape"/>
          <p:cNvSpPr txBox="1"/>
          <p:nvPr/>
        </p:nvSpPr>
        <p:spPr>
          <a:xfrm>
            <a:off x="8321040" y="1425292"/>
            <a:ext cx="153924"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291</a:t>
            </a:r>
          </a:p>
        </p:txBody>
      </p:sp>
      <p:sp>
        <p:nvSpPr>
          <p:cNvPr id="11" name="New shape"/>
          <p:cNvSpPr txBox="1"/>
          <p:nvPr/>
        </p:nvSpPr>
        <p:spPr>
          <a:xfrm>
            <a:off x="457200" y="2131009"/>
            <a:ext cx="94438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Communication</a:t>
            </a:r>
          </a:p>
        </p:txBody>
      </p:sp>
      <p:sp>
        <p:nvSpPr>
          <p:cNvPr id="12" name="New shape"/>
          <p:cNvSpPr/>
          <p:nvPr/>
        </p:nvSpPr>
        <p:spPr>
          <a:xfrm>
            <a:off x="1458738" y="2200275"/>
            <a:ext cx="6056487"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p:cNvSpPr txBox="1"/>
          <p:nvPr/>
        </p:nvSpPr>
        <p:spPr>
          <a:xfrm>
            <a:off x="7572375" y="20574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35</a:t>
            </a:r>
          </a:p>
        </p:txBody>
      </p:sp>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8129588" y="2128361"/>
            <a:ext cx="120015" cy="120015"/>
          </a:xfrm>
          <a:prstGeom prst="rect">
            <a:avLst/>
          </a:prstGeom>
        </p:spPr>
      </p:pic>
      <p:sp>
        <p:nvSpPr>
          <p:cNvPr id="15" name="New shape"/>
          <p:cNvSpPr txBox="1"/>
          <p:nvPr/>
        </p:nvSpPr>
        <p:spPr>
          <a:xfrm>
            <a:off x="8321040" y="21277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16" name="New shape"/>
          <p:cNvSpPr txBox="1"/>
          <p:nvPr/>
        </p:nvSpPr>
        <p:spPr>
          <a:xfrm>
            <a:off x="457200" y="2473909"/>
            <a:ext cx="1080675"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Customer Success</a:t>
            </a:r>
          </a:p>
        </p:txBody>
      </p:sp>
      <p:sp>
        <p:nvSpPr>
          <p:cNvPr id="17" name="New shape"/>
          <p:cNvSpPr/>
          <p:nvPr/>
        </p:nvSpPr>
        <p:spPr>
          <a:xfrm>
            <a:off x="1595025" y="2543175"/>
            <a:ext cx="59202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8" name="New shape"/>
          <p:cNvSpPr txBox="1"/>
          <p:nvPr/>
        </p:nvSpPr>
        <p:spPr>
          <a:xfrm>
            <a:off x="7572375" y="24003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39</a:t>
            </a:r>
          </a:p>
        </p:txBody>
      </p:sp>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8129588" y="2471261"/>
            <a:ext cx="120015" cy="120015"/>
          </a:xfrm>
          <a:prstGeom prst="rect">
            <a:avLst/>
          </a:prstGeom>
        </p:spPr>
      </p:pic>
      <p:sp>
        <p:nvSpPr>
          <p:cNvPr id="20" name="New shape"/>
          <p:cNvSpPr txBox="1"/>
          <p:nvPr/>
        </p:nvSpPr>
        <p:spPr>
          <a:xfrm>
            <a:off x="8321040" y="2470661"/>
            <a:ext cx="12185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112</a:t>
            </a:r>
          </a:p>
        </p:txBody>
      </p:sp>
      <p:sp>
        <p:nvSpPr>
          <p:cNvPr id="21" name="New shape"/>
          <p:cNvSpPr txBox="1"/>
          <p:nvPr/>
        </p:nvSpPr>
        <p:spPr>
          <a:xfrm>
            <a:off x="457200" y="2816809"/>
            <a:ext cx="455358"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Finance</a:t>
            </a:r>
          </a:p>
        </p:txBody>
      </p:sp>
      <p:sp>
        <p:nvSpPr>
          <p:cNvPr id="22" name="New shape"/>
          <p:cNvSpPr/>
          <p:nvPr/>
        </p:nvSpPr>
        <p:spPr>
          <a:xfrm>
            <a:off x="969709" y="2886075"/>
            <a:ext cx="654551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txBox="1"/>
          <p:nvPr/>
        </p:nvSpPr>
        <p:spPr>
          <a:xfrm>
            <a:off x="7572375" y="27432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40</a:t>
            </a:r>
          </a:p>
        </p:txBody>
      </p:sp>
      <p:pic>
        <p:nvPicPr>
          <p:cNvPr id="24" name="New picture"/>
          <p:cNvPicPr/>
          <p:nvPr/>
        </p:nvPicPr>
        <p:blipFill>
          <a:blip>
            <a:extLst>
              <a:ext uri="{96DAC541-7B7A-43D3-8B79-37D633B846F1}">
                <asvg:svgBlip xmlns:asvg="http://schemas.microsoft.com/office/drawing/2016/SVG/main" r:embed="rId3"/>
              </a:ext>
            </a:extLst>
          </a:blip>
          <a:stretch>
            <a:fillRect/>
          </a:stretch>
        </p:blipFill>
        <p:spPr>
          <a:xfrm>
            <a:off x="8129588" y="2814161"/>
            <a:ext cx="120015" cy="120015"/>
          </a:xfrm>
          <a:prstGeom prst="rect">
            <a:avLst/>
          </a:prstGeom>
        </p:spPr>
      </p:pic>
      <p:sp>
        <p:nvSpPr>
          <p:cNvPr id="25" name="New shape"/>
          <p:cNvSpPr txBox="1"/>
          <p:nvPr/>
        </p:nvSpPr>
        <p:spPr>
          <a:xfrm>
            <a:off x="8321040" y="28135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26" name="New shape"/>
          <p:cNvSpPr txBox="1"/>
          <p:nvPr/>
        </p:nvSpPr>
        <p:spPr>
          <a:xfrm>
            <a:off x="457200" y="3159709"/>
            <a:ext cx="105341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Human Resources</a:t>
            </a:r>
          </a:p>
        </p:txBody>
      </p:sp>
      <p:sp>
        <p:nvSpPr>
          <p:cNvPr id="27" name="New shape"/>
          <p:cNvSpPr/>
          <p:nvPr/>
        </p:nvSpPr>
        <p:spPr>
          <a:xfrm>
            <a:off x="1567767" y="3228975"/>
            <a:ext cx="594745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8" name="New shape"/>
          <p:cNvSpPr txBox="1"/>
          <p:nvPr/>
        </p:nvSpPr>
        <p:spPr>
          <a:xfrm>
            <a:off x="7572375" y="30861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47</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8129588" y="3157061"/>
            <a:ext cx="120015" cy="120015"/>
          </a:xfrm>
          <a:prstGeom prst="rect">
            <a:avLst/>
          </a:prstGeom>
        </p:spPr>
      </p:pic>
      <p:sp>
        <p:nvSpPr>
          <p:cNvPr id="30" name="New shape"/>
          <p:cNvSpPr txBox="1"/>
          <p:nvPr/>
        </p:nvSpPr>
        <p:spPr>
          <a:xfrm>
            <a:off x="8321040" y="3156461"/>
            <a:ext cx="8658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17</a:t>
            </a:r>
          </a:p>
        </p:txBody>
      </p:sp>
      <p:sp>
        <p:nvSpPr>
          <p:cNvPr id="31" name="New shape"/>
          <p:cNvSpPr txBox="1"/>
          <p:nvPr/>
        </p:nvSpPr>
        <p:spPr>
          <a:xfrm>
            <a:off x="457200" y="3502609"/>
            <a:ext cx="78725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Management</a:t>
            </a:r>
          </a:p>
        </p:txBody>
      </p:sp>
      <p:sp>
        <p:nvSpPr>
          <p:cNvPr id="32" name="New shape"/>
          <p:cNvSpPr/>
          <p:nvPr/>
        </p:nvSpPr>
        <p:spPr>
          <a:xfrm>
            <a:off x="1301607" y="3571875"/>
            <a:ext cx="621361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a:off x="7572375" y="3429000"/>
            <a:ext cx="457200"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a:t>
            </a:r>
          </a:p>
        </p:txBody>
      </p:sp>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8129588" y="3511391"/>
            <a:ext cx="91440" cy="97155"/>
          </a:xfrm>
          <a:prstGeom prst="rect">
            <a:avLst/>
          </a:prstGeom>
        </p:spPr>
      </p:pic>
      <p:sp>
        <p:nvSpPr>
          <p:cNvPr id="35" name="New shape"/>
          <p:cNvSpPr/>
          <p:nvPr/>
        </p:nvSpPr>
        <p:spPr>
          <a:xfrm flipH="1">
            <a:off x="8292465" y="3499361"/>
            <a:ext cx="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endParaRPr sz="788" b="0" i="0">
              <a:solidFill>
                <a:srgbClr val="546178"/>
              </a:solidFill>
              <a:latin typeface="Poppins"/>
            </a:endParaRPr>
          </a:p>
        </p:txBody>
      </p:sp>
      <p:sp>
        <p:nvSpPr>
          <p:cNvPr id="36" name="New shape"/>
          <p:cNvSpPr txBox="1"/>
          <p:nvPr/>
        </p:nvSpPr>
        <p:spPr>
          <a:xfrm>
            <a:off x="457200" y="3845509"/>
            <a:ext cx="1029367"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Marketing &amp; Sales</a:t>
            </a:r>
          </a:p>
        </p:txBody>
      </p:sp>
      <p:sp>
        <p:nvSpPr>
          <p:cNvPr id="37" name="New shape"/>
          <p:cNvSpPr/>
          <p:nvPr/>
        </p:nvSpPr>
        <p:spPr>
          <a:xfrm>
            <a:off x="1543717" y="3914775"/>
            <a:ext cx="5971508"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8" name="New shape"/>
          <p:cNvSpPr txBox="1"/>
          <p:nvPr/>
        </p:nvSpPr>
        <p:spPr>
          <a:xfrm>
            <a:off x="7572375" y="37719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34</a:t>
            </a:r>
          </a:p>
        </p:txBody>
      </p:sp>
      <p:pic>
        <p:nvPicPr>
          <p:cNvPr id="39" name="New picture"/>
          <p:cNvPicPr/>
          <p:nvPr/>
        </p:nvPicPr>
        <p:blipFill>
          <a:blip>
            <a:extLst>
              <a:ext uri="{96DAC541-7B7A-43D3-8B79-37D633B846F1}">
                <asvg:svgBlip xmlns:asvg="http://schemas.microsoft.com/office/drawing/2016/SVG/main" r:embed="rId3"/>
              </a:ext>
            </a:extLst>
          </a:blip>
          <a:stretch>
            <a:fillRect/>
          </a:stretch>
        </p:blipFill>
        <p:spPr>
          <a:xfrm>
            <a:off x="8129588" y="3842861"/>
            <a:ext cx="120015" cy="120015"/>
          </a:xfrm>
          <a:prstGeom prst="rect">
            <a:avLst/>
          </a:prstGeom>
        </p:spPr>
      </p:pic>
      <p:sp>
        <p:nvSpPr>
          <p:cNvPr id="40" name="New shape"/>
          <p:cNvSpPr txBox="1"/>
          <p:nvPr/>
        </p:nvSpPr>
        <p:spPr>
          <a:xfrm>
            <a:off x="8321040" y="3842261"/>
            <a:ext cx="123460"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30</a:t>
            </a:r>
          </a:p>
        </p:txBody>
      </p:sp>
      <p:sp>
        <p:nvSpPr>
          <p:cNvPr id="41" name="New shape"/>
          <p:cNvSpPr txBox="1"/>
          <p:nvPr/>
        </p:nvSpPr>
        <p:spPr>
          <a:xfrm>
            <a:off x="457200" y="4188409"/>
            <a:ext cx="1372489" cy="13853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a:solidFill>
                  <a:srgbClr val="192743"/>
                </a:solidFill>
                <a:latin typeface="Poppins"/>
              </a:rPr>
              <a:t>Product &amp; Development</a:t>
            </a:r>
          </a:p>
        </p:txBody>
      </p:sp>
      <p:sp>
        <p:nvSpPr>
          <p:cNvPr id="42" name="New shape"/>
          <p:cNvSpPr/>
          <p:nvPr/>
        </p:nvSpPr>
        <p:spPr>
          <a:xfrm>
            <a:off x="1886839" y="4257675"/>
            <a:ext cx="5628386"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7572375" y="4114800"/>
            <a:ext cx="45720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900" b="1" i="0">
                <a:solidFill>
                  <a:srgbClr val="192743"/>
                </a:solidFill>
                <a:latin typeface="Poppins"/>
              </a:rPr>
              <a:t>33</a:t>
            </a:r>
          </a:p>
        </p:txBody>
      </p:sp>
      <p:pic>
        <p:nvPicPr>
          <p:cNvPr id="44" name="New picture"/>
          <p:cNvPicPr/>
          <p:nvPr/>
        </p:nvPicPr>
        <p:blipFill>
          <a:blip>
            <a:extLst>
              <a:ext uri="{96DAC541-7B7A-43D3-8B79-37D633B846F1}">
                <asvg:svgBlip xmlns:asvg="http://schemas.microsoft.com/office/drawing/2016/SVG/main" r:embed="rId3"/>
              </a:ext>
            </a:extLst>
          </a:blip>
          <a:stretch>
            <a:fillRect/>
          </a:stretch>
        </p:blipFill>
        <p:spPr>
          <a:xfrm>
            <a:off x="8129588" y="4185761"/>
            <a:ext cx="120015" cy="120015"/>
          </a:xfrm>
          <a:prstGeom prst="rect">
            <a:avLst/>
          </a:prstGeom>
        </p:spPr>
      </p:pic>
      <p:sp>
        <p:nvSpPr>
          <p:cNvPr id="45" name="New shape"/>
          <p:cNvSpPr txBox="1"/>
          <p:nvPr/>
        </p:nvSpPr>
        <p:spPr>
          <a:xfrm>
            <a:off x="8321040" y="4185161"/>
            <a:ext cx="96202"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81</a:t>
            </a:r>
          </a:p>
        </p:txBody>
      </p:sp>
      <p:pic>
        <p:nvPicPr>
          <p:cNvPr id="46"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47" name="New shape"/>
          <p:cNvSpPr txBox="1"/>
          <p:nvPr/>
        </p:nvSpPr>
        <p:spPr>
          <a:xfrm>
            <a:off x="335756" y="4897155"/>
            <a:ext cx="432911"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546178"/>
                </a:solidFill>
                <a:latin typeface="Poppins"/>
              </a:rPr>
              <a:t>Befragte</a:t>
            </a:r>
          </a:p>
        </p:txBody>
      </p:sp>
      <p:pic>
        <p:nvPicPr>
          <p:cNvPr id="48" name="New picture"/>
          <p:cNvPicPr/>
          <p:nvPr/>
        </p:nvPicPr>
        <p:blipFill>
          <a:blip>
            <a:extLst>
              <a:ext uri="{96DAC541-7B7A-43D3-8B79-37D633B846F1}">
                <asvg:svgBlip xmlns:asvg="http://schemas.microsoft.com/office/drawing/2016/SVG/main" r:embed="rId4"/>
              </a:ext>
            </a:extLst>
          </a:blip>
          <a:stretch>
            <a:fillRect/>
          </a:stretch>
        </p:blipFill>
        <p:spPr>
          <a:xfrm>
            <a:off x="1025843" y="4897041"/>
            <a:ext cx="114300" cy="121444"/>
          </a:xfrm>
          <a:prstGeom prst="rect">
            <a:avLst/>
          </a:prstGeom>
        </p:spPr>
      </p:pic>
      <p:sp>
        <p:nvSpPr>
          <p:cNvPr id="49" name="New shape"/>
          <p:cNvSpPr txBox="1"/>
          <p:nvPr/>
        </p:nvSpPr>
        <p:spPr>
          <a:xfrm>
            <a:off x="1211580"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Beteiligungsquote zu niedrig</a:t>
            </a:r>
          </a:p>
        </p:txBody>
      </p:sp>
      <p:sp>
        <p:nvSpPr>
          <p:cNvPr id="50"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11</a:t>
            </a:r>
          </a:p>
        </p:txBody>
      </p:sp>
      <p:sp>
        <p:nvSpPr>
          <p:cNvPr id="51"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2"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4" name="New shape"/>
          <p:cNvSpPr txBox="1"/>
          <p:nvPr/>
        </p:nvSpPr>
        <p:spPr>
          <a:xfrm flipV="1">
            <a:off x="0" y="0"/>
            <a:ext cx="2030317"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Net Promotor Score für Mitarbeitende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091690"/>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Die Leistungsfähigkeit Ihres Unternehmens - Gesamtprofil</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Eine Kurzanleitung:</a:t>
            </a:r>
            <a:r>
              <a:rPr sz="2250" b="1" i="0">
                <a:solidFill>
                  <a:srgbClr val="30B3AF"/>
                </a:solidFill>
                <a:latin typeface="Poppins"/>
              </a:rPr>
              <a:t> Interpretation der Ergebnisse</a:t>
            </a:r>
          </a:p>
        </p:txBody>
      </p:sp>
      <p:sp>
        <p:nvSpPr>
          <p:cNvPr id="3" name="New shape"/>
          <p:cNvSpPr txBox="1"/>
          <p:nvPr/>
        </p:nvSpPr>
        <p:spPr>
          <a:xfrm>
            <a:off x="457200" y="857250"/>
            <a:ext cx="822960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125" b="0" i="0">
                <a:solidFill>
                  <a:srgbClr val="192743"/>
                </a:solidFill>
                <a:latin typeface="Poppins"/>
              </a:rPr>
              <a:t>Verglichene Elemente und Ergebnis-Berechnung</a:t>
            </a:r>
          </a:p>
        </p:txBody>
      </p:sp>
      <p:sp>
        <p:nvSpPr>
          <p:cNvPr id="4" name="New shape"/>
          <p:cNvSpPr txBox="1"/>
          <p:nvPr/>
        </p:nvSpPr>
        <p:spPr>
          <a:xfrm>
            <a:off x="457200" y="1343025"/>
            <a:ext cx="3714750" cy="2286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1125" b="1" i="0">
                <a:solidFill>
                  <a:srgbClr val="192743"/>
                </a:solidFill>
                <a:latin typeface="Poppins"/>
              </a:rPr>
              <a:t>Top-2-Box oder Positiv-Ergebnisbereich</a:t>
            </a:r>
          </a:p>
        </p:txBody>
      </p:sp>
      <p:sp>
        <p:nvSpPr>
          <p:cNvPr id="5" name="New shape"/>
          <p:cNvSpPr txBox="1"/>
          <p:nvPr/>
        </p:nvSpPr>
        <p:spPr>
          <a:xfrm>
            <a:off x="457200" y="1628775"/>
            <a:ext cx="3714750"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Bei der Top-2-Box-Berechnung werden für das Abschlussergebnis je Frage die Prozentsätze der Personen kombiniert, die entweder „Stimme voll zu“ oder „Stimme eher zu“ ausgewählt haben.</a:t>
            </a:r>
          </a:p>
        </p:txBody>
      </p:sp>
      <p:graphicFrame>
        <p:nvGraphicFramePr>
          <p:cNvPr id="6" name="New Table"/>
          <p:cNvGraphicFramePr>
            <a:graphicFrameLocks noGrp="1"/>
          </p:cNvGraphicFramePr>
          <p:nvPr/>
        </p:nvGraphicFramePr>
        <p:xfrm>
          <a:off x="457200" y="2160270"/>
          <a:ext cx="3707606" cy="1543050"/>
        </p:xfrm>
        <a:graphic>
          <a:graphicData uri="http://schemas.openxmlformats.org/drawingml/2006/table">
            <a:tbl>
              <a:tblPr bandRow="1">
                <a:tableStyleId>{5C22544A-7EE6-4342-B048-85BDC9FD1C3A}</a:tableStyleId>
              </a:tblPr>
              <a:tblGrid>
                <a:gridCol w="2135981">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tblGrid>
              <a:tr h="257175">
                <a:tc>
                  <a:txBody>
                    <a:bodyPr/>
                    <a:lstStyle/>
                    <a:p>
                      <a:pPr algn="l"/>
                      <a:r>
                        <a:rPr sz="788" b="1" i="0">
                          <a:solidFill>
                            <a:srgbClr val="192743"/>
                          </a:solidFill>
                          <a:latin typeface="Poppins"/>
                        </a:rPr>
                        <a:t>Mögliche Antworten</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l"/>
                      <a:r>
                        <a:rPr sz="788" b="1" i="0">
                          <a:solidFill>
                            <a:srgbClr val="192743"/>
                          </a:solidFill>
                          <a:latin typeface="Poppins"/>
                        </a:rPr>
                        <a:t>Prozentuale Verteilung</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1" i="0">
                          <a:solidFill>
                            <a:srgbClr val="30B3AF"/>
                          </a:solidFill>
                          <a:latin typeface="Poppins"/>
                        </a:rPr>
                        <a:t>Stimme voll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rowSpan="2">
                  <a:txBody>
                    <a:bodyPr/>
                    <a:lstStyle/>
                    <a:p>
                      <a:pPr algn="ctr"/>
                      <a:r>
                        <a:rPr sz="788" b="1" i="0">
                          <a:solidFill>
                            <a:srgbClr val="30B3AF"/>
                          </a:solidFill>
                          <a:latin typeface="Poppins"/>
                        </a:rPr>
                        <a:t>Ja %</a:t>
                      </a:r>
                    </a:p>
                    <a:p>
                      <a:pPr algn="ctr"/>
                      <a:r>
                        <a:rPr sz="788" b="1" i="0">
                          <a:solidFill>
                            <a:srgbClr val="30B3AF"/>
                          </a:solidFill>
                          <a:latin typeface="Poppins"/>
                        </a:rPr>
                        <a:t>Top-2-Box</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1"/>
                  </a:ext>
                </a:extLst>
              </a:tr>
              <a:tr h="257175">
                <a:tc>
                  <a:txBody>
                    <a:bodyPr/>
                    <a:lstStyle/>
                    <a:p>
                      <a:pPr algn="l"/>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vMerge="1">
                  <a:txBody>
                    <a:bodyPr/>
                    <a:lstStyle/>
                    <a:p>
                      <a:pPr algn="ctr"/>
                      <a:endParaRPr sz="788" b="1" i="0">
                        <a:solidFill>
                          <a:srgbClr val="30B3AF"/>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Teils-Teils</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788" b="0" i="0">
                          <a:solidFill>
                            <a:srgbClr val="192743"/>
                          </a:solidFill>
                          <a:latin typeface="Poppins"/>
                        </a:rPr>
                        <a:t>Neutral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9FAFB"/>
                    </a:solidFill>
                  </a:tcPr>
                </a:tc>
                <a:extLst>
                  <a:ext uri="{0D108BD9-81ED-4DB2-BD59-A6C34878D82A}">
                    <a16:rowId xmlns:a16="http://schemas.microsoft.com/office/drawing/2014/main" val="10003"/>
                  </a:ext>
                </a:extLst>
              </a:tr>
              <a:tr h="257175">
                <a:tc>
                  <a:txBody>
                    <a:bodyPr/>
                    <a:lstStyle/>
                    <a:p>
                      <a:pPr algn="l"/>
                      <a:r>
                        <a:rPr sz="788" b="0" i="0">
                          <a:solidFill>
                            <a:srgbClr val="192743"/>
                          </a:solidFill>
                          <a:latin typeface="Poppins"/>
                        </a:rPr>
                        <a:t>Stimme eher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rowSpan="2">
                  <a:txBody>
                    <a:bodyPr/>
                    <a:lstStyle/>
                    <a:p>
                      <a:pPr algn="ctr"/>
                      <a:r>
                        <a:rPr sz="788" b="0" i="0">
                          <a:solidFill>
                            <a:srgbClr val="192743"/>
                          </a:solidFill>
                          <a:latin typeface="Poppins"/>
                        </a:rPr>
                        <a:t>Nein %</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4"/>
                  </a:ext>
                </a:extLst>
              </a:tr>
              <a:tr h="257175">
                <a:tc>
                  <a:txBody>
                    <a:bodyPr/>
                    <a:lstStyle/>
                    <a:p>
                      <a:pPr algn="l"/>
                      <a:r>
                        <a:rPr sz="788" b="0" i="0">
                          <a:solidFill>
                            <a:srgbClr val="192743"/>
                          </a:solidFill>
                          <a:latin typeface="Poppins"/>
                        </a:rPr>
                        <a:t>Stimme überhaupt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vMerge="1">
                  <a:txBody>
                    <a:bodyPr/>
                    <a:lstStyle/>
                    <a:p>
                      <a:pPr algn="ctr"/>
                      <a:endParaRPr sz="788" b="0" i="0">
                        <a:solidFill>
                          <a:srgbClr val="192743"/>
                        </a:solidFill>
                        <a:latin typeface="Poppins"/>
                      </a:endParaRP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5"/>
                  </a:ext>
                </a:extLst>
              </a:tr>
            </a:tbl>
          </a:graphicData>
        </a:graphic>
      </p:graphicFrame>
      <p:sp>
        <p:nvSpPr>
          <p:cNvPr id="7" name="New shape"/>
          <p:cNvSpPr txBox="1"/>
          <p:nvPr/>
        </p:nvSpPr>
        <p:spPr>
          <a:xfrm>
            <a:off x="4972050" y="1343025"/>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Beispiel für ein Fragenergebnis</a:t>
            </a:r>
          </a:p>
        </p:txBody>
      </p:sp>
      <p:graphicFrame>
        <p:nvGraphicFramePr>
          <p:cNvPr id="8" name="New Table"/>
          <p:cNvGraphicFramePr>
            <a:graphicFrameLocks noGrp="1"/>
          </p:cNvGraphicFramePr>
          <p:nvPr/>
        </p:nvGraphicFramePr>
        <p:xfrm>
          <a:off x="4972050" y="1543050"/>
          <a:ext cx="3707606" cy="1028700"/>
        </p:xfrm>
        <a:graphic>
          <a:graphicData uri="http://schemas.openxmlformats.org/drawingml/2006/table">
            <a:tbl>
              <a:tblPr bandRow="1">
                <a:tableStyleId>{5C22544A-7EE6-4342-B048-85BDC9FD1C3A}</a:tableStyleId>
              </a:tblPr>
              <a:tblGrid>
                <a:gridCol w="2150269">
                  <a:extLst>
                    <a:ext uri="{9D8B030D-6E8A-4147-A177-3AD203B41FA5}">
                      <a16:colId xmlns:a16="http://schemas.microsoft.com/office/drawing/2014/main" val="20000"/>
                    </a:ext>
                  </a:extLst>
                </a:gridCol>
                <a:gridCol w="1557338">
                  <a:extLst>
                    <a:ext uri="{9D8B030D-6E8A-4147-A177-3AD203B41FA5}">
                      <a16:colId xmlns:a16="http://schemas.microsoft.com/office/drawing/2014/main" val="20001"/>
                    </a:ext>
                  </a:extLst>
                </a:gridCol>
              </a:tblGrid>
              <a:tr h="257175">
                <a:tc>
                  <a:txBody>
                    <a:bodyPr/>
                    <a:lstStyle/>
                    <a:p>
                      <a:pPr algn="l"/>
                      <a:r>
                        <a:rPr sz="788" b="0" i="0">
                          <a:solidFill>
                            <a:srgbClr val="192743"/>
                          </a:solidFill>
                          <a:latin typeface="Poppins"/>
                        </a:rPr>
                        <a:t>Teilnehmende:r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Teilnehmende:r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voll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Teilnehmende:r 3</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Stimme eher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a:txBody>
                    <a:bodyPr/>
                    <a:lstStyle/>
                    <a:p>
                      <a:pPr algn="ctr"/>
                      <a:r>
                        <a:rPr sz="788" b="1" i="0">
                          <a:solidFill>
                            <a:srgbClr val="30B3AF"/>
                          </a:solidFill>
                          <a:latin typeface="Poppins"/>
                        </a:rPr>
                        <a:t>2 von 3 = 67 %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extLst>
                  <a:ext uri="{0D108BD9-81ED-4DB2-BD59-A6C34878D82A}">
                    <a16:rowId xmlns:a16="http://schemas.microsoft.com/office/drawing/2014/main" val="10003"/>
                  </a:ext>
                </a:extLst>
              </a:tr>
            </a:tbl>
          </a:graphicData>
        </a:graphic>
      </p:graphicFrame>
      <p:sp>
        <p:nvSpPr>
          <p:cNvPr id="9" name="New shape"/>
          <p:cNvSpPr txBox="1"/>
          <p:nvPr/>
        </p:nvSpPr>
        <p:spPr>
          <a:xfrm>
            <a:off x="4972050" y="2743200"/>
            <a:ext cx="3714750"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92743"/>
                </a:solidFill>
                <a:latin typeface="Poppins"/>
              </a:rPr>
              <a:t>Beispiel für ein Index-Ergebnis</a:t>
            </a:r>
          </a:p>
        </p:txBody>
      </p:sp>
      <p:sp>
        <p:nvSpPr>
          <p:cNvPr id="10" name="New shape"/>
          <p:cNvSpPr txBox="1"/>
          <p:nvPr/>
        </p:nvSpPr>
        <p:spPr>
          <a:xfrm>
            <a:off x="4972050" y="2943225"/>
            <a:ext cx="3714750"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Der Prozentsatz aller Personen, die bei den Fragen aller Indizes mit „Stimme eher zu“ oder „Stimme voll zu“ geantwortet haben.</a:t>
            </a:r>
          </a:p>
        </p:txBody>
      </p:sp>
      <p:graphicFrame>
        <p:nvGraphicFramePr>
          <p:cNvPr id="11" name="New Table"/>
          <p:cNvGraphicFramePr>
            <a:graphicFrameLocks noGrp="1"/>
          </p:cNvGraphicFramePr>
          <p:nvPr/>
        </p:nvGraphicFramePr>
        <p:xfrm>
          <a:off x="4972050" y="3268980"/>
          <a:ext cx="3707606" cy="1028700"/>
        </p:xfrm>
        <a:graphic>
          <a:graphicData uri="http://schemas.openxmlformats.org/drawingml/2006/table">
            <a:tbl>
              <a:tblPr bandRow="1">
                <a:tableStyleId>{5C22544A-7EE6-4342-B048-85BDC9FD1C3A}</a:tableStyleId>
              </a:tblPr>
              <a:tblGrid>
                <a:gridCol w="2157412">
                  <a:extLst>
                    <a:ext uri="{9D8B030D-6E8A-4147-A177-3AD203B41FA5}">
                      <a16:colId xmlns:a16="http://schemas.microsoft.com/office/drawing/2014/main" val="20000"/>
                    </a:ext>
                  </a:extLst>
                </a:gridCol>
                <a:gridCol w="775097">
                  <a:extLst>
                    <a:ext uri="{9D8B030D-6E8A-4147-A177-3AD203B41FA5}">
                      <a16:colId xmlns:a16="http://schemas.microsoft.com/office/drawing/2014/main" val="20001"/>
                    </a:ext>
                  </a:extLst>
                </a:gridCol>
                <a:gridCol w="775097">
                  <a:extLst>
                    <a:ext uri="{9D8B030D-6E8A-4147-A177-3AD203B41FA5}">
                      <a16:colId xmlns:a16="http://schemas.microsoft.com/office/drawing/2014/main" val="20002"/>
                    </a:ext>
                  </a:extLst>
                </a:gridCol>
              </a:tblGrid>
              <a:tr h="257175">
                <a:tc>
                  <a:txBody>
                    <a:bodyPr/>
                    <a:lstStyle/>
                    <a:p>
                      <a:pPr algn="l"/>
                      <a:r>
                        <a:rPr sz="788" b="0" i="0">
                          <a:solidFill>
                            <a:srgbClr val="192743"/>
                          </a:solidFill>
                          <a:latin typeface="Poppins"/>
                        </a:rPr>
                        <a:t>Teilnehmende</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0"/>
                  </a:ext>
                </a:extLst>
              </a:tr>
              <a:tr h="257175">
                <a:tc>
                  <a:txBody>
                    <a:bodyPr/>
                    <a:lstStyle/>
                    <a:p>
                      <a:pPr algn="l"/>
                      <a:r>
                        <a:rPr sz="788" b="0" i="0">
                          <a:solidFill>
                            <a:srgbClr val="192743"/>
                          </a:solidFill>
                          <a:latin typeface="Poppins"/>
                        </a:rPr>
                        <a:t>Index-Frage 1</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1"/>
                  </a:ext>
                </a:extLst>
              </a:tr>
              <a:tr h="257175">
                <a:tc>
                  <a:txBody>
                    <a:bodyPr/>
                    <a:lstStyle/>
                    <a:p>
                      <a:pPr algn="l"/>
                      <a:r>
                        <a:rPr sz="788" b="0" i="0">
                          <a:solidFill>
                            <a:srgbClr val="192743"/>
                          </a:solidFill>
                          <a:latin typeface="Poppins"/>
                        </a:rPr>
                        <a:t>Index-Frage 2</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0" i="0">
                          <a:solidFill>
                            <a:srgbClr val="192743"/>
                          </a:solidFill>
                          <a:latin typeface="Poppins"/>
                        </a:rPr>
                        <a:t>Stimme eher nicht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788" b="1" i="0">
                          <a:solidFill>
                            <a:srgbClr val="30B3AF"/>
                          </a:solidFill>
                          <a:latin typeface="Poppins"/>
                        </a:rPr>
                        <a:t>Stimme eher zu</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2"/>
                  </a:ext>
                </a:extLst>
              </a:tr>
              <a:tr h="257175">
                <a:tc>
                  <a:txBody>
                    <a:bodyPr/>
                    <a:lstStyle/>
                    <a:p>
                      <a:pPr algn="l"/>
                      <a:r>
                        <a:rPr sz="788" b="0" i="0">
                          <a:solidFill>
                            <a:srgbClr val="192743"/>
                          </a:solidFill>
                          <a:latin typeface="Poppins"/>
                        </a:rPr>
                        <a:t>Ja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gridSpan="2">
                  <a:txBody>
                    <a:bodyPr/>
                    <a:lstStyle/>
                    <a:p>
                      <a:pPr algn="ctr"/>
                      <a:r>
                        <a:rPr sz="788" b="1" i="0">
                          <a:solidFill>
                            <a:srgbClr val="30B3AF"/>
                          </a:solidFill>
                          <a:latin typeface="Poppins"/>
                        </a:rPr>
                        <a:t>3 von 4 = 75 %</a:t>
                      </a: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5F7FA"/>
                    </a:solidFill>
                  </a:tcPr>
                </a:tc>
                <a:tc hMerge="1">
                  <a:txBody>
                    <a:bodyPr/>
                    <a:lstStyle/>
                    <a:p>
                      <a:pPr algn="ctr"/>
                      <a:endParaRPr sz="788" b="1" i="0">
                        <a:solidFill>
                          <a:srgbClr val="30B3AF"/>
                        </a:solidFill>
                        <a:latin typeface="Poppins"/>
                      </a:endParaRPr>
                    </a:p>
                  </a:txBody>
                  <a:tcPr marL="5715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FFFFF"/>
                    </a:solidFill>
                  </a:tcPr>
                </a:tc>
                <a:extLst>
                  <a:ext uri="{0D108BD9-81ED-4DB2-BD59-A6C34878D82A}">
                    <a16:rowId xmlns:a16="http://schemas.microsoft.com/office/drawing/2014/main" val="10003"/>
                  </a:ext>
                </a:extLst>
              </a:tr>
            </a:tbl>
          </a:graphicData>
        </a:graphic>
      </p:graphicFrame>
      <p:sp>
        <p:nvSpPr>
          <p:cNvPr id="12" name="New shape"/>
          <p:cNvSpPr/>
          <p:nvPr/>
        </p:nvSpPr>
        <p:spPr>
          <a:xfrm flipH="1">
            <a:off x="4572000" y="1343025"/>
            <a:ext cx="0" cy="2954655"/>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13</a:t>
            </a:r>
          </a:p>
        </p:txBody>
      </p:sp>
      <p:pic>
        <p:nvPicPr>
          <p:cNvPr id="1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16"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Eine Kurzanleitung:</a:t>
            </a:r>
            <a:r>
              <a:rPr sz="2250" b="1" i="0">
                <a:solidFill>
                  <a:srgbClr val="30B3AF"/>
                </a:solidFill>
                <a:latin typeface="Poppins"/>
              </a:rPr>
              <a:t> Interpretation der Ergebnisse</a:t>
            </a:r>
          </a:p>
        </p:txBody>
      </p:sp>
      <p:sp>
        <p:nvSpPr>
          <p:cNvPr id="3" name="New shape"/>
          <p:cNvSpPr txBox="1"/>
          <p:nvPr/>
        </p:nvSpPr>
        <p:spPr>
          <a:xfrm>
            <a:off x="457200" y="857250"/>
            <a:ext cx="4286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Ergebnisunterschiede und Ergebnisvergleiche</a:t>
            </a:r>
          </a:p>
        </p:txBody>
      </p:sp>
      <p:sp>
        <p:nvSpPr>
          <p:cNvPr id="4" name="New shape"/>
          <p:cNvSpPr/>
          <p:nvPr/>
        </p:nvSpPr>
        <p:spPr>
          <a:xfrm>
            <a:off x="457200" y="140589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42875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20 % Punkte niedriger.</a:t>
            </a:r>
          </a:p>
        </p:txBody>
      </p:sp>
      <p:sp>
        <p:nvSpPr>
          <p:cNvPr id="6" name="New shape"/>
          <p:cNvSpPr/>
          <p:nvPr/>
        </p:nvSpPr>
        <p:spPr>
          <a:xfrm>
            <a:off x="457200" y="189166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191452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10 % Punkte niedriger.</a:t>
            </a:r>
          </a:p>
        </p:txBody>
      </p:sp>
      <p:sp>
        <p:nvSpPr>
          <p:cNvPr id="8" name="New shape"/>
          <p:cNvSpPr/>
          <p:nvPr/>
        </p:nvSpPr>
        <p:spPr>
          <a:xfrm>
            <a:off x="457200" y="237744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46030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Nicht relevant, da die Differenz kleiner als 10 % Punkte ist.</a:t>
            </a:r>
          </a:p>
        </p:txBody>
      </p:sp>
      <p:sp>
        <p:nvSpPr>
          <p:cNvPr id="10" name="New shape"/>
          <p:cNvSpPr/>
          <p:nvPr/>
        </p:nvSpPr>
        <p:spPr>
          <a:xfrm>
            <a:off x="457200" y="286321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288607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10 % Punkte höher.</a:t>
            </a:r>
          </a:p>
        </p:txBody>
      </p:sp>
      <p:sp>
        <p:nvSpPr>
          <p:cNvPr id="12" name="New shape"/>
          <p:cNvSpPr/>
          <p:nvPr/>
        </p:nvSpPr>
        <p:spPr>
          <a:xfrm>
            <a:off x="457200" y="334899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37185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Ergebnis der aktuellen Befragung ist um mindestens 20 % Punkte höher.</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Beispielergebnis</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1C55C7"/>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1C55C7"/>
                </a:solidFill>
                <a:latin typeface="Poppins"/>
              </a:rPr>
              <a:t>um 20 % Punkte höher</a:t>
            </a:r>
          </a:p>
        </p:txBody>
      </p:sp>
      <p:grpSp>
        <p:nvGrpSpPr>
          <p:cNvPr id="27" name="Group 26"/>
          <p:cNvGrpSpPr/>
          <p:nvPr/>
        </p:nvGrpSpPr>
        <p:grpSpPr>
          <a:xfrm rot="18900000">
            <a:off x="6279278" y="1899034"/>
            <a:ext cx="528574" cy="171450"/>
            <a:chOff x="5801519" y="1436688"/>
            <a:chExt cx="528574"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70463"/>
              <a:ext cx="314261"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C55C7"/>
                  </a:solidFill>
                  <a:latin typeface="Poppins"/>
                </a:rPr>
                <a:t>Aktuell</a:t>
              </a:r>
            </a:p>
          </p:txBody>
        </p:sp>
      </p:grpSp>
      <p:grpSp>
        <p:nvGrpSpPr>
          <p:cNvPr id="30" name="Group 29"/>
          <p:cNvGrpSpPr/>
          <p:nvPr/>
        </p:nvGrpSpPr>
        <p:grpSpPr>
          <a:xfrm rot="18900000">
            <a:off x="7204235" y="1840379"/>
            <a:ext cx="740950" cy="150019"/>
            <a:chOff x="6744494" y="1447403"/>
            <a:chExt cx="740950" cy="150019"/>
          </a:xfrm>
        </p:grpSpPr>
        <p:pic>
          <p:nvPicPr>
            <p:cNvPr id="31" name="New picture"/>
            <p:cNvPicPr/>
            <p:nvPr/>
          </p:nvPicPr>
          <p:blipFill>
            <a:blip>
              <a:extLst>
                <a:ext uri="{96DAC541-7B7A-43D3-8B79-37D633B846F1}">
                  <asvg:svgBlip xmlns:asvg="http://schemas.microsoft.com/office/drawing/2016/SVG/main" r:embed="rId3"/>
                </a:ext>
              </a:extLst>
            </a:blip>
            <a:stretch>
              <a:fillRect/>
            </a:stretch>
          </p:blipFill>
          <p:spPr>
            <a:xfrm>
              <a:off x="6744494" y="1447403"/>
              <a:ext cx="150019" cy="150019"/>
            </a:xfrm>
            <a:prstGeom prst="rect">
              <a:avLst/>
            </a:prstGeom>
          </p:spPr>
        </p:pic>
        <p:sp>
          <p:nvSpPr>
            <p:cNvPr id="32" name="New shape"/>
            <p:cNvSpPr txBox="1"/>
            <p:nvPr/>
          </p:nvSpPr>
          <p:spPr>
            <a:xfrm>
              <a:off x="6965950" y="1470463"/>
              <a:ext cx="519493"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Benchmark</a:t>
              </a:r>
            </a:p>
          </p:txBody>
        </p:sp>
      </p:grpSp>
      <p:grpSp>
        <p:nvGrpSpPr>
          <p:cNvPr id="33" name="Group 32"/>
          <p:cNvGrpSpPr/>
          <p:nvPr/>
        </p:nvGrpSpPr>
        <p:grpSpPr>
          <a:xfrm rot="18900000">
            <a:off x="8134410" y="1809479"/>
            <a:ext cx="835549" cy="150019"/>
            <a:chOff x="7687469" y="1447403"/>
            <a:chExt cx="835549" cy="150019"/>
          </a:xfrm>
        </p:grpSpPr>
        <p:pic>
          <p:nvPicPr>
            <p:cNvPr id="34" name="New picture"/>
            <p:cNvPicPr/>
            <p:nvPr/>
          </p:nvPicPr>
          <p:blipFill>
            <a:blip>
              <a:extLst>
                <a:ext uri="{96DAC541-7B7A-43D3-8B79-37D633B846F1}">
                  <asvg:svgBlip xmlns:asvg="http://schemas.microsoft.com/office/drawing/2016/SVG/main" r:embed="rId4"/>
                </a:ext>
              </a:extLst>
            </a:blip>
            <a:stretch>
              <a:fillRect/>
            </a:stretch>
          </p:blipFill>
          <p:spPr>
            <a:xfrm>
              <a:off x="7687469" y="1447403"/>
              <a:ext cx="150019" cy="150019"/>
            </a:xfrm>
            <a:prstGeom prst="rect">
              <a:avLst/>
            </a:prstGeom>
          </p:spPr>
        </p:pic>
        <p:sp>
          <p:nvSpPr>
            <p:cNvPr id="35" name="New shape"/>
            <p:cNvSpPr txBox="1"/>
            <p:nvPr/>
          </p:nvSpPr>
          <p:spPr>
            <a:xfrm>
              <a:off x="7908925" y="1470463"/>
              <a:ext cx="614093" cy="1038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675" b="1" i="0">
                  <a:solidFill>
                    <a:srgbClr val="192743"/>
                  </a:solidFill>
                  <a:latin typeface="Poppins"/>
                </a:rPr>
                <a:t>Unternehmen</a:t>
              </a:r>
            </a:p>
          </p:txBody>
        </p:sp>
      </p:grpSp>
      <p:sp>
        <p:nvSpPr>
          <p:cNvPr id="36"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Signifikanz (*)</a:t>
            </a:r>
          </a:p>
        </p:txBody>
      </p:sp>
      <p:sp>
        <p:nvSpPr>
          <p:cNvPr id="37" name="New shape"/>
          <p:cNvSpPr txBox="1"/>
          <p:nvPr/>
        </p:nvSpPr>
        <p:spPr>
          <a:xfrm>
            <a:off x="4029075" y="4254817"/>
            <a:ext cx="4029075" cy="72009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Anhand der Signifikanz kann man feststellen, ob der Unterschied zwischen zwei Ergebnissen bedeutsam ist oder auf Zufall beruht. Ein Ergebnis, das mit einem Sternchen markiert wurde, bedeutet, dass der Unterschied zwischen diesem Ergebnis und dem Ergebnis von Aktuell als signifikant betrachtet werden kann. Es symbolisiert demnach einen Unterschied, dem Beachtung geschenkt werden sollte.</a:t>
            </a:r>
          </a:p>
        </p:txBody>
      </p:sp>
      <p:sp>
        <p:nvSpPr>
          <p:cNvPr id="38"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14</a:t>
            </a:r>
          </a:p>
        </p:txBody>
      </p:sp>
      <p:pic>
        <p:nvPicPr>
          <p:cNvPr id="39" name="New picture"/>
          <p:cNvPicPr/>
          <p:nvPr/>
        </p:nvPicPr>
        <p:blipFill>
          <a:blip>
            <a:extLst>
              <a:ext uri="{96DAC541-7B7A-43D3-8B79-37D633B846F1}">
                <asvg:svgBlip xmlns:asvg="http://schemas.microsoft.com/office/drawing/2016/SVG/main" r:embed="rId5"/>
              </a:ext>
            </a:extLst>
          </a:blip>
          <a:stretch>
            <a:fillRect/>
          </a:stretch>
        </p:blipFill>
        <p:spPr>
          <a:xfrm>
            <a:off x="8829675" y="147661"/>
            <a:ext cx="217884" cy="217884"/>
          </a:xfrm>
          <a:prstGeom prst="rect">
            <a:avLst/>
          </a:prstGeom>
        </p:spPr>
      </p:pic>
      <p:sp>
        <p:nvSpPr>
          <p:cNvPr id="41"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Der derzeitige Stand</a:t>
            </a:r>
          </a:p>
        </p:txBody>
      </p:sp>
      <p:sp>
        <p:nvSpPr>
          <p:cNvPr id="3" name="New shape"/>
          <p:cNvSpPr txBox="1"/>
          <p:nvPr/>
        </p:nvSpPr>
        <p:spPr>
          <a:xfrm>
            <a:off x="457200" y="1028700"/>
            <a:ext cx="3793331" cy="36004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0" i="0">
                <a:solidFill>
                  <a:srgbClr val="192743"/>
                </a:solidFill>
                <a:latin typeface="Poppins"/>
              </a:rPr>
              <a:t>Das Engagement der Mitarbeitenden und die Qualität der Leistungsumgebung sind entscheidend für Spitzenleistungen, Innovationskraft und hohe Anpassungsfähigkeit.</a:t>
            </a:r>
          </a:p>
        </p:txBody>
      </p:sp>
      <p:sp>
        <p:nvSpPr>
          <p:cNvPr id="4" name="New shape"/>
          <p:cNvSpPr txBox="1"/>
          <p:nvPr/>
        </p:nvSpPr>
        <p:spPr>
          <a:xfrm>
            <a:off x="742950" y="1531620"/>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Effektiv</a:t>
            </a:r>
          </a:p>
        </p:txBody>
      </p:sp>
      <p:sp>
        <p:nvSpPr>
          <p:cNvPr id="5" name="New shape"/>
          <p:cNvSpPr/>
          <p:nvPr/>
        </p:nvSpPr>
        <p:spPr>
          <a:xfrm>
            <a:off x="457200" y="1531620"/>
            <a:ext cx="171450" cy="171450"/>
          </a:xfrm>
          <a:prstGeom prst="roundRect">
            <a:avLst/>
          </a:prstGeom>
          <a:solidFill>
            <a:srgbClr val="2DAC6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txBox="1"/>
          <p:nvPr/>
        </p:nvSpPr>
        <p:spPr>
          <a:xfrm>
            <a:off x="742950" y="1680210"/>
            <a:ext cx="3507581"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Da das Leistungsumfeld ausgezeichnet ist, sind die besten Voraussetzungen für Engagement gegeben. Arbeiten Sie daran, Ihre Stärken zu festigen und weiterzuentwickeln!</a:t>
            </a:r>
          </a:p>
        </p:txBody>
      </p:sp>
      <p:sp>
        <p:nvSpPr>
          <p:cNvPr id="7" name="New shape"/>
          <p:cNvSpPr txBox="1"/>
          <p:nvPr/>
        </p:nvSpPr>
        <p:spPr>
          <a:xfrm>
            <a:off x="742950" y="2188845"/>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Ineffektiv</a:t>
            </a:r>
          </a:p>
        </p:txBody>
      </p:sp>
      <p:sp>
        <p:nvSpPr>
          <p:cNvPr id="8" name="New shape"/>
          <p:cNvSpPr/>
          <p:nvPr/>
        </p:nvSpPr>
        <p:spPr>
          <a:xfrm>
            <a:off x="457200" y="2188845"/>
            <a:ext cx="171450" cy="171450"/>
          </a:xfrm>
          <a:prstGeom prst="roundRect">
            <a:avLst/>
          </a:prstGeom>
          <a:solidFill>
            <a:srgbClr val="D01F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742950" y="2337435"/>
            <a:ext cx="3507581"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Fokussieren Sie sich darauf, die Qualität des Leistungsumfeldes kontinuierlich zu verbessern – insbesondere in Bereichen, die entscheidend für Engagement und Leistung sind.</a:t>
            </a:r>
          </a:p>
        </p:txBody>
      </p:sp>
      <p:sp>
        <p:nvSpPr>
          <p:cNvPr id="10" name="New shape"/>
          <p:cNvSpPr txBox="1"/>
          <p:nvPr/>
        </p:nvSpPr>
        <p:spPr>
          <a:xfrm>
            <a:off x="742950" y="2846070"/>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Nicht vollständig genutzt</a:t>
            </a:r>
          </a:p>
        </p:txBody>
      </p:sp>
      <p:sp>
        <p:nvSpPr>
          <p:cNvPr id="11" name="New shape"/>
          <p:cNvSpPr/>
          <p:nvPr/>
        </p:nvSpPr>
        <p:spPr>
          <a:xfrm>
            <a:off x="457200" y="2846070"/>
            <a:ext cx="171450" cy="171450"/>
          </a:xfrm>
          <a:prstGeom prst="roundRect">
            <a:avLst/>
          </a:prstGeom>
          <a:solidFill>
            <a:srgbClr val="FFA11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742950" y="2994660"/>
            <a:ext cx="3507581"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Mitarbeitende sind zwar engagiert, haben aber Schwierigkeiten, ihr Bestes zu geben. Verbessern Sie die Qualität des Leistungsumfeldes, damit die Gruppe wachsen und sich weiterentwickeln kann.</a:t>
            </a:r>
          </a:p>
        </p:txBody>
      </p:sp>
      <p:sp>
        <p:nvSpPr>
          <p:cNvPr id="13" name="New shape"/>
          <p:cNvSpPr txBox="1"/>
          <p:nvPr/>
        </p:nvSpPr>
        <p:spPr>
          <a:xfrm>
            <a:off x="742950" y="3503295"/>
            <a:ext cx="3507581"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92743"/>
                </a:solidFill>
                <a:latin typeface="Poppins"/>
              </a:rPr>
              <a:t>Distanziert</a:t>
            </a:r>
          </a:p>
        </p:txBody>
      </p:sp>
      <p:sp>
        <p:nvSpPr>
          <p:cNvPr id="14" name="New shape"/>
          <p:cNvSpPr/>
          <p:nvPr/>
        </p:nvSpPr>
        <p:spPr>
          <a:xfrm>
            <a:off x="457200" y="3503295"/>
            <a:ext cx="171450" cy="171450"/>
          </a:xfrm>
          <a:prstGeom prst="roundRect">
            <a:avLst/>
          </a:prstGeom>
          <a:solidFill>
            <a:srgbClr val="CFD4D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742950" y="3651885"/>
            <a:ext cx="3507581"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675" b="0" i="0">
                <a:solidFill>
                  <a:srgbClr val="192743"/>
                </a:solidFill>
                <a:latin typeface="Poppins"/>
              </a:rPr>
              <a:t>Ihre Qualität des Leistungsumfeldes ist hervorragend – machen Sie weiter so! Analysieren Sie die Bereiche, die das Mitarbeiter-Engagement besonders prägen, und nutzen Sie Chancen zur Verbesserung.</a:t>
            </a:r>
          </a:p>
        </p:txBody>
      </p:sp>
      <p:sp>
        <p:nvSpPr>
          <p:cNvPr id="16" name="New shape"/>
          <p:cNvSpPr/>
          <p:nvPr/>
        </p:nvSpPr>
        <p:spPr>
          <a:xfrm flipH="1">
            <a:off x="4536281" y="1028700"/>
            <a:ext cx="0" cy="34861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p:nvPr/>
        </p:nvSpPr>
        <p:spPr>
          <a:xfrm>
            <a:off x="5557838" y="1028700"/>
            <a:ext cx="1478756" cy="1478756"/>
          </a:xfrm>
          <a:prstGeom prst="roundRect">
            <a:avLst>
              <a:gd name="adj" fmla="val 3000"/>
            </a:avLst>
          </a:prstGeom>
          <a:gradFill>
            <a:gsLst>
              <a:gs pos="70000">
                <a:srgbClr val="CFD4DC"/>
              </a:gs>
              <a:gs pos="0">
                <a:srgbClr val="FFFFFF"/>
              </a:gs>
            </a:gsLst>
            <a:lin ang="135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7065169" y="1028700"/>
            <a:ext cx="1478756" cy="1478756"/>
          </a:xfrm>
          <a:prstGeom prst="roundRect">
            <a:avLst>
              <a:gd name="adj" fmla="val 3000"/>
            </a:avLst>
          </a:prstGeom>
          <a:gradFill>
            <a:gsLst>
              <a:gs pos="70000">
                <a:srgbClr val="2DAC6F"/>
              </a:gs>
              <a:gs pos="0">
                <a:srgbClr val="FFFFFF"/>
              </a:gs>
            </a:gsLst>
            <a:lin ang="189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New shape"/>
          <p:cNvSpPr/>
          <p:nvPr/>
        </p:nvSpPr>
        <p:spPr>
          <a:xfrm>
            <a:off x="5557838" y="2536031"/>
            <a:ext cx="1478756" cy="1478756"/>
          </a:xfrm>
          <a:prstGeom prst="roundRect">
            <a:avLst>
              <a:gd name="adj" fmla="val 3000"/>
            </a:avLst>
          </a:prstGeom>
          <a:gradFill>
            <a:gsLst>
              <a:gs pos="70000">
                <a:srgbClr val="D01F1F"/>
              </a:gs>
              <a:gs pos="0">
                <a:srgbClr val="FFFFFF"/>
              </a:gs>
            </a:gsLst>
            <a:lin ang="81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7065169" y="2536031"/>
            <a:ext cx="1478756" cy="1478756"/>
          </a:xfrm>
          <a:prstGeom prst="roundRect">
            <a:avLst>
              <a:gd name="adj" fmla="val 3000"/>
            </a:avLst>
          </a:prstGeom>
          <a:gradFill>
            <a:gsLst>
              <a:gs pos="70000">
                <a:srgbClr val="FFA113"/>
              </a:gs>
              <a:gs pos="0">
                <a:srgbClr val="FFFFFF"/>
              </a:gs>
            </a:gsLst>
            <a:lin ang="2700000"/>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300662"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0</a:t>
            </a:r>
          </a:p>
        </p:txBody>
      </p:sp>
      <p:sp>
        <p:nvSpPr>
          <p:cNvPr id="22" name="New shape"/>
          <p:cNvSpPr txBox="1"/>
          <p:nvPr/>
        </p:nvSpPr>
        <p:spPr>
          <a:xfrm>
            <a:off x="5685404"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10</a:t>
            </a:r>
          </a:p>
        </p:txBody>
      </p:sp>
      <p:sp>
        <p:nvSpPr>
          <p:cNvPr id="23" name="New shape"/>
          <p:cNvSpPr txBox="1"/>
          <p:nvPr/>
        </p:nvSpPr>
        <p:spPr>
          <a:xfrm>
            <a:off x="5898697"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20</a:t>
            </a:r>
          </a:p>
        </p:txBody>
      </p:sp>
      <p:sp>
        <p:nvSpPr>
          <p:cNvPr id="24" name="New shape"/>
          <p:cNvSpPr txBox="1"/>
          <p:nvPr/>
        </p:nvSpPr>
        <p:spPr>
          <a:xfrm>
            <a:off x="611198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30</a:t>
            </a:r>
          </a:p>
        </p:txBody>
      </p:sp>
      <p:sp>
        <p:nvSpPr>
          <p:cNvPr id="25" name="New shape"/>
          <p:cNvSpPr txBox="1"/>
          <p:nvPr/>
        </p:nvSpPr>
        <p:spPr>
          <a:xfrm>
            <a:off x="6325281"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40</a:t>
            </a:r>
          </a:p>
        </p:txBody>
      </p:sp>
      <p:sp>
        <p:nvSpPr>
          <p:cNvPr id="26" name="New shape"/>
          <p:cNvSpPr txBox="1"/>
          <p:nvPr/>
        </p:nvSpPr>
        <p:spPr>
          <a:xfrm>
            <a:off x="6538572"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50</a:t>
            </a:r>
          </a:p>
        </p:txBody>
      </p:sp>
      <p:sp>
        <p:nvSpPr>
          <p:cNvPr id="27" name="New shape"/>
          <p:cNvSpPr txBox="1"/>
          <p:nvPr/>
        </p:nvSpPr>
        <p:spPr>
          <a:xfrm>
            <a:off x="6751864"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60</a:t>
            </a:r>
          </a:p>
        </p:txBody>
      </p:sp>
      <p:sp>
        <p:nvSpPr>
          <p:cNvPr id="28" name="New shape"/>
          <p:cNvSpPr txBox="1"/>
          <p:nvPr/>
        </p:nvSpPr>
        <p:spPr>
          <a:xfrm>
            <a:off x="6965156"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70</a:t>
            </a:r>
          </a:p>
        </p:txBody>
      </p:sp>
      <p:sp>
        <p:nvSpPr>
          <p:cNvPr id="29" name="New shape"/>
          <p:cNvSpPr txBox="1"/>
          <p:nvPr/>
        </p:nvSpPr>
        <p:spPr>
          <a:xfrm>
            <a:off x="746283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80</a:t>
            </a:r>
          </a:p>
        </p:txBody>
      </p:sp>
      <p:sp>
        <p:nvSpPr>
          <p:cNvPr id="30" name="New shape"/>
          <p:cNvSpPr txBox="1"/>
          <p:nvPr/>
        </p:nvSpPr>
        <p:spPr>
          <a:xfrm>
            <a:off x="7960518"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90</a:t>
            </a:r>
          </a:p>
        </p:txBody>
      </p:sp>
      <p:sp>
        <p:nvSpPr>
          <p:cNvPr id="31" name="New shape"/>
          <p:cNvSpPr txBox="1"/>
          <p:nvPr/>
        </p:nvSpPr>
        <p:spPr>
          <a:xfrm>
            <a:off x="8458200" y="41005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ctr">
              <a:lnSpc>
                <a:spcPct val="100000"/>
              </a:lnSpc>
            </a:pPr>
            <a:r>
              <a:rPr sz="675" b="0" i="0">
                <a:solidFill>
                  <a:srgbClr val="192743"/>
                </a:solidFill>
                <a:latin typeface="Poppins"/>
              </a:rPr>
              <a:t>100</a:t>
            </a:r>
          </a:p>
        </p:txBody>
      </p:sp>
      <p:sp>
        <p:nvSpPr>
          <p:cNvPr id="32" name="New shape"/>
          <p:cNvSpPr txBox="1"/>
          <p:nvPr/>
        </p:nvSpPr>
        <p:spPr>
          <a:xfrm>
            <a:off x="5300662" y="380450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10</a:t>
            </a:r>
          </a:p>
        </p:txBody>
      </p:sp>
      <p:sp>
        <p:nvSpPr>
          <p:cNvPr id="33" name="New shape"/>
          <p:cNvSpPr txBox="1"/>
          <p:nvPr/>
        </p:nvSpPr>
        <p:spPr>
          <a:xfrm>
            <a:off x="5300662" y="3594212"/>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20</a:t>
            </a:r>
          </a:p>
        </p:txBody>
      </p:sp>
      <p:sp>
        <p:nvSpPr>
          <p:cNvPr id="34" name="New shape"/>
          <p:cNvSpPr txBox="1"/>
          <p:nvPr/>
        </p:nvSpPr>
        <p:spPr>
          <a:xfrm>
            <a:off x="5300662" y="3383924"/>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30</a:t>
            </a:r>
          </a:p>
        </p:txBody>
      </p:sp>
      <p:sp>
        <p:nvSpPr>
          <p:cNvPr id="35" name="New shape"/>
          <p:cNvSpPr txBox="1"/>
          <p:nvPr/>
        </p:nvSpPr>
        <p:spPr>
          <a:xfrm>
            <a:off x="5300662" y="3173636"/>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40</a:t>
            </a:r>
          </a:p>
        </p:txBody>
      </p:sp>
      <p:sp>
        <p:nvSpPr>
          <p:cNvPr id="36" name="New shape"/>
          <p:cNvSpPr txBox="1"/>
          <p:nvPr/>
        </p:nvSpPr>
        <p:spPr>
          <a:xfrm>
            <a:off x="5300662" y="2963348"/>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50</a:t>
            </a:r>
          </a:p>
        </p:txBody>
      </p:sp>
      <p:sp>
        <p:nvSpPr>
          <p:cNvPr id="37" name="New shape"/>
          <p:cNvSpPr txBox="1"/>
          <p:nvPr/>
        </p:nvSpPr>
        <p:spPr>
          <a:xfrm>
            <a:off x="5300662" y="275306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60</a:t>
            </a:r>
          </a:p>
        </p:txBody>
      </p:sp>
      <p:sp>
        <p:nvSpPr>
          <p:cNvPr id="38" name="New shape"/>
          <p:cNvSpPr txBox="1"/>
          <p:nvPr/>
        </p:nvSpPr>
        <p:spPr>
          <a:xfrm>
            <a:off x="5300662" y="2542773"/>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70</a:t>
            </a:r>
          </a:p>
        </p:txBody>
      </p:sp>
      <p:sp>
        <p:nvSpPr>
          <p:cNvPr id="39" name="New shape"/>
          <p:cNvSpPr txBox="1"/>
          <p:nvPr/>
        </p:nvSpPr>
        <p:spPr>
          <a:xfrm>
            <a:off x="5300662" y="2058385"/>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80</a:t>
            </a:r>
          </a:p>
        </p:txBody>
      </p:sp>
      <p:sp>
        <p:nvSpPr>
          <p:cNvPr id="40" name="New shape"/>
          <p:cNvSpPr txBox="1"/>
          <p:nvPr/>
        </p:nvSpPr>
        <p:spPr>
          <a:xfrm>
            <a:off x="5300662" y="1543543"/>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90</a:t>
            </a:r>
          </a:p>
        </p:txBody>
      </p:sp>
      <p:sp>
        <p:nvSpPr>
          <p:cNvPr id="41" name="New shape"/>
          <p:cNvSpPr txBox="1"/>
          <p:nvPr/>
        </p:nvSpPr>
        <p:spPr>
          <a:xfrm>
            <a:off x="5300662" y="1028700"/>
            <a:ext cx="17145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r">
              <a:lnSpc>
                <a:spcPct val="100000"/>
              </a:lnSpc>
            </a:pPr>
            <a:r>
              <a:rPr sz="675" b="0" i="0">
                <a:solidFill>
                  <a:srgbClr val="192743"/>
                </a:solidFill>
                <a:latin typeface="Poppins"/>
              </a:rPr>
              <a:t>100</a:t>
            </a:r>
          </a:p>
        </p:txBody>
      </p:sp>
      <p:grpSp>
        <p:nvGrpSpPr>
          <p:cNvPr id="46" name="Group 45"/>
          <p:cNvGrpSpPr/>
          <p:nvPr/>
        </p:nvGrpSpPr>
        <p:grpSpPr>
          <a:xfrm>
            <a:off x="4786312" y="1285875"/>
            <a:ext cx="428625" cy="200025"/>
            <a:chOff x="4151312" y="650875"/>
            <a:chExt cx="428625" cy="200025"/>
          </a:xfrm>
        </p:grpSpPr>
        <p:sp>
          <p:nvSpPr>
            <p:cNvPr id="47" name="New shape"/>
            <p:cNvSpPr/>
            <p:nvPr/>
          </p:nvSpPr>
          <p:spPr>
            <a:xfrm>
              <a:off x="4151312" y="650875"/>
              <a:ext cx="37147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8" name="New picture"/>
            <p:cNvPicPr/>
            <p:nvPr/>
          </p:nvPicPr>
          <p:blipFill>
            <a:blip>
              <a:extLst>
                <a:ext uri="{96DAC541-7B7A-43D3-8B79-37D633B846F1}">
                  <asvg:svgBlip xmlns:asvg="http://schemas.microsoft.com/office/drawing/2016/SVG/main" r:embed="rId2"/>
                </a:ext>
              </a:extLst>
            </a:blip>
            <a:stretch>
              <a:fillRect/>
            </a:stretch>
          </p:blipFill>
          <p:spPr>
            <a:xfrm>
              <a:off x="4208462" y="698381"/>
              <a:ext cx="105013" cy="105013"/>
            </a:xfrm>
            <a:prstGeom prst="rect">
              <a:avLst/>
            </a:prstGeom>
          </p:spPr>
        </p:pic>
        <p:sp>
          <p:nvSpPr>
            <p:cNvPr id="49" name="New shape"/>
            <p:cNvSpPr txBox="1"/>
            <p:nvPr/>
          </p:nvSpPr>
          <p:spPr>
            <a:xfrm>
              <a:off x="4351338" y="693738"/>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72</a:t>
              </a:r>
            </a:p>
          </p:txBody>
        </p:sp>
      </p:grpSp>
      <p:grpSp>
        <p:nvGrpSpPr>
          <p:cNvPr id="50" name="Group 49"/>
          <p:cNvGrpSpPr/>
          <p:nvPr/>
        </p:nvGrpSpPr>
        <p:grpSpPr>
          <a:xfrm>
            <a:off x="6886575" y="4321969"/>
            <a:ext cx="428625" cy="200025"/>
            <a:chOff x="6251575" y="3686969"/>
            <a:chExt cx="428625" cy="200025"/>
          </a:xfrm>
        </p:grpSpPr>
        <p:sp>
          <p:nvSpPr>
            <p:cNvPr id="51" name="New shape"/>
            <p:cNvSpPr/>
            <p:nvPr/>
          </p:nvSpPr>
          <p:spPr>
            <a:xfrm>
              <a:off x="6251575" y="3686969"/>
              <a:ext cx="37147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2"/>
                </a:ext>
              </a:extLst>
            </a:blip>
            <a:stretch>
              <a:fillRect/>
            </a:stretch>
          </p:blipFill>
          <p:spPr>
            <a:xfrm>
              <a:off x="6308725" y="3734475"/>
              <a:ext cx="105013" cy="105013"/>
            </a:xfrm>
            <a:prstGeom prst="rect">
              <a:avLst/>
            </a:prstGeom>
          </p:spPr>
        </p:pic>
        <p:sp>
          <p:nvSpPr>
            <p:cNvPr id="53" name="New shape"/>
            <p:cNvSpPr txBox="1"/>
            <p:nvPr/>
          </p:nvSpPr>
          <p:spPr>
            <a:xfrm>
              <a:off x="6451600"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70</a:t>
              </a:r>
            </a:p>
          </p:txBody>
        </p:sp>
      </p:grpSp>
      <p:sp>
        <p:nvSpPr>
          <p:cNvPr id="54" name="New shape"/>
          <p:cNvSpPr/>
          <p:nvPr/>
        </p:nvSpPr>
        <p:spPr>
          <a:xfrm flipH="1">
            <a:off x="7050881" y="1028700"/>
            <a:ext cx="0" cy="2986088"/>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5" name="New shape"/>
          <p:cNvSpPr/>
          <p:nvPr/>
        </p:nvSpPr>
        <p:spPr>
          <a:xfrm>
            <a:off x="5557838" y="2521744"/>
            <a:ext cx="2986088" cy="0"/>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pSp>
        <p:nvGrpSpPr>
          <p:cNvPr id="60" name="Group 59"/>
          <p:cNvGrpSpPr/>
          <p:nvPr/>
        </p:nvGrpSpPr>
        <p:grpSpPr>
          <a:xfrm>
            <a:off x="4786312" y="1543050"/>
            <a:ext cx="428625" cy="200025"/>
            <a:chOff x="4151312" y="908050"/>
            <a:chExt cx="428625" cy="200025"/>
          </a:xfrm>
        </p:grpSpPr>
        <p:sp>
          <p:nvSpPr>
            <p:cNvPr id="61" name="New shape"/>
            <p:cNvSpPr/>
            <p:nvPr/>
          </p:nvSpPr>
          <p:spPr>
            <a:xfrm>
              <a:off x="4151312" y="908050"/>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2" name="New picture"/>
            <p:cNvPicPr/>
            <p:nvPr/>
          </p:nvPicPr>
          <p:blipFill>
            <a:blip>
              <a:extLst>
                <a:ext uri="{96DAC541-7B7A-43D3-8B79-37D633B846F1}">
                  <asvg:svgBlip xmlns:asvg="http://schemas.microsoft.com/office/drawing/2016/SVG/main" r:embed="rId3"/>
                </a:ext>
              </a:extLst>
            </a:blip>
            <a:stretch>
              <a:fillRect/>
            </a:stretch>
          </p:blipFill>
          <p:spPr>
            <a:xfrm>
              <a:off x="4208462" y="955556"/>
              <a:ext cx="105013" cy="105013"/>
            </a:xfrm>
            <a:prstGeom prst="rect">
              <a:avLst/>
            </a:prstGeom>
          </p:spPr>
        </p:pic>
        <p:sp>
          <p:nvSpPr>
            <p:cNvPr id="63" name="New shape"/>
            <p:cNvSpPr txBox="1"/>
            <p:nvPr/>
          </p:nvSpPr>
          <p:spPr>
            <a:xfrm>
              <a:off x="4351338" y="950912"/>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71</a:t>
              </a:r>
            </a:p>
          </p:txBody>
        </p:sp>
      </p:grpSp>
      <p:grpSp>
        <p:nvGrpSpPr>
          <p:cNvPr id="64" name="Group 63"/>
          <p:cNvGrpSpPr/>
          <p:nvPr/>
        </p:nvGrpSpPr>
        <p:grpSpPr>
          <a:xfrm>
            <a:off x="7315200" y="4321969"/>
            <a:ext cx="428625" cy="200025"/>
            <a:chOff x="6680200" y="3686969"/>
            <a:chExt cx="428625" cy="200025"/>
          </a:xfrm>
        </p:grpSpPr>
        <p:sp>
          <p:nvSpPr>
            <p:cNvPr id="65" name="New shape"/>
            <p:cNvSpPr/>
            <p:nvPr/>
          </p:nvSpPr>
          <p:spPr>
            <a:xfrm>
              <a:off x="6680200" y="3686969"/>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6" name="New picture"/>
            <p:cNvPicPr/>
            <p:nvPr/>
          </p:nvPicPr>
          <p:blipFill>
            <a:blip>
              <a:extLst>
                <a:ext uri="{96DAC541-7B7A-43D3-8B79-37D633B846F1}">
                  <asvg:svgBlip xmlns:asvg="http://schemas.microsoft.com/office/drawing/2016/SVG/main" r:embed="rId3"/>
                </a:ext>
              </a:extLst>
            </a:blip>
            <a:stretch>
              <a:fillRect/>
            </a:stretch>
          </p:blipFill>
          <p:spPr>
            <a:xfrm>
              <a:off x="6737350" y="3734475"/>
              <a:ext cx="105013" cy="105013"/>
            </a:xfrm>
            <a:prstGeom prst="rect">
              <a:avLst/>
            </a:prstGeom>
          </p:spPr>
        </p:pic>
        <p:sp>
          <p:nvSpPr>
            <p:cNvPr id="67" name="New shape"/>
            <p:cNvSpPr txBox="1"/>
            <p:nvPr/>
          </p:nvSpPr>
          <p:spPr>
            <a:xfrm>
              <a:off x="6880225"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79</a:t>
              </a:r>
            </a:p>
          </p:txBody>
        </p:sp>
      </p:grpSp>
      <p:grpSp>
        <p:nvGrpSpPr>
          <p:cNvPr id="72" name="Group 71"/>
          <p:cNvGrpSpPr/>
          <p:nvPr/>
        </p:nvGrpSpPr>
        <p:grpSpPr>
          <a:xfrm>
            <a:off x="4786312" y="1800225"/>
            <a:ext cx="428625" cy="200025"/>
            <a:chOff x="4151312" y="1165225"/>
            <a:chExt cx="428625" cy="200025"/>
          </a:xfrm>
        </p:grpSpPr>
        <p:sp>
          <p:nvSpPr>
            <p:cNvPr id="73" name="New shape"/>
            <p:cNvSpPr/>
            <p:nvPr/>
          </p:nvSpPr>
          <p:spPr>
            <a:xfrm>
              <a:off x="4151312" y="1165225"/>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4" name="New picture"/>
            <p:cNvPicPr/>
            <p:nvPr/>
          </p:nvPicPr>
          <p:blipFill>
            <a:blip>
              <a:extLst>
                <a:ext uri="{96DAC541-7B7A-43D3-8B79-37D633B846F1}">
                  <asvg:svgBlip xmlns:asvg="http://schemas.microsoft.com/office/drawing/2016/SVG/main" r:embed="rId4"/>
                </a:ext>
              </a:extLst>
            </a:blip>
            <a:stretch>
              <a:fillRect/>
            </a:stretch>
          </p:blipFill>
          <p:spPr>
            <a:xfrm>
              <a:off x="4208462" y="1212731"/>
              <a:ext cx="105013" cy="105013"/>
            </a:xfrm>
            <a:prstGeom prst="rect">
              <a:avLst/>
            </a:prstGeom>
          </p:spPr>
        </p:pic>
        <p:sp>
          <p:nvSpPr>
            <p:cNvPr id="75" name="New shape"/>
            <p:cNvSpPr txBox="1"/>
            <p:nvPr/>
          </p:nvSpPr>
          <p:spPr>
            <a:xfrm>
              <a:off x="4351338" y="1208088"/>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80</a:t>
              </a:r>
            </a:p>
          </p:txBody>
        </p:sp>
      </p:grpSp>
      <p:grpSp>
        <p:nvGrpSpPr>
          <p:cNvPr id="76" name="Group 75"/>
          <p:cNvGrpSpPr/>
          <p:nvPr/>
        </p:nvGrpSpPr>
        <p:grpSpPr>
          <a:xfrm>
            <a:off x="7743825" y="4321969"/>
            <a:ext cx="428625" cy="200025"/>
            <a:chOff x="7108825" y="3686969"/>
            <a:chExt cx="428625" cy="200025"/>
          </a:xfrm>
        </p:grpSpPr>
        <p:sp>
          <p:nvSpPr>
            <p:cNvPr id="77" name="New shape"/>
            <p:cNvSpPr/>
            <p:nvPr/>
          </p:nvSpPr>
          <p:spPr>
            <a:xfrm>
              <a:off x="7108825" y="3686969"/>
              <a:ext cx="37147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8" name="New picture"/>
            <p:cNvPicPr/>
            <p:nvPr/>
          </p:nvPicPr>
          <p:blipFill>
            <a:blip>
              <a:extLst>
                <a:ext uri="{96DAC541-7B7A-43D3-8B79-37D633B846F1}">
                  <asvg:svgBlip xmlns:asvg="http://schemas.microsoft.com/office/drawing/2016/SVG/main" r:embed="rId4"/>
                </a:ext>
              </a:extLst>
            </a:blip>
            <a:stretch>
              <a:fillRect/>
            </a:stretch>
          </p:blipFill>
          <p:spPr>
            <a:xfrm>
              <a:off x="7165975" y="3734475"/>
              <a:ext cx="105013" cy="105013"/>
            </a:xfrm>
            <a:prstGeom prst="rect">
              <a:avLst/>
            </a:prstGeom>
          </p:spPr>
        </p:pic>
        <p:sp>
          <p:nvSpPr>
            <p:cNvPr id="79" name="New shape"/>
            <p:cNvSpPr txBox="1"/>
            <p:nvPr/>
          </p:nvSpPr>
          <p:spPr>
            <a:xfrm>
              <a:off x="7308850"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92743"/>
                  </a:solidFill>
                  <a:latin typeface="Poppins"/>
                </a:rPr>
                <a:t>92</a:t>
              </a:r>
            </a:p>
          </p:txBody>
        </p:sp>
      </p:grpSp>
      <p:grpSp>
        <p:nvGrpSpPr>
          <p:cNvPr id="84" name="Group 83"/>
          <p:cNvGrpSpPr/>
          <p:nvPr/>
        </p:nvGrpSpPr>
        <p:grpSpPr>
          <a:xfrm>
            <a:off x="4786312" y="1028700"/>
            <a:ext cx="428625" cy="200025"/>
            <a:chOff x="4151312" y="393700"/>
            <a:chExt cx="428625" cy="200025"/>
          </a:xfrm>
        </p:grpSpPr>
        <p:sp>
          <p:nvSpPr>
            <p:cNvPr id="85" name="New shape"/>
            <p:cNvSpPr/>
            <p:nvPr/>
          </p:nvSpPr>
          <p:spPr>
            <a:xfrm>
              <a:off x="4151312" y="393700"/>
              <a:ext cx="37147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6" name="New picture"/>
            <p:cNvPicPr/>
            <p:nvPr/>
          </p:nvPicPr>
          <p:blipFill>
            <a:blip>
              <a:extLst>
                <a:ext uri="{96DAC541-7B7A-43D3-8B79-37D633B846F1}">
                  <asvg:svgBlip xmlns:asvg="http://schemas.microsoft.com/office/drawing/2016/SVG/main" r:embed="rId5"/>
                </a:ext>
              </a:extLst>
            </a:blip>
            <a:stretch>
              <a:fillRect/>
            </a:stretch>
          </p:blipFill>
          <p:spPr>
            <a:xfrm>
              <a:off x="4208462" y="433705"/>
              <a:ext cx="100012" cy="120015"/>
            </a:xfrm>
            <a:prstGeom prst="rect">
              <a:avLst/>
            </a:prstGeom>
          </p:spPr>
        </p:pic>
        <p:sp>
          <p:nvSpPr>
            <p:cNvPr id="87" name="New shape"/>
            <p:cNvSpPr txBox="1"/>
            <p:nvPr/>
          </p:nvSpPr>
          <p:spPr>
            <a:xfrm>
              <a:off x="4351338" y="436562"/>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C55C7"/>
                  </a:solidFill>
                  <a:latin typeface="Poppins"/>
                </a:rPr>
                <a:t>71</a:t>
              </a:r>
            </a:p>
          </p:txBody>
        </p:sp>
      </p:grpSp>
      <p:grpSp>
        <p:nvGrpSpPr>
          <p:cNvPr id="88" name="Group 87"/>
          <p:cNvGrpSpPr/>
          <p:nvPr/>
        </p:nvGrpSpPr>
        <p:grpSpPr>
          <a:xfrm>
            <a:off x="6457950" y="4321969"/>
            <a:ext cx="428625" cy="200025"/>
            <a:chOff x="5822950" y="3686969"/>
            <a:chExt cx="428625" cy="200025"/>
          </a:xfrm>
        </p:grpSpPr>
        <p:sp>
          <p:nvSpPr>
            <p:cNvPr id="89" name="New shape"/>
            <p:cNvSpPr/>
            <p:nvPr/>
          </p:nvSpPr>
          <p:spPr>
            <a:xfrm>
              <a:off x="5822950" y="3686969"/>
              <a:ext cx="37147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0" name="New picture"/>
            <p:cNvPicPr/>
            <p:nvPr/>
          </p:nvPicPr>
          <p:blipFill>
            <a:blip>
              <a:extLst>
                <a:ext uri="{96DAC541-7B7A-43D3-8B79-37D633B846F1}">
                  <asvg:svgBlip xmlns:asvg="http://schemas.microsoft.com/office/drawing/2016/SVG/main" r:embed="rId5"/>
                </a:ext>
              </a:extLst>
            </a:blip>
            <a:stretch>
              <a:fillRect/>
            </a:stretch>
          </p:blipFill>
          <p:spPr>
            <a:xfrm>
              <a:off x="5880100" y="3726974"/>
              <a:ext cx="100012" cy="120015"/>
            </a:xfrm>
            <a:prstGeom prst="rect">
              <a:avLst/>
            </a:prstGeom>
          </p:spPr>
        </p:pic>
        <p:sp>
          <p:nvSpPr>
            <p:cNvPr id="91" name="New shape"/>
            <p:cNvSpPr txBox="1"/>
            <p:nvPr/>
          </p:nvSpPr>
          <p:spPr>
            <a:xfrm>
              <a:off x="6022975" y="3729831"/>
              <a:ext cx="228600"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1C55C7"/>
                  </a:solidFill>
                  <a:latin typeface="Poppins"/>
                </a:rPr>
                <a:t>70</a:t>
              </a:r>
            </a:p>
          </p:txBody>
        </p:sp>
      </p:grpSp>
      <p:grpSp>
        <p:nvGrpSpPr>
          <p:cNvPr id="42" name="Group 41"/>
          <p:cNvGrpSpPr/>
          <p:nvPr/>
        </p:nvGrpSpPr>
        <p:grpSpPr>
          <a:xfrm>
            <a:off x="6950869" y="2213084"/>
            <a:ext cx="200025" cy="257175"/>
            <a:chOff x="6315869" y="1578084"/>
            <a:chExt cx="200025" cy="257175"/>
          </a:xfrm>
        </p:grpSpPr>
        <p:sp>
          <p:nvSpPr>
            <p:cNvPr id="43" name="New shape"/>
            <p:cNvSpPr/>
            <p:nvPr/>
          </p:nvSpPr>
          <p:spPr>
            <a:xfrm>
              <a:off x="6315869" y="1578084"/>
              <a:ext cx="200025" cy="200025"/>
            </a:xfrm>
            <a:prstGeom prst="roundRect">
              <a:avLst/>
            </a:prstGeom>
            <a:solidFill>
              <a:srgbClr val="FFFFFF"/>
            </a:solidFill>
            <a:ln w="16510">
              <a:solidFill>
                <a:srgbClr val="5461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4" name="New shape"/>
            <p:cNvSpPr/>
            <p:nvPr/>
          </p:nvSpPr>
          <p:spPr>
            <a:xfrm rot="10800000">
              <a:off x="6373019" y="1785253"/>
              <a:ext cx="85725" cy="50006"/>
            </a:xfrm>
            <a:prstGeom prst="triangle">
              <a:avLst/>
            </a:prstGeom>
            <a:solidFill>
              <a:srgbClr val="54617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2"/>
                </a:ext>
              </a:extLst>
            </a:blip>
            <a:stretch>
              <a:fillRect/>
            </a:stretch>
          </p:blipFill>
          <p:spPr>
            <a:xfrm>
              <a:off x="6363376" y="1625590"/>
              <a:ext cx="105013" cy="105013"/>
            </a:xfrm>
            <a:prstGeom prst="rect">
              <a:avLst/>
            </a:prstGeom>
          </p:spPr>
        </p:pic>
      </p:grpSp>
      <p:grpSp>
        <p:nvGrpSpPr>
          <p:cNvPr id="56" name="Group 55"/>
          <p:cNvGrpSpPr/>
          <p:nvPr/>
        </p:nvGrpSpPr>
        <p:grpSpPr>
          <a:xfrm>
            <a:off x="7398782" y="2264569"/>
            <a:ext cx="200025" cy="257175"/>
            <a:chOff x="6763782" y="1629569"/>
            <a:chExt cx="200025" cy="257175"/>
          </a:xfrm>
        </p:grpSpPr>
        <p:sp>
          <p:nvSpPr>
            <p:cNvPr id="57" name="New shape"/>
            <p:cNvSpPr/>
            <p:nvPr/>
          </p:nvSpPr>
          <p:spPr>
            <a:xfrm>
              <a:off x="6763782" y="1629569"/>
              <a:ext cx="20002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rot="10800000">
              <a:off x="6820932" y="1836738"/>
              <a:ext cx="85725" cy="50006"/>
            </a:xfrm>
            <a:prstGeom prst="triangle">
              <a:avLst/>
            </a:prstGeom>
            <a:solidFill>
              <a:srgbClr val="19274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9" name="New picture"/>
            <p:cNvPicPr/>
            <p:nvPr/>
          </p:nvPicPr>
          <p:blipFill>
            <a:blip>
              <a:extLst>
                <a:ext uri="{96DAC541-7B7A-43D3-8B79-37D633B846F1}">
                  <asvg:svgBlip xmlns:asvg="http://schemas.microsoft.com/office/drawing/2016/SVG/main" r:embed="rId3"/>
                </a:ext>
              </a:extLst>
            </a:blip>
            <a:stretch>
              <a:fillRect/>
            </a:stretch>
          </p:blipFill>
          <p:spPr>
            <a:xfrm>
              <a:off x="6811287" y="1677075"/>
              <a:ext cx="105013" cy="105013"/>
            </a:xfrm>
            <a:prstGeom prst="rect">
              <a:avLst/>
            </a:prstGeom>
          </p:spPr>
        </p:pic>
      </p:grpSp>
      <p:grpSp>
        <p:nvGrpSpPr>
          <p:cNvPr id="68" name="Group 67"/>
          <p:cNvGrpSpPr/>
          <p:nvPr/>
        </p:nvGrpSpPr>
        <p:grpSpPr>
          <a:xfrm>
            <a:off x="8045767" y="1801210"/>
            <a:ext cx="200025" cy="257175"/>
            <a:chOff x="7410767" y="1166210"/>
            <a:chExt cx="200025" cy="257175"/>
          </a:xfrm>
        </p:grpSpPr>
        <p:sp>
          <p:nvSpPr>
            <p:cNvPr id="69" name="New shape"/>
            <p:cNvSpPr/>
            <p:nvPr/>
          </p:nvSpPr>
          <p:spPr>
            <a:xfrm>
              <a:off x="7410767" y="1166210"/>
              <a:ext cx="200025" cy="200025"/>
            </a:xfrm>
            <a:prstGeom prst="roundRect">
              <a:avLst/>
            </a:prstGeom>
            <a:solidFill>
              <a:srgbClr val="FFFFFF"/>
            </a:solidFill>
            <a:ln w="16510">
              <a:solidFill>
                <a:srgbClr val="192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rot="10800000">
              <a:off x="7467917" y="1373379"/>
              <a:ext cx="85725" cy="50006"/>
            </a:xfrm>
            <a:prstGeom prst="triangle">
              <a:avLst/>
            </a:prstGeom>
            <a:solidFill>
              <a:srgbClr val="19274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1" name="New picture"/>
            <p:cNvPicPr/>
            <p:nvPr/>
          </p:nvPicPr>
          <p:blipFill>
            <a:blip>
              <a:extLst>
                <a:ext uri="{96DAC541-7B7A-43D3-8B79-37D633B846F1}">
                  <asvg:svgBlip xmlns:asvg="http://schemas.microsoft.com/office/drawing/2016/SVG/main" r:embed="rId4"/>
                </a:ext>
              </a:extLst>
            </a:blip>
            <a:stretch>
              <a:fillRect/>
            </a:stretch>
          </p:blipFill>
          <p:spPr>
            <a:xfrm>
              <a:off x="7458273" y="1213716"/>
              <a:ext cx="105013" cy="105013"/>
            </a:xfrm>
            <a:prstGeom prst="rect">
              <a:avLst/>
            </a:prstGeom>
          </p:spPr>
        </p:pic>
      </p:grpSp>
      <p:grpSp>
        <p:nvGrpSpPr>
          <p:cNvPr id="80" name="Group 79"/>
          <p:cNvGrpSpPr/>
          <p:nvPr/>
        </p:nvGrpSpPr>
        <p:grpSpPr>
          <a:xfrm>
            <a:off x="6950869" y="2264569"/>
            <a:ext cx="200025" cy="257175"/>
            <a:chOff x="6315869" y="1629569"/>
            <a:chExt cx="200025" cy="257175"/>
          </a:xfrm>
        </p:grpSpPr>
        <p:sp>
          <p:nvSpPr>
            <p:cNvPr id="81" name="New shape"/>
            <p:cNvSpPr/>
            <p:nvPr/>
          </p:nvSpPr>
          <p:spPr>
            <a:xfrm>
              <a:off x="6315869" y="1629569"/>
              <a:ext cx="200025" cy="200025"/>
            </a:xfrm>
            <a:prstGeom prst="roundRect">
              <a:avLst/>
            </a:prstGeom>
            <a:solidFill>
              <a:srgbClr val="FFFFFF"/>
            </a:solidFill>
            <a:ln w="16510">
              <a:solidFill>
                <a:srgbClr val="1C55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2" name="New shape"/>
            <p:cNvSpPr/>
            <p:nvPr/>
          </p:nvSpPr>
          <p:spPr>
            <a:xfrm rot="10800000">
              <a:off x="6373019" y="1836738"/>
              <a:ext cx="85725" cy="50006"/>
            </a:xfrm>
            <a:prstGeom prst="triangle">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3" name="New picture"/>
            <p:cNvPicPr/>
            <p:nvPr/>
          </p:nvPicPr>
          <p:blipFill>
            <a:blip>
              <a:extLst>
                <a:ext uri="{96DAC541-7B7A-43D3-8B79-37D633B846F1}">
                  <asvg:svgBlip xmlns:asvg="http://schemas.microsoft.com/office/drawing/2016/SVG/main" r:embed="rId5"/>
                </a:ext>
              </a:extLst>
            </a:blip>
            <a:stretch>
              <a:fillRect/>
            </a:stretch>
          </p:blipFill>
          <p:spPr>
            <a:xfrm>
              <a:off x="6365875" y="1669574"/>
              <a:ext cx="100012" cy="120015"/>
            </a:xfrm>
            <a:prstGeom prst="rect">
              <a:avLst/>
            </a:prstGeom>
          </p:spPr>
        </p:pic>
      </p:grpSp>
      <p:sp>
        <p:nvSpPr>
          <p:cNvPr id="92" name="New shape"/>
          <p:cNvSpPr txBox="1"/>
          <p:nvPr/>
        </p:nvSpPr>
        <p:spPr>
          <a:xfrm>
            <a:off x="4786312" y="771525"/>
            <a:ext cx="7572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788" b="1" i="0">
                <a:solidFill>
                  <a:srgbClr val="192743"/>
                </a:solidFill>
                <a:latin typeface="Poppins"/>
              </a:rPr>
              <a:t>Qualität des Leistungsumfeldes</a:t>
            </a:r>
          </a:p>
        </p:txBody>
      </p:sp>
      <p:sp>
        <p:nvSpPr>
          <p:cNvPr id="93" name="New shape"/>
          <p:cNvSpPr txBox="1"/>
          <p:nvPr/>
        </p:nvSpPr>
        <p:spPr>
          <a:xfrm>
            <a:off x="5586412" y="4371975"/>
            <a:ext cx="7572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1" i="0">
                <a:solidFill>
                  <a:srgbClr val="192743"/>
                </a:solidFill>
                <a:latin typeface="Poppins"/>
              </a:rPr>
              <a:t>Engagement</a:t>
            </a:r>
          </a:p>
        </p:txBody>
      </p:sp>
      <p:pic>
        <p:nvPicPr>
          <p:cNvPr id="94" name="New picture"/>
          <p:cNvPicPr/>
          <p:nvPr/>
        </p:nvPicPr>
        <p:blipFill>
          <a:blip>
            <a:extLst>
              <a:ext uri="{96DAC541-7B7A-43D3-8B79-37D633B846F1}">
                <asvg:svgBlip xmlns:asvg="http://schemas.microsoft.com/office/drawing/2016/SVG/main" r:embed="rId6"/>
              </a:ext>
            </a:extLst>
          </a:blip>
          <a:stretch>
            <a:fillRect/>
          </a:stretch>
        </p:blipFill>
        <p:spPr>
          <a:xfrm>
            <a:off x="178594" y="4883467"/>
            <a:ext cx="100012" cy="120015"/>
          </a:xfrm>
          <a:prstGeom prst="rect">
            <a:avLst/>
          </a:prstGeom>
        </p:spPr>
      </p:pic>
      <p:sp>
        <p:nvSpPr>
          <p:cNvPr id="95" name="New shape"/>
          <p:cNvSpPr txBox="1"/>
          <p:nvPr/>
        </p:nvSpPr>
        <p:spPr>
          <a:xfrm>
            <a:off x="350044"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dirty="0" err="1">
                <a:solidFill>
                  <a:srgbClr val="1C55C7"/>
                </a:solidFill>
                <a:latin typeface="Poppins"/>
              </a:rPr>
              <a:t>Aktuell</a:t>
            </a:r>
            <a:r>
              <a:rPr sz="675" b="0" i="0" dirty="0">
                <a:solidFill>
                  <a:srgbClr val="1C55C7"/>
                </a:solidFill>
                <a:latin typeface="Poppins"/>
              </a:rPr>
              <a:t>: </a:t>
            </a:r>
            <a:r>
              <a:rPr lang="en-US" sz="675" b="0" i="0" dirty="0">
                <a:solidFill>
                  <a:srgbClr val="1C55C7"/>
                </a:solidFill>
                <a:latin typeface="Poppins"/>
              </a:rPr>
              <a:t>Team IT</a:t>
            </a:r>
            <a:endParaRPr sz="675" b="0" i="0" dirty="0">
              <a:solidFill>
                <a:srgbClr val="1C55C7"/>
              </a:solidFill>
              <a:latin typeface="Poppins"/>
            </a:endParaRPr>
          </a:p>
        </p:txBody>
      </p:sp>
      <p:pic>
        <p:nvPicPr>
          <p:cNvPr id="96" name="New picture"/>
          <p:cNvPicPr/>
          <p:nvPr/>
        </p:nvPicPr>
        <p:blipFill>
          <a:blip>
            <a:extLst>
              <a:ext uri="{96DAC541-7B7A-43D3-8B79-37D633B846F1}">
                <asvg:svgBlip xmlns:asvg="http://schemas.microsoft.com/office/drawing/2016/SVG/main" r:embed="rId2"/>
              </a:ext>
            </a:extLst>
          </a:blip>
          <a:stretch>
            <a:fillRect/>
          </a:stretch>
        </p:blipFill>
        <p:spPr>
          <a:xfrm>
            <a:off x="1300162" y="4890969"/>
            <a:ext cx="105013" cy="105013"/>
          </a:xfrm>
          <a:prstGeom prst="rect">
            <a:avLst/>
          </a:prstGeom>
        </p:spPr>
      </p:pic>
      <p:sp>
        <p:nvSpPr>
          <p:cNvPr id="97" name="New shape"/>
          <p:cNvSpPr txBox="1"/>
          <p:nvPr/>
        </p:nvSpPr>
        <p:spPr>
          <a:xfrm>
            <a:off x="1476613"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546178"/>
                </a:solidFill>
                <a:latin typeface="Poppins"/>
              </a:rPr>
              <a:t>Vorherige Befragung</a:t>
            </a:r>
          </a:p>
        </p:txBody>
      </p:sp>
      <p:sp>
        <p:nvSpPr>
          <p:cNvPr id="98" name="New shape"/>
          <p:cNvSpPr/>
          <p:nvPr/>
        </p:nvSpPr>
        <p:spPr>
          <a:xfrm>
            <a:off x="2319576" y="4943475"/>
            <a:ext cx="142875" cy="0"/>
          </a:xfrm>
          <a:prstGeom prst="line">
            <a:avLst/>
          </a:prstGeom>
          <a:ln w="15240">
            <a:solidFill>
              <a:srgbClr val="30B3AF"/>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99" name="New shape"/>
          <p:cNvSpPr txBox="1"/>
          <p:nvPr/>
        </p:nvSpPr>
        <p:spPr>
          <a:xfrm>
            <a:off x="2519601"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International</a:t>
            </a:r>
          </a:p>
        </p:txBody>
      </p:sp>
      <p:pic>
        <p:nvPicPr>
          <p:cNvPr id="100" name="New picture"/>
          <p:cNvPicPr/>
          <p:nvPr/>
        </p:nvPicPr>
        <p:blipFill>
          <a:blip>
            <a:extLst>
              <a:ext uri="{96DAC541-7B7A-43D3-8B79-37D633B846F1}">
                <asvg:svgBlip xmlns:asvg="http://schemas.microsoft.com/office/drawing/2016/SVG/main" r:embed="rId7"/>
              </a:ext>
            </a:extLst>
          </a:blip>
          <a:stretch>
            <a:fillRect/>
          </a:stretch>
        </p:blipFill>
        <p:spPr>
          <a:xfrm>
            <a:off x="3469720" y="4890969"/>
            <a:ext cx="105013" cy="105013"/>
          </a:xfrm>
          <a:prstGeom prst="rect">
            <a:avLst/>
          </a:prstGeom>
        </p:spPr>
      </p:pic>
      <p:sp>
        <p:nvSpPr>
          <p:cNvPr id="101" name="New shape"/>
          <p:cNvSpPr txBox="1"/>
          <p:nvPr/>
        </p:nvSpPr>
        <p:spPr>
          <a:xfrm>
            <a:off x="3646170"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International</a:t>
            </a:r>
          </a:p>
        </p:txBody>
      </p:sp>
      <p:pic>
        <p:nvPicPr>
          <p:cNvPr id="102" name="New picture"/>
          <p:cNvPicPr/>
          <p:nvPr/>
        </p:nvPicPr>
        <p:blipFill>
          <a:blip>
            <a:extLst>
              <a:ext uri="{96DAC541-7B7A-43D3-8B79-37D633B846F1}">
                <asvg:svgBlip xmlns:asvg="http://schemas.microsoft.com/office/drawing/2016/SVG/main" r:embed="rId3"/>
              </a:ext>
            </a:extLst>
          </a:blip>
          <a:stretch>
            <a:fillRect/>
          </a:stretch>
        </p:blipFill>
        <p:spPr>
          <a:xfrm>
            <a:off x="4596289" y="4890969"/>
            <a:ext cx="105013" cy="105013"/>
          </a:xfrm>
          <a:prstGeom prst="rect">
            <a:avLst/>
          </a:prstGeom>
        </p:spPr>
      </p:pic>
      <p:sp>
        <p:nvSpPr>
          <p:cNvPr id="103" name="New shape"/>
          <p:cNvSpPr txBox="1"/>
          <p:nvPr/>
        </p:nvSpPr>
        <p:spPr>
          <a:xfrm>
            <a:off x="4772740" y="4892040"/>
            <a:ext cx="757238"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pic>
        <p:nvPicPr>
          <p:cNvPr id="104" name="New picture"/>
          <p:cNvPicPr/>
          <p:nvPr/>
        </p:nvPicPr>
        <p:blipFill>
          <a:blip>
            <a:extLst>
              <a:ext uri="{96DAC541-7B7A-43D3-8B79-37D633B846F1}">
                <asvg:svgBlip xmlns:asvg="http://schemas.microsoft.com/office/drawing/2016/SVG/main" r:embed="rId4"/>
              </a:ext>
            </a:extLst>
          </a:blip>
          <a:stretch>
            <a:fillRect/>
          </a:stretch>
        </p:blipFill>
        <p:spPr>
          <a:xfrm>
            <a:off x="5722858" y="4890969"/>
            <a:ext cx="105013" cy="105013"/>
          </a:xfrm>
          <a:prstGeom prst="rect">
            <a:avLst/>
          </a:prstGeom>
        </p:spPr>
      </p:pic>
      <p:sp>
        <p:nvSpPr>
          <p:cNvPr id="105" name="New shape"/>
          <p:cNvSpPr txBox="1"/>
          <p:nvPr/>
        </p:nvSpPr>
        <p:spPr>
          <a:xfrm>
            <a:off x="5899309" y="4840605"/>
            <a:ext cx="757238"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
        <p:nvSpPr>
          <p:cNvPr id="10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15</a:t>
            </a:r>
          </a:p>
        </p:txBody>
      </p:sp>
      <p:sp>
        <p:nvSpPr>
          <p:cNvPr id="107"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8"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0"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mit Benchmarks</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2" name="New Table"/>
          <p:cNvGraphicFramePr>
            <a:graphicFrameLocks noGrp="1"/>
          </p:cNvGraphicFramePr>
          <p:nvPr/>
        </p:nvGraphicFramePr>
        <p:xfrm>
          <a:off x="457200" y="1835944"/>
          <a:ext cx="7772400" cy="2685796"/>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900" b="1" i="0">
                          <a:solidFill>
                            <a:srgbClr val="192743"/>
                          </a:solidFill>
                          <a:latin typeface="Poppins"/>
                        </a:rPr>
                        <a:t>Engagement</a:t>
                      </a:r>
                    </a:p>
                    <a:p>
                      <a:pPr>
                        <a:spcBef>
                          <a:spcPct val="40000"/>
                        </a:spcBef>
                        <a:spcAft>
                          <a:spcPct val="40000"/>
                        </a:spcAft>
                      </a:pPr>
                      <a:r>
                        <a:rPr sz="788" i="0">
                          <a:solidFill>
                            <a:srgbClr val="546178"/>
                          </a:solidFill>
                          <a:latin typeface="Poppins"/>
                        </a:rPr>
                        <a:t>beschreibt inwieweit sich Mitarbeitende mit ihrer Arbeit und dem Unternehmen verbunden fühlen, für das sie arbeiten.</a:t>
                      </a:r>
                    </a:p>
                  </a:txBody>
                  <a:tcPr marL="0" marR="0" marT="101600" marB="10160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900" b="1" i="0">
                          <a:solidFill>
                            <a:srgbClr val="192743"/>
                          </a:solidFill>
                          <a:latin typeface="Poppins"/>
                        </a:rPr>
                        <a:t>Qualität des Leistungsumfeldes</a:t>
                      </a:r>
                    </a:p>
                    <a:p>
                      <a:pPr>
                        <a:spcBef>
                          <a:spcPct val="40000"/>
                        </a:spcBef>
                        <a:spcAft>
                          <a:spcPct val="40000"/>
                        </a:spcAft>
                      </a:pPr>
                      <a:r>
                        <a:rPr sz="788" i="0">
                          <a:solidFill>
                            <a:srgbClr val="546178"/>
                          </a:solidFill>
                          <a:latin typeface="Poppins"/>
                        </a:rPr>
                        <a:t>beschreibt wichtige Rahmenbedingungen, die es Mitarbeitenden ermöglichen, effektiv und effizient zu arbeiten.</a:t>
                      </a:r>
                    </a:p>
                  </a:txBody>
                  <a:tcPr marL="0" marR="0" marT="101600" marB="10160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Veränderung gestalten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Richtung geben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Mitarbeiter führen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Systeme managen</a:t>
                      </a:r>
                    </a:p>
                  </a:txBody>
                  <a:tcPr marL="71438" marR="0" marT="0" marB="0"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6"/>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3" name="Group 22"/>
          <p:cNvGrpSpPr/>
          <p:nvPr/>
        </p:nvGrpSpPr>
        <p:grpSpPr>
          <a:xfrm rot="18900000">
            <a:off x="6580966" y="1047636"/>
            <a:ext cx="1477328" cy="240030"/>
            <a:chOff x="6265862" y="895191"/>
            <a:chExt cx="1477328" cy="240030"/>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89519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mit Benchmarks</a:t>
            </a:r>
          </a:p>
        </p:txBody>
      </p:sp>
      <p:sp>
        <p:nvSpPr>
          <p:cNvPr id="3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3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3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16</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46434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Engagement</a:t>
            </a:r>
          </a:p>
        </p:txBody>
      </p:sp>
      <p:sp>
        <p:nvSpPr>
          <p:cNvPr id="3" name="New shape"/>
          <p:cNvSpPr txBox="1"/>
          <p:nvPr/>
        </p:nvSpPr>
        <p:spPr>
          <a:xfrm>
            <a:off x="7170111"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7305842" y="857250"/>
            <a:ext cx="105013" cy="105013"/>
          </a:xfrm>
          <a:prstGeom prst="rect">
            <a:avLst/>
          </a:prstGeom>
        </p:spPr>
      </p:pic>
      <p:sp>
        <p:nvSpPr>
          <p:cNvPr id="5" name="New shape"/>
          <p:cNvSpPr txBox="1"/>
          <p:nvPr/>
        </p:nvSpPr>
        <p:spPr>
          <a:xfrm>
            <a:off x="7559874"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6" name="New picture"/>
          <p:cNvPicPr/>
          <p:nvPr/>
        </p:nvPicPr>
        <p:blipFill>
          <a:blip>
            <a:extLst>
              <a:ext uri="{96DAC541-7B7A-43D3-8B79-37D633B846F1}">
                <asvg:svgBlip xmlns:asvg="http://schemas.microsoft.com/office/drawing/2016/SVG/main" r:embed="rId3"/>
              </a:ext>
            </a:extLst>
          </a:blip>
          <a:stretch>
            <a:fillRect/>
          </a:stretch>
        </p:blipFill>
        <p:spPr>
          <a:xfrm>
            <a:off x="7695605" y="857250"/>
            <a:ext cx="105013" cy="105013"/>
          </a:xfrm>
          <a:prstGeom prst="rect">
            <a:avLst/>
          </a:prstGeom>
        </p:spPr>
      </p:pic>
      <p:sp>
        <p:nvSpPr>
          <p:cNvPr id="7" name="New shape"/>
          <p:cNvSpPr txBox="1"/>
          <p:nvPr/>
        </p:nvSpPr>
        <p:spPr>
          <a:xfrm>
            <a:off x="7949638"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8" name="New picture"/>
          <p:cNvPicPr/>
          <p:nvPr/>
        </p:nvPicPr>
        <p:blipFill>
          <a:blip>
            <a:extLst>
              <a:ext uri="{96DAC541-7B7A-43D3-8B79-37D633B846F1}">
                <asvg:svgBlip xmlns:asvg="http://schemas.microsoft.com/office/drawing/2016/SVG/main" r:embed="rId2"/>
              </a:ext>
            </a:extLst>
          </a:blip>
          <a:stretch>
            <a:fillRect/>
          </a:stretch>
        </p:blipFill>
        <p:spPr>
          <a:xfrm>
            <a:off x="8085369" y="857250"/>
            <a:ext cx="105013" cy="105013"/>
          </a:xfrm>
          <a:prstGeom prst="rect">
            <a:avLst/>
          </a:prstGeom>
        </p:spPr>
      </p:pic>
      <p:sp>
        <p:nvSpPr>
          <p:cNvPr id="9" name="New shape"/>
          <p:cNvSpPr txBox="1"/>
          <p:nvPr/>
        </p:nvSpPr>
        <p:spPr>
          <a:xfrm>
            <a:off x="8339401" y="87153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0" name="New picture"/>
          <p:cNvPicPr/>
          <p:nvPr/>
        </p:nvPicPr>
        <p:blipFill>
          <a:blip>
            <a:extLst>
              <a:ext uri="{96DAC541-7B7A-43D3-8B79-37D633B846F1}">
                <asvg:svgBlip xmlns:asvg="http://schemas.microsoft.com/office/drawing/2016/SVG/main" r:embed="rId4"/>
              </a:ext>
            </a:extLst>
          </a:blip>
          <a:stretch>
            <a:fillRect/>
          </a:stretch>
        </p:blipFill>
        <p:spPr>
          <a:xfrm>
            <a:off x="8475132" y="857250"/>
            <a:ext cx="105013" cy="105013"/>
          </a:xfrm>
          <a:prstGeom prst="rect">
            <a:avLst/>
          </a:prstGeom>
        </p:spPr>
      </p:pic>
      <p:sp>
        <p:nvSpPr>
          <p:cNvPr id="11" name="New shape"/>
          <p:cNvSpPr txBox="1"/>
          <p:nvPr/>
        </p:nvSpPr>
        <p:spPr>
          <a:xfrm>
            <a:off x="457200" y="10287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Meine Arbeit macht mir Spaß</a:t>
            </a:r>
          </a:p>
        </p:txBody>
      </p:sp>
      <p:sp>
        <p:nvSpPr>
          <p:cNvPr id="12" name="New shape"/>
          <p:cNvSpPr/>
          <p:nvPr/>
        </p:nvSpPr>
        <p:spPr>
          <a:xfrm>
            <a:off x="4000500" y="1028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3" name="New picture"/>
          <p:cNvPicPr/>
          <p:nvPr/>
        </p:nvPicPr>
        <p:blipFill>
          <a:blip>
            <a:extLst>
              <a:ext uri="{96DAC541-7B7A-43D3-8B79-37D633B846F1}">
                <asvg:svgBlip xmlns:asvg="http://schemas.microsoft.com/office/drawing/2016/SVG/main" r:embed="rId5"/>
              </a:ext>
            </a:extLst>
          </a:blip>
          <a:stretch>
            <a:fillRect/>
          </a:stretch>
        </p:blipFill>
        <p:spPr>
          <a:xfrm>
            <a:off x="4079081" y="1071562"/>
            <a:ext cx="71438" cy="85725"/>
          </a:xfrm>
          <a:prstGeom prst="rect">
            <a:avLst/>
          </a:prstGeom>
        </p:spPr>
      </p:pic>
      <p:sp>
        <p:nvSpPr>
          <p:cNvPr id="14" name="New shape"/>
          <p:cNvSpPr/>
          <p:nvPr/>
        </p:nvSpPr>
        <p:spPr>
          <a:xfrm>
            <a:off x="4243388" y="1028700"/>
            <a:ext cx="1676827"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64%</a:t>
            </a:r>
          </a:p>
        </p:txBody>
      </p:sp>
      <p:sp>
        <p:nvSpPr>
          <p:cNvPr id="15" name="New shape"/>
          <p:cNvSpPr/>
          <p:nvPr/>
        </p:nvSpPr>
        <p:spPr>
          <a:xfrm>
            <a:off x="5934502" y="102870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16" name="New shape"/>
          <p:cNvSpPr/>
          <p:nvPr/>
        </p:nvSpPr>
        <p:spPr>
          <a:xfrm>
            <a:off x="6263194" y="1028700"/>
            <a:ext cx="628810"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24%</a:t>
            </a:r>
          </a:p>
        </p:txBody>
      </p:sp>
      <p:sp>
        <p:nvSpPr>
          <p:cNvPr id="17" name="New shape"/>
          <p:cNvSpPr txBox="1"/>
          <p:nvPr/>
        </p:nvSpPr>
        <p:spPr>
          <a:xfrm>
            <a:off x="7149179"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18" name="New shape"/>
          <p:cNvSpPr txBox="1"/>
          <p:nvPr/>
        </p:nvSpPr>
        <p:spPr>
          <a:xfrm>
            <a:off x="7538943"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19" name="New shape"/>
          <p:cNvSpPr txBox="1"/>
          <p:nvPr/>
        </p:nvSpPr>
        <p:spPr>
          <a:xfrm>
            <a:off x="7928706"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85</a:t>
            </a:r>
          </a:p>
        </p:txBody>
      </p:sp>
      <p:sp>
        <p:nvSpPr>
          <p:cNvPr id="20" name="New shape"/>
          <p:cNvSpPr txBox="1"/>
          <p:nvPr/>
        </p:nvSpPr>
        <p:spPr>
          <a:xfrm>
            <a:off x="8318470" y="10287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98</a:t>
            </a:r>
          </a:p>
        </p:txBody>
      </p:sp>
      <p:sp>
        <p:nvSpPr>
          <p:cNvPr id="21" name="New shape"/>
          <p:cNvSpPr/>
          <p:nvPr/>
        </p:nvSpPr>
        <p:spPr>
          <a:xfrm>
            <a:off x="4000500" y="12573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2" name="New picture"/>
          <p:cNvPicPr/>
          <p:nvPr/>
        </p:nvPicPr>
        <p:blipFill>
          <a:blip>
            <a:extLst>
              <a:ext uri="{96DAC541-7B7A-43D3-8B79-37D633B846F1}">
                <asvg:svgBlip xmlns:asvg="http://schemas.microsoft.com/office/drawing/2016/SVG/main" r:embed="rId6"/>
              </a:ext>
            </a:extLst>
          </a:blip>
          <a:stretch>
            <a:fillRect/>
          </a:stretch>
        </p:blipFill>
        <p:spPr>
          <a:xfrm>
            <a:off x="4079081" y="1305520"/>
            <a:ext cx="75009" cy="75009"/>
          </a:xfrm>
          <a:prstGeom prst="rect">
            <a:avLst/>
          </a:prstGeom>
        </p:spPr>
      </p:pic>
      <p:sp>
        <p:nvSpPr>
          <p:cNvPr id="23" name="New shape"/>
          <p:cNvSpPr/>
          <p:nvPr/>
        </p:nvSpPr>
        <p:spPr>
          <a:xfrm>
            <a:off x="4243388" y="125730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24" name="New shape"/>
          <p:cNvSpPr/>
          <p:nvPr/>
        </p:nvSpPr>
        <p:spPr>
          <a:xfrm>
            <a:off x="6117904" y="125730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25" name="New shape"/>
          <p:cNvSpPr/>
          <p:nvPr/>
        </p:nvSpPr>
        <p:spPr>
          <a:xfrm>
            <a:off x="6472797" y="125730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26" name="New shape"/>
          <p:cNvSpPr/>
          <p:nvPr/>
        </p:nvSpPr>
        <p:spPr>
          <a:xfrm>
            <a:off x="457200" y="15430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7" name="New shape"/>
          <p:cNvSpPr txBox="1"/>
          <p:nvPr/>
        </p:nvSpPr>
        <p:spPr>
          <a:xfrm>
            <a:off x="457200" y="16573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Meine Arbeit motiviert mich</a:t>
            </a:r>
          </a:p>
        </p:txBody>
      </p:sp>
      <p:sp>
        <p:nvSpPr>
          <p:cNvPr id="28" name="New shape"/>
          <p:cNvSpPr/>
          <p:nvPr/>
        </p:nvSpPr>
        <p:spPr>
          <a:xfrm>
            <a:off x="4000500" y="1657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5"/>
              </a:ext>
            </a:extLst>
          </a:blip>
          <a:stretch>
            <a:fillRect/>
          </a:stretch>
        </p:blipFill>
        <p:spPr>
          <a:xfrm>
            <a:off x="4079081" y="1700212"/>
            <a:ext cx="71438" cy="85725"/>
          </a:xfrm>
          <a:prstGeom prst="rect">
            <a:avLst/>
          </a:prstGeom>
        </p:spPr>
      </p:pic>
      <p:sp>
        <p:nvSpPr>
          <p:cNvPr id="30" name="New shape"/>
          <p:cNvSpPr/>
          <p:nvPr/>
        </p:nvSpPr>
        <p:spPr>
          <a:xfrm>
            <a:off x="4243388" y="16573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31" name="New shape"/>
          <p:cNvSpPr/>
          <p:nvPr/>
        </p:nvSpPr>
        <p:spPr>
          <a:xfrm>
            <a:off x="6144105" y="165735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72797" y="16573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33" name="New shape"/>
          <p:cNvSpPr txBox="1"/>
          <p:nvPr/>
        </p:nvSpPr>
        <p:spPr>
          <a:xfrm>
            <a:off x="7149179"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34" name="New shape"/>
          <p:cNvSpPr txBox="1"/>
          <p:nvPr/>
        </p:nvSpPr>
        <p:spPr>
          <a:xfrm>
            <a:off x="7538943"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35" name="New shape"/>
          <p:cNvSpPr txBox="1"/>
          <p:nvPr/>
        </p:nvSpPr>
        <p:spPr>
          <a:xfrm>
            <a:off x="7928706"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52</a:t>
            </a:r>
          </a:p>
        </p:txBody>
      </p:sp>
      <p:sp>
        <p:nvSpPr>
          <p:cNvPr id="36" name="New shape"/>
          <p:cNvSpPr txBox="1"/>
          <p:nvPr/>
        </p:nvSpPr>
        <p:spPr>
          <a:xfrm>
            <a:off x="8318470" y="16573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37" name="New shape"/>
          <p:cNvSpPr/>
          <p:nvPr/>
        </p:nvSpPr>
        <p:spPr>
          <a:xfrm>
            <a:off x="4000500" y="18859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4079081" y="1934170"/>
            <a:ext cx="75009" cy="75009"/>
          </a:xfrm>
          <a:prstGeom prst="rect">
            <a:avLst/>
          </a:prstGeom>
        </p:spPr>
      </p:pic>
      <p:sp>
        <p:nvSpPr>
          <p:cNvPr id="39" name="New shape"/>
          <p:cNvSpPr/>
          <p:nvPr/>
        </p:nvSpPr>
        <p:spPr>
          <a:xfrm>
            <a:off x="4243388" y="1885950"/>
            <a:ext cx="17292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66%</a:t>
            </a:r>
          </a:p>
        </p:txBody>
      </p:sp>
      <p:sp>
        <p:nvSpPr>
          <p:cNvPr id="40" name="New shape"/>
          <p:cNvSpPr/>
          <p:nvPr/>
        </p:nvSpPr>
        <p:spPr>
          <a:xfrm>
            <a:off x="5986902" y="1885950"/>
            <a:ext cx="4192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41" name="New shape"/>
          <p:cNvSpPr/>
          <p:nvPr/>
        </p:nvSpPr>
        <p:spPr>
          <a:xfrm>
            <a:off x="6420396" y="1885950"/>
            <a:ext cx="4716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18%</a:t>
            </a:r>
          </a:p>
        </p:txBody>
      </p:sp>
      <p:sp>
        <p:nvSpPr>
          <p:cNvPr id="42" name="New shape"/>
          <p:cNvSpPr/>
          <p:nvPr/>
        </p:nvSpPr>
        <p:spPr>
          <a:xfrm>
            <a:off x="457200" y="21717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3" name="New shape"/>
          <p:cNvSpPr txBox="1"/>
          <p:nvPr/>
        </p:nvSpPr>
        <p:spPr>
          <a:xfrm>
            <a:off x="457200" y="22860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Ich war </a:t>
            </a:r>
            <a:r>
              <a:rPr sz="788" b="0" i="0" dirty="0" err="1">
                <a:solidFill>
                  <a:srgbClr val="546178"/>
                </a:solidFill>
                <a:latin typeface="Poppins"/>
              </a:rPr>
              <a:t>stolz</a:t>
            </a:r>
            <a:r>
              <a:rPr sz="788" b="0" i="0" dirty="0">
                <a:solidFill>
                  <a:srgbClr val="546178"/>
                </a:solidFill>
                <a:latin typeface="Poppins"/>
              </a:rPr>
              <a:t> </a:t>
            </a:r>
            <a:r>
              <a:rPr sz="788" b="0" i="0" dirty="0" err="1">
                <a:solidFill>
                  <a:srgbClr val="546178"/>
                </a:solidFill>
                <a:latin typeface="Poppins"/>
              </a:rPr>
              <a:t>darauf</a:t>
            </a:r>
            <a:r>
              <a:rPr sz="788" b="0" i="0" dirty="0">
                <a:solidFill>
                  <a:srgbClr val="546178"/>
                </a:solidFill>
                <a:latin typeface="Poppins"/>
              </a:rPr>
              <a:t>, für </a:t>
            </a:r>
            <a:r>
              <a:rPr lang="en-US" sz="788" b="0" i="0" dirty="0">
                <a:solidFill>
                  <a:srgbClr val="546178"/>
                </a:solidFill>
                <a:latin typeface="Poppins"/>
              </a:rPr>
              <a:t>Team IT</a:t>
            </a:r>
            <a:r>
              <a:rPr sz="788" b="0" i="0" dirty="0">
                <a:solidFill>
                  <a:srgbClr val="546178"/>
                </a:solidFill>
                <a:latin typeface="Poppins"/>
              </a:rPr>
              <a:t> </a:t>
            </a:r>
            <a:r>
              <a:rPr sz="788" b="0" i="0" dirty="0" err="1">
                <a:solidFill>
                  <a:srgbClr val="546178"/>
                </a:solidFill>
                <a:latin typeface="Poppins"/>
              </a:rPr>
              <a:t>zu</a:t>
            </a:r>
            <a:r>
              <a:rPr sz="788" b="0" i="0" dirty="0">
                <a:solidFill>
                  <a:srgbClr val="546178"/>
                </a:solidFill>
                <a:latin typeface="Poppins"/>
              </a:rPr>
              <a:t> </a:t>
            </a:r>
            <a:r>
              <a:rPr sz="788" b="0" i="0" dirty="0" err="1">
                <a:solidFill>
                  <a:srgbClr val="546178"/>
                </a:solidFill>
                <a:latin typeface="Poppins"/>
              </a:rPr>
              <a:t>arbeiten</a:t>
            </a:r>
            <a:endParaRPr sz="788" b="0" i="0" dirty="0">
              <a:solidFill>
                <a:srgbClr val="546178"/>
              </a:solidFill>
              <a:latin typeface="Poppins"/>
            </a:endParaRPr>
          </a:p>
        </p:txBody>
      </p:sp>
      <p:sp>
        <p:nvSpPr>
          <p:cNvPr id="44" name="New shape"/>
          <p:cNvSpPr/>
          <p:nvPr/>
        </p:nvSpPr>
        <p:spPr>
          <a:xfrm>
            <a:off x="4000500" y="22860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5"/>
              </a:ext>
            </a:extLst>
          </a:blip>
          <a:stretch>
            <a:fillRect/>
          </a:stretch>
        </p:blipFill>
        <p:spPr>
          <a:xfrm>
            <a:off x="4079081" y="2328862"/>
            <a:ext cx="71438" cy="85725"/>
          </a:xfrm>
          <a:prstGeom prst="rect">
            <a:avLst/>
          </a:prstGeom>
        </p:spPr>
      </p:pic>
      <p:sp>
        <p:nvSpPr>
          <p:cNvPr id="46" name="New shape"/>
          <p:cNvSpPr/>
          <p:nvPr/>
        </p:nvSpPr>
        <p:spPr>
          <a:xfrm>
            <a:off x="4243388" y="228600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47" name="New shape"/>
          <p:cNvSpPr/>
          <p:nvPr/>
        </p:nvSpPr>
        <p:spPr>
          <a:xfrm>
            <a:off x="6065504" y="228600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48" name="New shape"/>
          <p:cNvSpPr/>
          <p:nvPr/>
        </p:nvSpPr>
        <p:spPr>
          <a:xfrm>
            <a:off x="6315596" y="2286000"/>
            <a:ext cx="576409"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22%</a:t>
            </a:r>
          </a:p>
        </p:txBody>
      </p:sp>
      <p:sp>
        <p:nvSpPr>
          <p:cNvPr id="49" name="New shape"/>
          <p:cNvSpPr txBox="1"/>
          <p:nvPr/>
        </p:nvSpPr>
        <p:spPr>
          <a:xfrm>
            <a:off x="7149179"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50" name="New shape"/>
          <p:cNvSpPr txBox="1"/>
          <p:nvPr/>
        </p:nvSpPr>
        <p:spPr>
          <a:xfrm>
            <a:off x="7538943"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1" name="New shape"/>
          <p:cNvSpPr txBox="1"/>
          <p:nvPr/>
        </p:nvSpPr>
        <p:spPr>
          <a:xfrm>
            <a:off x="7928706"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52" name="New shape"/>
          <p:cNvSpPr txBox="1"/>
          <p:nvPr/>
        </p:nvSpPr>
        <p:spPr>
          <a:xfrm>
            <a:off x="8318470" y="22860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97</a:t>
            </a:r>
          </a:p>
        </p:txBody>
      </p:sp>
      <p:sp>
        <p:nvSpPr>
          <p:cNvPr id="53" name="New shape"/>
          <p:cNvSpPr/>
          <p:nvPr/>
        </p:nvSpPr>
        <p:spPr>
          <a:xfrm>
            <a:off x="4000500" y="25146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4" name="New picture"/>
          <p:cNvPicPr/>
          <p:nvPr/>
        </p:nvPicPr>
        <p:blipFill>
          <a:blip>
            <a:extLst>
              <a:ext uri="{96DAC541-7B7A-43D3-8B79-37D633B846F1}">
                <asvg:svgBlip xmlns:asvg="http://schemas.microsoft.com/office/drawing/2016/SVG/main" r:embed="rId6"/>
              </a:ext>
            </a:extLst>
          </a:blip>
          <a:stretch>
            <a:fillRect/>
          </a:stretch>
        </p:blipFill>
        <p:spPr>
          <a:xfrm>
            <a:off x="4079081" y="2562820"/>
            <a:ext cx="75009" cy="75009"/>
          </a:xfrm>
          <a:prstGeom prst="rect">
            <a:avLst/>
          </a:prstGeom>
        </p:spPr>
      </p:pic>
      <p:sp>
        <p:nvSpPr>
          <p:cNvPr id="55" name="New shape"/>
          <p:cNvSpPr/>
          <p:nvPr/>
        </p:nvSpPr>
        <p:spPr>
          <a:xfrm>
            <a:off x="4243388" y="251460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56" name="New shape"/>
          <p:cNvSpPr/>
          <p:nvPr/>
        </p:nvSpPr>
        <p:spPr>
          <a:xfrm>
            <a:off x="6144105" y="2514600"/>
            <a:ext cx="3668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7" name="New shape"/>
          <p:cNvSpPr/>
          <p:nvPr/>
        </p:nvSpPr>
        <p:spPr>
          <a:xfrm>
            <a:off x="6525199" y="251460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8" name="New shape"/>
          <p:cNvSpPr/>
          <p:nvPr/>
        </p:nvSpPr>
        <p:spPr>
          <a:xfrm>
            <a:off x="457200" y="28003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9" name="New shape"/>
          <p:cNvSpPr txBox="1"/>
          <p:nvPr/>
        </p:nvSpPr>
        <p:spPr>
          <a:xfrm>
            <a:off x="457200" y="29146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Ich </a:t>
            </a:r>
            <a:r>
              <a:rPr sz="788" b="0" i="0" dirty="0" err="1">
                <a:solidFill>
                  <a:srgbClr val="546178"/>
                </a:solidFill>
                <a:latin typeface="Poppins"/>
              </a:rPr>
              <a:t>glaube</a:t>
            </a:r>
            <a:r>
              <a:rPr sz="788" b="0" i="0" dirty="0">
                <a:solidFill>
                  <a:srgbClr val="546178"/>
                </a:solidFill>
                <a:latin typeface="Poppins"/>
              </a:rPr>
              <a:t>, </a:t>
            </a:r>
            <a:r>
              <a:rPr sz="788" b="0" i="0" dirty="0" err="1">
                <a:solidFill>
                  <a:srgbClr val="546178"/>
                </a:solidFill>
                <a:latin typeface="Poppins"/>
              </a:rPr>
              <a:t>dass</a:t>
            </a:r>
            <a:r>
              <a:rPr sz="788" b="0" i="0" dirty="0">
                <a:solidFill>
                  <a:srgbClr val="546178"/>
                </a:solidFill>
                <a:latin typeface="Poppins"/>
              </a:rPr>
              <a:t> ich gut </a:t>
            </a:r>
            <a:r>
              <a:rPr sz="788" b="0" i="0" dirty="0" err="1">
                <a:solidFill>
                  <a:srgbClr val="546178"/>
                </a:solidFill>
                <a:latin typeface="Poppins"/>
              </a:rPr>
              <a:t>zu</a:t>
            </a:r>
            <a:r>
              <a:rPr sz="788" b="0" i="0" dirty="0">
                <a:solidFill>
                  <a:srgbClr val="546178"/>
                </a:solidFill>
                <a:latin typeface="Poppins"/>
              </a:rPr>
              <a:t> </a:t>
            </a:r>
            <a:r>
              <a:rPr lang="en-US" sz="788" b="0" i="0" dirty="0">
                <a:solidFill>
                  <a:srgbClr val="546178"/>
                </a:solidFill>
                <a:latin typeface="Poppins"/>
              </a:rPr>
              <a:t>Team IT</a:t>
            </a:r>
            <a:r>
              <a:rPr sz="788" b="0" i="0" dirty="0">
                <a:solidFill>
                  <a:srgbClr val="546178"/>
                </a:solidFill>
                <a:latin typeface="Poppins"/>
              </a:rPr>
              <a:t> passe</a:t>
            </a:r>
          </a:p>
        </p:txBody>
      </p:sp>
      <p:sp>
        <p:nvSpPr>
          <p:cNvPr id="60" name="New shape"/>
          <p:cNvSpPr/>
          <p:nvPr/>
        </p:nvSpPr>
        <p:spPr>
          <a:xfrm>
            <a:off x="4000500" y="29146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5"/>
              </a:ext>
            </a:extLst>
          </a:blip>
          <a:stretch>
            <a:fillRect/>
          </a:stretch>
        </p:blipFill>
        <p:spPr>
          <a:xfrm>
            <a:off x="4079081" y="2957512"/>
            <a:ext cx="71438" cy="85725"/>
          </a:xfrm>
          <a:prstGeom prst="rect">
            <a:avLst/>
          </a:prstGeom>
        </p:spPr>
      </p:pic>
      <p:sp>
        <p:nvSpPr>
          <p:cNvPr id="62" name="New shape"/>
          <p:cNvSpPr/>
          <p:nvPr/>
        </p:nvSpPr>
        <p:spPr>
          <a:xfrm>
            <a:off x="4243388" y="2914650"/>
            <a:ext cx="1991232"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63" name="New shape"/>
          <p:cNvSpPr/>
          <p:nvPr/>
        </p:nvSpPr>
        <p:spPr>
          <a:xfrm>
            <a:off x="6248907" y="291465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64" name="New shape"/>
          <p:cNvSpPr/>
          <p:nvPr/>
        </p:nvSpPr>
        <p:spPr>
          <a:xfrm>
            <a:off x="6498998" y="2914650"/>
            <a:ext cx="3930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65" name="New shape"/>
          <p:cNvSpPr txBox="1"/>
          <p:nvPr/>
        </p:nvSpPr>
        <p:spPr>
          <a:xfrm>
            <a:off x="7149179"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66" name="New shape"/>
          <p:cNvSpPr txBox="1"/>
          <p:nvPr/>
        </p:nvSpPr>
        <p:spPr>
          <a:xfrm>
            <a:off x="7538943"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67" name="New shape"/>
          <p:cNvSpPr txBox="1"/>
          <p:nvPr/>
        </p:nvSpPr>
        <p:spPr>
          <a:xfrm>
            <a:off x="7928706"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68" name="New shape"/>
          <p:cNvSpPr txBox="1"/>
          <p:nvPr/>
        </p:nvSpPr>
        <p:spPr>
          <a:xfrm>
            <a:off x="8318470" y="29146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97</a:t>
            </a:r>
          </a:p>
        </p:txBody>
      </p:sp>
      <p:sp>
        <p:nvSpPr>
          <p:cNvPr id="69" name="New shape"/>
          <p:cNvSpPr/>
          <p:nvPr/>
        </p:nvSpPr>
        <p:spPr>
          <a:xfrm>
            <a:off x="4000500" y="31432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0" name="New picture"/>
          <p:cNvPicPr/>
          <p:nvPr/>
        </p:nvPicPr>
        <p:blipFill>
          <a:blip>
            <a:extLst>
              <a:ext uri="{96DAC541-7B7A-43D3-8B79-37D633B846F1}">
                <asvg:svgBlip xmlns:asvg="http://schemas.microsoft.com/office/drawing/2016/SVG/main" r:embed="rId6"/>
              </a:ext>
            </a:extLst>
          </a:blip>
          <a:stretch>
            <a:fillRect/>
          </a:stretch>
        </p:blipFill>
        <p:spPr>
          <a:xfrm>
            <a:off x="4079081" y="3191470"/>
            <a:ext cx="75009" cy="75009"/>
          </a:xfrm>
          <a:prstGeom prst="rect">
            <a:avLst/>
          </a:prstGeom>
        </p:spPr>
      </p:pic>
      <p:sp>
        <p:nvSpPr>
          <p:cNvPr id="71" name="New shape"/>
          <p:cNvSpPr/>
          <p:nvPr/>
        </p:nvSpPr>
        <p:spPr>
          <a:xfrm>
            <a:off x="4243388" y="3143250"/>
            <a:ext cx="18078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69%</a:t>
            </a:r>
          </a:p>
        </p:txBody>
      </p:sp>
      <p:sp>
        <p:nvSpPr>
          <p:cNvPr id="72" name="New shape"/>
          <p:cNvSpPr/>
          <p:nvPr/>
        </p:nvSpPr>
        <p:spPr>
          <a:xfrm>
            <a:off x="6065504" y="3143250"/>
            <a:ext cx="3930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73" name="New shape"/>
          <p:cNvSpPr/>
          <p:nvPr/>
        </p:nvSpPr>
        <p:spPr>
          <a:xfrm>
            <a:off x="6472797" y="31432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74" name="New shape"/>
          <p:cNvSpPr/>
          <p:nvPr/>
        </p:nvSpPr>
        <p:spPr>
          <a:xfrm>
            <a:off x="457200" y="34290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5"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a:t>
            </a:r>
          </a:p>
        </p:txBody>
      </p:sp>
      <p:sp>
        <p:nvSpPr>
          <p:cNvPr id="78"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9"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0"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81"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2"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3"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a:t>
            </a:r>
          </a:p>
        </p:txBody>
      </p:sp>
      <p:sp>
        <p:nvSpPr>
          <p:cNvPr id="84"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5"/>
              </a:ext>
            </a:extLst>
          </a:blip>
          <a:stretch>
            <a:fillRect/>
          </a:stretch>
        </p:blipFill>
        <p:spPr>
          <a:xfrm>
            <a:off x="3286125" y="4883467"/>
            <a:ext cx="100012" cy="120015"/>
          </a:xfrm>
          <a:prstGeom prst="rect">
            <a:avLst/>
          </a:prstGeom>
        </p:spPr>
      </p:pic>
      <p:sp>
        <p:nvSpPr>
          <p:cNvPr id="86"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Aktuell</a:t>
            </a:r>
          </a:p>
        </p:txBody>
      </p:sp>
      <p:pic>
        <p:nvPicPr>
          <p:cNvPr id="87" name="New picture"/>
          <p:cNvPicPr/>
          <p:nvPr/>
        </p:nvPicPr>
        <p:blipFill>
          <a:blip>
            <a:extLst>
              <a:ext uri="{96DAC541-7B7A-43D3-8B79-37D633B846F1}">
                <asvg:svgBlip xmlns:asvg="http://schemas.microsoft.com/office/drawing/2016/SVG/main" r:embed="rId6"/>
              </a:ext>
            </a:extLst>
          </a:blip>
          <a:stretch>
            <a:fillRect/>
          </a:stretch>
        </p:blipFill>
        <p:spPr>
          <a:xfrm>
            <a:off x="4350544" y="4890969"/>
            <a:ext cx="105013" cy="105013"/>
          </a:xfrm>
          <a:prstGeom prst="rect">
            <a:avLst/>
          </a:prstGeom>
        </p:spPr>
      </p:pic>
      <p:sp>
        <p:nvSpPr>
          <p:cNvPr id="88" name="New shape"/>
          <p:cNvSpPr txBox="1"/>
          <p:nvPr/>
        </p:nvSpPr>
        <p:spPr>
          <a:xfrm>
            <a:off x="4526995"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Vorherige Befragung</a:t>
            </a:r>
          </a:p>
        </p:txBody>
      </p:sp>
      <p:sp>
        <p:nvSpPr>
          <p:cNvPr id="89"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90" name="New picture"/>
          <p:cNvPicPr/>
          <p:nvPr/>
        </p:nvPicPr>
        <p:blipFill>
          <a:blip>
            <a:extLst>
              <a:ext uri="{96DAC541-7B7A-43D3-8B79-37D633B846F1}">
                <asvg:svgBlip xmlns:asvg="http://schemas.microsoft.com/office/drawing/2016/SVG/main" r:embed="rId2"/>
              </a:ext>
            </a:extLst>
          </a:blip>
          <a:stretch>
            <a:fillRect/>
          </a:stretch>
        </p:blipFill>
        <p:spPr>
          <a:xfrm>
            <a:off x="5562838" y="4890969"/>
            <a:ext cx="105013" cy="105013"/>
          </a:xfrm>
          <a:prstGeom prst="rect">
            <a:avLst/>
          </a:prstGeom>
        </p:spPr>
      </p:pic>
      <p:sp>
        <p:nvSpPr>
          <p:cNvPr id="91" name="New shape"/>
          <p:cNvSpPr txBox="1"/>
          <p:nvPr/>
        </p:nvSpPr>
        <p:spPr>
          <a:xfrm>
            <a:off x="5739289"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International</a:t>
            </a:r>
          </a:p>
        </p:txBody>
      </p:sp>
      <p:sp>
        <p:nvSpPr>
          <p:cNvPr id="92"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93" name="New picture"/>
          <p:cNvPicPr/>
          <p:nvPr/>
        </p:nvPicPr>
        <p:blipFill>
          <a:blip>
            <a:extLst>
              <a:ext uri="{96DAC541-7B7A-43D3-8B79-37D633B846F1}">
                <asvg:svgBlip xmlns:asvg="http://schemas.microsoft.com/office/drawing/2016/SVG/main" r:embed="rId3"/>
              </a:ext>
            </a:extLst>
          </a:blip>
          <a:stretch>
            <a:fillRect/>
          </a:stretch>
        </p:blipFill>
        <p:spPr>
          <a:xfrm>
            <a:off x="6775133" y="4890969"/>
            <a:ext cx="105013" cy="105013"/>
          </a:xfrm>
          <a:prstGeom prst="rect">
            <a:avLst/>
          </a:prstGeom>
        </p:spPr>
      </p:pic>
      <p:sp>
        <p:nvSpPr>
          <p:cNvPr id="94" name="New shape"/>
          <p:cNvSpPr txBox="1"/>
          <p:nvPr/>
        </p:nvSpPr>
        <p:spPr>
          <a:xfrm>
            <a:off x="6951583" y="4789170"/>
            <a:ext cx="714375"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International</a:t>
            </a:r>
          </a:p>
        </p:txBody>
      </p:sp>
      <p:sp>
        <p:nvSpPr>
          <p:cNvPr id="95"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96" name="New picture"/>
          <p:cNvPicPr/>
          <p:nvPr/>
        </p:nvPicPr>
        <p:blipFill>
          <a:blip>
            <a:extLst>
              <a:ext uri="{96DAC541-7B7A-43D3-8B79-37D633B846F1}">
                <asvg:svgBlip xmlns:asvg="http://schemas.microsoft.com/office/drawing/2016/SVG/main" r:embed="rId2"/>
              </a:ext>
            </a:extLst>
          </a:blip>
          <a:stretch>
            <a:fillRect/>
          </a:stretch>
        </p:blipFill>
        <p:spPr>
          <a:xfrm>
            <a:off x="7987427" y="4890969"/>
            <a:ext cx="105013" cy="105013"/>
          </a:xfrm>
          <a:prstGeom prst="rect">
            <a:avLst/>
          </a:prstGeom>
        </p:spPr>
      </p:pic>
      <p:sp>
        <p:nvSpPr>
          <p:cNvPr id="97"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98"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99" name="New picture"/>
          <p:cNvPicPr/>
          <p:nvPr/>
        </p:nvPicPr>
        <p:blipFill>
          <a:blip>
            <a:extLst>
              <a:ext uri="{96DAC541-7B7A-43D3-8B79-37D633B846F1}">
                <asvg:svgBlip xmlns:asvg="http://schemas.microsoft.com/office/drawing/2016/SVG/main" r:embed="rId4"/>
              </a:ext>
            </a:extLst>
          </a:blip>
          <a:stretch>
            <a:fillRect/>
          </a:stretch>
        </p:blipFill>
        <p:spPr>
          <a:xfrm>
            <a:off x="9199721" y="4890969"/>
            <a:ext cx="105013" cy="105013"/>
          </a:xfrm>
          <a:prstGeom prst="rect">
            <a:avLst/>
          </a:prstGeom>
        </p:spPr>
      </p:pic>
      <p:sp>
        <p:nvSpPr>
          <p:cNvPr id="100"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
        <p:nvSpPr>
          <p:cNvPr id="10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17</a:t>
            </a:r>
          </a:p>
        </p:txBody>
      </p:sp>
      <p:sp>
        <p:nvSpPr>
          <p:cNvPr id="10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3" name="New picture"/>
          <p:cNvPicPr/>
          <p:nvPr/>
        </p:nvPicPr>
        <p:blipFill>
          <a:blip>
            <a:extLst>
              <a:ext uri="{96DAC541-7B7A-43D3-8B79-37D633B846F1}">
                <asvg:svgBlip xmlns:asvg="http://schemas.microsoft.com/office/drawing/2016/SVG/main" r:embed="rId7"/>
              </a:ext>
            </a:extLst>
          </a:blip>
          <a:stretch>
            <a:fillRect/>
          </a:stretch>
        </p:blipFill>
        <p:spPr>
          <a:xfrm>
            <a:off x="8829675" y="147661"/>
            <a:ext cx="217884" cy="217884"/>
          </a:xfrm>
          <a:prstGeom prst="rect">
            <a:avLst/>
          </a:prstGeom>
        </p:spPr>
      </p:pic>
      <p:sp>
        <p:nvSpPr>
          <p:cNvPr id="10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6"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Qualität des Leistungsumfeldes</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Veränderung gestalten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Mein Team </a:t>
            </a:r>
            <a:r>
              <a:rPr sz="788" b="0" i="0" dirty="0" err="1">
                <a:solidFill>
                  <a:srgbClr val="546178"/>
                </a:solidFill>
                <a:latin typeface="Poppins"/>
              </a:rPr>
              <a:t>weiß</a:t>
            </a:r>
            <a:r>
              <a:rPr sz="788" b="0" i="0" dirty="0">
                <a:solidFill>
                  <a:srgbClr val="546178"/>
                </a:solidFill>
                <a:latin typeface="Poppins"/>
              </a:rPr>
              <a:t>, was </a:t>
            </a:r>
            <a:r>
              <a:rPr sz="788" b="0" i="0" dirty="0" err="1">
                <a:solidFill>
                  <a:srgbClr val="546178"/>
                </a:solidFill>
                <a:latin typeface="Poppins"/>
              </a:rPr>
              <a:t>getan</a:t>
            </a:r>
            <a:r>
              <a:rPr sz="788" b="0" i="0" dirty="0">
                <a:solidFill>
                  <a:srgbClr val="546178"/>
                </a:solidFill>
                <a:latin typeface="Poppins"/>
              </a:rPr>
              <a:t> </a:t>
            </a:r>
            <a:r>
              <a:rPr sz="788" b="0" i="0" dirty="0" err="1">
                <a:solidFill>
                  <a:srgbClr val="546178"/>
                </a:solidFill>
                <a:latin typeface="Poppins"/>
              </a:rPr>
              <a:t>werden</a:t>
            </a:r>
            <a:r>
              <a:rPr sz="788" b="0" i="0" dirty="0">
                <a:solidFill>
                  <a:srgbClr val="546178"/>
                </a:solidFill>
                <a:latin typeface="Poppins"/>
              </a:rPr>
              <a:t> muss, um </a:t>
            </a:r>
            <a:r>
              <a:rPr sz="788" b="0" i="0" dirty="0" err="1">
                <a:solidFill>
                  <a:srgbClr val="546178"/>
                </a:solidFill>
                <a:latin typeface="Poppins"/>
              </a:rPr>
              <a:t>zum</a:t>
            </a:r>
            <a:r>
              <a:rPr sz="788" b="0" i="0" dirty="0">
                <a:solidFill>
                  <a:srgbClr val="546178"/>
                </a:solidFill>
                <a:latin typeface="Poppins"/>
              </a:rPr>
              <a:t> </a:t>
            </a:r>
            <a:r>
              <a:rPr sz="788" b="0" i="0" dirty="0" err="1">
                <a:solidFill>
                  <a:srgbClr val="546178"/>
                </a:solidFill>
                <a:latin typeface="Poppins"/>
              </a:rPr>
              <a:t>Erfolg</a:t>
            </a:r>
            <a:r>
              <a:rPr sz="788" b="0" i="0" dirty="0">
                <a:solidFill>
                  <a:srgbClr val="546178"/>
                </a:solidFill>
                <a:latin typeface="Poppins"/>
              </a:rPr>
              <a:t> von </a:t>
            </a:r>
            <a:r>
              <a:rPr lang="en-US" sz="788" b="0" i="0" dirty="0">
                <a:solidFill>
                  <a:srgbClr val="546178"/>
                </a:solidFill>
                <a:latin typeface="Poppins"/>
              </a:rPr>
              <a:t>Team IT</a:t>
            </a:r>
            <a:r>
              <a:rPr sz="788" b="0" i="0" dirty="0">
                <a:solidFill>
                  <a:srgbClr val="546178"/>
                </a:solidFill>
                <a:latin typeface="Poppins"/>
              </a:rPr>
              <a:t> </a:t>
            </a:r>
            <a:r>
              <a:rPr sz="788" b="0" i="0" dirty="0" err="1">
                <a:solidFill>
                  <a:srgbClr val="546178"/>
                </a:solidFill>
                <a:latin typeface="Poppins"/>
              </a:rPr>
              <a:t>beizutragen</a:t>
            </a:r>
            <a:endParaRPr sz="788" b="0" i="0" dirty="0">
              <a:solidFill>
                <a:srgbClr val="546178"/>
              </a:solidFill>
              <a:latin typeface="Poppins"/>
            </a:endParaRP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2" name="New shape"/>
          <p:cNvSpPr/>
          <p:nvPr/>
        </p:nvSpPr>
        <p:spPr>
          <a:xfrm>
            <a:off x="6144105" y="12001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23" name="New shape"/>
          <p:cNvSpPr/>
          <p:nvPr/>
        </p:nvSpPr>
        <p:spPr>
          <a:xfrm>
            <a:off x="6420397" y="120015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78</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78</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89</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2017432"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77%</a:t>
            </a:r>
          </a:p>
        </p:txBody>
      </p:sp>
      <p:sp>
        <p:nvSpPr>
          <p:cNvPr id="31" name="New shape"/>
          <p:cNvSpPr/>
          <p:nvPr/>
        </p:nvSpPr>
        <p:spPr>
          <a:xfrm>
            <a:off x="6275107" y="1428750"/>
            <a:ext cx="2620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2" name="New shape"/>
          <p:cNvSpPr/>
          <p:nvPr/>
        </p:nvSpPr>
        <p:spPr>
          <a:xfrm>
            <a:off x="6551399" y="1428750"/>
            <a:ext cx="340605"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Mein Team erarbeitet regelmäßig neue und gute Verbesserungsvorschläge</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38" name="New shape"/>
          <p:cNvSpPr/>
          <p:nvPr/>
        </p:nvSpPr>
        <p:spPr>
          <a:xfrm>
            <a:off x="6196506" y="182880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39" name="New shape"/>
          <p:cNvSpPr/>
          <p:nvPr/>
        </p:nvSpPr>
        <p:spPr>
          <a:xfrm>
            <a:off x="6472798" y="182880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87</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2017432"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77%</a:t>
            </a:r>
          </a:p>
        </p:txBody>
      </p:sp>
      <p:sp>
        <p:nvSpPr>
          <p:cNvPr id="47" name="New shape"/>
          <p:cNvSpPr/>
          <p:nvPr/>
        </p:nvSpPr>
        <p:spPr>
          <a:xfrm>
            <a:off x="6275107" y="2057400"/>
            <a:ext cx="209603"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8%</a:t>
            </a:r>
          </a:p>
        </p:txBody>
      </p:sp>
      <p:sp>
        <p:nvSpPr>
          <p:cNvPr id="48" name="New shape"/>
          <p:cNvSpPr/>
          <p:nvPr/>
        </p:nvSpPr>
        <p:spPr>
          <a:xfrm>
            <a:off x="6498998" y="2057400"/>
            <a:ext cx="3930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Ich habe Vertrauen in meine Führungskraft</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54" name="New shape"/>
          <p:cNvSpPr/>
          <p:nvPr/>
        </p:nvSpPr>
        <p:spPr>
          <a:xfrm>
            <a:off x="6144105" y="2457450"/>
            <a:ext cx="2358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55" name="New shape"/>
          <p:cNvSpPr/>
          <p:nvPr/>
        </p:nvSpPr>
        <p:spPr>
          <a:xfrm>
            <a:off x="6394197" y="245745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69</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938831"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74%</a:t>
            </a:r>
          </a:p>
        </p:txBody>
      </p:sp>
      <p:sp>
        <p:nvSpPr>
          <p:cNvPr id="63" name="New shape"/>
          <p:cNvSpPr/>
          <p:nvPr/>
        </p:nvSpPr>
        <p:spPr>
          <a:xfrm>
            <a:off x="6196506" y="2686050"/>
            <a:ext cx="2620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64" name="New shape"/>
          <p:cNvSpPr/>
          <p:nvPr/>
        </p:nvSpPr>
        <p:spPr>
          <a:xfrm>
            <a:off x="6472798" y="26860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Meine Führungskraft geht bei Veränderungen vorbildlich voran</a:t>
            </a: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340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70" name="New shape"/>
          <p:cNvSpPr/>
          <p:nvPr/>
        </p:nvSpPr>
        <p:spPr>
          <a:xfrm>
            <a:off x="6091704" y="3086100"/>
            <a:ext cx="3144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71" name="New shape"/>
          <p:cNvSpPr/>
          <p:nvPr/>
        </p:nvSpPr>
        <p:spPr>
          <a:xfrm>
            <a:off x="6420396" y="308610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63</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79" name="New shape"/>
          <p:cNvSpPr/>
          <p:nvPr/>
        </p:nvSpPr>
        <p:spPr>
          <a:xfrm>
            <a:off x="6091704" y="331470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80" name="New shape"/>
          <p:cNvSpPr/>
          <p:nvPr/>
        </p:nvSpPr>
        <p:spPr>
          <a:xfrm>
            <a:off x="6394197" y="33147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Ich </a:t>
            </a:r>
            <a:r>
              <a:rPr sz="788" b="0" i="0" dirty="0" err="1">
                <a:solidFill>
                  <a:srgbClr val="546178"/>
                </a:solidFill>
                <a:latin typeface="Poppins"/>
              </a:rPr>
              <a:t>identifiziere</a:t>
            </a:r>
            <a:r>
              <a:rPr sz="788" b="0" i="0" dirty="0">
                <a:solidFill>
                  <a:srgbClr val="546178"/>
                </a:solidFill>
                <a:latin typeface="Poppins"/>
              </a:rPr>
              <a:t> </a:t>
            </a:r>
            <a:r>
              <a:rPr sz="788" b="0" i="0" dirty="0" err="1">
                <a:solidFill>
                  <a:srgbClr val="546178"/>
                </a:solidFill>
                <a:latin typeface="Poppins"/>
              </a:rPr>
              <a:t>mich</a:t>
            </a:r>
            <a:r>
              <a:rPr sz="788" b="0" i="0" dirty="0">
                <a:solidFill>
                  <a:srgbClr val="546178"/>
                </a:solidFill>
                <a:latin typeface="Poppins"/>
              </a:rPr>
              <a:t> </a:t>
            </a:r>
            <a:r>
              <a:rPr sz="788" b="0" i="0" dirty="0" err="1">
                <a:solidFill>
                  <a:srgbClr val="546178"/>
                </a:solidFill>
                <a:latin typeface="Poppins"/>
              </a:rPr>
              <a:t>mit</a:t>
            </a:r>
            <a:r>
              <a:rPr sz="788" b="0" i="0" dirty="0">
                <a:solidFill>
                  <a:srgbClr val="546178"/>
                </a:solidFill>
                <a:latin typeface="Poppins"/>
              </a:rPr>
              <a:t> der Kultur von </a:t>
            </a:r>
            <a:r>
              <a:rPr lang="en-US" sz="788" b="0" i="0" dirty="0">
                <a:solidFill>
                  <a:srgbClr val="546178"/>
                </a:solidFill>
                <a:latin typeface="Poppins"/>
              </a:rPr>
              <a:t>Team IT</a:t>
            </a:r>
            <a:endParaRPr sz="788" b="0" i="0" dirty="0">
              <a:solidFill>
                <a:srgbClr val="546178"/>
              </a:solidFill>
              <a:latin typeface="Poppins"/>
            </a:endParaRP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8602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86" name="New shape"/>
          <p:cNvSpPr/>
          <p:nvPr/>
        </p:nvSpPr>
        <p:spPr>
          <a:xfrm>
            <a:off x="6117904" y="371475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87" name="New shape"/>
          <p:cNvSpPr/>
          <p:nvPr/>
        </p:nvSpPr>
        <p:spPr>
          <a:xfrm>
            <a:off x="6472797" y="37147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88</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95" name="New shape"/>
          <p:cNvSpPr/>
          <p:nvPr/>
        </p:nvSpPr>
        <p:spPr>
          <a:xfrm>
            <a:off x="6117904" y="394335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96" name="New shape"/>
          <p:cNvSpPr/>
          <p:nvPr/>
        </p:nvSpPr>
        <p:spPr>
          <a:xfrm>
            <a:off x="6420397" y="3943350"/>
            <a:ext cx="4716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18%</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Aktuell</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Vorherige Befragung</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International</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789170"/>
            <a:ext cx="714375"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International</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19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Qualität des Leistungsumfeldes</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Richtung geben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Ich bin </a:t>
            </a:r>
            <a:r>
              <a:rPr sz="788" b="0" i="0" dirty="0" err="1">
                <a:solidFill>
                  <a:srgbClr val="546178"/>
                </a:solidFill>
                <a:latin typeface="Poppins"/>
              </a:rPr>
              <a:t>überzeugt</a:t>
            </a:r>
            <a:r>
              <a:rPr sz="788" b="0" i="0" dirty="0">
                <a:solidFill>
                  <a:srgbClr val="546178"/>
                </a:solidFill>
                <a:latin typeface="Poppins"/>
              </a:rPr>
              <a:t> von den Zielen und der </a:t>
            </a:r>
            <a:r>
              <a:rPr sz="788" b="0" i="0" dirty="0" err="1">
                <a:solidFill>
                  <a:srgbClr val="546178"/>
                </a:solidFill>
                <a:latin typeface="Poppins"/>
              </a:rPr>
              <a:t>Strategie</a:t>
            </a:r>
            <a:r>
              <a:rPr sz="788" b="0" i="0" dirty="0">
                <a:solidFill>
                  <a:srgbClr val="546178"/>
                </a:solidFill>
                <a:latin typeface="Poppins"/>
              </a:rPr>
              <a:t> von </a:t>
            </a:r>
            <a:r>
              <a:rPr lang="en-US" sz="788" b="0" i="0" dirty="0">
                <a:solidFill>
                  <a:srgbClr val="546178"/>
                </a:solidFill>
                <a:latin typeface="Poppins"/>
              </a:rPr>
              <a:t>Team IT</a:t>
            </a:r>
            <a:endParaRPr sz="788" b="0" i="0" dirty="0">
              <a:solidFill>
                <a:srgbClr val="546178"/>
              </a:solidFill>
              <a:latin typeface="Poppins"/>
            </a:endParaRP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22" name="New shape"/>
          <p:cNvSpPr/>
          <p:nvPr/>
        </p:nvSpPr>
        <p:spPr>
          <a:xfrm>
            <a:off x="6144105" y="12001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23" name="New shape"/>
          <p:cNvSpPr/>
          <p:nvPr/>
        </p:nvSpPr>
        <p:spPr>
          <a:xfrm>
            <a:off x="6525199" y="1200150"/>
            <a:ext cx="3668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14%</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71</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93</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31" name="New shape"/>
          <p:cNvSpPr/>
          <p:nvPr/>
        </p:nvSpPr>
        <p:spPr>
          <a:xfrm>
            <a:off x="6117904" y="142875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2" name="New shape"/>
          <p:cNvSpPr/>
          <p:nvPr/>
        </p:nvSpPr>
        <p:spPr>
          <a:xfrm>
            <a:off x="6472797" y="14287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Die </a:t>
            </a:r>
            <a:r>
              <a:rPr sz="788" b="0" i="0" dirty="0" err="1">
                <a:solidFill>
                  <a:srgbClr val="546178"/>
                </a:solidFill>
                <a:latin typeface="Poppins"/>
              </a:rPr>
              <a:t>Zukunftsvision</a:t>
            </a:r>
            <a:r>
              <a:rPr sz="788" b="0" i="0" dirty="0">
                <a:solidFill>
                  <a:srgbClr val="546178"/>
                </a:solidFill>
                <a:latin typeface="Poppins"/>
              </a:rPr>
              <a:t> von </a:t>
            </a:r>
            <a:r>
              <a:rPr lang="en-US" sz="788" b="0" i="0" dirty="0">
                <a:solidFill>
                  <a:srgbClr val="546178"/>
                </a:solidFill>
                <a:latin typeface="Poppins"/>
              </a:rPr>
              <a:t>Team IT</a:t>
            </a:r>
            <a:r>
              <a:rPr sz="788" b="0" i="0" dirty="0">
                <a:solidFill>
                  <a:srgbClr val="546178"/>
                </a:solidFill>
                <a:latin typeface="Poppins"/>
              </a:rPr>
              <a:t> </a:t>
            </a:r>
            <a:r>
              <a:rPr sz="788" b="0" i="0" dirty="0" err="1">
                <a:solidFill>
                  <a:srgbClr val="546178"/>
                </a:solidFill>
                <a:latin typeface="Poppins"/>
              </a:rPr>
              <a:t>inspiriert</a:t>
            </a:r>
            <a:r>
              <a:rPr sz="788" b="0" i="0" dirty="0">
                <a:solidFill>
                  <a:srgbClr val="546178"/>
                </a:solidFill>
                <a:latin typeface="Poppins"/>
              </a:rPr>
              <a:t> </a:t>
            </a:r>
            <a:r>
              <a:rPr sz="788" b="0" i="0" dirty="0" err="1">
                <a:solidFill>
                  <a:srgbClr val="546178"/>
                </a:solidFill>
                <a:latin typeface="Poppins"/>
              </a:rPr>
              <a:t>mich</a:t>
            </a:r>
            <a:endParaRPr sz="788" b="0" i="0" dirty="0">
              <a:solidFill>
                <a:srgbClr val="546178"/>
              </a:solidFill>
              <a:latin typeface="Poppins"/>
            </a:endParaRP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38" name="New shape"/>
          <p:cNvSpPr/>
          <p:nvPr/>
        </p:nvSpPr>
        <p:spPr>
          <a:xfrm>
            <a:off x="6196506" y="1828800"/>
            <a:ext cx="2882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39" name="New shape"/>
          <p:cNvSpPr/>
          <p:nvPr/>
        </p:nvSpPr>
        <p:spPr>
          <a:xfrm>
            <a:off x="6498998" y="1828800"/>
            <a:ext cx="3930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15%</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55</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87</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7554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67%</a:t>
            </a:r>
          </a:p>
        </p:txBody>
      </p:sp>
      <p:sp>
        <p:nvSpPr>
          <p:cNvPr id="47" name="New shape"/>
          <p:cNvSpPr/>
          <p:nvPr/>
        </p:nvSpPr>
        <p:spPr>
          <a:xfrm>
            <a:off x="6013103" y="2057400"/>
            <a:ext cx="4454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48" name="New shape"/>
          <p:cNvSpPr/>
          <p:nvPr/>
        </p:nvSpPr>
        <p:spPr>
          <a:xfrm>
            <a:off x="6472797" y="205740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err="1">
                <a:solidFill>
                  <a:srgbClr val="546178"/>
                </a:solidFill>
                <a:latin typeface="Poppins"/>
              </a:rPr>
              <a:t>Innerhalb</a:t>
            </a:r>
            <a:r>
              <a:rPr sz="788" b="0" i="0" dirty="0">
                <a:solidFill>
                  <a:srgbClr val="546178"/>
                </a:solidFill>
                <a:latin typeface="Poppins"/>
              </a:rPr>
              <a:t> von </a:t>
            </a:r>
            <a:r>
              <a:rPr lang="en-US" sz="788" b="0" i="0" dirty="0">
                <a:solidFill>
                  <a:srgbClr val="546178"/>
                </a:solidFill>
                <a:latin typeface="Poppins"/>
              </a:rPr>
              <a:t>Team IT</a:t>
            </a:r>
            <a:r>
              <a:rPr sz="788" b="0" i="0" dirty="0">
                <a:solidFill>
                  <a:srgbClr val="546178"/>
                </a:solidFill>
                <a:latin typeface="Poppins"/>
              </a:rPr>
              <a:t> </a:t>
            </a:r>
            <a:r>
              <a:rPr sz="788" b="0" i="0" dirty="0" err="1">
                <a:solidFill>
                  <a:srgbClr val="546178"/>
                </a:solidFill>
                <a:latin typeface="Poppins"/>
              </a:rPr>
              <a:t>werden</a:t>
            </a:r>
            <a:r>
              <a:rPr sz="788" b="0" i="0" dirty="0">
                <a:solidFill>
                  <a:srgbClr val="546178"/>
                </a:solidFill>
                <a:latin typeface="Poppins"/>
              </a:rPr>
              <a:t> die </a:t>
            </a:r>
            <a:r>
              <a:rPr sz="788" b="0" i="0" dirty="0" err="1">
                <a:solidFill>
                  <a:srgbClr val="546178"/>
                </a:solidFill>
                <a:latin typeface="Poppins"/>
              </a:rPr>
              <a:t>Mitarbeitenden</a:t>
            </a:r>
            <a:r>
              <a:rPr sz="788" b="0" i="0" dirty="0">
                <a:solidFill>
                  <a:srgbClr val="546178"/>
                </a:solidFill>
                <a:latin typeface="Poppins"/>
              </a:rPr>
              <a:t> fair </a:t>
            </a:r>
            <a:r>
              <a:rPr sz="788" b="0" i="0" dirty="0" err="1">
                <a:solidFill>
                  <a:srgbClr val="546178"/>
                </a:solidFill>
                <a:latin typeface="Poppins"/>
              </a:rPr>
              <a:t>behandelt</a:t>
            </a:r>
            <a:endParaRPr sz="788" b="0" i="0" dirty="0">
              <a:solidFill>
                <a:srgbClr val="546178"/>
              </a:solidFill>
              <a:latin typeface="Poppins"/>
            </a:endParaRP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755428"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67%</a:t>
            </a:r>
          </a:p>
        </p:txBody>
      </p:sp>
      <p:sp>
        <p:nvSpPr>
          <p:cNvPr id="54" name="New shape"/>
          <p:cNvSpPr/>
          <p:nvPr/>
        </p:nvSpPr>
        <p:spPr>
          <a:xfrm>
            <a:off x="6013103" y="24574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5" name="New shape"/>
          <p:cNvSpPr/>
          <p:nvPr/>
        </p:nvSpPr>
        <p:spPr>
          <a:xfrm>
            <a:off x="6394196" y="245745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67</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63" name="New shape"/>
          <p:cNvSpPr/>
          <p:nvPr/>
        </p:nvSpPr>
        <p:spPr>
          <a:xfrm>
            <a:off x="6117904" y="26860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64" name="New shape"/>
          <p:cNvSpPr/>
          <p:nvPr/>
        </p:nvSpPr>
        <p:spPr>
          <a:xfrm>
            <a:off x="6446597" y="268605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7"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8"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a:t>
            </a:r>
          </a:p>
        </p:txBody>
      </p:sp>
      <p:sp>
        <p:nvSpPr>
          <p:cNvPr id="69"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72"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3"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4"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a:t>
            </a:r>
          </a:p>
        </p:txBody>
      </p:sp>
      <p:sp>
        <p:nvSpPr>
          <p:cNvPr id="75"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76"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77"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Aktuell</a:t>
            </a:r>
          </a:p>
        </p:txBody>
      </p:sp>
      <p:pic>
        <p:nvPicPr>
          <p:cNvPr id="78"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79" name="New shape"/>
          <p:cNvSpPr txBox="1"/>
          <p:nvPr/>
        </p:nvSpPr>
        <p:spPr>
          <a:xfrm>
            <a:off x="4526995"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Vorherige Befragung</a:t>
            </a:r>
          </a:p>
        </p:txBody>
      </p:sp>
      <p:sp>
        <p:nvSpPr>
          <p:cNvPr id="80"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81"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82" name="New shape"/>
          <p:cNvSpPr txBox="1"/>
          <p:nvPr/>
        </p:nvSpPr>
        <p:spPr>
          <a:xfrm>
            <a:off x="5739289"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International</a:t>
            </a:r>
          </a:p>
        </p:txBody>
      </p:sp>
      <p:sp>
        <p:nvSpPr>
          <p:cNvPr id="83"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84"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85" name="New shape"/>
          <p:cNvSpPr txBox="1"/>
          <p:nvPr/>
        </p:nvSpPr>
        <p:spPr>
          <a:xfrm>
            <a:off x="6951583" y="4789170"/>
            <a:ext cx="714375"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International</a:t>
            </a:r>
          </a:p>
        </p:txBody>
      </p:sp>
      <p:sp>
        <p:nvSpPr>
          <p:cNvPr id="86"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87"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88"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89"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90"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91"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Qualität des Leistungsumfeldes</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Mitarbeiter führen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Meine Fähigkeiten und Kenntnisse passen zu meinem Job</a:t>
            </a: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22" name="New shape"/>
          <p:cNvSpPr/>
          <p:nvPr/>
        </p:nvSpPr>
        <p:spPr>
          <a:xfrm>
            <a:off x="6196506" y="12001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23" name="New shape"/>
          <p:cNvSpPr/>
          <p:nvPr/>
        </p:nvSpPr>
        <p:spPr>
          <a:xfrm>
            <a:off x="6472798" y="1200150"/>
            <a:ext cx="4192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16%</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95</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31" name="New shape"/>
          <p:cNvSpPr/>
          <p:nvPr/>
        </p:nvSpPr>
        <p:spPr>
          <a:xfrm>
            <a:off x="6144105" y="14287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72797" y="1428750"/>
            <a:ext cx="4192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Ich weiß, welche Arbeitsergebnisse von mir erwartet werden</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729228"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66%</a:t>
            </a:r>
          </a:p>
        </p:txBody>
      </p:sp>
      <p:sp>
        <p:nvSpPr>
          <p:cNvPr id="38" name="New shape"/>
          <p:cNvSpPr/>
          <p:nvPr/>
        </p:nvSpPr>
        <p:spPr>
          <a:xfrm>
            <a:off x="5986902" y="1828800"/>
            <a:ext cx="3930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39" name="New shape"/>
          <p:cNvSpPr/>
          <p:nvPr/>
        </p:nvSpPr>
        <p:spPr>
          <a:xfrm>
            <a:off x="6394196" y="182880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91</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755428"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67%</a:t>
            </a:r>
          </a:p>
        </p:txBody>
      </p:sp>
      <p:sp>
        <p:nvSpPr>
          <p:cNvPr id="47" name="New shape"/>
          <p:cNvSpPr/>
          <p:nvPr/>
        </p:nvSpPr>
        <p:spPr>
          <a:xfrm>
            <a:off x="6013103" y="2057400"/>
            <a:ext cx="3668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48" name="New shape"/>
          <p:cNvSpPr/>
          <p:nvPr/>
        </p:nvSpPr>
        <p:spPr>
          <a:xfrm>
            <a:off x="6394196" y="20574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Ich erhalte regelmäßig nützliches Feedback zu meiner Leistung</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54" name="New shape"/>
          <p:cNvSpPr/>
          <p:nvPr/>
        </p:nvSpPr>
        <p:spPr>
          <a:xfrm>
            <a:off x="6144105" y="2457450"/>
            <a:ext cx="2882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55" name="New shape"/>
          <p:cNvSpPr/>
          <p:nvPr/>
        </p:nvSpPr>
        <p:spPr>
          <a:xfrm>
            <a:off x="6446597" y="2457450"/>
            <a:ext cx="4454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62</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64</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77</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63" name="New shape"/>
          <p:cNvSpPr/>
          <p:nvPr/>
        </p:nvSpPr>
        <p:spPr>
          <a:xfrm>
            <a:off x="6091704" y="2686050"/>
            <a:ext cx="419207"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16%</a:t>
            </a:r>
          </a:p>
        </p:txBody>
      </p:sp>
      <p:sp>
        <p:nvSpPr>
          <p:cNvPr id="64" name="New shape"/>
          <p:cNvSpPr/>
          <p:nvPr/>
        </p:nvSpPr>
        <p:spPr>
          <a:xfrm>
            <a:off x="6525199" y="268605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Bei </a:t>
            </a:r>
            <a:r>
              <a:rPr lang="en-US" sz="788" b="0" i="0" dirty="0">
                <a:solidFill>
                  <a:srgbClr val="546178"/>
                </a:solidFill>
                <a:latin typeface="Poppins"/>
              </a:rPr>
              <a:t>Team IT</a:t>
            </a:r>
            <a:r>
              <a:rPr sz="788" b="0" i="0" dirty="0">
                <a:solidFill>
                  <a:srgbClr val="546178"/>
                </a:solidFill>
                <a:latin typeface="Poppins"/>
              </a:rPr>
              <a:t> </a:t>
            </a:r>
            <a:r>
              <a:rPr sz="788" b="0" i="0" dirty="0" err="1">
                <a:solidFill>
                  <a:srgbClr val="546178"/>
                </a:solidFill>
                <a:latin typeface="Poppins"/>
              </a:rPr>
              <a:t>wird</a:t>
            </a:r>
            <a:r>
              <a:rPr sz="788" b="0" i="0" dirty="0">
                <a:solidFill>
                  <a:srgbClr val="546178"/>
                </a:solidFill>
                <a:latin typeface="Poppins"/>
              </a:rPr>
              <a:t> </a:t>
            </a:r>
            <a:r>
              <a:rPr sz="788" b="0" i="0" dirty="0" err="1">
                <a:solidFill>
                  <a:srgbClr val="546178"/>
                </a:solidFill>
                <a:latin typeface="Poppins"/>
              </a:rPr>
              <a:t>Leistung</a:t>
            </a:r>
            <a:r>
              <a:rPr sz="788" b="0" i="0" dirty="0">
                <a:solidFill>
                  <a:srgbClr val="546178"/>
                </a:solidFill>
                <a:latin typeface="Poppins"/>
              </a:rPr>
              <a:t> </a:t>
            </a:r>
            <a:r>
              <a:rPr sz="788" b="0" i="0" dirty="0" err="1">
                <a:solidFill>
                  <a:srgbClr val="546178"/>
                </a:solidFill>
                <a:latin typeface="Poppins"/>
              </a:rPr>
              <a:t>belohnt</a:t>
            </a:r>
            <a:endParaRPr sz="788" b="0" i="0" dirty="0">
              <a:solidFill>
                <a:srgbClr val="546178"/>
              </a:solidFill>
              <a:latin typeface="Poppins"/>
            </a:endParaRP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602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71%</a:t>
            </a:r>
          </a:p>
        </p:txBody>
      </p:sp>
      <p:sp>
        <p:nvSpPr>
          <p:cNvPr id="70" name="New shape"/>
          <p:cNvSpPr/>
          <p:nvPr/>
        </p:nvSpPr>
        <p:spPr>
          <a:xfrm>
            <a:off x="6117904" y="308610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71" name="New shape"/>
          <p:cNvSpPr/>
          <p:nvPr/>
        </p:nvSpPr>
        <p:spPr>
          <a:xfrm>
            <a:off x="6394197" y="3086100"/>
            <a:ext cx="4978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19%</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40</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74</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79" name="New shape"/>
          <p:cNvSpPr/>
          <p:nvPr/>
        </p:nvSpPr>
        <p:spPr>
          <a:xfrm>
            <a:off x="6144105" y="3314700"/>
            <a:ext cx="235804"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9%</a:t>
            </a:r>
          </a:p>
        </p:txBody>
      </p:sp>
      <p:sp>
        <p:nvSpPr>
          <p:cNvPr id="80" name="New shape"/>
          <p:cNvSpPr/>
          <p:nvPr/>
        </p:nvSpPr>
        <p:spPr>
          <a:xfrm>
            <a:off x="6394197" y="331470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Wenn ich gute Arbeit leiste, erhalte ich Lob und Anerkennung</a:t>
            </a: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8340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70%</a:t>
            </a:r>
          </a:p>
        </p:txBody>
      </p:sp>
      <p:sp>
        <p:nvSpPr>
          <p:cNvPr id="86" name="New shape"/>
          <p:cNvSpPr/>
          <p:nvPr/>
        </p:nvSpPr>
        <p:spPr>
          <a:xfrm>
            <a:off x="6091704" y="3714750"/>
            <a:ext cx="262004"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10%</a:t>
            </a:r>
          </a:p>
        </p:txBody>
      </p:sp>
      <p:sp>
        <p:nvSpPr>
          <p:cNvPr id="87" name="New shape"/>
          <p:cNvSpPr/>
          <p:nvPr/>
        </p:nvSpPr>
        <p:spPr>
          <a:xfrm>
            <a:off x="6367997" y="3714750"/>
            <a:ext cx="5240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20%</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62</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59</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864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72%</a:t>
            </a:r>
          </a:p>
        </p:txBody>
      </p:sp>
      <p:sp>
        <p:nvSpPr>
          <p:cNvPr id="95" name="New shape"/>
          <p:cNvSpPr/>
          <p:nvPr/>
        </p:nvSpPr>
        <p:spPr>
          <a:xfrm>
            <a:off x="6144105" y="394335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96" name="New shape"/>
          <p:cNvSpPr/>
          <p:nvPr/>
        </p:nvSpPr>
        <p:spPr>
          <a:xfrm>
            <a:off x="6498998" y="3943350"/>
            <a:ext cx="3930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Aktuell</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Vorherige Befragung</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International</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789170"/>
            <a:ext cx="714375"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International</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3059684"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Die Leistungsfähigkeit Ihres Unternehmens - Gesamtprofil</a:t>
            </a:r>
          </a:p>
        </p:txBody>
      </p:sp>
      <p:sp>
        <p:nvSpPr>
          <p:cNvPr id="8" name="New shape"/>
          <p:cNvSpPr txBox="1"/>
          <p:nvPr/>
        </p:nvSpPr>
        <p:spPr>
          <a:xfrm>
            <a:off x="457200" y="457200"/>
            <a:ext cx="4643438" cy="1714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900" b="1" i="0">
                <a:solidFill>
                  <a:srgbClr val="1C55C7"/>
                </a:solidFill>
                <a:latin typeface="Poppins"/>
              </a:rPr>
              <a:t>Qualität des Leistungsumfeldes</a:t>
            </a:r>
          </a:p>
        </p:txBody>
      </p:sp>
      <p:sp>
        <p:nvSpPr>
          <p:cNvPr id="9" name="New shape"/>
          <p:cNvSpPr txBox="1"/>
          <p:nvPr/>
        </p:nvSpPr>
        <p:spPr>
          <a:xfrm>
            <a:off x="457200" y="657225"/>
            <a:ext cx="4643438" cy="5143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l">
              <a:lnSpc>
                <a:spcPct val="100000"/>
              </a:lnSpc>
            </a:pPr>
            <a:r>
              <a:rPr sz="2250" b="1" i="0">
                <a:solidFill>
                  <a:srgbClr val="192743"/>
                </a:solidFill>
                <a:latin typeface="Poppins"/>
              </a:rPr>
              <a:t>Systeme managen</a:t>
            </a:r>
          </a:p>
        </p:txBody>
      </p:sp>
      <p:sp>
        <p:nvSpPr>
          <p:cNvPr id="10" name="New shape"/>
          <p:cNvSpPr txBox="1"/>
          <p:nvPr/>
        </p:nvSpPr>
        <p:spPr>
          <a:xfrm>
            <a:off x="717011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1</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7305842" y="1028700"/>
            <a:ext cx="105013" cy="105013"/>
          </a:xfrm>
          <a:prstGeom prst="rect">
            <a:avLst/>
          </a:prstGeom>
        </p:spPr>
      </p:pic>
      <p:sp>
        <p:nvSpPr>
          <p:cNvPr id="12" name="New shape"/>
          <p:cNvSpPr txBox="1"/>
          <p:nvPr/>
        </p:nvSpPr>
        <p:spPr>
          <a:xfrm>
            <a:off x="7559874"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2</a:t>
            </a:r>
          </a:p>
        </p:txBody>
      </p:sp>
      <p:pic>
        <p:nvPicPr>
          <p:cNvPr id="13" name="New picture"/>
          <p:cNvPicPr/>
          <p:nvPr/>
        </p:nvPicPr>
        <p:blipFill>
          <a:blip>
            <a:extLst>
              <a:ext uri="{96DAC541-7B7A-43D3-8B79-37D633B846F1}">
                <asvg:svgBlip xmlns:asvg="http://schemas.microsoft.com/office/drawing/2016/SVG/main" r:embed="rId4"/>
              </a:ext>
            </a:extLst>
          </a:blip>
          <a:stretch>
            <a:fillRect/>
          </a:stretch>
        </p:blipFill>
        <p:spPr>
          <a:xfrm>
            <a:off x="7695605" y="1028700"/>
            <a:ext cx="105013" cy="105013"/>
          </a:xfrm>
          <a:prstGeom prst="rect">
            <a:avLst/>
          </a:prstGeom>
        </p:spPr>
      </p:pic>
      <p:sp>
        <p:nvSpPr>
          <p:cNvPr id="14" name="New shape"/>
          <p:cNvSpPr txBox="1"/>
          <p:nvPr/>
        </p:nvSpPr>
        <p:spPr>
          <a:xfrm>
            <a:off x="7949638"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3</a:t>
            </a:r>
          </a:p>
        </p:txBody>
      </p:sp>
      <p:pic>
        <p:nvPicPr>
          <p:cNvPr id="15" name="New picture"/>
          <p:cNvPicPr/>
          <p:nvPr/>
        </p:nvPicPr>
        <p:blipFill>
          <a:blip>
            <a:extLst>
              <a:ext uri="{96DAC541-7B7A-43D3-8B79-37D633B846F1}">
                <asvg:svgBlip xmlns:asvg="http://schemas.microsoft.com/office/drawing/2016/SVG/main" r:embed="rId3"/>
              </a:ext>
            </a:extLst>
          </a:blip>
          <a:stretch>
            <a:fillRect/>
          </a:stretch>
        </p:blipFill>
        <p:spPr>
          <a:xfrm>
            <a:off x="8085369" y="1028700"/>
            <a:ext cx="105013" cy="105013"/>
          </a:xfrm>
          <a:prstGeom prst="rect">
            <a:avLst/>
          </a:prstGeom>
        </p:spPr>
      </p:pic>
      <p:sp>
        <p:nvSpPr>
          <p:cNvPr id="16" name="New shape"/>
          <p:cNvSpPr txBox="1"/>
          <p:nvPr/>
        </p:nvSpPr>
        <p:spPr>
          <a:xfrm>
            <a:off x="8339401" y="1042988"/>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oAutofit/>
          </a:bodyPr>
          <a:lstStyle/>
          <a:p>
            <a:pPr algn="r">
              <a:lnSpc>
                <a:spcPct val="100000"/>
              </a:lnSpc>
            </a:pPr>
            <a:r>
              <a:rPr sz="675" b="0" i="0">
                <a:solidFill>
                  <a:srgbClr val="000000"/>
                </a:solidFill>
                <a:latin typeface="Poppins"/>
              </a:rPr>
              <a:t>4</a:t>
            </a:r>
          </a:p>
        </p:txBody>
      </p:sp>
      <p:pic>
        <p:nvPicPr>
          <p:cNvPr id="17" name="New picture"/>
          <p:cNvPicPr/>
          <p:nvPr/>
        </p:nvPicPr>
        <p:blipFill>
          <a:blip>
            <a:extLst>
              <a:ext uri="{96DAC541-7B7A-43D3-8B79-37D633B846F1}">
                <asvg:svgBlip xmlns:asvg="http://schemas.microsoft.com/office/drawing/2016/SVG/main" r:embed="rId5"/>
              </a:ext>
            </a:extLst>
          </a:blip>
          <a:stretch>
            <a:fillRect/>
          </a:stretch>
        </p:blipFill>
        <p:spPr>
          <a:xfrm>
            <a:off x="8475132" y="1028700"/>
            <a:ext cx="105013" cy="105013"/>
          </a:xfrm>
          <a:prstGeom prst="rect">
            <a:avLst/>
          </a:prstGeom>
        </p:spPr>
      </p:pic>
      <p:sp>
        <p:nvSpPr>
          <p:cNvPr id="18" name="New shape"/>
          <p:cNvSpPr txBox="1"/>
          <p:nvPr/>
        </p:nvSpPr>
        <p:spPr>
          <a:xfrm>
            <a:off x="457200" y="12001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Ich habe die Arbeitsmittel, die ich brauche, um gute Arbeit zu leisten  (z.B. Werkzeuge, Geräte, Software, Materialien, usw.)</a:t>
            </a:r>
          </a:p>
        </p:txBody>
      </p:sp>
      <p:sp>
        <p:nvSpPr>
          <p:cNvPr id="19" name="New shape"/>
          <p:cNvSpPr/>
          <p:nvPr/>
        </p:nvSpPr>
        <p:spPr>
          <a:xfrm>
            <a:off x="4000500" y="12001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0" name="New picture"/>
          <p:cNvPicPr/>
          <p:nvPr/>
        </p:nvPicPr>
        <p:blipFill>
          <a:blip>
            <a:extLst>
              <a:ext uri="{96DAC541-7B7A-43D3-8B79-37D633B846F1}">
                <asvg:svgBlip xmlns:asvg="http://schemas.microsoft.com/office/drawing/2016/SVG/main" r:embed="rId6"/>
              </a:ext>
            </a:extLst>
          </a:blip>
          <a:stretch>
            <a:fillRect/>
          </a:stretch>
        </p:blipFill>
        <p:spPr>
          <a:xfrm>
            <a:off x="4079081" y="1243012"/>
            <a:ext cx="71438" cy="85725"/>
          </a:xfrm>
          <a:prstGeom prst="rect">
            <a:avLst/>
          </a:prstGeom>
        </p:spPr>
      </p:pic>
      <p:sp>
        <p:nvSpPr>
          <p:cNvPr id="21" name="New shape"/>
          <p:cNvSpPr/>
          <p:nvPr/>
        </p:nvSpPr>
        <p:spPr>
          <a:xfrm>
            <a:off x="4243388" y="120015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22" name="New shape"/>
          <p:cNvSpPr/>
          <p:nvPr/>
        </p:nvSpPr>
        <p:spPr>
          <a:xfrm>
            <a:off x="6065504" y="120015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23" name="New shape"/>
          <p:cNvSpPr/>
          <p:nvPr/>
        </p:nvSpPr>
        <p:spPr>
          <a:xfrm>
            <a:off x="6420396" y="120015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24" name="New shape"/>
          <p:cNvSpPr txBox="1"/>
          <p:nvPr/>
        </p:nvSpPr>
        <p:spPr>
          <a:xfrm>
            <a:off x="7149179"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79</a:t>
            </a:r>
          </a:p>
        </p:txBody>
      </p:sp>
      <p:sp>
        <p:nvSpPr>
          <p:cNvPr id="25" name="New shape"/>
          <p:cNvSpPr txBox="1"/>
          <p:nvPr/>
        </p:nvSpPr>
        <p:spPr>
          <a:xfrm>
            <a:off x="7538943"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26" name="New shape"/>
          <p:cNvSpPr txBox="1"/>
          <p:nvPr/>
        </p:nvSpPr>
        <p:spPr>
          <a:xfrm>
            <a:off x="7928706"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73</a:t>
            </a:r>
          </a:p>
        </p:txBody>
      </p:sp>
      <p:sp>
        <p:nvSpPr>
          <p:cNvPr id="27" name="New shape"/>
          <p:cNvSpPr txBox="1"/>
          <p:nvPr/>
        </p:nvSpPr>
        <p:spPr>
          <a:xfrm>
            <a:off x="8318470" y="12001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96</a:t>
            </a:r>
          </a:p>
        </p:txBody>
      </p:sp>
      <p:sp>
        <p:nvSpPr>
          <p:cNvPr id="28" name="New shape"/>
          <p:cNvSpPr/>
          <p:nvPr/>
        </p:nvSpPr>
        <p:spPr>
          <a:xfrm>
            <a:off x="4000500" y="1428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9" name="New picture"/>
          <p:cNvPicPr/>
          <p:nvPr/>
        </p:nvPicPr>
        <p:blipFill>
          <a:blip>
            <a:extLst>
              <a:ext uri="{96DAC541-7B7A-43D3-8B79-37D633B846F1}">
                <asvg:svgBlip xmlns:asvg="http://schemas.microsoft.com/office/drawing/2016/SVG/main" r:embed="rId7"/>
              </a:ext>
            </a:extLst>
          </a:blip>
          <a:stretch>
            <a:fillRect/>
          </a:stretch>
        </p:blipFill>
        <p:spPr>
          <a:xfrm>
            <a:off x="4079081" y="1476970"/>
            <a:ext cx="75009" cy="75009"/>
          </a:xfrm>
          <a:prstGeom prst="rect">
            <a:avLst/>
          </a:prstGeom>
        </p:spPr>
      </p:pic>
      <p:sp>
        <p:nvSpPr>
          <p:cNvPr id="30" name="New shape"/>
          <p:cNvSpPr/>
          <p:nvPr/>
        </p:nvSpPr>
        <p:spPr>
          <a:xfrm>
            <a:off x="4243388" y="142875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31" name="New shape"/>
          <p:cNvSpPr/>
          <p:nvPr/>
        </p:nvSpPr>
        <p:spPr>
          <a:xfrm>
            <a:off x="6117904" y="1428750"/>
            <a:ext cx="3144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12%</a:t>
            </a:r>
          </a:p>
        </p:txBody>
      </p:sp>
      <p:sp>
        <p:nvSpPr>
          <p:cNvPr id="32" name="New shape"/>
          <p:cNvSpPr/>
          <p:nvPr/>
        </p:nvSpPr>
        <p:spPr>
          <a:xfrm>
            <a:off x="6446597" y="142875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33" name="New shape"/>
          <p:cNvSpPr/>
          <p:nvPr/>
        </p:nvSpPr>
        <p:spPr>
          <a:xfrm>
            <a:off x="457200" y="17145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txBox="1"/>
          <p:nvPr/>
        </p:nvSpPr>
        <p:spPr>
          <a:xfrm>
            <a:off x="457200" y="18288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Wichtige Informationen sind für mich leicht zugänglich</a:t>
            </a:r>
          </a:p>
        </p:txBody>
      </p:sp>
      <p:sp>
        <p:nvSpPr>
          <p:cNvPr id="35" name="New shape"/>
          <p:cNvSpPr/>
          <p:nvPr/>
        </p:nvSpPr>
        <p:spPr>
          <a:xfrm>
            <a:off x="4000500" y="18288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36" name="New picture"/>
          <p:cNvPicPr/>
          <p:nvPr/>
        </p:nvPicPr>
        <p:blipFill>
          <a:blip>
            <a:extLst>
              <a:ext uri="{96DAC541-7B7A-43D3-8B79-37D633B846F1}">
                <asvg:svgBlip xmlns:asvg="http://schemas.microsoft.com/office/drawing/2016/SVG/main" r:embed="rId6"/>
              </a:ext>
            </a:extLst>
          </a:blip>
          <a:stretch>
            <a:fillRect/>
          </a:stretch>
        </p:blipFill>
        <p:spPr>
          <a:xfrm>
            <a:off x="4079081" y="1871662"/>
            <a:ext cx="71438" cy="85725"/>
          </a:xfrm>
          <a:prstGeom prst="rect">
            <a:avLst/>
          </a:prstGeom>
        </p:spPr>
      </p:pic>
      <p:sp>
        <p:nvSpPr>
          <p:cNvPr id="37" name="New shape"/>
          <p:cNvSpPr/>
          <p:nvPr/>
        </p:nvSpPr>
        <p:spPr>
          <a:xfrm>
            <a:off x="4243388" y="1828800"/>
            <a:ext cx="1807829"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69%</a:t>
            </a:r>
          </a:p>
        </p:txBody>
      </p:sp>
      <p:sp>
        <p:nvSpPr>
          <p:cNvPr id="38" name="New shape"/>
          <p:cNvSpPr/>
          <p:nvPr/>
        </p:nvSpPr>
        <p:spPr>
          <a:xfrm>
            <a:off x="6065504" y="1828800"/>
            <a:ext cx="340605"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39" name="New shape"/>
          <p:cNvSpPr/>
          <p:nvPr/>
        </p:nvSpPr>
        <p:spPr>
          <a:xfrm>
            <a:off x="6420396" y="1828800"/>
            <a:ext cx="471608"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18%</a:t>
            </a:r>
          </a:p>
        </p:txBody>
      </p:sp>
      <p:sp>
        <p:nvSpPr>
          <p:cNvPr id="40" name="New shape"/>
          <p:cNvSpPr txBox="1"/>
          <p:nvPr/>
        </p:nvSpPr>
        <p:spPr>
          <a:xfrm>
            <a:off x="7149179"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75</a:t>
            </a:r>
          </a:p>
        </p:txBody>
      </p:sp>
      <p:sp>
        <p:nvSpPr>
          <p:cNvPr id="41" name="New shape"/>
          <p:cNvSpPr txBox="1"/>
          <p:nvPr/>
        </p:nvSpPr>
        <p:spPr>
          <a:xfrm>
            <a:off x="7538943"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42" name="New shape"/>
          <p:cNvSpPr txBox="1"/>
          <p:nvPr/>
        </p:nvSpPr>
        <p:spPr>
          <a:xfrm>
            <a:off x="7928706"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67</a:t>
            </a:r>
          </a:p>
        </p:txBody>
      </p:sp>
      <p:sp>
        <p:nvSpPr>
          <p:cNvPr id="43" name="New shape"/>
          <p:cNvSpPr txBox="1"/>
          <p:nvPr/>
        </p:nvSpPr>
        <p:spPr>
          <a:xfrm>
            <a:off x="8318470" y="18288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76</a:t>
            </a:r>
          </a:p>
        </p:txBody>
      </p:sp>
      <p:sp>
        <p:nvSpPr>
          <p:cNvPr id="44" name="New shape"/>
          <p:cNvSpPr/>
          <p:nvPr/>
        </p:nvSpPr>
        <p:spPr>
          <a:xfrm>
            <a:off x="4000500" y="20574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45" name="New picture"/>
          <p:cNvPicPr/>
          <p:nvPr/>
        </p:nvPicPr>
        <p:blipFill>
          <a:blip>
            <a:extLst>
              <a:ext uri="{96DAC541-7B7A-43D3-8B79-37D633B846F1}">
                <asvg:svgBlip xmlns:asvg="http://schemas.microsoft.com/office/drawing/2016/SVG/main" r:embed="rId7"/>
              </a:ext>
            </a:extLst>
          </a:blip>
          <a:stretch>
            <a:fillRect/>
          </a:stretch>
        </p:blipFill>
        <p:spPr>
          <a:xfrm>
            <a:off x="4079081" y="2105620"/>
            <a:ext cx="75009" cy="75009"/>
          </a:xfrm>
          <a:prstGeom prst="rect">
            <a:avLst/>
          </a:prstGeom>
        </p:spPr>
      </p:pic>
      <p:sp>
        <p:nvSpPr>
          <p:cNvPr id="46" name="New shape"/>
          <p:cNvSpPr/>
          <p:nvPr/>
        </p:nvSpPr>
        <p:spPr>
          <a:xfrm>
            <a:off x="4243388" y="205740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47" name="New shape"/>
          <p:cNvSpPr/>
          <p:nvPr/>
        </p:nvSpPr>
        <p:spPr>
          <a:xfrm>
            <a:off x="6091704" y="2057400"/>
            <a:ext cx="3406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13%</a:t>
            </a:r>
          </a:p>
        </p:txBody>
      </p:sp>
      <p:sp>
        <p:nvSpPr>
          <p:cNvPr id="48" name="New shape"/>
          <p:cNvSpPr/>
          <p:nvPr/>
        </p:nvSpPr>
        <p:spPr>
          <a:xfrm>
            <a:off x="6446597" y="2057400"/>
            <a:ext cx="445407"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17%</a:t>
            </a:r>
          </a:p>
        </p:txBody>
      </p:sp>
      <p:sp>
        <p:nvSpPr>
          <p:cNvPr id="49" name="New shape"/>
          <p:cNvSpPr/>
          <p:nvPr/>
        </p:nvSpPr>
        <p:spPr>
          <a:xfrm>
            <a:off x="457200" y="23431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a:off x="457200" y="24574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In meinem Team arbeiten wir gut zusammen</a:t>
            </a:r>
          </a:p>
        </p:txBody>
      </p:sp>
      <p:sp>
        <p:nvSpPr>
          <p:cNvPr id="51" name="New shape"/>
          <p:cNvSpPr/>
          <p:nvPr/>
        </p:nvSpPr>
        <p:spPr>
          <a:xfrm>
            <a:off x="4000500" y="24574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52" name="New picture"/>
          <p:cNvPicPr/>
          <p:nvPr/>
        </p:nvPicPr>
        <p:blipFill>
          <a:blip>
            <a:extLst>
              <a:ext uri="{96DAC541-7B7A-43D3-8B79-37D633B846F1}">
                <asvg:svgBlip xmlns:asvg="http://schemas.microsoft.com/office/drawing/2016/SVG/main" r:embed="rId6"/>
              </a:ext>
            </a:extLst>
          </a:blip>
          <a:stretch>
            <a:fillRect/>
          </a:stretch>
        </p:blipFill>
        <p:spPr>
          <a:xfrm>
            <a:off x="4079081" y="2500312"/>
            <a:ext cx="71438" cy="85725"/>
          </a:xfrm>
          <a:prstGeom prst="rect">
            <a:avLst/>
          </a:prstGeom>
        </p:spPr>
      </p:pic>
      <p:sp>
        <p:nvSpPr>
          <p:cNvPr id="53" name="New shape"/>
          <p:cNvSpPr/>
          <p:nvPr/>
        </p:nvSpPr>
        <p:spPr>
          <a:xfrm>
            <a:off x="4243388" y="2457450"/>
            <a:ext cx="1938831"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74%</a:t>
            </a:r>
          </a:p>
        </p:txBody>
      </p:sp>
      <p:sp>
        <p:nvSpPr>
          <p:cNvPr id="54" name="New shape"/>
          <p:cNvSpPr/>
          <p:nvPr/>
        </p:nvSpPr>
        <p:spPr>
          <a:xfrm>
            <a:off x="6196506" y="245745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55" name="New shape"/>
          <p:cNvSpPr/>
          <p:nvPr/>
        </p:nvSpPr>
        <p:spPr>
          <a:xfrm>
            <a:off x="6577599" y="2457450"/>
            <a:ext cx="314405"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12%</a:t>
            </a:r>
          </a:p>
        </p:txBody>
      </p:sp>
      <p:sp>
        <p:nvSpPr>
          <p:cNvPr id="56" name="New shape"/>
          <p:cNvSpPr txBox="1"/>
          <p:nvPr/>
        </p:nvSpPr>
        <p:spPr>
          <a:xfrm>
            <a:off x="7149179"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79</a:t>
            </a:r>
          </a:p>
        </p:txBody>
      </p:sp>
      <p:sp>
        <p:nvSpPr>
          <p:cNvPr id="57" name="New shape"/>
          <p:cNvSpPr txBox="1"/>
          <p:nvPr/>
        </p:nvSpPr>
        <p:spPr>
          <a:xfrm>
            <a:off x="7538943"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58" name="New shape"/>
          <p:cNvSpPr txBox="1"/>
          <p:nvPr/>
        </p:nvSpPr>
        <p:spPr>
          <a:xfrm>
            <a:off x="7928706"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80</a:t>
            </a:r>
          </a:p>
        </p:txBody>
      </p:sp>
      <p:sp>
        <p:nvSpPr>
          <p:cNvPr id="59" name="New shape"/>
          <p:cNvSpPr txBox="1"/>
          <p:nvPr/>
        </p:nvSpPr>
        <p:spPr>
          <a:xfrm>
            <a:off x="8318470" y="24574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92</a:t>
            </a:r>
          </a:p>
        </p:txBody>
      </p:sp>
      <p:sp>
        <p:nvSpPr>
          <p:cNvPr id="60" name="New shape"/>
          <p:cNvSpPr/>
          <p:nvPr/>
        </p:nvSpPr>
        <p:spPr>
          <a:xfrm>
            <a:off x="4000500" y="26860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1" name="New picture"/>
          <p:cNvPicPr/>
          <p:nvPr/>
        </p:nvPicPr>
        <p:blipFill>
          <a:blip>
            <a:extLst>
              <a:ext uri="{96DAC541-7B7A-43D3-8B79-37D633B846F1}">
                <asvg:svgBlip xmlns:asvg="http://schemas.microsoft.com/office/drawing/2016/SVG/main" r:embed="rId7"/>
              </a:ext>
            </a:extLst>
          </a:blip>
          <a:stretch>
            <a:fillRect/>
          </a:stretch>
        </p:blipFill>
        <p:spPr>
          <a:xfrm>
            <a:off x="4079081" y="2734270"/>
            <a:ext cx="75009" cy="75009"/>
          </a:xfrm>
          <a:prstGeom prst="rect">
            <a:avLst/>
          </a:prstGeom>
        </p:spPr>
      </p:pic>
      <p:sp>
        <p:nvSpPr>
          <p:cNvPr id="62" name="New shape"/>
          <p:cNvSpPr/>
          <p:nvPr/>
        </p:nvSpPr>
        <p:spPr>
          <a:xfrm>
            <a:off x="4243388" y="2686050"/>
            <a:ext cx="1938831"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74%</a:t>
            </a:r>
          </a:p>
        </p:txBody>
      </p:sp>
      <p:sp>
        <p:nvSpPr>
          <p:cNvPr id="63" name="New shape"/>
          <p:cNvSpPr/>
          <p:nvPr/>
        </p:nvSpPr>
        <p:spPr>
          <a:xfrm>
            <a:off x="6196506" y="2686050"/>
            <a:ext cx="183403"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a:t>
            </a:r>
          </a:p>
        </p:txBody>
      </p:sp>
      <p:sp>
        <p:nvSpPr>
          <p:cNvPr id="64" name="New shape"/>
          <p:cNvSpPr/>
          <p:nvPr/>
        </p:nvSpPr>
        <p:spPr>
          <a:xfrm>
            <a:off x="6394197" y="268605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65" name="New shape"/>
          <p:cNvSpPr/>
          <p:nvPr/>
        </p:nvSpPr>
        <p:spPr>
          <a:xfrm>
            <a:off x="457200" y="297180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6" name="New shape"/>
          <p:cNvSpPr txBox="1"/>
          <p:nvPr/>
        </p:nvSpPr>
        <p:spPr>
          <a:xfrm>
            <a:off x="457200" y="308610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dirty="0">
                <a:solidFill>
                  <a:srgbClr val="546178"/>
                </a:solidFill>
                <a:latin typeface="Poppins"/>
              </a:rPr>
              <a:t>Bei </a:t>
            </a:r>
            <a:r>
              <a:rPr lang="en-US" sz="788" b="0" i="0" dirty="0">
                <a:solidFill>
                  <a:srgbClr val="546178"/>
                </a:solidFill>
                <a:latin typeface="Poppins"/>
              </a:rPr>
              <a:t>Team IT</a:t>
            </a:r>
            <a:r>
              <a:rPr sz="788" b="0" i="0" dirty="0">
                <a:solidFill>
                  <a:srgbClr val="546178"/>
                </a:solidFill>
                <a:latin typeface="Poppins"/>
              </a:rPr>
              <a:t> </a:t>
            </a:r>
            <a:r>
              <a:rPr sz="788" b="0" i="0" dirty="0" err="1">
                <a:solidFill>
                  <a:srgbClr val="546178"/>
                </a:solidFill>
                <a:latin typeface="Poppins"/>
              </a:rPr>
              <a:t>sind</a:t>
            </a:r>
            <a:r>
              <a:rPr sz="788" b="0" i="0" dirty="0">
                <a:solidFill>
                  <a:srgbClr val="546178"/>
                </a:solidFill>
                <a:latin typeface="Poppins"/>
              </a:rPr>
              <a:t> die </a:t>
            </a:r>
            <a:r>
              <a:rPr sz="788" b="0" i="0" dirty="0" err="1">
                <a:solidFill>
                  <a:srgbClr val="546178"/>
                </a:solidFill>
                <a:latin typeface="Poppins"/>
              </a:rPr>
              <a:t>Arbeitsabläufe</a:t>
            </a:r>
            <a:r>
              <a:rPr sz="788" b="0" i="0" dirty="0">
                <a:solidFill>
                  <a:srgbClr val="546178"/>
                </a:solidFill>
                <a:latin typeface="Poppins"/>
              </a:rPr>
              <a:t> gut </a:t>
            </a:r>
            <a:r>
              <a:rPr sz="788" b="0" i="0" dirty="0" err="1">
                <a:solidFill>
                  <a:srgbClr val="546178"/>
                </a:solidFill>
                <a:latin typeface="Poppins"/>
              </a:rPr>
              <a:t>organisiert</a:t>
            </a:r>
            <a:endParaRPr sz="788" b="0" i="0" dirty="0">
              <a:solidFill>
                <a:srgbClr val="546178"/>
              </a:solidFill>
              <a:latin typeface="Poppins"/>
            </a:endParaRPr>
          </a:p>
        </p:txBody>
      </p:sp>
      <p:sp>
        <p:nvSpPr>
          <p:cNvPr id="67" name="New shape"/>
          <p:cNvSpPr/>
          <p:nvPr/>
        </p:nvSpPr>
        <p:spPr>
          <a:xfrm>
            <a:off x="4000500" y="30861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8" name="New picture"/>
          <p:cNvPicPr/>
          <p:nvPr/>
        </p:nvPicPr>
        <p:blipFill>
          <a:blip>
            <a:extLst>
              <a:ext uri="{96DAC541-7B7A-43D3-8B79-37D633B846F1}">
                <asvg:svgBlip xmlns:asvg="http://schemas.microsoft.com/office/drawing/2016/SVG/main" r:embed="rId6"/>
              </a:ext>
            </a:extLst>
          </a:blip>
          <a:stretch>
            <a:fillRect/>
          </a:stretch>
        </p:blipFill>
        <p:spPr>
          <a:xfrm>
            <a:off x="4079081" y="3128962"/>
            <a:ext cx="71438" cy="85725"/>
          </a:xfrm>
          <a:prstGeom prst="rect">
            <a:avLst/>
          </a:prstGeom>
        </p:spPr>
      </p:pic>
      <p:sp>
        <p:nvSpPr>
          <p:cNvPr id="69" name="New shape"/>
          <p:cNvSpPr/>
          <p:nvPr/>
        </p:nvSpPr>
        <p:spPr>
          <a:xfrm>
            <a:off x="4243388" y="3086100"/>
            <a:ext cx="1886430"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72%</a:t>
            </a:r>
          </a:p>
        </p:txBody>
      </p:sp>
      <p:sp>
        <p:nvSpPr>
          <p:cNvPr id="70" name="New shape"/>
          <p:cNvSpPr/>
          <p:nvPr/>
        </p:nvSpPr>
        <p:spPr>
          <a:xfrm>
            <a:off x="6144105" y="3086100"/>
            <a:ext cx="366806"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71" name="New shape"/>
          <p:cNvSpPr/>
          <p:nvPr/>
        </p:nvSpPr>
        <p:spPr>
          <a:xfrm>
            <a:off x="6525199" y="3086100"/>
            <a:ext cx="366806"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14%</a:t>
            </a:r>
          </a:p>
        </p:txBody>
      </p:sp>
      <p:sp>
        <p:nvSpPr>
          <p:cNvPr id="72" name="New shape"/>
          <p:cNvSpPr txBox="1"/>
          <p:nvPr/>
        </p:nvSpPr>
        <p:spPr>
          <a:xfrm>
            <a:off x="7149179"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68</a:t>
            </a:r>
          </a:p>
        </p:txBody>
      </p:sp>
      <p:sp>
        <p:nvSpPr>
          <p:cNvPr id="73" name="New shape"/>
          <p:cNvSpPr txBox="1"/>
          <p:nvPr/>
        </p:nvSpPr>
        <p:spPr>
          <a:xfrm>
            <a:off x="7538943"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74" name="New shape"/>
          <p:cNvSpPr txBox="1"/>
          <p:nvPr/>
        </p:nvSpPr>
        <p:spPr>
          <a:xfrm>
            <a:off x="7928706"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44</a:t>
            </a:r>
          </a:p>
        </p:txBody>
      </p:sp>
      <p:sp>
        <p:nvSpPr>
          <p:cNvPr id="75" name="New shape"/>
          <p:cNvSpPr txBox="1"/>
          <p:nvPr/>
        </p:nvSpPr>
        <p:spPr>
          <a:xfrm>
            <a:off x="8318470" y="308610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82</a:t>
            </a:r>
          </a:p>
        </p:txBody>
      </p:sp>
      <p:sp>
        <p:nvSpPr>
          <p:cNvPr id="76" name="New shape"/>
          <p:cNvSpPr/>
          <p:nvPr/>
        </p:nvSpPr>
        <p:spPr>
          <a:xfrm>
            <a:off x="4000500" y="331470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7" name="New picture"/>
          <p:cNvPicPr/>
          <p:nvPr/>
        </p:nvPicPr>
        <p:blipFill>
          <a:blip>
            <a:extLst>
              <a:ext uri="{96DAC541-7B7A-43D3-8B79-37D633B846F1}">
                <asvg:svgBlip xmlns:asvg="http://schemas.microsoft.com/office/drawing/2016/SVG/main" r:embed="rId7"/>
              </a:ext>
            </a:extLst>
          </a:blip>
          <a:stretch>
            <a:fillRect/>
          </a:stretch>
        </p:blipFill>
        <p:spPr>
          <a:xfrm>
            <a:off x="4079081" y="3362920"/>
            <a:ext cx="75009" cy="75009"/>
          </a:xfrm>
          <a:prstGeom prst="rect">
            <a:avLst/>
          </a:prstGeom>
        </p:spPr>
      </p:pic>
      <p:sp>
        <p:nvSpPr>
          <p:cNvPr id="78" name="New shape"/>
          <p:cNvSpPr/>
          <p:nvPr/>
        </p:nvSpPr>
        <p:spPr>
          <a:xfrm>
            <a:off x="4243388" y="3314700"/>
            <a:ext cx="1860230"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71%</a:t>
            </a:r>
          </a:p>
        </p:txBody>
      </p:sp>
      <p:sp>
        <p:nvSpPr>
          <p:cNvPr id="79" name="New shape"/>
          <p:cNvSpPr/>
          <p:nvPr/>
        </p:nvSpPr>
        <p:spPr>
          <a:xfrm>
            <a:off x="6117904" y="3314700"/>
            <a:ext cx="393006"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15%</a:t>
            </a:r>
          </a:p>
        </p:txBody>
      </p:sp>
      <p:sp>
        <p:nvSpPr>
          <p:cNvPr id="80" name="New shape"/>
          <p:cNvSpPr/>
          <p:nvPr/>
        </p:nvSpPr>
        <p:spPr>
          <a:xfrm>
            <a:off x="6525199" y="3314700"/>
            <a:ext cx="366806"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14%</a:t>
            </a:r>
          </a:p>
        </p:txBody>
      </p:sp>
      <p:sp>
        <p:nvSpPr>
          <p:cNvPr id="81" name="New shape"/>
          <p:cNvSpPr/>
          <p:nvPr/>
        </p:nvSpPr>
        <p:spPr>
          <a:xfrm>
            <a:off x="457200" y="3600450"/>
            <a:ext cx="8229600" cy="0"/>
          </a:xfrm>
          <a:prstGeom prst="line">
            <a:avLst/>
          </a:prstGeom>
          <a:ln w="1016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2" name="New shape"/>
          <p:cNvSpPr txBox="1"/>
          <p:nvPr/>
        </p:nvSpPr>
        <p:spPr>
          <a:xfrm>
            <a:off x="457200" y="3714750"/>
            <a:ext cx="3257550"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788" b="0" i="0">
                <a:solidFill>
                  <a:srgbClr val="546178"/>
                </a:solidFill>
                <a:latin typeface="Poppins"/>
              </a:rPr>
              <a:t>Ich habe gute Möglichkeiten, mich beruflich und persönlich weiterzuentwickeln</a:t>
            </a:r>
          </a:p>
        </p:txBody>
      </p:sp>
      <p:sp>
        <p:nvSpPr>
          <p:cNvPr id="83" name="New shape"/>
          <p:cNvSpPr/>
          <p:nvPr/>
        </p:nvSpPr>
        <p:spPr>
          <a:xfrm>
            <a:off x="4000500" y="37147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4" name="New picture"/>
          <p:cNvPicPr/>
          <p:nvPr/>
        </p:nvPicPr>
        <p:blipFill>
          <a:blip>
            <a:extLst>
              <a:ext uri="{96DAC541-7B7A-43D3-8B79-37D633B846F1}">
                <asvg:svgBlip xmlns:asvg="http://schemas.microsoft.com/office/drawing/2016/SVG/main" r:embed="rId6"/>
              </a:ext>
            </a:extLst>
          </a:blip>
          <a:stretch>
            <a:fillRect/>
          </a:stretch>
        </p:blipFill>
        <p:spPr>
          <a:xfrm>
            <a:off x="4079081" y="3757612"/>
            <a:ext cx="71438" cy="85725"/>
          </a:xfrm>
          <a:prstGeom prst="rect">
            <a:avLst/>
          </a:prstGeom>
        </p:spPr>
      </p:pic>
      <p:sp>
        <p:nvSpPr>
          <p:cNvPr id="85" name="New shape"/>
          <p:cNvSpPr/>
          <p:nvPr/>
        </p:nvSpPr>
        <p:spPr>
          <a:xfrm>
            <a:off x="4243388" y="3714750"/>
            <a:ext cx="1991232" cy="171450"/>
          </a:xfrm>
          <a:prstGeom prst="roundRect">
            <a:avLst/>
          </a:prstGeom>
          <a:solidFill>
            <a:srgbClr val="66B881"/>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76%</a:t>
            </a:r>
          </a:p>
        </p:txBody>
      </p:sp>
      <p:sp>
        <p:nvSpPr>
          <p:cNvPr id="86" name="New shape"/>
          <p:cNvSpPr/>
          <p:nvPr/>
        </p:nvSpPr>
        <p:spPr>
          <a:xfrm>
            <a:off x="6248907" y="3714750"/>
            <a:ext cx="183403" cy="171450"/>
          </a:xfrm>
          <a:prstGeom prst="round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a:t>
            </a:r>
          </a:p>
        </p:txBody>
      </p:sp>
      <p:sp>
        <p:nvSpPr>
          <p:cNvPr id="87" name="New shape"/>
          <p:cNvSpPr/>
          <p:nvPr/>
        </p:nvSpPr>
        <p:spPr>
          <a:xfrm>
            <a:off x="6446597" y="3714750"/>
            <a:ext cx="445407" cy="171450"/>
          </a:xfrm>
          <a:prstGeom prst="roundRect">
            <a:avLst/>
          </a:prstGeom>
          <a:solidFill>
            <a:srgbClr val="E6373D"/>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FFFFFF"/>
                </a:solidFill>
                <a:latin typeface="Poppins"/>
              </a:rPr>
              <a:t>17%</a:t>
            </a:r>
          </a:p>
        </p:txBody>
      </p:sp>
      <p:sp>
        <p:nvSpPr>
          <p:cNvPr id="88" name="New shape"/>
          <p:cNvSpPr txBox="1"/>
          <p:nvPr/>
        </p:nvSpPr>
        <p:spPr>
          <a:xfrm>
            <a:off x="7149179"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63</a:t>
            </a:r>
          </a:p>
        </p:txBody>
      </p:sp>
      <p:sp>
        <p:nvSpPr>
          <p:cNvPr id="89" name="New shape"/>
          <p:cNvSpPr txBox="1"/>
          <p:nvPr/>
        </p:nvSpPr>
        <p:spPr>
          <a:xfrm>
            <a:off x="7538943"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a:t>
            </a:r>
          </a:p>
        </p:txBody>
      </p:sp>
      <p:sp>
        <p:nvSpPr>
          <p:cNvPr id="90" name="New shape"/>
          <p:cNvSpPr txBox="1"/>
          <p:nvPr/>
        </p:nvSpPr>
        <p:spPr>
          <a:xfrm>
            <a:off x="7928706"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70</a:t>
            </a:r>
          </a:p>
        </p:txBody>
      </p:sp>
      <p:sp>
        <p:nvSpPr>
          <p:cNvPr id="91" name="New shape"/>
          <p:cNvSpPr txBox="1"/>
          <p:nvPr/>
        </p:nvSpPr>
        <p:spPr>
          <a:xfrm>
            <a:off x="8318470" y="3714750"/>
            <a:ext cx="361188" cy="4000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84</a:t>
            </a:r>
          </a:p>
        </p:txBody>
      </p:sp>
      <p:sp>
        <p:nvSpPr>
          <p:cNvPr id="92" name="New shape"/>
          <p:cNvSpPr/>
          <p:nvPr/>
        </p:nvSpPr>
        <p:spPr>
          <a:xfrm>
            <a:off x="4000500" y="3943350"/>
            <a:ext cx="228600" cy="171450"/>
          </a:xfrm>
          <a:prstGeom prst="roundRect">
            <a:avLst/>
          </a:prstGeom>
          <a:solidFill>
            <a:srgbClr val="E6E9E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3" name="New picture"/>
          <p:cNvPicPr/>
          <p:nvPr/>
        </p:nvPicPr>
        <p:blipFill>
          <a:blip>
            <a:extLst>
              <a:ext uri="{96DAC541-7B7A-43D3-8B79-37D633B846F1}">
                <asvg:svgBlip xmlns:asvg="http://schemas.microsoft.com/office/drawing/2016/SVG/main" r:embed="rId7"/>
              </a:ext>
            </a:extLst>
          </a:blip>
          <a:stretch>
            <a:fillRect/>
          </a:stretch>
        </p:blipFill>
        <p:spPr>
          <a:xfrm>
            <a:off x="4079081" y="3991570"/>
            <a:ext cx="75009" cy="75009"/>
          </a:xfrm>
          <a:prstGeom prst="rect">
            <a:avLst/>
          </a:prstGeom>
        </p:spPr>
      </p:pic>
      <p:sp>
        <p:nvSpPr>
          <p:cNvPr id="94" name="New shape"/>
          <p:cNvSpPr/>
          <p:nvPr/>
        </p:nvSpPr>
        <p:spPr>
          <a:xfrm>
            <a:off x="4243388" y="3943350"/>
            <a:ext cx="1834029" cy="171450"/>
          </a:xfrm>
          <a:prstGeom prst="roundRect">
            <a:avLst/>
          </a:prstGeom>
          <a:solidFill>
            <a:srgbClr val="66B881">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70%</a:t>
            </a:r>
          </a:p>
        </p:txBody>
      </p:sp>
      <p:sp>
        <p:nvSpPr>
          <p:cNvPr id="95" name="New shape"/>
          <p:cNvSpPr/>
          <p:nvPr/>
        </p:nvSpPr>
        <p:spPr>
          <a:xfrm>
            <a:off x="6091704" y="3943350"/>
            <a:ext cx="288205" cy="171450"/>
          </a:xfrm>
          <a:prstGeom prst="roundRect">
            <a:avLst/>
          </a:prstGeom>
          <a:solidFill>
            <a:srgbClr val="FFCF2E">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11%</a:t>
            </a:r>
          </a:p>
        </p:txBody>
      </p:sp>
      <p:sp>
        <p:nvSpPr>
          <p:cNvPr id="96" name="New shape"/>
          <p:cNvSpPr/>
          <p:nvPr/>
        </p:nvSpPr>
        <p:spPr>
          <a:xfrm>
            <a:off x="6394197" y="3943350"/>
            <a:ext cx="497808" cy="171450"/>
          </a:xfrm>
          <a:prstGeom prst="roundRect">
            <a:avLst/>
          </a:prstGeom>
          <a:solidFill>
            <a:srgbClr val="E6373D">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algn="ctr"/>
            <a:r>
              <a:rPr sz="675" b="1" i="0">
                <a:solidFill>
                  <a:srgbClr val="000000"/>
                </a:solidFill>
                <a:latin typeface="Poppins"/>
              </a:rPr>
              <a:t>19%</a:t>
            </a:r>
          </a:p>
        </p:txBody>
      </p:sp>
      <p:sp>
        <p:nvSpPr>
          <p:cNvPr id="97" name="New shape"/>
          <p:cNvSpPr/>
          <p:nvPr/>
        </p:nvSpPr>
        <p:spPr>
          <a:xfrm rot="54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New shape"/>
          <p:cNvSpPr/>
          <p:nvPr/>
        </p:nvSpPr>
        <p:spPr>
          <a:xfrm rot="16200000">
            <a:off x="71438" y="4889897"/>
            <a:ext cx="107156" cy="107156"/>
          </a:xfrm>
          <a:custGeom>
            <a:avLst/>
            <a:gdLst/>
            <a:ahLst/>
            <a:cxnLst/>
            <a:rect l="l" t="t" r="r" b="b"/>
            <a:pathLst>
              <a:path w="107156" h="107156">
                <a:moveTo>
                  <a:pt x="107156" y="53578"/>
                </a:moveTo>
                <a:arcTo wR="53578" hR="53578" stAng="0" swAng="10800000"/>
                <a:close/>
              </a:path>
            </a:pathLst>
          </a:custGeom>
          <a:solidFill>
            <a:srgbClr val="418B5A">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9" name="New shape"/>
          <p:cNvSpPr txBox="1"/>
          <p:nvPr/>
        </p:nvSpPr>
        <p:spPr>
          <a:xfrm>
            <a:off x="28575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Positiv</a:t>
            </a:r>
          </a:p>
        </p:txBody>
      </p:sp>
      <p:sp>
        <p:nvSpPr>
          <p:cNvPr id="100" name="New shape"/>
          <p:cNvSpPr/>
          <p:nvPr/>
        </p:nvSpPr>
        <p:spPr>
          <a:xfrm rot="54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New shape"/>
          <p:cNvSpPr/>
          <p:nvPr/>
        </p:nvSpPr>
        <p:spPr>
          <a:xfrm rot="16200000">
            <a:off x="1071562" y="4889897"/>
            <a:ext cx="107156" cy="107156"/>
          </a:xfrm>
          <a:custGeom>
            <a:avLst/>
            <a:gdLst/>
            <a:ahLst/>
            <a:cxnLst/>
            <a:rect l="l" t="t" r="r" b="b"/>
            <a:pathLst>
              <a:path w="107156" h="107156">
                <a:moveTo>
                  <a:pt x="107156" y="53578"/>
                </a:moveTo>
                <a:arcTo wR="53578" hR="53578" stAng="0" swAng="10800000"/>
                <a:close/>
              </a:path>
            </a:pathLst>
          </a:custGeom>
          <a:solidFill>
            <a:srgbClr val="FFC500">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New shape"/>
          <p:cNvSpPr txBox="1"/>
          <p:nvPr/>
        </p:nvSpPr>
        <p:spPr>
          <a:xfrm>
            <a:off x="1285875"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Neutral</a:t>
            </a:r>
          </a:p>
        </p:txBody>
      </p:sp>
      <p:sp>
        <p:nvSpPr>
          <p:cNvPr id="103" name="New shape"/>
          <p:cNvSpPr/>
          <p:nvPr/>
        </p:nvSpPr>
        <p:spPr>
          <a:xfrm rot="54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New shape"/>
          <p:cNvSpPr/>
          <p:nvPr/>
        </p:nvSpPr>
        <p:spPr>
          <a:xfrm rot="16200000">
            <a:off x="2071688" y="4889897"/>
            <a:ext cx="107156" cy="107156"/>
          </a:xfrm>
          <a:custGeom>
            <a:avLst/>
            <a:gdLst/>
            <a:ahLst/>
            <a:cxnLst/>
            <a:rect l="l" t="t" r="r" b="b"/>
            <a:pathLst>
              <a:path w="107156" h="107156">
                <a:moveTo>
                  <a:pt x="107156" y="53578"/>
                </a:moveTo>
                <a:arcTo wR="53578" hR="53578" stAng="0" swAng="10800000"/>
                <a:close/>
              </a:path>
            </a:pathLst>
          </a:custGeom>
          <a:solidFill>
            <a:srgbClr val="B6161C">
              <a:alpha val="50196"/>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New shape"/>
          <p:cNvSpPr txBox="1"/>
          <p:nvPr/>
        </p:nvSpPr>
        <p:spPr>
          <a:xfrm>
            <a:off x="2286000" y="4883467"/>
            <a:ext cx="7143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Negativ</a:t>
            </a:r>
          </a:p>
        </p:txBody>
      </p:sp>
      <p:sp>
        <p:nvSpPr>
          <p:cNvPr id="106" name="New shape"/>
          <p:cNvSpPr/>
          <p:nvPr/>
        </p:nvSpPr>
        <p:spPr>
          <a:xfrm flipH="1">
            <a:off x="310753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107" name="New picture"/>
          <p:cNvPicPr/>
          <p:nvPr/>
        </p:nvPicPr>
        <p:blipFill>
          <a:blip>
            <a:extLst>
              <a:ext uri="{96DAC541-7B7A-43D3-8B79-37D633B846F1}">
                <asvg:svgBlip xmlns:asvg="http://schemas.microsoft.com/office/drawing/2016/SVG/main" r:embed="rId6"/>
              </a:ext>
            </a:extLst>
          </a:blip>
          <a:stretch>
            <a:fillRect/>
          </a:stretch>
        </p:blipFill>
        <p:spPr>
          <a:xfrm>
            <a:off x="3286125" y="4883467"/>
            <a:ext cx="100012" cy="120015"/>
          </a:xfrm>
          <a:prstGeom prst="rect">
            <a:avLst/>
          </a:prstGeom>
        </p:spPr>
      </p:pic>
      <p:sp>
        <p:nvSpPr>
          <p:cNvPr id="108" name="New shape"/>
          <p:cNvSpPr txBox="1"/>
          <p:nvPr/>
        </p:nvSpPr>
        <p:spPr>
          <a:xfrm>
            <a:off x="3457575"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Aktuell</a:t>
            </a:r>
          </a:p>
        </p:txBody>
      </p:sp>
      <p:pic>
        <p:nvPicPr>
          <p:cNvPr id="109" name="New picture"/>
          <p:cNvPicPr/>
          <p:nvPr/>
        </p:nvPicPr>
        <p:blipFill>
          <a:blip>
            <a:extLst>
              <a:ext uri="{96DAC541-7B7A-43D3-8B79-37D633B846F1}">
                <asvg:svgBlip xmlns:asvg="http://schemas.microsoft.com/office/drawing/2016/SVG/main" r:embed="rId7"/>
              </a:ext>
            </a:extLst>
          </a:blip>
          <a:stretch>
            <a:fillRect/>
          </a:stretch>
        </p:blipFill>
        <p:spPr>
          <a:xfrm>
            <a:off x="4350544" y="4890969"/>
            <a:ext cx="105013" cy="105013"/>
          </a:xfrm>
          <a:prstGeom prst="rect">
            <a:avLst/>
          </a:prstGeom>
        </p:spPr>
      </p:pic>
      <p:sp>
        <p:nvSpPr>
          <p:cNvPr id="110" name="New shape"/>
          <p:cNvSpPr txBox="1"/>
          <p:nvPr/>
        </p:nvSpPr>
        <p:spPr>
          <a:xfrm>
            <a:off x="4526995"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Vorherige Befragung</a:t>
            </a:r>
          </a:p>
        </p:txBody>
      </p:sp>
      <p:sp>
        <p:nvSpPr>
          <p:cNvPr id="111" name="New shape"/>
          <p:cNvSpPr txBox="1"/>
          <p:nvPr/>
        </p:nvSpPr>
        <p:spPr>
          <a:xfrm>
            <a:off x="5453539"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1</a:t>
            </a:r>
          </a:p>
        </p:txBody>
      </p:sp>
      <p:pic>
        <p:nvPicPr>
          <p:cNvPr id="112" name="New picture"/>
          <p:cNvPicPr/>
          <p:nvPr/>
        </p:nvPicPr>
        <p:blipFill>
          <a:blip>
            <a:extLst>
              <a:ext uri="{96DAC541-7B7A-43D3-8B79-37D633B846F1}">
                <asvg:svgBlip xmlns:asvg="http://schemas.microsoft.com/office/drawing/2016/SVG/main" r:embed="rId3"/>
              </a:ext>
            </a:extLst>
          </a:blip>
          <a:stretch>
            <a:fillRect/>
          </a:stretch>
        </p:blipFill>
        <p:spPr>
          <a:xfrm>
            <a:off x="5562838" y="4890969"/>
            <a:ext cx="105013" cy="105013"/>
          </a:xfrm>
          <a:prstGeom prst="rect">
            <a:avLst/>
          </a:prstGeom>
        </p:spPr>
      </p:pic>
      <p:sp>
        <p:nvSpPr>
          <p:cNvPr id="113" name="New shape"/>
          <p:cNvSpPr txBox="1"/>
          <p:nvPr/>
        </p:nvSpPr>
        <p:spPr>
          <a:xfrm>
            <a:off x="5739289"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International</a:t>
            </a:r>
          </a:p>
        </p:txBody>
      </p:sp>
      <p:sp>
        <p:nvSpPr>
          <p:cNvPr id="114" name="New shape"/>
          <p:cNvSpPr txBox="1"/>
          <p:nvPr/>
        </p:nvSpPr>
        <p:spPr>
          <a:xfrm>
            <a:off x="6665833"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2</a:t>
            </a:r>
          </a:p>
        </p:txBody>
      </p:sp>
      <p:pic>
        <p:nvPicPr>
          <p:cNvPr id="115" name="New picture"/>
          <p:cNvPicPr/>
          <p:nvPr/>
        </p:nvPicPr>
        <p:blipFill>
          <a:blip>
            <a:extLst>
              <a:ext uri="{96DAC541-7B7A-43D3-8B79-37D633B846F1}">
                <asvg:svgBlip xmlns:asvg="http://schemas.microsoft.com/office/drawing/2016/SVG/main" r:embed="rId4"/>
              </a:ext>
            </a:extLst>
          </a:blip>
          <a:stretch>
            <a:fillRect/>
          </a:stretch>
        </p:blipFill>
        <p:spPr>
          <a:xfrm>
            <a:off x="6775133" y="4890969"/>
            <a:ext cx="105013" cy="105013"/>
          </a:xfrm>
          <a:prstGeom prst="rect">
            <a:avLst/>
          </a:prstGeom>
        </p:spPr>
      </p:pic>
      <p:sp>
        <p:nvSpPr>
          <p:cNvPr id="116" name="New shape"/>
          <p:cNvSpPr txBox="1"/>
          <p:nvPr/>
        </p:nvSpPr>
        <p:spPr>
          <a:xfrm>
            <a:off x="6951583" y="4789170"/>
            <a:ext cx="714375" cy="30861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International</a:t>
            </a:r>
          </a:p>
        </p:txBody>
      </p:sp>
      <p:sp>
        <p:nvSpPr>
          <p:cNvPr id="117" name="New shape"/>
          <p:cNvSpPr txBox="1"/>
          <p:nvPr/>
        </p:nvSpPr>
        <p:spPr>
          <a:xfrm>
            <a:off x="7878128"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3</a:t>
            </a:r>
          </a:p>
        </p:txBody>
      </p:sp>
      <p:pic>
        <p:nvPicPr>
          <p:cNvPr id="118" name="New picture"/>
          <p:cNvPicPr/>
          <p:nvPr/>
        </p:nvPicPr>
        <p:blipFill>
          <a:blip>
            <a:extLst>
              <a:ext uri="{96DAC541-7B7A-43D3-8B79-37D633B846F1}">
                <asvg:svgBlip xmlns:asvg="http://schemas.microsoft.com/office/drawing/2016/SVG/main" r:embed="rId3"/>
              </a:ext>
            </a:extLst>
          </a:blip>
          <a:stretch>
            <a:fillRect/>
          </a:stretch>
        </p:blipFill>
        <p:spPr>
          <a:xfrm>
            <a:off x="7987427" y="4890969"/>
            <a:ext cx="105013" cy="105013"/>
          </a:xfrm>
          <a:prstGeom prst="rect">
            <a:avLst/>
          </a:prstGeom>
        </p:spPr>
      </p:pic>
      <p:sp>
        <p:nvSpPr>
          <p:cNvPr id="119" name="New shape"/>
          <p:cNvSpPr txBox="1"/>
          <p:nvPr/>
        </p:nvSpPr>
        <p:spPr>
          <a:xfrm>
            <a:off x="8163878" y="4892040"/>
            <a:ext cx="714375" cy="10287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Benchmark B2B</a:t>
            </a:r>
          </a:p>
        </p:txBody>
      </p:sp>
      <p:sp>
        <p:nvSpPr>
          <p:cNvPr id="120" name="New shape"/>
          <p:cNvSpPr txBox="1"/>
          <p:nvPr/>
        </p:nvSpPr>
        <p:spPr>
          <a:xfrm>
            <a:off x="9090422" y="4904184"/>
            <a:ext cx="107156" cy="107156"/>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25400" bIns="0" rtlCol="0" anchor="b">
            <a:noAutofit/>
          </a:bodyPr>
          <a:lstStyle/>
          <a:p>
            <a:pPr algn="r">
              <a:lnSpc>
                <a:spcPct val="100000"/>
              </a:lnSpc>
            </a:pPr>
            <a:r>
              <a:rPr sz="675" b="0" i="0">
                <a:solidFill>
                  <a:srgbClr val="000000"/>
                </a:solidFill>
                <a:latin typeface="Poppins"/>
              </a:rPr>
              <a:t>4</a:t>
            </a:r>
          </a:p>
        </p:txBody>
      </p:sp>
      <p:pic>
        <p:nvPicPr>
          <p:cNvPr id="121" name="New picture"/>
          <p:cNvPicPr/>
          <p:nvPr/>
        </p:nvPicPr>
        <p:blipFill>
          <a:blip>
            <a:extLst>
              <a:ext uri="{96DAC541-7B7A-43D3-8B79-37D633B846F1}">
                <asvg:svgBlip xmlns:asvg="http://schemas.microsoft.com/office/drawing/2016/SVG/main" r:embed="rId5"/>
              </a:ext>
            </a:extLst>
          </a:blip>
          <a:stretch>
            <a:fillRect/>
          </a:stretch>
        </p:blipFill>
        <p:spPr>
          <a:xfrm>
            <a:off x="9199721" y="4890969"/>
            <a:ext cx="105013" cy="105013"/>
          </a:xfrm>
          <a:prstGeom prst="rect">
            <a:avLst/>
          </a:prstGeom>
        </p:spPr>
      </p:pic>
      <p:sp>
        <p:nvSpPr>
          <p:cNvPr id="122" name="New shape"/>
          <p:cNvSpPr txBox="1"/>
          <p:nvPr/>
        </p:nvSpPr>
        <p:spPr>
          <a:xfrm>
            <a:off x="9376172" y="4840605"/>
            <a:ext cx="71437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675" b="0" i="0">
                <a:solidFill>
                  <a:srgbClr val="192743"/>
                </a:solidFill>
                <a:latin typeface="Poppins"/>
              </a:rPr>
              <a:t>Top 3 Benchmark B2B</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714375"/>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Indizes</a:t>
            </a:r>
          </a:p>
        </p:txBody>
      </p:sp>
      <p:sp>
        <p:nvSpPr>
          <p:cNvPr id="5" name="New shape"/>
          <p:cNvSpPr txBox="1"/>
          <p:nvPr/>
        </p:nvSpPr>
        <p:spPr>
          <a:xfrm>
            <a:off x="457200" y="1230154"/>
            <a:ext cx="6286500" cy="6172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Ein Index kombiniert mehrere miteinander verwandte Fragen in einem Ergebnis. Indizes messen verschiedene Aspekte, die für den Erfolg des Unternehmens von Bedeutung sind.</a:t>
            </a:r>
          </a:p>
        </p:txBody>
      </p:sp>
      <p:sp>
        <p:nvSpPr>
          <p:cNvPr id="6" name="New shape"/>
          <p:cNvSpPr txBox="1"/>
          <p:nvPr/>
        </p:nvSpPr>
        <p:spPr>
          <a:xfrm>
            <a:off x="457200" y="213312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1.</a:t>
            </a:r>
          </a:p>
        </p:txBody>
      </p:sp>
      <p:sp>
        <p:nvSpPr>
          <p:cNvPr id="7" name="New shape"/>
          <p:cNvSpPr txBox="1"/>
          <p:nvPr/>
        </p:nvSpPr>
        <p:spPr>
          <a:xfrm>
            <a:off x="792956" y="213312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Arbeitgeberkompetenz</a:t>
            </a:r>
          </a:p>
        </p:txBody>
      </p:sp>
      <p:sp>
        <p:nvSpPr>
          <p:cNvPr id="8" name="New shape"/>
          <p:cNvSpPr txBox="1"/>
          <p:nvPr/>
        </p:nvSpPr>
        <p:spPr>
          <a:xfrm>
            <a:off x="457200" y="251031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2.</a:t>
            </a:r>
          </a:p>
        </p:txBody>
      </p:sp>
      <p:sp>
        <p:nvSpPr>
          <p:cNvPr id="9" name="New shape"/>
          <p:cNvSpPr txBox="1"/>
          <p:nvPr/>
        </p:nvSpPr>
        <p:spPr>
          <a:xfrm>
            <a:off x="792956" y="251031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Engagement</a:t>
            </a:r>
          </a:p>
        </p:txBody>
      </p:sp>
      <p:sp>
        <p:nvSpPr>
          <p:cNvPr id="10" name="New shape"/>
          <p:cNvSpPr txBox="1"/>
          <p:nvPr/>
        </p:nvSpPr>
        <p:spPr>
          <a:xfrm>
            <a:off x="457200" y="288750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3.</a:t>
            </a:r>
          </a:p>
        </p:txBody>
      </p:sp>
      <p:sp>
        <p:nvSpPr>
          <p:cNvPr id="11" name="New shape"/>
          <p:cNvSpPr txBox="1"/>
          <p:nvPr/>
        </p:nvSpPr>
        <p:spPr>
          <a:xfrm>
            <a:off x="792956" y="288750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Veränderung gestalten</a:t>
            </a:r>
          </a:p>
        </p:txBody>
      </p:sp>
      <p:sp>
        <p:nvSpPr>
          <p:cNvPr id="12" name="New shape"/>
          <p:cNvSpPr txBox="1"/>
          <p:nvPr/>
        </p:nvSpPr>
        <p:spPr>
          <a:xfrm>
            <a:off x="457200" y="3264693"/>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4.</a:t>
            </a:r>
          </a:p>
        </p:txBody>
      </p:sp>
      <p:sp>
        <p:nvSpPr>
          <p:cNvPr id="13" name="New shape"/>
          <p:cNvSpPr txBox="1"/>
          <p:nvPr/>
        </p:nvSpPr>
        <p:spPr>
          <a:xfrm>
            <a:off x="792956" y="3264693"/>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Mitarbeiter führen</a:t>
            </a:r>
          </a:p>
        </p:txBody>
      </p:sp>
      <p:sp>
        <p:nvSpPr>
          <p:cNvPr id="14" name="New shape"/>
          <p:cNvSpPr txBox="1"/>
          <p:nvPr/>
        </p:nvSpPr>
        <p:spPr>
          <a:xfrm>
            <a:off x="457200" y="364188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5.</a:t>
            </a:r>
          </a:p>
        </p:txBody>
      </p:sp>
      <p:sp>
        <p:nvSpPr>
          <p:cNvPr id="15" name="New shape"/>
          <p:cNvSpPr txBox="1"/>
          <p:nvPr/>
        </p:nvSpPr>
        <p:spPr>
          <a:xfrm>
            <a:off x="792956" y="364188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Systeme managen</a:t>
            </a:r>
          </a:p>
        </p:txBody>
      </p:sp>
      <p:sp>
        <p:nvSpPr>
          <p:cNvPr id="16" name="New shape"/>
          <p:cNvSpPr txBox="1"/>
          <p:nvPr/>
        </p:nvSpPr>
        <p:spPr>
          <a:xfrm>
            <a:off x="457200" y="401907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6.</a:t>
            </a:r>
          </a:p>
        </p:txBody>
      </p:sp>
      <p:sp>
        <p:nvSpPr>
          <p:cNvPr id="17" name="New shape"/>
          <p:cNvSpPr txBox="1"/>
          <p:nvPr/>
        </p:nvSpPr>
        <p:spPr>
          <a:xfrm>
            <a:off x="792956" y="4019074"/>
            <a:ext cx="2143125"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Qualität des Leistungsumfeldes</a:t>
            </a:r>
          </a:p>
        </p:txBody>
      </p:sp>
      <p:sp>
        <p:nvSpPr>
          <p:cNvPr id="18" name="New shape"/>
          <p:cNvSpPr txBox="1"/>
          <p:nvPr/>
        </p:nvSpPr>
        <p:spPr>
          <a:xfrm>
            <a:off x="3086100" y="2133124"/>
            <a:ext cx="300038"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gn="l">
              <a:lnSpc>
                <a:spcPct val="100000"/>
              </a:lnSpc>
            </a:pPr>
            <a:r>
              <a:rPr sz="1350" b="1" i="0">
                <a:solidFill>
                  <a:srgbClr val="30B3AF"/>
                </a:solidFill>
                <a:latin typeface="Poppins"/>
              </a:rPr>
              <a:t>7.</a:t>
            </a:r>
          </a:p>
        </p:txBody>
      </p:sp>
      <p:sp>
        <p:nvSpPr>
          <p:cNvPr id="19" name="New shape"/>
          <p:cNvSpPr txBox="1"/>
          <p:nvPr/>
        </p:nvSpPr>
        <p:spPr>
          <a:xfrm>
            <a:off x="3421856" y="2133124"/>
            <a:ext cx="2143125"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Richtung geben</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mit Benchmarks</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Arbeitgeberkompetenz</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Engagement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Veränderung gestalten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Mitarbeiter führen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 managen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Qualität des Leistungsumfeldes</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Richtung geben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5134921" y="1030552"/>
            <a:ext cx="1471613" cy="240649"/>
            <a:chOff x="47228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1035209"/>
              <a:ext cx="114300" cy="137160"/>
            </a:xfrm>
            <a:prstGeom prst="rect">
              <a:avLst/>
            </a:prstGeom>
          </p:spPr>
        </p:pic>
        <p:sp>
          <p:nvSpPr>
            <p:cNvPr id="15" name="New shape"/>
            <p:cNvSpPr txBox="1"/>
            <p:nvPr/>
          </p:nvSpPr>
          <p:spPr>
            <a:xfrm>
              <a:off x="49085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16" name="New shape"/>
            <p:cNvSpPr txBox="1"/>
            <p:nvPr/>
          </p:nvSpPr>
          <p:spPr>
            <a:xfrm>
              <a:off x="49085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17" name="Group 16"/>
          <p:cNvGrpSpPr/>
          <p:nvPr/>
        </p:nvGrpSpPr>
        <p:grpSpPr>
          <a:xfrm rot="18900000">
            <a:off x="5612274" y="1107643"/>
            <a:ext cx="1477327" cy="120015"/>
            <a:chOff x="5237162" y="95519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955199"/>
              <a:ext cx="120015" cy="120015"/>
            </a:xfrm>
            <a:prstGeom prst="rect">
              <a:avLst/>
            </a:prstGeom>
          </p:spPr>
        </p:pic>
        <p:sp>
          <p:nvSpPr>
            <p:cNvPr id="19" name="New shape"/>
            <p:cNvSpPr txBox="1"/>
            <p:nvPr/>
          </p:nvSpPr>
          <p:spPr>
            <a:xfrm>
              <a:off x="54286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0" name="Group 19"/>
          <p:cNvGrpSpPr/>
          <p:nvPr/>
        </p:nvGrpSpPr>
        <p:grpSpPr>
          <a:xfrm rot="18900000">
            <a:off x="6126624" y="1107643"/>
            <a:ext cx="1477328" cy="120015"/>
            <a:chOff x="5751512" y="95519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955199"/>
              <a:ext cx="120015" cy="120015"/>
            </a:xfrm>
            <a:prstGeom prst="rect">
              <a:avLst/>
            </a:prstGeom>
          </p:spPr>
        </p:pic>
        <p:sp>
          <p:nvSpPr>
            <p:cNvPr id="22" name="New shape"/>
            <p:cNvSpPr txBox="1"/>
            <p:nvPr/>
          </p:nvSpPr>
          <p:spPr>
            <a:xfrm>
              <a:off x="5942966"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3" name="Group 22"/>
          <p:cNvGrpSpPr/>
          <p:nvPr/>
        </p:nvGrpSpPr>
        <p:grpSpPr>
          <a:xfrm rot="18900000">
            <a:off x="6580966" y="1047636"/>
            <a:ext cx="1477328" cy="240030"/>
            <a:chOff x="6265862" y="895191"/>
            <a:chExt cx="1477328" cy="240030"/>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955199"/>
              <a:ext cx="120015" cy="120015"/>
            </a:xfrm>
            <a:prstGeom prst="rect">
              <a:avLst/>
            </a:prstGeom>
          </p:spPr>
        </p:pic>
        <p:sp>
          <p:nvSpPr>
            <p:cNvPr id="25" name="New shape"/>
            <p:cNvSpPr txBox="1"/>
            <p:nvPr/>
          </p:nvSpPr>
          <p:spPr>
            <a:xfrm>
              <a:off x="6457315" y="89519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26" name="Group 25"/>
          <p:cNvGrpSpPr/>
          <p:nvPr/>
        </p:nvGrpSpPr>
        <p:grpSpPr>
          <a:xfrm rot="18900000">
            <a:off x="7155324" y="1107643"/>
            <a:ext cx="1477327" cy="120015"/>
            <a:chOff x="6780212" y="95519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955199"/>
              <a:ext cx="120015" cy="120015"/>
            </a:xfrm>
            <a:prstGeom prst="rect">
              <a:avLst/>
            </a:prstGeom>
          </p:spPr>
        </p:pic>
        <p:sp>
          <p:nvSpPr>
            <p:cNvPr id="28" name="New shape"/>
            <p:cNvSpPr txBox="1"/>
            <p:nvPr/>
          </p:nvSpPr>
          <p:spPr>
            <a:xfrm>
              <a:off x="697166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1107643"/>
            <a:ext cx="1477327" cy="120015"/>
            <a:chOff x="7294562" y="95519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955199"/>
              <a:ext cx="120015" cy="120015"/>
            </a:xfrm>
            <a:prstGeom prst="rect">
              <a:avLst/>
            </a:prstGeom>
          </p:spPr>
        </p:pic>
        <p:sp>
          <p:nvSpPr>
            <p:cNvPr id="31" name="New shape"/>
            <p:cNvSpPr txBox="1"/>
            <p:nvPr/>
          </p:nvSpPr>
          <p:spPr>
            <a:xfrm>
              <a:off x="7486014"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Vergleich mit Benchmarks</a:t>
            </a:r>
          </a:p>
        </p:txBody>
      </p:sp>
      <p:sp>
        <p:nvSpPr>
          <p:cNvPr id="3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3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3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
        <p:nvSpPr>
          <p:cNvPr id="4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23</a:t>
            </a:r>
          </a:p>
        </p:txBody>
      </p:sp>
      <p:sp>
        <p:nvSpPr>
          <p:cNvPr id="4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4"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Arbeitgeberkompetenz</a:t>
            </a:r>
          </a:p>
        </p:txBody>
      </p:sp>
      <p:sp>
        <p:nvSpPr>
          <p:cNvPr id="4"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Unternehmen, die ihre Qualitäten als Arbeitgeber kultivieren, bieten ihren Mitarbeitenden ein Arbeitsumfeld, in dem diese sich wohl und akzeptiert fühlen. Ein solches Arbeitsumfeld stärkt das Gefühl der Verbundenheit Ihrer Mitarbeitenden mit den Kolleg:innen und Ihrem Unternehmen.</a:t>
            </a:r>
          </a:p>
        </p:txBody>
      </p:sp>
      <p:sp>
        <p:nvSpPr>
          <p:cNvPr id="5"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7"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8"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9"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66%</a:t>
            </a:r>
          </a:p>
        </p:txBody>
      </p:sp>
      <p:sp>
        <p:nvSpPr>
          <p:cNvPr id="10"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1"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2"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88%</a:t>
            </a:r>
          </a:p>
        </p:txBody>
      </p:sp>
      <p:sp>
        <p:nvSpPr>
          <p:cNvPr id="13"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5"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16"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Die </a:t>
                      </a:r>
                      <a:r>
                        <a:rPr sz="788" b="0" i="0" dirty="0" err="1">
                          <a:solidFill>
                            <a:srgbClr val="192743"/>
                          </a:solidFill>
                          <a:latin typeface="Poppins"/>
                        </a:rPr>
                        <a:t>Zukunftsvision</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inspiriert</a:t>
                      </a:r>
                      <a:r>
                        <a:rPr sz="788" b="0" i="0" dirty="0">
                          <a:solidFill>
                            <a:srgbClr val="192743"/>
                          </a:solidFill>
                          <a:latin typeface="Poppins"/>
                        </a:rPr>
                        <a:t> </a:t>
                      </a:r>
                      <a:r>
                        <a:rPr sz="788" b="0" i="0" dirty="0" err="1">
                          <a:solidFill>
                            <a:srgbClr val="192743"/>
                          </a:solidFill>
                          <a:latin typeface="Poppins"/>
                        </a:rPr>
                        <a:t>mich</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a:t>
                      </a:r>
                      <a:r>
                        <a:rPr sz="788" b="0" i="0" dirty="0" err="1">
                          <a:solidFill>
                            <a:srgbClr val="192743"/>
                          </a:solidFill>
                          <a:latin typeface="Poppins"/>
                        </a:rPr>
                        <a:t>ein</a:t>
                      </a:r>
                      <a:r>
                        <a:rPr sz="788" b="0" i="0" dirty="0">
                          <a:solidFill>
                            <a:srgbClr val="192743"/>
                          </a:solidFill>
                          <a:latin typeface="Poppins"/>
                        </a:rPr>
                        <a:t> </a:t>
                      </a:r>
                      <a:r>
                        <a:rPr sz="788" b="0" i="0" dirty="0" err="1">
                          <a:solidFill>
                            <a:srgbClr val="192743"/>
                          </a:solidFill>
                          <a:latin typeface="Poppins"/>
                        </a:rPr>
                        <a:t>guter</a:t>
                      </a:r>
                      <a:r>
                        <a:rPr sz="788" b="0" i="0" dirty="0">
                          <a:solidFill>
                            <a:srgbClr val="192743"/>
                          </a:solidFill>
                          <a:latin typeface="Poppins"/>
                        </a:rPr>
                        <a:t> </a:t>
                      </a:r>
                      <a:r>
                        <a:rPr sz="788" b="0" i="0" dirty="0" err="1">
                          <a:solidFill>
                            <a:srgbClr val="192743"/>
                          </a:solidFill>
                          <a:latin typeface="Poppins"/>
                        </a:rPr>
                        <a:t>Arbeitgeber</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fühlte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Mitarbeiter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wertgeschätzt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nutzt</a:t>
                      </a:r>
                      <a:r>
                        <a:rPr sz="788" b="0" i="0" dirty="0">
                          <a:solidFill>
                            <a:srgbClr val="192743"/>
                          </a:solidFill>
                          <a:latin typeface="Poppins"/>
                        </a:rPr>
                        <a:t> Ideen und </a:t>
                      </a:r>
                      <a:r>
                        <a:rPr sz="788" b="0" i="0" dirty="0" err="1">
                          <a:solidFill>
                            <a:srgbClr val="192743"/>
                          </a:solidFill>
                          <a:latin typeface="Poppins"/>
                        </a:rPr>
                        <a:t>Vorschläge</a:t>
                      </a:r>
                      <a:r>
                        <a:rPr sz="788" b="0" i="0" dirty="0">
                          <a:solidFill>
                            <a:srgbClr val="192743"/>
                          </a:solidFill>
                          <a:latin typeface="Poppins"/>
                        </a:rPr>
                        <a:t> der </a:t>
                      </a:r>
                      <a:r>
                        <a:rPr sz="788" b="0" i="0" dirty="0" err="1">
                          <a:solidFill>
                            <a:srgbClr val="192743"/>
                          </a:solidFill>
                          <a:latin typeface="Poppins"/>
                        </a:rPr>
                        <a:t>Mitarbeitenden</a:t>
                      </a:r>
                      <a:r>
                        <a:rPr sz="788" b="0" i="0" dirty="0">
                          <a:solidFill>
                            <a:srgbClr val="192743"/>
                          </a:solidFill>
                          <a:latin typeface="Poppins"/>
                        </a:rPr>
                        <a:t> für </a:t>
                      </a:r>
                      <a:r>
                        <a:rPr sz="788" b="0" i="0" dirty="0" err="1">
                          <a:solidFill>
                            <a:srgbClr val="192743"/>
                          </a:solidFill>
                          <a:latin typeface="Poppins"/>
                        </a:rPr>
                        <a:t>Verbesserungen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7" name="Group 16"/>
          <p:cNvGrpSpPr/>
          <p:nvPr/>
        </p:nvGrpSpPr>
        <p:grpSpPr>
          <a:xfrm rot="18900000">
            <a:off x="5134921" y="851958"/>
            <a:ext cx="1471613" cy="240649"/>
            <a:chOff x="4722812" y="793750"/>
            <a:chExt cx="1471613" cy="240649"/>
          </a:xfrm>
        </p:grpSpPr>
        <p:pic>
          <p:nvPicPr>
            <p:cNvPr id="18" name="New picture"/>
            <p:cNvPicPr/>
            <p:nvPr/>
          </p:nvPicPr>
          <p:blipFill>
            <a:blip>
              <a:extLst>
                <a:ext uri="{96DAC541-7B7A-43D3-8B79-37D633B846F1}">
                  <asvg:svgBlip xmlns:asvg="http://schemas.microsoft.com/office/drawing/2016/SVG/main" r:embed="rId3"/>
                </a:ext>
              </a:extLst>
            </a:blip>
            <a:stretch>
              <a:fillRect/>
            </a:stretch>
          </p:blipFill>
          <p:spPr>
            <a:xfrm>
              <a:off x="4722812" y="856615"/>
              <a:ext cx="114300" cy="137160"/>
            </a:xfrm>
            <a:prstGeom prst="rect">
              <a:avLst/>
            </a:prstGeom>
          </p:spPr>
        </p:pic>
        <p:sp>
          <p:nvSpPr>
            <p:cNvPr id="19"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0"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1" name="Group 20"/>
          <p:cNvGrpSpPr/>
          <p:nvPr/>
        </p:nvGrpSpPr>
        <p:grpSpPr>
          <a:xfrm rot="18900000">
            <a:off x="5612274" y="929050"/>
            <a:ext cx="1477327" cy="120015"/>
            <a:chOff x="5237162" y="776605"/>
            <a:chExt cx="1477327" cy="120015"/>
          </a:xfrm>
        </p:grpSpPr>
        <p:pic>
          <p:nvPicPr>
            <p:cNvPr id="22" name="New picture"/>
            <p:cNvPicPr/>
            <p:nvPr/>
          </p:nvPicPr>
          <p:blipFill>
            <a:blip>
              <a:extLst>
                <a:ext uri="{96DAC541-7B7A-43D3-8B79-37D633B846F1}">
                  <asvg:svgBlip xmlns:asvg="http://schemas.microsoft.com/office/drawing/2016/SVG/main" r:embed="rId4"/>
                </a:ext>
              </a:extLst>
            </a:blip>
            <a:stretch>
              <a:fillRect/>
            </a:stretch>
          </p:blipFill>
          <p:spPr>
            <a:xfrm>
              <a:off x="5237162" y="776605"/>
              <a:ext cx="120015" cy="120015"/>
            </a:xfrm>
            <a:prstGeom prst="rect">
              <a:avLst/>
            </a:prstGeom>
          </p:spPr>
        </p:pic>
        <p:sp>
          <p:nvSpPr>
            <p:cNvPr id="23"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4" name="Group 23"/>
          <p:cNvGrpSpPr/>
          <p:nvPr/>
        </p:nvGrpSpPr>
        <p:grpSpPr>
          <a:xfrm rot="18900000">
            <a:off x="6126624" y="929049"/>
            <a:ext cx="1477328" cy="120015"/>
            <a:chOff x="5751512" y="776605"/>
            <a:chExt cx="1477328" cy="120015"/>
          </a:xfrm>
        </p:grpSpPr>
        <p:pic>
          <p:nvPicPr>
            <p:cNvPr id="25" name="New picture"/>
            <p:cNvPicPr/>
            <p:nvPr/>
          </p:nvPicPr>
          <p:blipFill>
            <a:blip>
              <a:extLst>
                <a:ext uri="{96DAC541-7B7A-43D3-8B79-37D633B846F1}">
                  <asvg:svgBlip xmlns:asvg="http://schemas.microsoft.com/office/drawing/2016/SVG/main" r:embed="rId5"/>
                </a:ext>
              </a:extLst>
            </a:blip>
            <a:stretch>
              <a:fillRect/>
            </a:stretch>
          </p:blipFill>
          <p:spPr>
            <a:xfrm>
              <a:off x="5751512" y="776605"/>
              <a:ext cx="120015" cy="120015"/>
            </a:xfrm>
            <a:prstGeom prst="rect">
              <a:avLst/>
            </a:prstGeom>
          </p:spPr>
        </p:pic>
        <p:sp>
          <p:nvSpPr>
            <p:cNvPr id="26"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7" name="Group 26"/>
          <p:cNvGrpSpPr/>
          <p:nvPr/>
        </p:nvGrpSpPr>
        <p:grpSpPr>
          <a:xfrm rot="18900000">
            <a:off x="6580966" y="869042"/>
            <a:ext cx="1477328" cy="240030"/>
            <a:chOff x="6265862" y="716598"/>
            <a:chExt cx="1477328" cy="240030"/>
          </a:xfrm>
        </p:grpSpPr>
        <p:pic>
          <p:nvPicPr>
            <p:cNvPr id="28" name="New picture"/>
            <p:cNvPicPr/>
            <p:nvPr/>
          </p:nvPicPr>
          <p:blipFill>
            <a:blip>
              <a:extLst>
                <a:ext uri="{96DAC541-7B7A-43D3-8B79-37D633B846F1}">
                  <asvg:svgBlip xmlns:asvg="http://schemas.microsoft.com/office/drawing/2016/SVG/main" r:embed="rId6"/>
                </a:ext>
              </a:extLst>
            </a:blip>
            <a:stretch>
              <a:fillRect/>
            </a:stretch>
          </p:blipFill>
          <p:spPr>
            <a:xfrm>
              <a:off x="6265862" y="776605"/>
              <a:ext cx="120015" cy="120015"/>
            </a:xfrm>
            <a:prstGeom prst="rect">
              <a:avLst/>
            </a:prstGeom>
          </p:spPr>
        </p:pic>
        <p:sp>
          <p:nvSpPr>
            <p:cNvPr id="29" name="New shape"/>
            <p:cNvSpPr txBox="1"/>
            <p:nvPr/>
          </p:nvSpPr>
          <p:spPr>
            <a:xfrm>
              <a:off x="6457315" y="716598"/>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0" name="Group 29"/>
          <p:cNvGrpSpPr/>
          <p:nvPr/>
        </p:nvGrpSpPr>
        <p:grpSpPr>
          <a:xfrm rot="18900000">
            <a:off x="7155324" y="929050"/>
            <a:ext cx="1477327" cy="120015"/>
            <a:chOff x="6780212" y="776605"/>
            <a:chExt cx="1477327" cy="120015"/>
          </a:xfrm>
        </p:grpSpPr>
        <p:pic>
          <p:nvPicPr>
            <p:cNvPr id="31" name="New picture"/>
            <p:cNvPicPr/>
            <p:nvPr/>
          </p:nvPicPr>
          <p:blipFill>
            <a:blip>
              <a:extLst>
                <a:ext uri="{96DAC541-7B7A-43D3-8B79-37D633B846F1}">
                  <asvg:svgBlip xmlns:asvg="http://schemas.microsoft.com/office/drawing/2016/SVG/main" r:embed="rId5"/>
                </a:ext>
              </a:extLst>
            </a:blip>
            <a:stretch>
              <a:fillRect/>
            </a:stretch>
          </p:blipFill>
          <p:spPr>
            <a:xfrm>
              <a:off x="6780212" y="776605"/>
              <a:ext cx="120015" cy="120015"/>
            </a:xfrm>
            <a:prstGeom prst="rect">
              <a:avLst/>
            </a:prstGeom>
          </p:spPr>
        </p:pic>
        <p:sp>
          <p:nvSpPr>
            <p:cNvPr id="32"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3" name="Group 32"/>
          <p:cNvGrpSpPr/>
          <p:nvPr/>
        </p:nvGrpSpPr>
        <p:grpSpPr>
          <a:xfrm rot="18900000">
            <a:off x="7669674" y="929050"/>
            <a:ext cx="1477327" cy="120015"/>
            <a:chOff x="7294562" y="776605"/>
            <a:chExt cx="1477327" cy="120015"/>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7294562" y="776605"/>
              <a:ext cx="120015" cy="120015"/>
            </a:xfrm>
            <a:prstGeom prst="rect">
              <a:avLst/>
            </a:prstGeom>
          </p:spPr>
        </p:pic>
        <p:sp>
          <p:nvSpPr>
            <p:cNvPr id="35"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6"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37"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38"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39"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1"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2"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3"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4"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
        <p:nvSpPr>
          <p:cNvPr id="45"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24</a:t>
            </a:r>
          </a:p>
        </p:txBody>
      </p:sp>
      <p:sp>
        <p:nvSpPr>
          <p:cNvPr id="46"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8829675" y="147661"/>
            <a:ext cx="217884" cy="217884"/>
          </a:xfrm>
          <a:prstGeom prst="rect">
            <a:avLst/>
          </a:prstGeom>
        </p:spPr>
      </p:pic>
      <p:sp>
        <p:nvSpPr>
          <p:cNvPr id="48"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0"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Engagement</a:t>
            </a:r>
          </a:p>
        </p:txBody>
      </p:sp>
      <p:sp>
        <p:nvSpPr>
          <p:cNvPr id="10" name="New shape"/>
          <p:cNvSpPr txBox="1"/>
          <p:nvPr/>
        </p:nvSpPr>
        <p:spPr>
          <a:xfrm>
            <a:off x="457200" y="857250"/>
            <a:ext cx="4457700" cy="426053"/>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„Engagement" bezeichnet den Grad, zu dem Ihre Mitarbeitenden von ihrer Arbeit inspiriert sind und sich motiviert fühlen. Es bezieht sich auch darauf, ob sich die Mitarbeitenden mit dem Unternehmen verbunden fühlen.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70%</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79%</a:t>
            </a:r>
          </a:p>
        </p:txBody>
      </p:sp>
      <p:sp>
        <p:nvSpPr>
          <p:cNvPr id="18" name="New shape"/>
          <p:cNvSpPr txBox="1"/>
          <p:nvPr/>
        </p:nvSpPr>
        <p:spPr>
          <a:xfrm>
            <a:off x="7715250" y="1657350"/>
            <a:ext cx="514350" cy="34290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92%</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Meine Arbeit </a:t>
                      </a:r>
                      <a:r>
                        <a:rPr sz="788" b="0" i="0" dirty="0" err="1">
                          <a:solidFill>
                            <a:srgbClr val="192743"/>
                          </a:solidFill>
                          <a:latin typeface="Poppins"/>
                        </a:rPr>
                        <a:t>macht</a:t>
                      </a:r>
                      <a:r>
                        <a:rPr sz="788" b="0" i="0" dirty="0">
                          <a:solidFill>
                            <a:srgbClr val="192743"/>
                          </a:solidFill>
                          <a:latin typeface="Poppins"/>
                        </a:rPr>
                        <a:t> mir </a:t>
                      </a:r>
                      <a:r>
                        <a:rPr sz="788" b="0" i="0" dirty="0" err="1">
                          <a:solidFill>
                            <a:srgbClr val="192743"/>
                          </a:solidFill>
                          <a:latin typeface="Poppins"/>
                        </a:rPr>
                        <a:t>Spaß</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*98%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Meine Arbeit motiviert mich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Ich war </a:t>
                      </a:r>
                      <a:r>
                        <a:rPr sz="788" b="0" i="0" dirty="0" err="1">
                          <a:solidFill>
                            <a:srgbClr val="192743"/>
                          </a:solidFill>
                          <a:latin typeface="Poppins"/>
                        </a:rPr>
                        <a:t>stolz</a:t>
                      </a:r>
                      <a:r>
                        <a:rPr sz="788" b="0" i="0" dirty="0">
                          <a:solidFill>
                            <a:srgbClr val="192743"/>
                          </a:solidFill>
                          <a:latin typeface="Poppins"/>
                        </a:rPr>
                        <a:t> </a:t>
                      </a:r>
                      <a:r>
                        <a:rPr sz="788" b="0" i="0" dirty="0" err="1">
                          <a:solidFill>
                            <a:srgbClr val="192743"/>
                          </a:solidFill>
                          <a:latin typeface="Poppins"/>
                        </a:rPr>
                        <a:t>darauf</a:t>
                      </a:r>
                      <a:r>
                        <a:rPr sz="788" b="0" i="0" dirty="0">
                          <a:solidFill>
                            <a:srgbClr val="192743"/>
                          </a:solidFill>
                          <a:latin typeface="Poppins"/>
                        </a:rPr>
                        <a:t>, für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zu</a:t>
                      </a:r>
                      <a:r>
                        <a:rPr sz="788" b="0" i="0" dirty="0">
                          <a:solidFill>
                            <a:srgbClr val="192743"/>
                          </a:solidFill>
                          <a:latin typeface="Poppins"/>
                        </a:rPr>
                        <a:t> </a:t>
                      </a:r>
                      <a:r>
                        <a:rPr sz="788" b="0" i="0" dirty="0" err="1">
                          <a:solidFill>
                            <a:srgbClr val="192743"/>
                          </a:solidFill>
                          <a:latin typeface="Poppins"/>
                        </a:rPr>
                        <a:t>arbeiten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glaube</a:t>
                      </a:r>
                      <a:r>
                        <a:rPr sz="788" b="0" i="0" dirty="0">
                          <a:solidFill>
                            <a:srgbClr val="192743"/>
                          </a:solidFill>
                          <a:latin typeface="Poppins"/>
                        </a:rPr>
                        <a:t>, </a:t>
                      </a:r>
                      <a:r>
                        <a:rPr sz="788" b="0" i="0" dirty="0" err="1">
                          <a:solidFill>
                            <a:srgbClr val="192743"/>
                          </a:solidFill>
                          <a:latin typeface="Poppins"/>
                        </a:rPr>
                        <a:t>dass</a:t>
                      </a:r>
                      <a:r>
                        <a:rPr sz="788" b="0" i="0" dirty="0">
                          <a:solidFill>
                            <a:srgbClr val="192743"/>
                          </a:solidFill>
                          <a:latin typeface="Poppins"/>
                        </a:rPr>
                        <a:t> ich gut </a:t>
                      </a:r>
                      <a:r>
                        <a:rPr sz="788" b="0" i="0" dirty="0" err="1">
                          <a:solidFill>
                            <a:srgbClr val="192743"/>
                          </a:solidFill>
                          <a:latin typeface="Poppins"/>
                        </a:rPr>
                        <a:t>zu</a:t>
                      </a:r>
                      <a:r>
                        <a:rPr sz="788" b="0" i="0" dirty="0">
                          <a:solidFill>
                            <a:srgbClr val="192743"/>
                          </a:solidFill>
                          <a:latin typeface="Poppins"/>
                        </a:rPr>
                        <a:t> </a:t>
                      </a:r>
                      <a:r>
                        <a:rPr lang="en-US" sz="788" b="0" i="0" dirty="0">
                          <a:solidFill>
                            <a:srgbClr val="192743"/>
                          </a:solidFill>
                          <a:latin typeface="Poppins"/>
                        </a:rPr>
                        <a:t>Team IT</a:t>
                      </a:r>
                      <a:r>
                        <a:rPr sz="788" b="0" i="0" dirty="0">
                          <a:solidFill>
                            <a:srgbClr val="192743"/>
                          </a:solidFill>
                          <a:latin typeface="Poppins"/>
                        </a:rPr>
                        <a:t> passe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33" name="Group 32"/>
          <p:cNvGrpSpPr/>
          <p:nvPr/>
        </p:nvGrpSpPr>
        <p:grpSpPr>
          <a:xfrm rot="18900000">
            <a:off x="6580966" y="869042"/>
            <a:ext cx="1477328" cy="240030"/>
            <a:chOff x="6265862" y="716598"/>
            <a:chExt cx="1477328" cy="240030"/>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16598"/>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4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4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Veränderung gestalten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„Veränderung gestalten" zielt darauf ab, die Mitarbeitenden darüber zu informieren, welche Änderungen notwendig sind, weshalb diese durchgeführt werden und wie genau. Wenn ausreichend informiert wird, können Mitarbeitende auch Vertrauen entwickeln und Unterstützung für die notwendigen Änderungen zeigen.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72%</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74%</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75%</a:t>
            </a:r>
          </a:p>
        </p:txBody>
      </p:sp>
      <p:sp>
        <p:nvSpPr>
          <p:cNvPr id="18"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85%</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714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Mein Team </a:t>
                      </a:r>
                      <a:r>
                        <a:rPr sz="788" b="0" i="0" dirty="0" err="1">
                          <a:solidFill>
                            <a:srgbClr val="192743"/>
                          </a:solidFill>
                          <a:latin typeface="Poppins"/>
                        </a:rPr>
                        <a:t>weiß</a:t>
                      </a:r>
                      <a:r>
                        <a:rPr sz="788" b="0" i="0" dirty="0">
                          <a:solidFill>
                            <a:srgbClr val="192743"/>
                          </a:solidFill>
                          <a:latin typeface="Poppins"/>
                        </a:rPr>
                        <a:t>, was </a:t>
                      </a:r>
                      <a:r>
                        <a:rPr sz="788" b="0" i="0" dirty="0" err="1">
                          <a:solidFill>
                            <a:srgbClr val="192743"/>
                          </a:solidFill>
                          <a:latin typeface="Poppins"/>
                        </a:rPr>
                        <a:t>getan</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muss, um </a:t>
                      </a:r>
                      <a:r>
                        <a:rPr sz="788" b="0" i="0" dirty="0" err="1">
                          <a:solidFill>
                            <a:srgbClr val="192743"/>
                          </a:solidFill>
                          <a:latin typeface="Poppins"/>
                        </a:rPr>
                        <a:t>zum</a:t>
                      </a:r>
                      <a:r>
                        <a:rPr sz="788" b="0" i="0" dirty="0">
                          <a:solidFill>
                            <a:srgbClr val="192743"/>
                          </a:solidFill>
                          <a:latin typeface="Poppins"/>
                        </a:rPr>
                        <a:t> </a:t>
                      </a:r>
                      <a:r>
                        <a:rPr sz="788" b="0" i="0" dirty="0" err="1">
                          <a:solidFill>
                            <a:srgbClr val="192743"/>
                          </a:solidFill>
                          <a:latin typeface="Poppins"/>
                        </a:rPr>
                        <a:t>Erfolg</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beizutragen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Mein Team erarbeitet regelmäßig neue und gute Verbesserungsvorschläge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Ich habe Vertrauen in meine Führungskraft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Meine Führungskraft geht bei Veränderungen vorbildlich voran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identifiziere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mit</a:t>
                      </a:r>
                      <a:r>
                        <a:rPr sz="788" b="0" i="0" dirty="0">
                          <a:solidFill>
                            <a:srgbClr val="192743"/>
                          </a:solidFill>
                          <a:latin typeface="Poppins"/>
                        </a:rPr>
                        <a:t> der Kultur von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33" name="Group 32"/>
          <p:cNvGrpSpPr/>
          <p:nvPr/>
        </p:nvGrpSpPr>
        <p:grpSpPr>
          <a:xfrm rot="18900000">
            <a:off x="6580966" y="869042"/>
            <a:ext cx="1477328" cy="240030"/>
            <a:chOff x="6265862" y="716598"/>
            <a:chExt cx="1477328" cy="240030"/>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16598"/>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4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4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Mitarbeiter führen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„Mitarbeiter führen" bezieht sich darauf, ob die Mitarbeitenden die Erwartungen des Unternehmens kennen und ihre Expertise und ihre Fähigkeiten entsprechend anwenden können. Dazu gehören konstruktives Feedback und Anerkennung, um zu zeigen, dass gute Leistungen im Unternehmen anerkannt und belohnt werden.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69%</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714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Meine </a:t>
                      </a:r>
                      <a:r>
                        <a:rPr sz="788" b="0" i="0" dirty="0" err="1">
                          <a:solidFill>
                            <a:srgbClr val="192743"/>
                          </a:solidFill>
                          <a:latin typeface="Poppins"/>
                        </a:rPr>
                        <a:t>Fähigkeiten</a:t>
                      </a:r>
                      <a:r>
                        <a:rPr sz="788" b="0" i="0" dirty="0">
                          <a:solidFill>
                            <a:srgbClr val="192743"/>
                          </a:solidFill>
                          <a:latin typeface="Poppins"/>
                        </a:rPr>
                        <a:t> und </a:t>
                      </a:r>
                      <a:r>
                        <a:rPr sz="788" b="0" i="0" dirty="0" err="1">
                          <a:solidFill>
                            <a:srgbClr val="192743"/>
                          </a:solidFill>
                          <a:latin typeface="Poppins"/>
                        </a:rPr>
                        <a:t>Kenntnisse</a:t>
                      </a:r>
                      <a:r>
                        <a:rPr sz="788" b="0" i="0" dirty="0">
                          <a:solidFill>
                            <a:srgbClr val="192743"/>
                          </a:solidFill>
                          <a:latin typeface="Poppins"/>
                        </a:rPr>
                        <a:t> </a:t>
                      </a:r>
                      <a:r>
                        <a:rPr sz="788" b="0" i="0" dirty="0" err="1">
                          <a:solidFill>
                            <a:srgbClr val="192743"/>
                          </a:solidFill>
                          <a:latin typeface="Poppins"/>
                        </a:rPr>
                        <a:t>passen</a:t>
                      </a:r>
                      <a:r>
                        <a:rPr sz="788" b="0" i="0" dirty="0">
                          <a:solidFill>
                            <a:srgbClr val="192743"/>
                          </a:solidFill>
                          <a:latin typeface="Poppins"/>
                        </a:rPr>
                        <a:t> </a:t>
                      </a:r>
                      <a:r>
                        <a:rPr sz="788" b="0" i="0" dirty="0" err="1">
                          <a:solidFill>
                            <a:srgbClr val="192743"/>
                          </a:solidFill>
                          <a:latin typeface="Poppins"/>
                        </a:rPr>
                        <a:t>zu</a:t>
                      </a:r>
                      <a:r>
                        <a:rPr sz="788" b="0" i="0" dirty="0">
                          <a:solidFill>
                            <a:srgbClr val="192743"/>
                          </a:solidFill>
                          <a:latin typeface="Poppins"/>
                        </a:rPr>
                        <a:t> </a:t>
                      </a:r>
                      <a:r>
                        <a:rPr sz="788" b="0" i="0" dirty="0" err="1">
                          <a:solidFill>
                            <a:srgbClr val="192743"/>
                          </a:solidFill>
                          <a:latin typeface="Poppins"/>
                        </a:rPr>
                        <a:t>meinem</a:t>
                      </a:r>
                      <a:r>
                        <a:rPr sz="788" b="0" i="0" dirty="0">
                          <a:solidFill>
                            <a:srgbClr val="192743"/>
                          </a:solidFill>
                          <a:latin typeface="Poppins"/>
                        </a:rPr>
                        <a:t>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weiß, welche Arbeitsergebnisse von mir erwartet werden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Ich erhalte regelmäßig nützliches Feedback zu meiner Leistung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Bei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wird</a:t>
                      </a:r>
                      <a:r>
                        <a:rPr sz="788" b="0" i="0" dirty="0">
                          <a:solidFill>
                            <a:srgbClr val="192743"/>
                          </a:solidFill>
                          <a:latin typeface="Poppins"/>
                        </a:rPr>
                        <a:t> </a:t>
                      </a:r>
                      <a:r>
                        <a:rPr sz="788" b="0" i="0" dirty="0" err="1">
                          <a:solidFill>
                            <a:srgbClr val="192743"/>
                          </a:solidFill>
                          <a:latin typeface="Poppins"/>
                        </a:rPr>
                        <a:t>Leistung</a:t>
                      </a:r>
                      <a:r>
                        <a:rPr sz="788" b="0" i="0" dirty="0">
                          <a:solidFill>
                            <a:srgbClr val="192743"/>
                          </a:solidFill>
                          <a:latin typeface="Poppins"/>
                        </a:rPr>
                        <a:t> </a:t>
                      </a:r>
                      <a:r>
                        <a:rPr sz="788" b="0" i="0" dirty="0" err="1">
                          <a:solidFill>
                            <a:srgbClr val="192743"/>
                          </a:solidFill>
                          <a:latin typeface="Poppins"/>
                        </a:rPr>
                        <a:t>belohnt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Wenn ich gute Arbeit leiste, erhalte ich Lob und Anerkennung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33" name="Group 32"/>
          <p:cNvGrpSpPr/>
          <p:nvPr/>
        </p:nvGrpSpPr>
        <p:grpSpPr>
          <a:xfrm rot="18900000">
            <a:off x="6580966" y="869042"/>
            <a:ext cx="1477328" cy="240030"/>
            <a:chOff x="6265862" y="716598"/>
            <a:chExt cx="1477328" cy="240030"/>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16598"/>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4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4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Systeme managen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Gut verwaltete Systeme bieten Mitarbeitenden die notwendigen Arbeitsbedingungen, um die von ihnen erwartete Leistung zu erreichen. Dazu gehören entsprechende Arbeitsinstrumente, effektive Arbeitsprozesse, eine gute Zusammenarbeit auf verschiedenen Ebenen und Entwicklungsmöglichkeiten.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72%</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73%</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67%</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78%</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8117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Ich </a:t>
                      </a:r>
                      <a:r>
                        <a:rPr sz="788" b="0" i="0" dirty="0" err="1">
                          <a:solidFill>
                            <a:srgbClr val="192743"/>
                          </a:solidFill>
                          <a:latin typeface="Poppins"/>
                        </a:rPr>
                        <a:t>habe</a:t>
                      </a:r>
                      <a:r>
                        <a:rPr sz="788" b="0" i="0" dirty="0">
                          <a:solidFill>
                            <a:srgbClr val="192743"/>
                          </a:solidFill>
                          <a:latin typeface="Poppins"/>
                        </a:rPr>
                        <a:t> die </a:t>
                      </a:r>
                      <a:r>
                        <a:rPr sz="788" b="0" i="0" dirty="0" err="1">
                          <a:solidFill>
                            <a:srgbClr val="192743"/>
                          </a:solidFill>
                          <a:latin typeface="Poppins"/>
                        </a:rPr>
                        <a:t>Arbeitsmittel</a:t>
                      </a:r>
                      <a:r>
                        <a:rPr sz="788" b="0" i="0" dirty="0">
                          <a:solidFill>
                            <a:srgbClr val="192743"/>
                          </a:solidFill>
                          <a:latin typeface="Poppins"/>
                        </a:rPr>
                        <a:t>, die ich </a:t>
                      </a:r>
                      <a:r>
                        <a:rPr sz="788" b="0" i="0" dirty="0" err="1">
                          <a:solidFill>
                            <a:srgbClr val="192743"/>
                          </a:solidFill>
                          <a:latin typeface="Poppins"/>
                        </a:rPr>
                        <a:t>brauche</a:t>
                      </a:r>
                      <a:r>
                        <a:rPr sz="788" b="0" i="0" dirty="0">
                          <a:solidFill>
                            <a:srgbClr val="192743"/>
                          </a:solidFill>
                          <a:latin typeface="Poppins"/>
                        </a:rPr>
                        <a:t>, um </a:t>
                      </a:r>
                      <a:r>
                        <a:rPr sz="788" b="0" i="0" dirty="0" err="1">
                          <a:solidFill>
                            <a:srgbClr val="192743"/>
                          </a:solidFill>
                          <a:latin typeface="Poppins"/>
                        </a:rPr>
                        <a:t>gute</a:t>
                      </a:r>
                      <a:r>
                        <a:rPr sz="788" b="0" i="0" dirty="0">
                          <a:solidFill>
                            <a:srgbClr val="192743"/>
                          </a:solidFill>
                          <a:latin typeface="Poppins"/>
                        </a:rPr>
                        <a:t> Arbeit </a:t>
                      </a:r>
                      <a:r>
                        <a:rPr sz="788" b="0" i="0" dirty="0" err="1">
                          <a:solidFill>
                            <a:srgbClr val="192743"/>
                          </a:solidFill>
                          <a:latin typeface="Poppins"/>
                        </a:rPr>
                        <a:t>zu</a:t>
                      </a:r>
                      <a:r>
                        <a:rPr sz="788" b="0" i="0" dirty="0">
                          <a:solidFill>
                            <a:srgbClr val="192743"/>
                          </a:solidFill>
                          <a:latin typeface="Poppins"/>
                        </a:rPr>
                        <a:t> </a:t>
                      </a:r>
                      <a:r>
                        <a:rPr sz="788" b="0" i="0" dirty="0" err="1">
                          <a:solidFill>
                            <a:srgbClr val="192743"/>
                          </a:solidFill>
                          <a:latin typeface="Poppins"/>
                        </a:rPr>
                        <a:t>leisten</a:t>
                      </a:r>
                      <a:r>
                        <a:rPr sz="788" b="0" i="0" dirty="0">
                          <a:solidFill>
                            <a:srgbClr val="192743"/>
                          </a:solidFill>
                          <a:latin typeface="Poppins"/>
                        </a:rPr>
                        <a:t>  (</a:t>
                      </a:r>
                      <a:r>
                        <a:rPr sz="788" b="0" i="0" dirty="0" err="1">
                          <a:solidFill>
                            <a:srgbClr val="192743"/>
                          </a:solidFill>
                          <a:latin typeface="Poppins"/>
                        </a:rPr>
                        <a:t>z.B.</a:t>
                      </a:r>
                      <a:r>
                        <a:rPr sz="788" b="0" i="0" dirty="0">
                          <a:solidFill>
                            <a:srgbClr val="192743"/>
                          </a:solidFill>
                          <a:latin typeface="Poppins"/>
                        </a:rPr>
                        <a:t> </a:t>
                      </a:r>
                      <a:r>
                        <a:rPr sz="788" b="0" i="0" dirty="0" err="1">
                          <a:solidFill>
                            <a:srgbClr val="192743"/>
                          </a:solidFill>
                          <a:latin typeface="Poppins"/>
                        </a:rPr>
                        <a:t>Werkzeuge</a:t>
                      </a:r>
                      <a:r>
                        <a:rPr sz="788" b="0" i="0" dirty="0">
                          <a:solidFill>
                            <a:srgbClr val="192743"/>
                          </a:solidFill>
                          <a:latin typeface="Poppins"/>
                        </a:rPr>
                        <a:t>, </a:t>
                      </a:r>
                      <a:r>
                        <a:rPr sz="788" b="0" i="0" dirty="0" err="1">
                          <a:solidFill>
                            <a:srgbClr val="192743"/>
                          </a:solidFill>
                          <a:latin typeface="Poppins"/>
                        </a:rPr>
                        <a:t>Geräte</a:t>
                      </a:r>
                      <a:r>
                        <a:rPr sz="788" b="0" i="0" dirty="0">
                          <a:solidFill>
                            <a:srgbClr val="192743"/>
                          </a:solidFill>
                          <a:latin typeface="Poppins"/>
                        </a:rPr>
                        <a:t>, Software, </a:t>
                      </a:r>
                      <a:r>
                        <a:rPr sz="788" b="0" i="0" dirty="0" err="1">
                          <a:solidFill>
                            <a:srgbClr val="192743"/>
                          </a:solidFill>
                          <a:latin typeface="Poppins"/>
                        </a:rPr>
                        <a:t>Materialien</a:t>
                      </a:r>
                      <a:r>
                        <a:rPr sz="788" b="0" i="0" dirty="0">
                          <a:solidFill>
                            <a:srgbClr val="192743"/>
                          </a:solidFill>
                          <a:latin typeface="Poppins"/>
                        </a:rPr>
                        <a:t>, </a:t>
                      </a:r>
                      <a:r>
                        <a:rPr sz="788" b="0" i="0" dirty="0" err="1">
                          <a:solidFill>
                            <a:srgbClr val="192743"/>
                          </a:solidFill>
                          <a:latin typeface="Poppins"/>
                        </a:rPr>
                        <a:t>usw</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Wichtige Informationen sind für mich leicht zugänglich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In meinem Team arbeiten wir gut zusammen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Bei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sind</a:t>
                      </a:r>
                      <a:r>
                        <a:rPr sz="788" b="0" i="0" dirty="0">
                          <a:solidFill>
                            <a:srgbClr val="192743"/>
                          </a:solidFill>
                          <a:latin typeface="Poppins"/>
                        </a:rPr>
                        <a:t> die </a:t>
                      </a:r>
                      <a:r>
                        <a:rPr sz="788" b="0" i="0" dirty="0" err="1">
                          <a:solidFill>
                            <a:srgbClr val="192743"/>
                          </a:solidFill>
                          <a:latin typeface="Poppins"/>
                        </a:rPr>
                        <a:t>Arbeitsabläufe</a:t>
                      </a:r>
                      <a:r>
                        <a:rPr sz="788" b="0" i="0" dirty="0">
                          <a:solidFill>
                            <a:srgbClr val="192743"/>
                          </a:solidFill>
                          <a:latin typeface="Poppins"/>
                        </a:rPr>
                        <a:t> gut </a:t>
                      </a:r>
                      <a:r>
                        <a:rPr sz="788" b="0" i="0" dirty="0" err="1">
                          <a:solidFill>
                            <a:srgbClr val="192743"/>
                          </a:solidFill>
                          <a:latin typeface="Poppins"/>
                        </a:rPr>
                        <a:t>organisiert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Ich habe gute Möglichkeiten, mich beruflich und persönlich weiterzuentwickeln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33" name="Group 32"/>
          <p:cNvGrpSpPr/>
          <p:nvPr/>
        </p:nvGrpSpPr>
        <p:grpSpPr>
          <a:xfrm rot="18900000">
            <a:off x="6580966" y="869042"/>
            <a:ext cx="1477328" cy="240030"/>
            <a:chOff x="6265862" y="716598"/>
            <a:chExt cx="1477328" cy="240030"/>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16598"/>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4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4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29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Qualität des Leistungsumfeldes</a:t>
            </a:r>
          </a:p>
        </p:txBody>
      </p:sp>
      <p:sp>
        <p:nvSpPr>
          <p:cNvPr id="10" name="New shape"/>
          <p:cNvSpPr txBox="1"/>
          <p:nvPr/>
        </p:nvSpPr>
        <p:spPr>
          <a:xfrm>
            <a:off x="457200" y="857250"/>
            <a:ext cx="4457700" cy="426053"/>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Die Qualität des Leistungsumfelds bezieht sich auf die Möglichkeiten für Mitarbeitende, möglichst effizient und effektiv zu arbeiten. Ein Leistungsumfeld von guter Qualität bietet die richtigen Voraussetzungen für eine optimale Leistung.</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8"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23832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Ich </a:t>
                      </a:r>
                      <a:r>
                        <a:rPr sz="788" b="0" i="0" dirty="0" err="1">
                          <a:solidFill>
                            <a:srgbClr val="192743"/>
                          </a:solidFill>
                          <a:latin typeface="Poppins"/>
                        </a:rPr>
                        <a:t>habe</a:t>
                      </a:r>
                      <a:r>
                        <a:rPr sz="788" b="0" i="0" dirty="0">
                          <a:solidFill>
                            <a:srgbClr val="192743"/>
                          </a:solidFill>
                          <a:latin typeface="Poppins"/>
                        </a:rPr>
                        <a:t> die </a:t>
                      </a:r>
                      <a:r>
                        <a:rPr sz="788" b="0" i="0" dirty="0" err="1">
                          <a:solidFill>
                            <a:srgbClr val="192743"/>
                          </a:solidFill>
                          <a:latin typeface="Poppins"/>
                        </a:rPr>
                        <a:t>Arbeitsmittel</a:t>
                      </a:r>
                      <a:r>
                        <a:rPr sz="788" b="0" i="0" dirty="0">
                          <a:solidFill>
                            <a:srgbClr val="192743"/>
                          </a:solidFill>
                          <a:latin typeface="Poppins"/>
                        </a:rPr>
                        <a:t>, die ich </a:t>
                      </a:r>
                      <a:r>
                        <a:rPr sz="788" b="0" i="0" dirty="0" err="1">
                          <a:solidFill>
                            <a:srgbClr val="192743"/>
                          </a:solidFill>
                          <a:latin typeface="Poppins"/>
                        </a:rPr>
                        <a:t>brauche</a:t>
                      </a:r>
                      <a:r>
                        <a:rPr sz="788" b="0" i="0" dirty="0">
                          <a:solidFill>
                            <a:srgbClr val="192743"/>
                          </a:solidFill>
                          <a:latin typeface="Poppins"/>
                        </a:rPr>
                        <a:t>, um </a:t>
                      </a:r>
                      <a:r>
                        <a:rPr sz="788" b="0" i="0" dirty="0" err="1">
                          <a:solidFill>
                            <a:srgbClr val="192743"/>
                          </a:solidFill>
                          <a:latin typeface="Poppins"/>
                        </a:rPr>
                        <a:t>gute</a:t>
                      </a:r>
                      <a:r>
                        <a:rPr sz="788" b="0" i="0" dirty="0">
                          <a:solidFill>
                            <a:srgbClr val="192743"/>
                          </a:solidFill>
                          <a:latin typeface="Poppins"/>
                        </a:rPr>
                        <a:t> Arbeit </a:t>
                      </a:r>
                      <a:r>
                        <a:rPr sz="788" b="0" i="0" dirty="0" err="1">
                          <a:solidFill>
                            <a:srgbClr val="192743"/>
                          </a:solidFill>
                          <a:latin typeface="Poppins"/>
                        </a:rPr>
                        <a:t>zu</a:t>
                      </a:r>
                      <a:r>
                        <a:rPr sz="788" b="0" i="0" dirty="0">
                          <a:solidFill>
                            <a:srgbClr val="192743"/>
                          </a:solidFill>
                          <a:latin typeface="Poppins"/>
                        </a:rPr>
                        <a:t> </a:t>
                      </a:r>
                      <a:r>
                        <a:rPr sz="788" b="0" i="0" dirty="0" err="1">
                          <a:solidFill>
                            <a:srgbClr val="192743"/>
                          </a:solidFill>
                          <a:latin typeface="Poppins"/>
                        </a:rPr>
                        <a:t>leisten</a:t>
                      </a:r>
                      <a:r>
                        <a:rPr sz="788" b="0" i="0" dirty="0">
                          <a:solidFill>
                            <a:srgbClr val="192743"/>
                          </a:solidFill>
                          <a:latin typeface="Poppins"/>
                        </a:rPr>
                        <a:t>  (</a:t>
                      </a:r>
                      <a:r>
                        <a:rPr sz="788" b="0" i="0" dirty="0" err="1">
                          <a:solidFill>
                            <a:srgbClr val="192743"/>
                          </a:solidFill>
                          <a:latin typeface="Poppins"/>
                        </a:rPr>
                        <a:t>z.B.</a:t>
                      </a:r>
                      <a:r>
                        <a:rPr sz="788" b="0" i="0" dirty="0">
                          <a:solidFill>
                            <a:srgbClr val="192743"/>
                          </a:solidFill>
                          <a:latin typeface="Poppins"/>
                        </a:rPr>
                        <a:t> </a:t>
                      </a:r>
                      <a:r>
                        <a:rPr sz="788" b="0" i="0" dirty="0" err="1">
                          <a:solidFill>
                            <a:srgbClr val="192743"/>
                          </a:solidFill>
                          <a:latin typeface="Poppins"/>
                        </a:rPr>
                        <a:t>Werkzeuge</a:t>
                      </a:r>
                      <a:r>
                        <a:rPr sz="788" b="0" i="0" dirty="0">
                          <a:solidFill>
                            <a:srgbClr val="192743"/>
                          </a:solidFill>
                          <a:latin typeface="Poppins"/>
                        </a:rPr>
                        <a:t>, </a:t>
                      </a:r>
                      <a:r>
                        <a:rPr sz="788" b="0" i="0" dirty="0" err="1">
                          <a:solidFill>
                            <a:srgbClr val="192743"/>
                          </a:solidFill>
                          <a:latin typeface="Poppins"/>
                        </a:rPr>
                        <a:t>Geräte</a:t>
                      </a:r>
                      <a:r>
                        <a:rPr sz="788" b="0" i="0" dirty="0">
                          <a:solidFill>
                            <a:srgbClr val="192743"/>
                          </a:solidFill>
                          <a:latin typeface="Poppins"/>
                        </a:rPr>
                        <a:t>, Software, </a:t>
                      </a:r>
                      <a:r>
                        <a:rPr sz="788" b="0" i="0" dirty="0" err="1">
                          <a:solidFill>
                            <a:srgbClr val="192743"/>
                          </a:solidFill>
                          <a:latin typeface="Poppins"/>
                        </a:rPr>
                        <a:t>Materialien</a:t>
                      </a:r>
                      <a:r>
                        <a:rPr sz="788" b="0" i="0" dirty="0">
                          <a:solidFill>
                            <a:srgbClr val="192743"/>
                          </a:solidFill>
                          <a:latin typeface="Poppins"/>
                        </a:rPr>
                        <a:t>, </a:t>
                      </a:r>
                      <a:r>
                        <a:rPr sz="788" b="0" i="0" dirty="0" err="1">
                          <a:solidFill>
                            <a:srgbClr val="192743"/>
                          </a:solidFill>
                          <a:latin typeface="Poppins"/>
                        </a:rPr>
                        <a:t>usw</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Wichtige Informationen sind für mich leicht zugänglich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Meine Fähigkeiten und Kenntnisse passen zu meinem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Ich weiß, welche Arbeitsergebnisse von mir erwartet werden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Mein Team </a:t>
                      </a:r>
                      <a:r>
                        <a:rPr sz="788" b="0" i="0" dirty="0" err="1">
                          <a:solidFill>
                            <a:srgbClr val="192743"/>
                          </a:solidFill>
                          <a:latin typeface="Poppins"/>
                        </a:rPr>
                        <a:t>weiß</a:t>
                      </a:r>
                      <a:r>
                        <a:rPr sz="788" b="0" i="0" dirty="0">
                          <a:solidFill>
                            <a:srgbClr val="192743"/>
                          </a:solidFill>
                          <a:latin typeface="Poppins"/>
                        </a:rPr>
                        <a:t>, was </a:t>
                      </a:r>
                      <a:r>
                        <a:rPr sz="788" b="0" i="0" dirty="0" err="1">
                          <a:solidFill>
                            <a:srgbClr val="192743"/>
                          </a:solidFill>
                          <a:latin typeface="Poppins"/>
                        </a:rPr>
                        <a:t>getan</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muss, um </a:t>
                      </a:r>
                      <a:r>
                        <a:rPr sz="788" b="0" i="0" dirty="0" err="1">
                          <a:solidFill>
                            <a:srgbClr val="192743"/>
                          </a:solidFill>
                          <a:latin typeface="Poppins"/>
                        </a:rPr>
                        <a:t>zum</a:t>
                      </a:r>
                      <a:r>
                        <a:rPr sz="788" b="0" i="0" dirty="0">
                          <a:solidFill>
                            <a:srgbClr val="192743"/>
                          </a:solidFill>
                          <a:latin typeface="Poppins"/>
                        </a:rPr>
                        <a:t> </a:t>
                      </a:r>
                      <a:r>
                        <a:rPr sz="788" b="0" i="0" dirty="0" err="1">
                          <a:solidFill>
                            <a:srgbClr val="192743"/>
                          </a:solidFill>
                          <a:latin typeface="Poppins"/>
                        </a:rPr>
                        <a:t>Erfolg</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beizutragen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In meinem Team arbeiten wir gut zusammen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Mein Team erarbeitet regelmäßig neue und gute Verbesserungsvorschläge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33" name="Group 32"/>
          <p:cNvGrpSpPr/>
          <p:nvPr/>
        </p:nvGrpSpPr>
        <p:grpSpPr>
          <a:xfrm rot="18900000">
            <a:off x="6580966" y="869042"/>
            <a:ext cx="1477328" cy="240030"/>
            <a:chOff x="6265862" y="716598"/>
            <a:chExt cx="1477328" cy="240030"/>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16598"/>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4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4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Qualität des Leistungsumfeldes</a:t>
            </a:r>
          </a:p>
        </p:txBody>
      </p:sp>
      <p:sp>
        <p:nvSpPr>
          <p:cNvPr id="9"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1"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2"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3"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4"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5"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7"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0"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21"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22"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23"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4"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5"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26"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7"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8"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29" name="New Table"/>
          <p:cNvGraphicFramePr>
            <a:graphicFrameLocks noGrp="1"/>
          </p:cNvGraphicFramePr>
          <p:nvPr/>
        </p:nvGraphicFramePr>
        <p:xfrm>
          <a:off x="457200" y="2114550"/>
          <a:ext cx="7772400" cy="2286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Ich </a:t>
                      </a:r>
                      <a:r>
                        <a:rPr sz="788" b="0" i="0" dirty="0" err="1">
                          <a:solidFill>
                            <a:srgbClr val="192743"/>
                          </a:solidFill>
                          <a:latin typeface="Poppins"/>
                        </a:rPr>
                        <a:t>habe</a:t>
                      </a:r>
                      <a:r>
                        <a:rPr sz="788" b="0" i="0" dirty="0">
                          <a:solidFill>
                            <a:srgbClr val="192743"/>
                          </a:solidFill>
                          <a:latin typeface="Poppins"/>
                        </a:rPr>
                        <a:t> </a:t>
                      </a:r>
                      <a:r>
                        <a:rPr sz="788" b="0" i="0" dirty="0" err="1">
                          <a:solidFill>
                            <a:srgbClr val="192743"/>
                          </a:solidFill>
                          <a:latin typeface="Poppins"/>
                        </a:rPr>
                        <a:t>Vertrauen</a:t>
                      </a:r>
                      <a:r>
                        <a:rPr sz="788" b="0" i="0" dirty="0">
                          <a:solidFill>
                            <a:srgbClr val="192743"/>
                          </a:solidFill>
                          <a:latin typeface="Poppins"/>
                        </a:rPr>
                        <a:t> in </a:t>
                      </a:r>
                      <a:r>
                        <a:rPr sz="788" b="0" i="0" dirty="0" err="1">
                          <a:solidFill>
                            <a:srgbClr val="192743"/>
                          </a:solidFill>
                          <a:latin typeface="Poppins"/>
                        </a:rPr>
                        <a:t>meine</a:t>
                      </a:r>
                      <a:r>
                        <a:rPr sz="788" b="0" i="0" dirty="0">
                          <a:solidFill>
                            <a:srgbClr val="192743"/>
                          </a:solidFill>
                          <a:latin typeface="Poppins"/>
                        </a:rPr>
                        <a:t> </a:t>
                      </a:r>
                      <a:r>
                        <a:rPr sz="788" b="0" i="0" dirty="0" err="1">
                          <a:solidFill>
                            <a:srgbClr val="192743"/>
                          </a:solidFill>
                          <a:latin typeface="Poppins"/>
                        </a:rPr>
                        <a:t>Führungskraft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erhalte regelmäßig nützliches Feedback zu meiner Leistung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Meine Führungskraft geht bei Veränderungen vorbildlich voran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Ich bin </a:t>
                      </a:r>
                      <a:r>
                        <a:rPr sz="788" b="0" i="0" dirty="0" err="1">
                          <a:solidFill>
                            <a:srgbClr val="192743"/>
                          </a:solidFill>
                          <a:latin typeface="Poppins"/>
                        </a:rPr>
                        <a:t>überzeugt</a:t>
                      </a:r>
                      <a:r>
                        <a:rPr sz="788" b="0" i="0" dirty="0">
                          <a:solidFill>
                            <a:srgbClr val="192743"/>
                          </a:solidFill>
                          <a:latin typeface="Poppins"/>
                        </a:rPr>
                        <a:t> von den Zielen und der </a:t>
                      </a:r>
                      <a:r>
                        <a:rPr sz="788" b="0" i="0" dirty="0" err="1">
                          <a:solidFill>
                            <a:srgbClr val="192743"/>
                          </a:solidFill>
                          <a:latin typeface="Poppins"/>
                        </a:rPr>
                        <a:t>Strategie</a:t>
                      </a:r>
                      <a:r>
                        <a:rPr sz="788" b="0" i="0" dirty="0">
                          <a:solidFill>
                            <a:srgbClr val="192743"/>
                          </a:solidFill>
                          <a:latin typeface="Poppins"/>
                        </a:rPr>
                        <a:t> von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Die </a:t>
                      </a:r>
                      <a:r>
                        <a:rPr sz="788" b="0" i="0" dirty="0" err="1">
                          <a:solidFill>
                            <a:srgbClr val="192743"/>
                          </a:solidFill>
                          <a:latin typeface="Poppins"/>
                        </a:rPr>
                        <a:t>Zukunftsvision</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inspiriert</a:t>
                      </a:r>
                      <a:r>
                        <a:rPr sz="788" b="0" i="0" dirty="0">
                          <a:solidFill>
                            <a:srgbClr val="192743"/>
                          </a:solidFill>
                          <a:latin typeface="Poppins"/>
                        </a:rPr>
                        <a:t> </a:t>
                      </a:r>
                      <a:r>
                        <a:rPr sz="788" b="0" i="0" dirty="0" err="1">
                          <a:solidFill>
                            <a:srgbClr val="192743"/>
                          </a:solidFill>
                          <a:latin typeface="Poppins"/>
                        </a:rPr>
                        <a:t>mich</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dirty="0">
                          <a:solidFill>
                            <a:srgbClr val="192743"/>
                          </a:solidFill>
                          <a:latin typeface="Poppins"/>
                        </a:rPr>
                        <a:t>Bei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sind</a:t>
                      </a:r>
                      <a:r>
                        <a:rPr sz="788" b="0" i="0" dirty="0">
                          <a:solidFill>
                            <a:srgbClr val="192743"/>
                          </a:solidFill>
                          <a:latin typeface="Poppins"/>
                        </a:rPr>
                        <a:t> die </a:t>
                      </a:r>
                      <a:r>
                        <a:rPr sz="788" b="0" i="0" dirty="0" err="1">
                          <a:solidFill>
                            <a:srgbClr val="192743"/>
                          </a:solidFill>
                          <a:latin typeface="Poppins"/>
                        </a:rPr>
                        <a:t>Arbeitsabläufe</a:t>
                      </a:r>
                      <a:r>
                        <a:rPr sz="788" b="0" i="0" dirty="0">
                          <a:solidFill>
                            <a:srgbClr val="192743"/>
                          </a:solidFill>
                          <a:latin typeface="Poppins"/>
                        </a:rPr>
                        <a:t> gut </a:t>
                      </a:r>
                      <a:r>
                        <a:rPr sz="788" b="0" i="0" dirty="0" err="1">
                          <a:solidFill>
                            <a:srgbClr val="192743"/>
                          </a:solidFill>
                          <a:latin typeface="Poppins"/>
                        </a:rPr>
                        <a:t>organisiert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identifiziere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mit</a:t>
                      </a:r>
                      <a:r>
                        <a:rPr sz="788" b="0" i="0" dirty="0">
                          <a:solidFill>
                            <a:srgbClr val="192743"/>
                          </a:solidFill>
                          <a:latin typeface="Poppins"/>
                        </a:rPr>
                        <a:t> der Kultur von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30" name="Group 29"/>
          <p:cNvGrpSpPr/>
          <p:nvPr/>
        </p:nvGrpSpPr>
        <p:grpSpPr>
          <a:xfrm rot="18900000">
            <a:off x="5134921" y="809096"/>
            <a:ext cx="1471613" cy="240650"/>
            <a:chOff x="4722812" y="750887"/>
            <a:chExt cx="1471613" cy="240650"/>
          </a:xfrm>
        </p:grpSpPr>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4722812" y="813752"/>
              <a:ext cx="114300" cy="137160"/>
            </a:xfrm>
            <a:prstGeom prst="rect">
              <a:avLst/>
            </a:prstGeom>
          </p:spPr>
        </p:pic>
        <p:sp>
          <p:nvSpPr>
            <p:cNvPr id="32" name="New shape"/>
            <p:cNvSpPr txBox="1"/>
            <p:nvPr/>
          </p:nvSpPr>
          <p:spPr>
            <a:xfrm>
              <a:off x="4908550" y="750887"/>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33" name="New shape"/>
            <p:cNvSpPr txBox="1"/>
            <p:nvPr/>
          </p:nvSpPr>
          <p:spPr>
            <a:xfrm>
              <a:off x="4908550" y="870285"/>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34" name="Group 33"/>
          <p:cNvGrpSpPr/>
          <p:nvPr/>
        </p:nvGrpSpPr>
        <p:grpSpPr>
          <a:xfrm rot="18900000">
            <a:off x="5612274" y="886187"/>
            <a:ext cx="1477327" cy="120015"/>
            <a:chOff x="5237162" y="733743"/>
            <a:chExt cx="1477327" cy="120015"/>
          </a:xfrm>
        </p:grpSpPr>
        <p:pic>
          <p:nvPicPr>
            <p:cNvPr id="35" name="New picture"/>
            <p:cNvPicPr/>
            <p:nvPr/>
          </p:nvPicPr>
          <p:blipFill>
            <a:blip>
              <a:extLst>
                <a:ext uri="{96DAC541-7B7A-43D3-8B79-37D633B846F1}">
                  <asvg:svgBlip xmlns:asvg="http://schemas.microsoft.com/office/drawing/2016/SVG/main" r:embed="rId5"/>
                </a:ext>
              </a:extLst>
            </a:blip>
            <a:stretch>
              <a:fillRect/>
            </a:stretch>
          </p:blipFill>
          <p:spPr>
            <a:xfrm>
              <a:off x="5237162" y="733743"/>
              <a:ext cx="120015" cy="120015"/>
            </a:xfrm>
            <a:prstGeom prst="rect">
              <a:avLst/>
            </a:prstGeom>
          </p:spPr>
        </p:pic>
        <p:sp>
          <p:nvSpPr>
            <p:cNvPr id="36" name="New shape"/>
            <p:cNvSpPr txBox="1"/>
            <p:nvPr/>
          </p:nvSpPr>
          <p:spPr>
            <a:xfrm>
              <a:off x="54286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7" name="Group 36"/>
          <p:cNvGrpSpPr/>
          <p:nvPr/>
        </p:nvGrpSpPr>
        <p:grpSpPr>
          <a:xfrm rot="18900000">
            <a:off x="6126624" y="886187"/>
            <a:ext cx="1477328" cy="120015"/>
            <a:chOff x="5751512" y="733743"/>
            <a:chExt cx="1477328" cy="120015"/>
          </a:xfrm>
        </p:grpSpPr>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51512" y="733743"/>
              <a:ext cx="120015" cy="120015"/>
            </a:xfrm>
            <a:prstGeom prst="rect">
              <a:avLst/>
            </a:prstGeom>
          </p:spPr>
        </p:pic>
        <p:sp>
          <p:nvSpPr>
            <p:cNvPr id="39" name="New shape"/>
            <p:cNvSpPr txBox="1"/>
            <p:nvPr/>
          </p:nvSpPr>
          <p:spPr>
            <a:xfrm>
              <a:off x="5942966"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40" name="Group 39"/>
          <p:cNvGrpSpPr/>
          <p:nvPr/>
        </p:nvGrpSpPr>
        <p:grpSpPr>
          <a:xfrm rot="18900000">
            <a:off x="6580966" y="826180"/>
            <a:ext cx="1477328" cy="240030"/>
            <a:chOff x="6265862" y="673735"/>
            <a:chExt cx="1477328" cy="240030"/>
          </a:xfrm>
        </p:grpSpPr>
        <p:pic>
          <p:nvPicPr>
            <p:cNvPr id="41" name="New picture"/>
            <p:cNvPicPr/>
            <p:nvPr/>
          </p:nvPicPr>
          <p:blipFill>
            <a:blip>
              <a:extLst>
                <a:ext uri="{96DAC541-7B7A-43D3-8B79-37D633B846F1}">
                  <asvg:svgBlip xmlns:asvg="http://schemas.microsoft.com/office/drawing/2016/SVG/main" r:embed="rId7"/>
                </a:ext>
              </a:extLst>
            </a:blip>
            <a:stretch>
              <a:fillRect/>
            </a:stretch>
          </p:blipFill>
          <p:spPr>
            <a:xfrm>
              <a:off x="6265862" y="733743"/>
              <a:ext cx="120015" cy="120015"/>
            </a:xfrm>
            <a:prstGeom prst="rect">
              <a:avLst/>
            </a:prstGeom>
          </p:spPr>
        </p:pic>
        <p:sp>
          <p:nvSpPr>
            <p:cNvPr id="42" name="New shape"/>
            <p:cNvSpPr txBox="1"/>
            <p:nvPr/>
          </p:nvSpPr>
          <p:spPr>
            <a:xfrm>
              <a:off x="6457315" y="673735"/>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43" name="Group 42"/>
          <p:cNvGrpSpPr/>
          <p:nvPr/>
        </p:nvGrpSpPr>
        <p:grpSpPr>
          <a:xfrm rot="18900000">
            <a:off x="7155324" y="886187"/>
            <a:ext cx="1477327" cy="120015"/>
            <a:chOff x="6780212" y="733743"/>
            <a:chExt cx="1477327" cy="120015"/>
          </a:xfrm>
        </p:grpSpPr>
        <p:pic>
          <p:nvPicPr>
            <p:cNvPr id="44" name="New picture"/>
            <p:cNvPicPr/>
            <p:nvPr/>
          </p:nvPicPr>
          <p:blipFill>
            <a:blip>
              <a:extLst>
                <a:ext uri="{96DAC541-7B7A-43D3-8B79-37D633B846F1}">
                  <asvg:svgBlip xmlns:asvg="http://schemas.microsoft.com/office/drawing/2016/SVG/main" r:embed="rId6"/>
                </a:ext>
              </a:extLst>
            </a:blip>
            <a:stretch>
              <a:fillRect/>
            </a:stretch>
          </p:blipFill>
          <p:spPr>
            <a:xfrm>
              <a:off x="6780212" y="733743"/>
              <a:ext cx="120015" cy="120015"/>
            </a:xfrm>
            <a:prstGeom prst="rect">
              <a:avLst/>
            </a:prstGeom>
          </p:spPr>
        </p:pic>
        <p:sp>
          <p:nvSpPr>
            <p:cNvPr id="45" name="New shape"/>
            <p:cNvSpPr txBox="1"/>
            <p:nvPr/>
          </p:nvSpPr>
          <p:spPr>
            <a:xfrm>
              <a:off x="697166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46" name="Group 45"/>
          <p:cNvGrpSpPr/>
          <p:nvPr/>
        </p:nvGrpSpPr>
        <p:grpSpPr>
          <a:xfrm rot="18900000">
            <a:off x="7669674" y="886187"/>
            <a:ext cx="1477327" cy="120015"/>
            <a:chOff x="7294562" y="733743"/>
            <a:chExt cx="1477327" cy="120015"/>
          </a:xfrm>
        </p:grpSpPr>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7294562" y="733743"/>
              <a:ext cx="120015" cy="120015"/>
            </a:xfrm>
            <a:prstGeom prst="rect">
              <a:avLst/>
            </a:prstGeom>
          </p:spPr>
        </p:pic>
        <p:sp>
          <p:nvSpPr>
            <p:cNvPr id="48" name="New shape"/>
            <p:cNvSpPr txBox="1"/>
            <p:nvPr/>
          </p:nvSpPr>
          <p:spPr>
            <a:xfrm>
              <a:off x="74860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Qualität des Leistungsumfeldes</a:t>
            </a:r>
          </a:p>
        </p:txBody>
      </p:sp>
      <p:sp>
        <p:nvSpPr>
          <p:cNvPr id="9"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1"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2"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72%</a:t>
            </a:r>
          </a:p>
        </p:txBody>
      </p:sp>
      <p:sp>
        <p:nvSpPr>
          <p:cNvPr id="13"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4"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5"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71%</a:t>
            </a:r>
          </a:p>
        </p:txBody>
      </p:sp>
      <p:sp>
        <p:nvSpPr>
          <p:cNvPr id="16" name="New shape"/>
          <p:cNvSpPr txBox="1"/>
          <p:nvPr/>
        </p:nvSpPr>
        <p:spPr>
          <a:xfrm>
            <a:off x="77152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80%</a:t>
            </a:r>
          </a:p>
        </p:txBody>
      </p:sp>
      <p:sp>
        <p:nvSpPr>
          <p:cNvPr id="17"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0"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21"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22"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23"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4"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5"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26"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27"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28"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29" name="New Table"/>
          <p:cNvGraphicFramePr>
            <a:graphicFrameLocks noGrp="1"/>
          </p:cNvGraphicFramePr>
          <p:nvPr/>
        </p:nvGraphicFramePr>
        <p:xfrm>
          <a:off x="457200" y="2114550"/>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err="1">
                          <a:solidFill>
                            <a:srgbClr val="192743"/>
                          </a:solidFill>
                          <a:latin typeface="Poppins"/>
                        </a:rPr>
                        <a:t>Innerhalb</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die </a:t>
                      </a:r>
                      <a:r>
                        <a:rPr sz="788" b="0" i="0" dirty="0" err="1">
                          <a:solidFill>
                            <a:srgbClr val="192743"/>
                          </a:solidFill>
                          <a:latin typeface="Poppins"/>
                        </a:rPr>
                        <a:t>Mitarbeitenden</a:t>
                      </a:r>
                      <a:r>
                        <a:rPr sz="788" b="0" i="0" dirty="0">
                          <a:solidFill>
                            <a:srgbClr val="192743"/>
                          </a:solidFill>
                          <a:latin typeface="Poppins"/>
                        </a:rPr>
                        <a:t> fair </a:t>
                      </a:r>
                      <a:r>
                        <a:rPr sz="788" b="0" i="0" dirty="0" err="1">
                          <a:solidFill>
                            <a:srgbClr val="192743"/>
                          </a:solidFill>
                          <a:latin typeface="Poppins"/>
                        </a:rPr>
                        <a:t>behandelt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Bei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wird</a:t>
                      </a:r>
                      <a:r>
                        <a:rPr sz="788" b="0" i="0" dirty="0">
                          <a:solidFill>
                            <a:srgbClr val="192743"/>
                          </a:solidFill>
                          <a:latin typeface="Poppins"/>
                        </a:rPr>
                        <a:t> </a:t>
                      </a:r>
                      <a:r>
                        <a:rPr sz="788" b="0" i="0" dirty="0" err="1">
                          <a:solidFill>
                            <a:srgbClr val="192743"/>
                          </a:solidFill>
                          <a:latin typeface="Poppins"/>
                        </a:rPr>
                        <a:t>Leistung</a:t>
                      </a:r>
                      <a:r>
                        <a:rPr sz="788" b="0" i="0" dirty="0">
                          <a:solidFill>
                            <a:srgbClr val="192743"/>
                          </a:solidFill>
                          <a:latin typeface="Poppins"/>
                        </a:rPr>
                        <a:t> </a:t>
                      </a:r>
                      <a:r>
                        <a:rPr sz="788" b="0" i="0" dirty="0" err="1">
                          <a:solidFill>
                            <a:srgbClr val="192743"/>
                          </a:solidFill>
                          <a:latin typeface="Poppins"/>
                        </a:rPr>
                        <a:t>belohnt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Wenn ich gute Arbeit leiste, erhalte ich Lob und Anerkennung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Ich habe gute Möglichkeiten, mich beruflich und persönlich weiterzuentwickeln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30" name="Group 29"/>
          <p:cNvGrpSpPr/>
          <p:nvPr/>
        </p:nvGrpSpPr>
        <p:grpSpPr>
          <a:xfrm rot="18900000">
            <a:off x="5134921" y="809096"/>
            <a:ext cx="1471613" cy="240650"/>
            <a:chOff x="4722812" y="750887"/>
            <a:chExt cx="1471613" cy="240650"/>
          </a:xfrm>
        </p:grpSpPr>
        <p:pic>
          <p:nvPicPr>
            <p:cNvPr id="31" name="New picture"/>
            <p:cNvPicPr/>
            <p:nvPr/>
          </p:nvPicPr>
          <p:blipFill>
            <a:blip>
              <a:extLst>
                <a:ext uri="{96DAC541-7B7A-43D3-8B79-37D633B846F1}">
                  <asvg:svgBlip xmlns:asvg="http://schemas.microsoft.com/office/drawing/2016/SVG/main" r:embed="rId4"/>
                </a:ext>
              </a:extLst>
            </a:blip>
            <a:stretch>
              <a:fillRect/>
            </a:stretch>
          </p:blipFill>
          <p:spPr>
            <a:xfrm>
              <a:off x="4722812" y="813752"/>
              <a:ext cx="114300" cy="137160"/>
            </a:xfrm>
            <a:prstGeom prst="rect">
              <a:avLst/>
            </a:prstGeom>
          </p:spPr>
        </p:pic>
        <p:sp>
          <p:nvSpPr>
            <p:cNvPr id="32" name="New shape"/>
            <p:cNvSpPr txBox="1"/>
            <p:nvPr/>
          </p:nvSpPr>
          <p:spPr>
            <a:xfrm>
              <a:off x="4908550" y="750887"/>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33" name="New shape"/>
            <p:cNvSpPr txBox="1"/>
            <p:nvPr/>
          </p:nvSpPr>
          <p:spPr>
            <a:xfrm>
              <a:off x="4908550" y="870285"/>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34" name="Group 33"/>
          <p:cNvGrpSpPr/>
          <p:nvPr/>
        </p:nvGrpSpPr>
        <p:grpSpPr>
          <a:xfrm rot="18900000">
            <a:off x="5612274" y="886187"/>
            <a:ext cx="1477327" cy="120015"/>
            <a:chOff x="5237162" y="733743"/>
            <a:chExt cx="1477327" cy="120015"/>
          </a:xfrm>
        </p:grpSpPr>
        <p:pic>
          <p:nvPicPr>
            <p:cNvPr id="35" name="New picture"/>
            <p:cNvPicPr/>
            <p:nvPr/>
          </p:nvPicPr>
          <p:blipFill>
            <a:blip>
              <a:extLst>
                <a:ext uri="{96DAC541-7B7A-43D3-8B79-37D633B846F1}">
                  <asvg:svgBlip xmlns:asvg="http://schemas.microsoft.com/office/drawing/2016/SVG/main" r:embed="rId5"/>
                </a:ext>
              </a:extLst>
            </a:blip>
            <a:stretch>
              <a:fillRect/>
            </a:stretch>
          </p:blipFill>
          <p:spPr>
            <a:xfrm>
              <a:off x="5237162" y="733743"/>
              <a:ext cx="120015" cy="120015"/>
            </a:xfrm>
            <a:prstGeom prst="rect">
              <a:avLst/>
            </a:prstGeom>
          </p:spPr>
        </p:pic>
        <p:sp>
          <p:nvSpPr>
            <p:cNvPr id="36" name="New shape"/>
            <p:cNvSpPr txBox="1"/>
            <p:nvPr/>
          </p:nvSpPr>
          <p:spPr>
            <a:xfrm>
              <a:off x="54286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7" name="Group 36"/>
          <p:cNvGrpSpPr/>
          <p:nvPr/>
        </p:nvGrpSpPr>
        <p:grpSpPr>
          <a:xfrm rot="18900000">
            <a:off x="6126624" y="886187"/>
            <a:ext cx="1477328" cy="120015"/>
            <a:chOff x="5751512" y="733743"/>
            <a:chExt cx="1477328" cy="120015"/>
          </a:xfrm>
        </p:grpSpPr>
        <p:pic>
          <p:nvPicPr>
            <p:cNvPr id="38" name="New picture"/>
            <p:cNvPicPr/>
            <p:nvPr/>
          </p:nvPicPr>
          <p:blipFill>
            <a:blip>
              <a:extLst>
                <a:ext uri="{96DAC541-7B7A-43D3-8B79-37D633B846F1}">
                  <asvg:svgBlip xmlns:asvg="http://schemas.microsoft.com/office/drawing/2016/SVG/main" r:embed="rId6"/>
                </a:ext>
              </a:extLst>
            </a:blip>
            <a:stretch>
              <a:fillRect/>
            </a:stretch>
          </p:blipFill>
          <p:spPr>
            <a:xfrm>
              <a:off x="5751512" y="733743"/>
              <a:ext cx="120015" cy="120015"/>
            </a:xfrm>
            <a:prstGeom prst="rect">
              <a:avLst/>
            </a:prstGeom>
          </p:spPr>
        </p:pic>
        <p:sp>
          <p:nvSpPr>
            <p:cNvPr id="39" name="New shape"/>
            <p:cNvSpPr txBox="1"/>
            <p:nvPr/>
          </p:nvSpPr>
          <p:spPr>
            <a:xfrm>
              <a:off x="5942966"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40" name="Group 39"/>
          <p:cNvGrpSpPr/>
          <p:nvPr/>
        </p:nvGrpSpPr>
        <p:grpSpPr>
          <a:xfrm rot="18900000">
            <a:off x="6580966" y="826180"/>
            <a:ext cx="1477328" cy="240030"/>
            <a:chOff x="6265862" y="673735"/>
            <a:chExt cx="1477328" cy="240030"/>
          </a:xfrm>
        </p:grpSpPr>
        <p:pic>
          <p:nvPicPr>
            <p:cNvPr id="41" name="New picture"/>
            <p:cNvPicPr/>
            <p:nvPr/>
          </p:nvPicPr>
          <p:blipFill>
            <a:blip>
              <a:extLst>
                <a:ext uri="{96DAC541-7B7A-43D3-8B79-37D633B846F1}">
                  <asvg:svgBlip xmlns:asvg="http://schemas.microsoft.com/office/drawing/2016/SVG/main" r:embed="rId7"/>
                </a:ext>
              </a:extLst>
            </a:blip>
            <a:stretch>
              <a:fillRect/>
            </a:stretch>
          </p:blipFill>
          <p:spPr>
            <a:xfrm>
              <a:off x="6265862" y="733743"/>
              <a:ext cx="120015" cy="120015"/>
            </a:xfrm>
            <a:prstGeom prst="rect">
              <a:avLst/>
            </a:prstGeom>
          </p:spPr>
        </p:pic>
        <p:sp>
          <p:nvSpPr>
            <p:cNvPr id="42" name="New shape"/>
            <p:cNvSpPr txBox="1"/>
            <p:nvPr/>
          </p:nvSpPr>
          <p:spPr>
            <a:xfrm>
              <a:off x="6457315" y="673735"/>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43" name="Group 42"/>
          <p:cNvGrpSpPr/>
          <p:nvPr/>
        </p:nvGrpSpPr>
        <p:grpSpPr>
          <a:xfrm rot="18900000">
            <a:off x="7155324" y="886187"/>
            <a:ext cx="1477327" cy="120015"/>
            <a:chOff x="6780212" y="733743"/>
            <a:chExt cx="1477327" cy="120015"/>
          </a:xfrm>
        </p:grpSpPr>
        <p:pic>
          <p:nvPicPr>
            <p:cNvPr id="44" name="New picture"/>
            <p:cNvPicPr/>
            <p:nvPr/>
          </p:nvPicPr>
          <p:blipFill>
            <a:blip>
              <a:extLst>
                <a:ext uri="{96DAC541-7B7A-43D3-8B79-37D633B846F1}">
                  <asvg:svgBlip xmlns:asvg="http://schemas.microsoft.com/office/drawing/2016/SVG/main" r:embed="rId6"/>
                </a:ext>
              </a:extLst>
            </a:blip>
            <a:stretch>
              <a:fillRect/>
            </a:stretch>
          </p:blipFill>
          <p:spPr>
            <a:xfrm>
              <a:off x="6780212" y="733743"/>
              <a:ext cx="120015" cy="120015"/>
            </a:xfrm>
            <a:prstGeom prst="rect">
              <a:avLst/>
            </a:prstGeom>
          </p:spPr>
        </p:pic>
        <p:sp>
          <p:nvSpPr>
            <p:cNvPr id="45" name="New shape"/>
            <p:cNvSpPr txBox="1"/>
            <p:nvPr/>
          </p:nvSpPr>
          <p:spPr>
            <a:xfrm>
              <a:off x="697166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46" name="Group 45"/>
          <p:cNvGrpSpPr/>
          <p:nvPr/>
        </p:nvGrpSpPr>
        <p:grpSpPr>
          <a:xfrm rot="18900000">
            <a:off x="7669674" y="886187"/>
            <a:ext cx="1477327" cy="120015"/>
            <a:chOff x="7294562" y="733743"/>
            <a:chExt cx="1477327" cy="120015"/>
          </a:xfrm>
        </p:grpSpPr>
        <p:pic>
          <p:nvPicPr>
            <p:cNvPr id="47" name="New picture"/>
            <p:cNvPicPr/>
            <p:nvPr/>
          </p:nvPicPr>
          <p:blipFill>
            <a:blip>
              <a:extLst>
                <a:ext uri="{96DAC541-7B7A-43D3-8B79-37D633B846F1}">
                  <asvg:svgBlip xmlns:asvg="http://schemas.microsoft.com/office/drawing/2016/SVG/main" r:embed="rId8"/>
                </a:ext>
              </a:extLst>
            </a:blip>
            <a:stretch>
              <a:fillRect/>
            </a:stretch>
          </p:blipFill>
          <p:spPr>
            <a:xfrm>
              <a:off x="7294562" y="733743"/>
              <a:ext cx="120015" cy="120015"/>
            </a:xfrm>
            <a:prstGeom prst="rect">
              <a:avLst/>
            </a:prstGeom>
          </p:spPr>
        </p:pic>
        <p:sp>
          <p:nvSpPr>
            <p:cNvPr id="48" name="New shape"/>
            <p:cNvSpPr txBox="1"/>
            <p:nvPr/>
          </p:nvSpPr>
          <p:spPr>
            <a:xfrm>
              <a:off x="7486014" y="733743"/>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 name="New picture"/>
          <p:cNvPicPr/>
          <p:nvPr/>
        </p:nvPicPr>
        <p:blipFill>
          <a:blip>
            <a:extLst>
              <a:ext uri="{96DAC541-7B7A-43D3-8B79-37D633B846F1}">
                <asvg:svgBlip xmlns:asvg="http://schemas.microsoft.com/office/drawing/2016/SVG/main" r:embed="rId2"/>
              </a:ext>
            </a:extLst>
          </a:blip>
          <a:stretch>
            <a:fillRect/>
          </a:stretch>
        </p:blipFill>
        <p:spPr>
          <a:xfrm>
            <a:off x="8829675" y="147661"/>
            <a:ext cx="217884" cy="217884"/>
          </a:xfrm>
          <a:prstGeom prst="rect">
            <a:avLst/>
          </a:prstGeom>
        </p:spPr>
      </p:pic>
      <p:sp>
        <p:nvSpPr>
          <p:cNvPr id="5"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7" name="New shape"/>
          <p:cNvSpPr txBox="1"/>
          <p:nvPr/>
        </p:nvSpPr>
        <p:spPr>
          <a:xfrm flipV="1">
            <a:off x="0" y="0"/>
            <a:ext cx="507111"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Indizes</a:t>
            </a:r>
          </a:p>
        </p:txBody>
      </p:sp>
      <p:sp>
        <p:nvSpPr>
          <p:cNvPr id="8" name="New shape"/>
          <p:cNvSpPr txBox="1"/>
          <p:nvPr/>
        </p:nvSpPr>
        <p:spPr>
          <a:xfrm>
            <a:off x="457200" y="457200"/>
            <a:ext cx="77724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Richtung geben</a:t>
            </a:r>
          </a:p>
        </p:txBody>
      </p:sp>
      <p:sp>
        <p:nvSpPr>
          <p:cNvPr id="10" name="New shape"/>
          <p:cNvSpPr txBox="1"/>
          <p:nvPr/>
        </p:nvSpPr>
        <p:spPr>
          <a:xfrm>
            <a:off x="457200" y="857250"/>
            <a:ext cx="4457700" cy="570071"/>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20000"/>
              </a:lnSpc>
            </a:pPr>
            <a:r>
              <a:rPr sz="788" b="0" i="0">
                <a:solidFill>
                  <a:srgbClr val="546178"/>
                </a:solidFill>
                <a:latin typeface="Poppins"/>
              </a:rPr>
              <a:t>„Richtung geben" zielt darauf ab, Mitarbeitende für die Vision des Unternehmens zu begeistern, mit der Strategie des Unternehmens vertraut zu machen und von der Strategie überzeugt zu sein. Weiterhin sollen sich Mitarbeitende innerhalb des gesamten „Ökosystems“ ihres Unternehmens fair und gerecht behandelt zu fühlen.</a:t>
            </a:r>
          </a:p>
        </p:txBody>
      </p:sp>
      <p:sp>
        <p:nvSpPr>
          <p:cNvPr id="11" name="New shape"/>
          <p:cNvSpPr/>
          <p:nvPr/>
        </p:nvSpPr>
        <p:spPr>
          <a:xfrm>
            <a:off x="0" y="1657350"/>
            <a:ext cx="4572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New shape"/>
          <p:cNvSpPr txBox="1"/>
          <p:nvPr/>
        </p:nvSpPr>
        <p:spPr>
          <a:xfrm>
            <a:off x="457200" y="1657350"/>
            <a:ext cx="46863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l">
              <a:lnSpc>
                <a:spcPct val="100000"/>
              </a:lnSpc>
            </a:pPr>
            <a:r>
              <a:rPr sz="1125" b="1" i="0">
                <a:solidFill>
                  <a:srgbClr val="1C55C7"/>
                </a:solidFill>
                <a:latin typeface="Poppins"/>
              </a:rPr>
              <a:t>Index-Ergebnis</a:t>
            </a:r>
          </a:p>
        </p:txBody>
      </p:sp>
      <p:sp>
        <p:nvSpPr>
          <p:cNvPr id="13" name="New shape"/>
          <p:cNvSpPr txBox="1"/>
          <p:nvPr/>
        </p:nvSpPr>
        <p:spPr>
          <a:xfrm>
            <a:off x="5143500" y="1657350"/>
            <a:ext cx="514350" cy="342900"/>
          </a:xfrm>
          <a:prstGeom prst="rect">
            <a:avLst/>
          </a:prstGeom>
          <a:solidFill>
            <a:srgbClr val="1C55C7"/>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FFFFFF"/>
                </a:solidFill>
                <a:latin typeface="Poppins"/>
              </a:rPr>
              <a:t>71%</a:t>
            </a:r>
          </a:p>
        </p:txBody>
      </p:sp>
      <p:sp>
        <p:nvSpPr>
          <p:cNvPr id="14" name="New shape"/>
          <p:cNvSpPr txBox="1"/>
          <p:nvPr/>
        </p:nvSpPr>
        <p:spPr>
          <a:xfrm>
            <a:off x="56578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5" name="New shape"/>
          <p:cNvSpPr txBox="1"/>
          <p:nvPr/>
        </p:nvSpPr>
        <p:spPr>
          <a:xfrm>
            <a:off x="61722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68%</a:t>
            </a:r>
          </a:p>
        </p:txBody>
      </p:sp>
      <p:sp>
        <p:nvSpPr>
          <p:cNvPr id="16" name="New shape"/>
          <p:cNvSpPr txBox="1"/>
          <p:nvPr/>
        </p:nvSpPr>
        <p:spPr>
          <a:xfrm>
            <a:off x="668655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a:t>
            </a:r>
          </a:p>
        </p:txBody>
      </p:sp>
      <p:sp>
        <p:nvSpPr>
          <p:cNvPr id="17" name="New shape"/>
          <p:cNvSpPr txBox="1"/>
          <p:nvPr/>
        </p:nvSpPr>
        <p:spPr>
          <a:xfrm>
            <a:off x="7200900" y="1657350"/>
            <a:ext cx="51435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70%</a:t>
            </a:r>
          </a:p>
        </p:txBody>
      </p:sp>
      <p:sp>
        <p:nvSpPr>
          <p:cNvPr id="18" name="New shape"/>
          <p:cNvSpPr txBox="1"/>
          <p:nvPr/>
        </p:nvSpPr>
        <p:spPr>
          <a:xfrm>
            <a:off x="7715250" y="1657350"/>
            <a:ext cx="514350" cy="342900"/>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1125" b="1" i="0">
                <a:solidFill>
                  <a:srgbClr val="192743"/>
                </a:solidFill>
                <a:latin typeface="Poppins"/>
              </a:rPr>
              <a:t>82%</a:t>
            </a:r>
          </a:p>
        </p:txBody>
      </p:sp>
      <p:sp>
        <p:nvSpPr>
          <p:cNvPr id="19" name="New shape"/>
          <p:cNvSpPr/>
          <p:nvPr/>
        </p:nvSpPr>
        <p:spPr>
          <a:xfrm>
            <a:off x="8229600" y="1657350"/>
            <a:ext cx="914400" cy="34290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0" y="16573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0" y="2000250"/>
            <a:ext cx="9144000" cy="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graphicFrame>
        <p:nvGraphicFramePr>
          <p:cNvPr id="22" name="New Table"/>
          <p:cNvGraphicFramePr>
            <a:graphicFrameLocks noGrp="1"/>
          </p:cNvGraphicFramePr>
          <p:nvPr/>
        </p:nvGraphicFramePr>
        <p:xfrm>
          <a:off x="457200" y="2114550"/>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Ich bin </a:t>
                      </a:r>
                      <a:r>
                        <a:rPr sz="788" b="0" i="0" dirty="0" err="1">
                          <a:solidFill>
                            <a:srgbClr val="192743"/>
                          </a:solidFill>
                          <a:latin typeface="Poppins"/>
                        </a:rPr>
                        <a:t>überzeugt</a:t>
                      </a:r>
                      <a:r>
                        <a:rPr sz="788" b="0" i="0" dirty="0">
                          <a:solidFill>
                            <a:srgbClr val="192743"/>
                          </a:solidFill>
                          <a:latin typeface="Poppins"/>
                        </a:rPr>
                        <a:t> von den Zielen und der </a:t>
                      </a:r>
                      <a:r>
                        <a:rPr sz="788" b="0" i="0" dirty="0" err="1">
                          <a:solidFill>
                            <a:srgbClr val="192743"/>
                          </a:solidFill>
                          <a:latin typeface="Poppins"/>
                        </a:rPr>
                        <a:t>Strategie</a:t>
                      </a:r>
                      <a:r>
                        <a:rPr sz="788" b="0" i="0" dirty="0">
                          <a:solidFill>
                            <a:srgbClr val="192743"/>
                          </a:solidFill>
                          <a:latin typeface="Poppins"/>
                        </a:rPr>
                        <a:t> von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Die </a:t>
                      </a:r>
                      <a:r>
                        <a:rPr sz="788" b="0" i="0" dirty="0" err="1">
                          <a:solidFill>
                            <a:srgbClr val="192743"/>
                          </a:solidFill>
                          <a:latin typeface="Poppins"/>
                        </a:rPr>
                        <a:t>Zukunftsvision</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inspiriert</a:t>
                      </a:r>
                      <a:r>
                        <a:rPr sz="788" b="0" i="0" dirty="0">
                          <a:solidFill>
                            <a:srgbClr val="192743"/>
                          </a:solidFill>
                          <a:latin typeface="Poppins"/>
                        </a:rPr>
                        <a:t> </a:t>
                      </a:r>
                      <a:r>
                        <a:rPr sz="788" b="0" i="0" dirty="0" err="1">
                          <a:solidFill>
                            <a:srgbClr val="192743"/>
                          </a:solidFill>
                          <a:latin typeface="Poppins"/>
                        </a:rPr>
                        <a:t>mich</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dirty="0" err="1">
                          <a:solidFill>
                            <a:srgbClr val="192743"/>
                          </a:solidFill>
                          <a:latin typeface="Poppins"/>
                        </a:rPr>
                        <a:t>Innerhalb</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die </a:t>
                      </a:r>
                      <a:r>
                        <a:rPr sz="788" b="0" i="0" dirty="0" err="1">
                          <a:solidFill>
                            <a:srgbClr val="192743"/>
                          </a:solidFill>
                          <a:latin typeface="Poppins"/>
                        </a:rPr>
                        <a:t>Mitarbeitenden</a:t>
                      </a:r>
                      <a:r>
                        <a:rPr sz="788" b="0" i="0" dirty="0">
                          <a:solidFill>
                            <a:srgbClr val="192743"/>
                          </a:solidFill>
                          <a:latin typeface="Poppins"/>
                        </a:rPr>
                        <a:t> fair </a:t>
                      </a:r>
                      <a:r>
                        <a:rPr sz="788" b="0" i="0" dirty="0" err="1">
                          <a:solidFill>
                            <a:srgbClr val="192743"/>
                          </a:solidFill>
                          <a:latin typeface="Poppins"/>
                        </a:rPr>
                        <a:t>behandelt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3"/>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23" name="Group 22"/>
          <p:cNvGrpSpPr/>
          <p:nvPr/>
        </p:nvGrpSpPr>
        <p:grpSpPr>
          <a:xfrm rot="18900000">
            <a:off x="5134921" y="851958"/>
            <a:ext cx="1471613" cy="240649"/>
            <a:chOff x="4722812" y="793750"/>
            <a:chExt cx="1471613" cy="240649"/>
          </a:xfrm>
        </p:grpSpPr>
        <p:pic>
          <p:nvPicPr>
            <p:cNvPr id="24" name="New picture"/>
            <p:cNvPicPr/>
            <p:nvPr/>
          </p:nvPicPr>
          <p:blipFill>
            <a:blip>
              <a:extLst>
                <a:ext uri="{96DAC541-7B7A-43D3-8B79-37D633B846F1}">
                  <asvg:svgBlip xmlns:asvg="http://schemas.microsoft.com/office/drawing/2016/SVG/main" r:embed="rId4"/>
                </a:ext>
              </a:extLst>
            </a:blip>
            <a:stretch>
              <a:fillRect/>
            </a:stretch>
          </p:blipFill>
          <p:spPr>
            <a:xfrm>
              <a:off x="4722812" y="856615"/>
              <a:ext cx="114300" cy="137160"/>
            </a:xfrm>
            <a:prstGeom prst="rect">
              <a:avLst/>
            </a:prstGeom>
          </p:spPr>
        </p:pic>
        <p:sp>
          <p:nvSpPr>
            <p:cNvPr id="25" name="New shape"/>
            <p:cNvSpPr txBox="1"/>
            <p:nvPr/>
          </p:nvSpPr>
          <p:spPr>
            <a:xfrm>
              <a:off x="4908550" y="793750"/>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6" name="New shape"/>
            <p:cNvSpPr txBox="1"/>
            <p:nvPr/>
          </p:nvSpPr>
          <p:spPr>
            <a:xfrm>
              <a:off x="4908549" y="913147"/>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7" name="Group 26"/>
          <p:cNvGrpSpPr/>
          <p:nvPr/>
        </p:nvGrpSpPr>
        <p:grpSpPr>
          <a:xfrm rot="18900000">
            <a:off x="5612274" y="929050"/>
            <a:ext cx="1477327" cy="120015"/>
            <a:chOff x="5237162" y="776605"/>
            <a:chExt cx="1477327" cy="120015"/>
          </a:xfrm>
        </p:grpSpPr>
        <p:pic>
          <p:nvPicPr>
            <p:cNvPr id="28" name="New picture"/>
            <p:cNvPicPr/>
            <p:nvPr/>
          </p:nvPicPr>
          <p:blipFill>
            <a:blip>
              <a:extLst>
                <a:ext uri="{96DAC541-7B7A-43D3-8B79-37D633B846F1}">
                  <asvg:svgBlip xmlns:asvg="http://schemas.microsoft.com/office/drawing/2016/SVG/main" r:embed="rId5"/>
                </a:ext>
              </a:extLst>
            </a:blip>
            <a:stretch>
              <a:fillRect/>
            </a:stretch>
          </p:blipFill>
          <p:spPr>
            <a:xfrm>
              <a:off x="5237162" y="776605"/>
              <a:ext cx="120015" cy="120015"/>
            </a:xfrm>
            <a:prstGeom prst="rect">
              <a:avLst/>
            </a:prstGeom>
          </p:spPr>
        </p:pic>
        <p:sp>
          <p:nvSpPr>
            <p:cNvPr id="29" name="New shape"/>
            <p:cNvSpPr txBox="1"/>
            <p:nvPr/>
          </p:nvSpPr>
          <p:spPr>
            <a:xfrm>
              <a:off x="54286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30" name="Group 29"/>
          <p:cNvGrpSpPr/>
          <p:nvPr/>
        </p:nvGrpSpPr>
        <p:grpSpPr>
          <a:xfrm rot="18900000">
            <a:off x="6126624" y="929049"/>
            <a:ext cx="1477328" cy="120015"/>
            <a:chOff x="5751512" y="776605"/>
            <a:chExt cx="1477328" cy="120015"/>
          </a:xfrm>
        </p:grpSpPr>
        <p:pic>
          <p:nvPicPr>
            <p:cNvPr id="31" name="New picture"/>
            <p:cNvPicPr/>
            <p:nvPr/>
          </p:nvPicPr>
          <p:blipFill>
            <a:blip>
              <a:extLst>
                <a:ext uri="{96DAC541-7B7A-43D3-8B79-37D633B846F1}">
                  <asvg:svgBlip xmlns:asvg="http://schemas.microsoft.com/office/drawing/2016/SVG/main" r:embed="rId6"/>
                </a:ext>
              </a:extLst>
            </a:blip>
            <a:stretch>
              <a:fillRect/>
            </a:stretch>
          </p:blipFill>
          <p:spPr>
            <a:xfrm>
              <a:off x="5751512" y="776605"/>
              <a:ext cx="120015" cy="120015"/>
            </a:xfrm>
            <a:prstGeom prst="rect">
              <a:avLst/>
            </a:prstGeom>
          </p:spPr>
        </p:pic>
        <p:sp>
          <p:nvSpPr>
            <p:cNvPr id="32" name="New shape"/>
            <p:cNvSpPr txBox="1"/>
            <p:nvPr/>
          </p:nvSpPr>
          <p:spPr>
            <a:xfrm>
              <a:off x="5942966"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33" name="Group 32"/>
          <p:cNvGrpSpPr/>
          <p:nvPr/>
        </p:nvGrpSpPr>
        <p:grpSpPr>
          <a:xfrm rot="18900000">
            <a:off x="6580966" y="869042"/>
            <a:ext cx="1477328" cy="240030"/>
            <a:chOff x="6265862" y="716598"/>
            <a:chExt cx="1477328" cy="240030"/>
          </a:xfrm>
        </p:grpSpPr>
        <p:pic>
          <p:nvPicPr>
            <p:cNvPr id="34" name="New picture"/>
            <p:cNvPicPr/>
            <p:nvPr/>
          </p:nvPicPr>
          <p:blipFill>
            <a:blip>
              <a:extLst>
                <a:ext uri="{96DAC541-7B7A-43D3-8B79-37D633B846F1}">
                  <asvg:svgBlip xmlns:asvg="http://schemas.microsoft.com/office/drawing/2016/SVG/main" r:embed="rId7"/>
                </a:ext>
              </a:extLst>
            </a:blip>
            <a:stretch>
              <a:fillRect/>
            </a:stretch>
          </p:blipFill>
          <p:spPr>
            <a:xfrm>
              <a:off x="6265862" y="776605"/>
              <a:ext cx="120015" cy="120015"/>
            </a:xfrm>
            <a:prstGeom prst="rect">
              <a:avLst/>
            </a:prstGeom>
          </p:spPr>
        </p:pic>
        <p:sp>
          <p:nvSpPr>
            <p:cNvPr id="35" name="New shape"/>
            <p:cNvSpPr txBox="1"/>
            <p:nvPr/>
          </p:nvSpPr>
          <p:spPr>
            <a:xfrm>
              <a:off x="6457315" y="716598"/>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6" name="Group 35"/>
          <p:cNvGrpSpPr/>
          <p:nvPr/>
        </p:nvGrpSpPr>
        <p:grpSpPr>
          <a:xfrm rot="18900000">
            <a:off x="7155324" y="929050"/>
            <a:ext cx="1477327" cy="120015"/>
            <a:chOff x="6780212" y="776605"/>
            <a:chExt cx="1477327" cy="120015"/>
          </a:xfrm>
        </p:grpSpPr>
        <p:pic>
          <p:nvPicPr>
            <p:cNvPr id="37" name="New picture"/>
            <p:cNvPicPr/>
            <p:nvPr/>
          </p:nvPicPr>
          <p:blipFill>
            <a:blip>
              <a:extLst>
                <a:ext uri="{96DAC541-7B7A-43D3-8B79-37D633B846F1}">
                  <asvg:svgBlip xmlns:asvg="http://schemas.microsoft.com/office/drawing/2016/SVG/main" r:embed="rId6"/>
                </a:ext>
              </a:extLst>
            </a:blip>
            <a:stretch>
              <a:fillRect/>
            </a:stretch>
          </p:blipFill>
          <p:spPr>
            <a:xfrm>
              <a:off x="6780212" y="776605"/>
              <a:ext cx="120015" cy="120015"/>
            </a:xfrm>
            <a:prstGeom prst="rect">
              <a:avLst/>
            </a:prstGeom>
          </p:spPr>
        </p:pic>
        <p:sp>
          <p:nvSpPr>
            <p:cNvPr id="38" name="New shape"/>
            <p:cNvSpPr txBox="1"/>
            <p:nvPr/>
          </p:nvSpPr>
          <p:spPr>
            <a:xfrm>
              <a:off x="697166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9" name="Group 38"/>
          <p:cNvGrpSpPr/>
          <p:nvPr/>
        </p:nvGrpSpPr>
        <p:grpSpPr>
          <a:xfrm rot="18900000">
            <a:off x="7669674" y="929050"/>
            <a:ext cx="1477327" cy="120015"/>
            <a:chOff x="7294562" y="776605"/>
            <a:chExt cx="1477327" cy="120015"/>
          </a:xfrm>
        </p:grpSpPr>
        <p:pic>
          <p:nvPicPr>
            <p:cNvPr id="40" name="New picture"/>
            <p:cNvPicPr/>
            <p:nvPr/>
          </p:nvPicPr>
          <p:blipFill>
            <a:blip>
              <a:extLst>
                <a:ext uri="{96DAC541-7B7A-43D3-8B79-37D633B846F1}">
                  <asvg:svgBlip xmlns:asvg="http://schemas.microsoft.com/office/drawing/2016/SVG/main" r:embed="rId8"/>
                </a:ext>
              </a:extLst>
            </a:blip>
            <a:stretch>
              <a:fillRect/>
            </a:stretch>
          </p:blipFill>
          <p:spPr>
            <a:xfrm>
              <a:off x="7294562" y="776605"/>
              <a:ext cx="120015" cy="120015"/>
            </a:xfrm>
            <a:prstGeom prst="rect">
              <a:avLst/>
            </a:prstGeom>
          </p:spPr>
        </p:pic>
        <p:sp>
          <p:nvSpPr>
            <p:cNvPr id="41" name="New shape"/>
            <p:cNvSpPr txBox="1"/>
            <p:nvPr/>
          </p:nvSpPr>
          <p:spPr>
            <a:xfrm>
              <a:off x="7486014" y="776605"/>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42"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4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4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4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4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5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2108121"/>
            <a:ext cx="6286500" cy="4800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Fragenergebnisse</a:t>
            </a:r>
          </a:p>
        </p:txBody>
      </p:sp>
      <p:sp>
        <p:nvSpPr>
          <p:cNvPr id="5" name="New shape"/>
          <p:cNvSpPr txBox="1"/>
          <p:nvPr/>
        </p:nvSpPr>
        <p:spPr>
          <a:xfrm>
            <a:off x="457200" y="2623899"/>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dirty="0">
                <a:solidFill>
                  <a:srgbClr val="000000"/>
                </a:solidFill>
                <a:latin typeface="Poppins"/>
              </a:rPr>
              <a:t>Die </a:t>
            </a:r>
            <a:r>
              <a:rPr sz="1350" b="0" i="0" dirty="0" err="1">
                <a:solidFill>
                  <a:srgbClr val="000000"/>
                </a:solidFill>
                <a:latin typeface="Poppins"/>
              </a:rPr>
              <a:t>folgenden</a:t>
            </a:r>
            <a:r>
              <a:rPr sz="1350" b="0" i="0" dirty="0">
                <a:solidFill>
                  <a:srgbClr val="000000"/>
                </a:solidFill>
                <a:latin typeface="Poppins"/>
              </a:rPr>
              <a:t> </a:t>
            </a:r>
            <a:r>
              <a:rPr sz="1350" b="0" i="0" dirty="0" err="1">
                <a:solidFill>
                  <a:srgbClr val="000000"/>
                </a:solidFill>
                <a:latin typeface="Poppins"/>
              </a:rPr>
              <a:t>Fragen</a:t>
            </a:r>
            <a:r>
              <a:rPr sz="1350" b="0" i="0" dirty="0">
                <a:solidFill>
                  <a:srgbClr val="000000"/>
                </a:solidFill>
                <a:latin typeface="Poppins"/>
              </a:rPr>
              <a:t> und </a:t>
            </a:r>
            <a:r>
              <a:rPr sz="1350" b="0" i="0" dirty="0" err="1">
                <a:solidFill>
                  <a:srgbClr val="000000"/>
                </a:solidFill>
                <a:latin typeface="Poppins"/>
              </a:rPr>
              <a:t>deren</a:t>
            </a:r>
            <a:r>
              <a:rPr sz="1350" b="0" i="0" dirty="0">
                <a:solidFill>
                  <a:srgbClr val="000000"/>
                </a:solidFill>
                <a:latin typeface="Poppins"/>
              </a:rPr>
              <a:t> </a:t>
            </a:r>
            <a:r>
              <a:rPr sz="1350" b="0" i="0" dirty="0" err="1">
                <a:solidFill>
                  <a:srgbClr val="000000"/>
                </a:solidFill>
                <a:latin typeface="Poppins"/>
              </a:rPr>
              <a:t>Ergebnisse</a:t>
            </a:r>
            <a:r>
              <a:rPr sz="1350" b="0" i="0" dirty="0">
                <a:solidFill>
                  <a:srgbClr val="000000"/>
                </a:solidFill>
                <a:latin typeface="Poppins"/>
              </a:rPr>
              <a:t> </a:t>
            </a:r>
            <a:r>
              <a:rPr sz="1350" b="0" i="0" dirty="0" err="1">
                <a:solidFill>
                  <a:srgbClr val="000000"/>
                </a:solidFill>
                <a:latin typeface="Poppins"/>
              </a:rPr>
              <a:t>werden</a:t>
            </a:r>
            <a:r>
              <a:rPr sz="1350" b="0" i="0" dirty="0">
                <a:solidFill>
                  <a:srgbClr val="000000"/>
                </a:solidFill>
                <a:latin typeface="Poppins"/>
              </a:rPr>
              <a:t> </a:t>
            </a:r>
            <a:r>
              <a:rPr sz="1350" b="0" i="0" dirty="0" err="1">
                <a:solidFill>
                  <a:srgbClr val="000000"/>
                </a:solidFill>
                <a:latin typeface="Poppins"/>
              </a:rPr>
              <a:t>nach</a:t>
            </a:r>
            <a:r>
              <a:rPr sz="1350" b="0" i="0" dirty="0">
                <a:solidFill>
                  <a:srgbClr val="000000"/>
                </a:solidFill>
                <a:latin typeface="Poppins"/>
              </a:rPr>
              <a:t> </a:t>
            </a:r>
            <a:r>
              <a:rPr sz="1350" b="0" i="0" dirty="0" err="1">
                <a:solidFill>
                  <a:srgbClr val="000000"/>
                </a:solidFill>
                <a:latin typeface="Poppins"/>
              </a:rPr>
              <a:t>spezifischen</a:t>
            </a:r>
            <a:r>
              <a:rPr sz="1350" b="0" i="0" dirty="0">
                <a:solidFill>
                  <a:srgbClr val="000000"/>
                </a:solidFill>
                <a:latin typeface="Poppins"/>
              </a:rPr>
              <a:t> </a:t>
            </a:r>
            <a:r>
              <a:rPr sz="1350" b="0" i="0" dirty="0" err="1">
                <a:solidFill>
                  <a:srgbClr val="000000"/>
                </a:solidFill>
                <a:latin typeface="Poppins"/>
              </a:rPr>
              <a:t>Themen</a:t>
            </a:r>
            <a:r>
              <a:rPr sz="1350" b="0" i="0" dirty="0">
                <a:solidFill>
                  <a:srgbClr val="000000"/>
                </a:solidFill>
                <a:latin typeface="Poppins"/>
              </a:rPr>
              <a:t> </a:t>
            </a:r>
            <a:r>
              <a:rPr sz="1350" b="0" i="0" dirty="0" err="1">
                <a:solidFill>
                  <a:srgbClr val="000000"/>
                </a:solidFill>
                <a:latin typeface="Poppins"/>
              </a:rPr>
              <a:t>kategorisiert</a:t>
            </a:r>
            <a:r>
              <a:rPr sz="1350" b="0" i="0" dirty="0">
                <a:solidFill>
                  <a:srgbClr val="000000"/>
                </a:solidFill>
                <a:latin typeface="Poppins"/>
              </a:rPr>
              <a:t>, die für </a:t>
            </a:r>
            <a:r>
              <a:rPr lang="en-US" sz="1350" b="0" i="0" dirty="0">
                <a:solidFill>
                  <a:srgbClr val="000000"/>
                </a:solidFill>
                <a:latin typeface="Poppins"/>
              </a:rPr>
              <a:t>Team IT</a:t>
            </a:r>
            <a:r>
              <a:rPr sz="1350" b="0" i="0" dirty="0">
                <a:solidFill>
                  <a:srgbClr val="000000"/>
                </a:solidFill>
                <a:latin typeface="Poppins"/>
              </a:rPr>
              <a:t> relevant </a:t>
            </a:r>
            <a:r>
              <a:rPr sz="1350" b="0" i="0" dirty="0" err="1">
                <a:solidFill>
                  <a:srgbClr val="000000"/>
                </a:solidFill>
                <a:latin typeface="Poppins"/>
              </a:rPr>
              <a:t>sind</a:t>
            </a:r>
            <a:r>
              <a:rPr sz="1350" b="0" i="0" dirty="0">
                <a:solidFill>
                  <a:srgbClr val="000000"/>
                </a:solidFill>
                <a:latin typeface="Poppins"/>
              </a:rPr>
              <a:t>.</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Spaß an der Arbeit</a:t>
            </a:r>
          </a:p>
        </p:txBody>
      </p:sp>
      <p:sp>
        <p:nvSpPr>
          <p:cNvPr id="3"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2"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Meine Arbeit macht mir Spaß</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*98%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3" name="Group 12"/>
          <p:cNvGrpSpPr/>
          <p:nvPr/>
        </p:nvGrpSpPr>
        <p:grpSpPr>
          <a:xfrm rot="18900000">
            <a:off x="5134921" y="859102"/>
            <a:ext cx="1471613" cy="240649"/>
            <a:chOff x="4722812" y="80089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15"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16"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17" name="Group 16"/>
          <p:cNvGrpSpPr/>
          <p:nvPr/>
        </p:nvGrpSpPr>
        <p:grpSpPr>
          <a:xfrm rot="18900000">
            <a:off x="5612274" y="936193"/>
            <a:ext cx="1477327" cy="120015"/>
            <a:chOff x="5237162" y="783749"/>
            <a:chExt cx="1477327" cy="120015"/>
          </a:xfrm>
        </p:grpSpPr>
        <p:pic>
          <p:nvPicPr>
            <p:cNvPr id="18"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19"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0" name="Group 19"/>
          <p:cNvGrpSpPr/>
          <p:nvPr/>
        </p:nvGrpSpPr>
        <p:grpSpPr>
          <a:xfrm rot="18900000">
            <a:off x="6126624" y="936193"/>
            <a:ext cx="1477328" cy="120015"/>
            <a:chOff x="5751512" y="783749"/>
            <a:chExt cx="1477328" cy="120015"/>
          </a:xfrm>
        </p:grpSpPr>
        <p:pic>
          <p:nvPicPr>
            <p:cNvPr id="21"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2"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3" name="Group 22"/>
          <p:cNvGrpSpPr/>
          <p:nvPr/>
        </p:nvGrpSpPr>
        <p:grpSpPr>
          <a:xfrm rot="18900000">
            <a:off x="6580966" y="876186"/>
            <a:ext cx="1477328" cy="240030"/>
            <a:chOff x="6265862" y="723741"/>
            <a:chExt cx="1477328" cy="240030"/>
          </a:xfrm>
        </p:grpSpPr>
        <p:pic>
          <p:nvPicPr>
            <p:cNvPr id="24"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25"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26" name="Group 25"/>
          <p:cNvGrpSpPr/>
          <p:nvPr/>
        </p:nvGrpSpPr>
        <p:grpSpPr>
          <a:xfrm rot="18900000">
            <a:off x="7155324" y="936193"/>
            <a:ext cx="1477327" cy="120015"/>
            <a:chOff x="6780212" y="783749"/>
            <a:chExt cx="1477327" cy="120015"/>
          </a:xfrm>
        </p:grpSpPr>
        <p:pic>
          <p:nvPicPr>
            <p:cNvPr id="27"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28"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29" name="Group 28"/>
          <p:cNvGrpSpPr/>
          <p:nvPr/>
        </p:nvGrpSpPr>
        <p:grpSpPr>
          <a:xfrm rot="18900000">
            <a:off x="7669674" y="936193"/>
            <a:ext cx="1477327" cy="120015"/>
            <a:chOff x="7294562" y="783749"/>
            <a:chExt cx="1477327" cy="120015"/>
          </a:xfrm>
        </p:grpSpPr>
        <p:pic>
          <p:nvPicPr>
            <p:cNvPr id="30"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1"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
        <p:nvSpPr>
          <p:cNvPr id="3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34</a:t>
            </a:r>
          </a:p>
        </p:txBody>
      </p:sp>
      <p:sp>
        <p:nvSpPr>
          <p:cNvPr id="3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Arbeitsmöglichkeiten</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95453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Ich habe die Arbeitsmittel, die ich brauche, um gute Arbeit zu leisten  (z.B. Werkzeuge, Geräte, Software, Materialien, usw.)</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Wichtige Informationen sind für mich leicht zugänglich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Arbeitsleistung</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Meine Fähigkeiten und Kenntnisse passen zu meinem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weiß, welche Arbeitsergebnisse von mir erwartet werden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Bei der Arbeit fühle ich mich fit und tatkräftig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kann mein Berufs- und Privatleben gut miteinander vereinbaren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Ich habe ausreichend Zeit, um meine Arbeit ordnungsgemäß zu erledigen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Meine Arbeit motiviert mich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Meine Arbeitsbelastung ist</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Viel zu niedrig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Zu niedrig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Genau richtig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Zu hoch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Viel zu hoch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Ich kann meine Arbeitsbelastung gut bewältigen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Bei der Arbeit gelingt es mir, mit Stress effektiv umzugehen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33323"/>
            <a:ext cx="1477328" cy="240030"/>
            <a:chOff x="6265862" y="680879"/>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680879"/>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39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(3)</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238328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Ich bin in der Lage, ein gutes Gleichgewicht zwischen Arbeit und Erholung zu halten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bin zuversichtlich, dass ich in den nächsten drei Monaten so weiterarbeiten kann wie jetzt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Bei der Arbeit vergeht die Zeit wie im Flug</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Ich habe im vergangenen Jahr unerwünschtes Verhalten von Kolleginnen oder Kollegen erlebt (z.B. verbale Aggression, Gewalt,sexuelle Belästigung, Mobbing, Diskriminierung usw.)</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Nie</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Gelegentlich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30%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extLst>
                  <a:ext uri="{0D108BD9-81ED-4DB2-BD59-A6C34878D82A}">
                    <a16:rowId xmlns:a16="http://schemas.microsoft.com/office/drawing/2014/main" val="10005"/>
                  </a:ext>
                </a:extLst>
              </a:tr>
              <a:tr h="285750">
                <a:tc>
                  <a:txBody>
                    <a:bodyPr/>
                    <a:lstStyle/>
                    <a:p>
                      <a:pPr algn="l"/>
                      <a:r>
                        <a:rPr sz="788" b="0" i="1">
                          <a:solidFill>
                            <a:srgbClr val="192743"/>
                          </a:solidFill>
                          <a:latin typeface="Poppins"/>
                        </a:rPr>
                        <a:t>Regelmäßig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33323"/>
            <a:ext cx="1477328" cy="240030"/>
            <a:chOff x="6265862" y="680879"/>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680879"/>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(4)</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224439"/>
          <a:ext cx="7772400" cy="1526033"/>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Ich habe im vergangenen Jahr unerwünschtes Verhalten von Kundinnen oder Kunden erlebt (z. B. verbale Aggression, Gewalt, sexuelle Belästigung, Mobbing, Diskriminierung usw.)</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Nie</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Gelegentlich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31%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Regelmäßig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5134921" y="816240"/>
            <a:ext cx="1471613" cy="240649"/>
            <a:chOff x="47228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20896"/>
              <a:ext cx="114300" cy="137160"/>
            </a:xfrm>
            <a:prstGeom prst="rect">
              <a:avLst/>
            </a:prstGeom>
          </p:spPr>
        </p:pic>
        <p:sp>
          <p:nvSpPr>
            <p:cNvPr id="20" name="New shape"/>
            <p:cNvSpPr txBox="1"/>
            <p:nvPr/>
          </p:nvSpPr>
          <p:spPr>
            <a:xfrm>
              <a:off x="49085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893331"/>
            <a:ext cx="1477327" cy="120015"/>
            <a:chOff x="5237162" y="740886"/>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40886"/>
              <a:ext cx="120015" cy="120015"/>
            </a:xfrm>
            <a:prstGeom prst="rect">
              <a:avLst/>
            </a:prstGeom>
          </p:spPr>
        </p:pic>
        <p:sp>
          <p:nvSpPr>
            <p:cNvPr id="24" name="New shape"/>
            <p:cNvSpPr txBox="1"/>
            <p:nvPr/>
          </p:nvSpPr>
          <p:spPr>
            <a:xfrm>
              <a:off x="54286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893331"/>
            <a:ext cx="1477328" cy="120015"/>
            <a:chOff x="5751512" y="740886"/>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40886"/>
              <a:ext cx="120015" cy="120015"/>
            </a:xfrm>
            <a:prstGeom prst="rect">
              <a:avLst/>
            </a:prstGeom>
          </p:spPr>
        </p:pic>
        <p:sp>
          <p:nvSpPr>
            <p:cNvPr id="27" name="New shape"/>
            <p:cNvSpPr txBox="1"/>
            <p:nvPr/>
          </p:nvSpPr>
          <p:spPr>
            <a:xfrm>
              <a:off x="5942966"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33323"/>
            <a:ext cx="1477328" cy="240030"/>
            <a:chOff x="6265862" y="680879"/>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40886"/>
              <a:ext cx="120015" cy="120015"/>
            </a:xfrm>
            <a:prstGeom prst="rect">
              <a:avLst/>
            </a:prstGeom>
          </p:spPr>
        </p:pic>
        <p:sp>
          <p:nvSpPr>
            <p:cNvPr id="30" name="New shape"/>
            <p:cNvSpPr txBox="1"/>
            <p:nvPr/>
          </p:nvSpPr>
          <p:spPr>
            <a:xfrm>
              <a:off x="6457315" y="680879"/>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893331"/>
            <a:ext cx="1477327" cy="120015"/>
            <a:chOff x="6780212" y="740886"/>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40886"/>
              <a:ext cx="120015" cy="120015"/>
            </a:xfrm>
            <a:prstGeom prst="rect">
              <a:avLst/>
            </a:prstGeom>
          </p:spPr>
        </p:pic>
        <p:sp>
          <p:nvSpPr>
            <p:cNvPr id="33" name="New shape"/>
            <p:cNvSpPr txBox="1"/>
            <p:nvPr/>
          </p:nvSpPr>
          <p:spPr>
            <a:xfrm>
              <a:off x="697166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893331"/>
            <a:ext cx="1477327" cy="120015"/>
            <a:chOff x="7294562" y="740886"/>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40886"/>
              <a:ext cx="120015" cy="120015"/>
            </a:xfrm>
            <a:prstGeom prst="rect">
              <a:avLst/>
            </a:prstGeom>
          </p:spPr>
        </p:pic>
        <p:sp>
          <p:nvSpPr>
            <p:cNvPr id="36" name="New shape"/>
            <p:cNvSpPr txBox="1"/>
            <p:nvPr/>
          </p:nvSpPr>
          <p:spPr>
            <a:xfrm>
              <a:off x="7486014"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Zusammenarbeit und Leistung im Team</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Mein Team </a:t>
                      </a:r>
                      <a:r>
                        <a:rPr sz="788" b="0" i="0" dirty="0" err="1">
                          <a:solidFill>
                            <a:srgbClr val="192743"/>
                          </a:solidFill>
                          <a:latin typeface="Poppins"/>
                        </a:rPr>
                        <a:t>weiß</a:t>
                      </a:r>
                      <a:r>
                        <a:rPr sz="788" b="0" i="0" dirty="0">
                          <a:solidFill>
                            <a:srgbClr val="192743"/>
                          </a:solidFill>
                          <a:latin typeface="Poppins"/>
                        </a:rPr>
                        <a:t>, was </a:t>
                      </a:r>
                      <a:r>
                        <a:rPr sz="788" b="0" i="0" dirty="0" err="1">
                          <a:solidFill>
                            <a:srgbClr val="192743"/>
                          </a:solidFill>
                          <a:latin typeface="Poppins"/>
                        </a:rPr>
                        <a:t>getan</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muss, um </a:t>
                      </a:r>
                      <a:r>
                        <a:rPr sz="788" b="0" i="0" dirty="0" err="1">
                          <a:solidFill>
                            <a:srgbClr val="192743"/>
                          </a:solidFill>
                          <a:latin typeface="Poppins"/>
                        </a:rPr>
                        <a:t>zum</a:t>
                      </a:r>
                      <a:r>
                        <a:rPr sz="788" b="0" i="0" dirty="0">
                          <a:solidFill>
                            <a:srgbClr val="192743"/>
                          </a:solidFill>
                          <a:latin typeface="Poppins"/>
                        </a:rPr>
                        <a:t> </a:t>
                      </a:r>
                      <a:r>
                        <a:rPr sz="788" b="0" i="0" dirty="0" err="1">
                          <a:solidFill>
                            <a:srgbClr val="192743"/>
                          </a:solidFill>
                          <a:latin typeface="Poppins"/>
                        </a:rPr>
                        <a:t>Erfolg</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beizutragen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In meinem Team arbeiten wir gut zusammen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 Team erarbeitet regelmäßig neue und gute Verbesserungsvorschläge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Teamleitung</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Ich habe Vertrauen in meine Führungskraft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erhalte regelmäßig nützliches Feedback zu meiner Leistung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Meine Führungskraft geht bei Veränderungen vorbildlich voran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Unternehmensstrategie</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Ich bin </a:t>
                      </a:r>
                      <a:r>
                        <a:rPr sz="788" b="0" i="0" dirty="0" err="1">
                          <a:solidFill>
                            <a:srgbClr val="192743"/>
                          </a:solidFill>
                          <a:latin typeface="Poppins"/>
                        </a:rPr>
                        <a:t>überzeugt</a:t>
                      </a:r>
                      <a:r>
                        <a:rPr sz="788" b="0" i="0" dirty="0">
                          <a:solidFill>
                            <a:srgbClr val="192743"/>
                          </a:solidFill>
                          <a:latin typeface="Poppins"/>
                        </a:rPr>
                        <a:t> von den Zielen und der </a:t>
                      </a:r>
                      <a:r>
                        <a:rPr sz="788" b="0" i="0" dirty="0" err="1">
                          <a:solidFill>
                            <a:srgbClr val="192743"/>
                          </a:solidFill>
                          <a:latin typeface="Poppins"/>
                        </a:rPr>
                        <a:t>Strategie</a:t>
                      </a:r>
                      <a:r>
                        <a:rPr sz="788" b="0" i="0" dirty="0">
                          <a:solidFill>
                            <a:srgbClr val="192743"/>
                          </a:solidFill>
                          <a:latin typeface="Poppins"/>
                        </a:rPr>
                        <a:t> von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Die </a:t>
                      </a:r>
                      <a:r>
                        <a:rPr sz="788" b="0" i="0" dirty="0" err="1">
                          <a:solidFill>
                            <a:srgbClr val="192743"/>
                          </a:solidFill>
                          <a:latin typeface="Poppins"/>
                        </a:rPr>
                        <a:t>Zukunftsvision</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inspiriert</a:t>
                      </a:r>
                      <a:r>
                        <a:rPr sz="788" b="0" i="0" dirty="0">
                          <a:solidFill>
                            <a:srgbClr val="192743"/>
                          </a:solidFill>
                          <a:latin typeface="Poppins"/>
                        </a:rPr>
                        <a:t> </a:t>
                      </a:r>
                      <a:r>
                        <a:rPr sz="788" b="0" i="0" dirty="0" err="1">
                          <a:solidFill>
                            <a:srgbClr val="192743"/>
                          </a:solidFill>
                          <a:latin typeface="Poppins"/>
                        </a:rPr>
                        <a:t>mich</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Unternehmenskommunikation und Zusammenarbeit</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Bei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sind</a:t>
                      </a:r>
                      <a:r>
                        <a:rPr sz="788" b="0" i="0" dirty="0">
                          <a:solidFill>
                            <a:srgbClr val="192743"/>
                          </a:solidFill>
                          <a:latin typeface="Poppins"/>
                        </a:rPr>
                        <a:t> die </a:t>
                      </a:r>
                      <a:r>
                        <a:rPr sz="788" b="0" i="0" dirty="0" err="1">
                          <a:solidFill>
                            <a:srgbClr val="192743"/>
                          </a:solidFill>
                          <a:latin typeface="Poppins"/>
                        </a:rPr>
                        <a:t>Arbeitsabläufe</a:t>
                      </a:r>
                      <a:r>
                        <a:rPr sz="788" b="0" i="0" dirty="0">
                          <a:solidFill>
                            <a:srgbClr val="192743"/>
                          </a:solidFill>
                          <a:latin typeface="Poppins"/>
                        </a:rPr>
                        <a:t> gut </a:t>
                      </a:r>
                      <a:r>
                        <a:rPr sz="788" b="0" i="0" dirty="0" err="1">
                          <a:solidFill>
                            <a:srgbClr val="192743"/>
                          </a:solidFill>
                          <a:latin typeface="Poppins"/>
                        </a:rPr>
                        <a:t>organisiert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Unternehmenskultur</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a:t>
                      </a:r>
                      <a:r>
                        <a:rPr sz="788" b="0" i="0" dirty="0" err="1">
                          <a:solidFill>
                            <a:srgbClr val="192743"/>
                          </a:solidFill>
                          <a:latin typeface="Poppins"/>
                        </a:rPr>
                        <a:t>ein</a:t>
                      </a:r>
                      <a:r>
                        <a:rPr sz="788" b="0" i="0" dirty="0">
                          <a:solidFill>
                            <a:srgbClr val="192743"/>
                          </a:solidFill>
                          <a:latin typeface="Poppins"/>
                        </a:rPr>
                        <a:t> </a:t>
                      </a:r>
                      <a:r>
                        <a:rPr sz="788" b="0" i="0" dirty="0" err="1">
                          <a:solidFill>
                            <a:srgbClr val="192743"/>
                          </a:solidFill>
                          <a:latin typeface="Poppins"/>
                        </a:rPr>
                        <a:t>guter</a:t>
                      </a:r>
                      <a:r>
                        <a:rPr sz="788" b="0" i="0" dirty="0">
                          <a:solidFill>
                            <a:srgbClr val="192743"/>
                          </a:solidFill>
                          <a:latin typeface="Poppins"/>
                        </a:rPr>
                        <a:t> </a:t>
                      </a:r>
                      <a:r>
                        <a:rPr sz="788" b="0" i="0" dirty="0" err="1">
                          <a:solidFill>
                            <a:srgbClr val="192743"/>
                          </a:solidFill>
                          <a:latin typeface="Poppins"/>
                        </a:rPr>
                        <a:t>Arbeitgeber</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*95%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Ich war </a:t>
                      </a:r>
                      <a:r>
                        <a:rPr sz="788" b="0" i="0" dirty="0" err="1">
                          <a:solidFill>
                            <a:srgbClr val="192743"/>
                          </a:solidFill>
                          <a:latin typeface="Poppins"/>
                        </a:rPr>
                        <a:t>stolz</a:t>
                      </a:r>
                      <a:r>
                        <a:rPr sz="788" b="0" i="0" dirty="0">
                          <a:solidFill>
                            <a:srgbClr val="192743"/>
                          </a:solidFill>
                          <a:latin typeface="Poppins"/>
                        </a:rPr>
                        <a:t> </a:t>
                      </a:r>
                      <a:r>
                        <a:rPr sz="788" b="0" i="0" dirty="0" err="1">
                          <a:solidFill>
                            <a:srgbClr val="192743"/>
                          </a:solidFill>
                          <a:latin typeface="Poppins"/>
                        </a:rPr>
                        <a:t>darauf</a:t>
                      </a:r>
                      <a:r>
                        <a:rPr sz="788" b="0" i="0" dirty="0">
                          <a:solidFill>
                            <a:srgbClr val="192743"/>
                          </a:solidFill>
                          <a:latin typeface="Poppins"/>
                        </a:rPr>
                        <a:t>, für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zu</a:t>
                      </a:r>
                      <a:r>
                        <a:rPr sz="788" b="0" i="0" dirty="0">
                          <a:solidFill>
                            <a:srgbClr val="192743"/>
                          </a:solidFill>
                          <a:latin typeface="Poppins"/>
                        </a:rPr>
                        <a:t> </a:t>
                      </a:r>
                      <a:r>
                        <a:rPr sz="788" b="0" i="0" dirty="0" err="1">
                          <a:solidFill>
                            <a:srgbClr val="192743"/>
                          </a:solidFill>
                          <a:latin typeface="Poppins"/>
                        </a:rPr>
                        <a:t>arbeiten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glaube</a:t>
                      </a:r>
                      <a:r>
                        <a:rPr sz="788" b="0" i="0" dirty="0">
                          <a:solidFill>
                            <a:srgbClr val="192743"/>
                          </a:solidFill>
                          <a:latin typeface="Poppins"/>
                        </a:rPr>
                        <a:t>, </a:t>
                      </a:r>
                      <a:r>
                        <a:rPr sz="788" b="0" i="0" dirty="0" err="1">
                          <a:solidFill>
                            <a:srgbClr val="192743"/>
                          </a:solidFill>
                          <a:latin typeface="Poppins"/>
                        </a:rPr>
                        <a:t>dass</a:t>
                      </a:r>
                      <a:r>
                        <a:rPr sz="788" b="0" i="0" dirty="0">
                          <a:solidFill>
                            <a:srgbClr val="192743"/>
                          </a:solidFill>
                          <a:latin typeface="Poppins"/>
                        </a:rPr>
                        <a:t> ich gut </a:t>
                      </a:r>
                      <a:r>
                        <a:rPr sz="788" b="0" i="0" dirty="0" err="1">
                          <a:solidFill>
                            <a:srgbClr val="192743"/>
                          </a:solidFill>
                          <a:latin typeface="Poppins"/>
                        </a:rPr>
                        <a:t>zu</a:t>
                      </a:r>
                      <a:r>
                        <a:rPr sz="788" b="0" i="0" dirty="0">
                          <a:solidFill>
                            <a:srgbClr val="192743"/>
                          </a:solidFill>
                          <a:latin typeface="Poppins"/>
                        </a:rPr>
                        <a:t> </a:t>
                      </a:r>
                      <a:r>
                        <a:rPr lang="en-US" sz="788" b="0" i="0" dirty="0">
                          <a:solidFill>
                            <a:srgbClr val="192743"/>
                          </a:solidFill>
                          <a:latin typeface="Poppins"/>
                        </a:rPr>
                        <a:t>Team IT</a:t>
                      </a:r>
                      <a:r>
                        <a:rPr sz="788" b="0" i="0" dirty="0">
                          <a:solidFill>
                            <a:srgbClr val="192743"/>
                          </a:solidFill>
                          <a:latin typeface="Poppins"/>
                        </a:rPr>
                        <a:t> passe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*97%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fühlte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Mitarbeiter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wertgeschätzt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*91%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identifiziere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mit</a:t>
                      </a:r>
                      <a:r>
                        <a:rPr sz="788" b="0" i="0" dirty="0">
                          <a:solidFill>
                            <a:srgbClr val="192743"/>
                          </a:solidFill>
                          <a:latin typeface="Poppins"/>
                        </a:rPr>
                        <a:t> der Kultur von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4"/>
                  </a:ext>
                </a:extLst>
              </a:tr>
              <a:tr h="285750">
                <a:tc>
                  <a:txBody>
                    <a:bodyPr/>
                    <a:lstStyle/>
                    <a:p>
                      <a:pPr algn="l"/>
                      <a:r>
                        <a:rPr sz="788" b="0" i="0" dirty="0" err="1">
                          <a:solidFill>
                            <a:srgbClr val="192743"/>
                          </a:solidFill>
                          <a:latin typeface="Poppins"/>
                        </a:rPr>
                        <a:t>Innerhalb</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die </a:t>
                      </a:r>
                      <a:r>
                        <a:rPr sz="788" b="0" i="0" dirty="0" err="1">
                          <a:solidFill>
                            <a:srgbClr val="192743"/>
                          </a:solidFill>
                          <a:latin typeface="Poppins"/>
                        </a:rPr>
                        <a:t>Mitarbeitenden</a:t>
                      </a:r>
                      <a:r>
                        <a:rPr sz="788" b="0" i="0" dirty="0">
                          <a:solidFill>
                            <a:srgbClr val="192743"/>
                          </a:solidFill>
                          <a:latin typeface="Poppins"/>
                        </a:rPr>
                        <a:t> fair </a:t>
                      </a:r>
                      <a:r>
                        <a:rPr sz="788" b="0" i="0" dirty="0" err="1">
                          <a:solidFill>
                            <a:srgbClr val="192743"/>
                          </a:solidFill>
                          <a:latin typeface="Poppins"/>
                        </a:rPr>
                        <a:t>behandelt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Bei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wird</a:t>
                      </a:r>
                      <a:r>
                        <a:rPr sz="788" b="0" i="0" dirty="0">
                          <a:solidFill>
                            <a:srgbClr val="192743"/>
                          </a:solidFill>
                          <a:latin typeface="Poppins"/>
                        </a:rPr>
                        <a:t> </a:t>
                      </a:r>
                      <a:r>
                        <a:rPr sz="788" b="0" i="0" dirty="0" err="1">
                          <a:solidFill>
                            <a:srgbClr val="192743"/>
                          </a:solidFill>
                          <a:latin typeface="Poppins"/>
                        </a:rPr>
                        <a:t>Leistung</a:t>
                      </a:r>
                      <a:r>
                        <a:rPr sz="788" b="0" i="0" dirty="0">
                          <a:solidFill>
                            <a:srgbClr val="192743"/>
                          </a:solidFill>
                          <a:latin typeface="Poppins"/>
                        </a:rPr>
                        <a:t> </a:t>
                      </a:r>
                      <a:r>
                        <a:rPr sz="788" b="0" i="0" dirty="0" err="1">
                          <a:solidFill>
                            <a:srgbClr val="192743"/>
                          </a:solidFill>
                          <a:latin typeface="Poppins"/>
                        </a:rPr>
                        <a:t>belohnt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Wenn ich gute Arbeit leiste, erhalte ich Lob und Anerkennung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und Maßnahmen</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nutzt</a:t>
                      </a:r>
                      <a:r>
                        <a:rPr sz="788" b="0" i="0" dirty="0">
                          <a:solidFill>
                            <a:srgbClr val="192743"/>
                          </a:solidFill>
                          <a:latin typeface="Poppins"/>
                        </a:rPr>
                        <a:t> Ideen und </a:t>
                      </a:r>
                      <a:r>
                        <a:rPr sz="788" b="0" i="0" dirty="0" err="1">
                          <a:solidFill>
                            <a:srgbClr val="192743"/>
                          </a:solidFill>
                          <a:latin typeface="Poppins"/>
                        </a:rPr>
                        <a:t>Vorschläge</a:t>
                      </a:r>
                      <a:r>
                        <a:rPr sz="788" b="0" i="0" dirty="0">
                          <a:solidFill>
                            <a:srgbClr val="192743"/>
                          </a:solidFill>
                          <a:latin typeface="Poppins"/>
                        </a:rPr>
                        <a:t> der </a:t>
                      </a:r>
                      <a:r>
                        <a:rPr sz="788" b="0" i="0" dirty="0" err="1">
                          <a:solidFill>
                            <a:srgbClr val="192743"/>
                          </a:solidFill>
                          <a:latin typeface="Poppins"/>
                        </a:rPr>
                        <a:t>Mitarbeitenden</a:t>
                      </a:r>
                      <a:r>
                        <a:rPr sz="788" b="0" i="0" dirty="0">
                          <a:solidFill>
                            <a:srgbClr val="192743"/>
                          </a:solidFill>
                          <a:latin typeface="Poppins"/>
                        </a:rPr>
                        <a:t> für </a:t>
                      </a:r>
                      <a:r>
                        <a:rPr sz="788" b="0" i="0" dirty="0" err="1">
                          <a:solidFill>
                            <a:srgbClr val="192743"/>
                          </a:solidFill>
                          <a:latin typeface="Poppins"/>
                        </a:rPr>
                        <a:t>Verbesserungen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*87%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Wachstum und Entwicklung</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a:solidFill>
                            <a:srgbClr val="192743"/>
                          </a:solidFill>
                          <a:latin typeface="Poppins"/>
                        </a:rPr>
                        <a:t>Ich habe gute Möglichkeiten, mich beruflich und persönlich weiterzuentwickeln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48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1073102"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Fragenergebnisse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6863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tblGrid>
              <a:tr h="285750">
                <a:tc>
                  <a:txBody>
                    <a:bodyPr/>
                    <a:lstStyle/>
                    <a:p>
                      <a:pPr algn="l"/>
                      <a:r>
                        <a:rPr sz="788" b="0" i="0" dirty="0">
                          <a:solidFill>
                            <a:srgbClr val="192743"/>
                          </a:solidFill>
                          <a:latin typeface="Poppins"/>
                        </a:rPr>
                        <a:t>Wie </a:t>
                      </a:r>
                      <a:r>
                        <a:rPr sz="788" b="0" i="0" dirty="0" err="1">
                          <a:solidFill>
                            <a:srgbClr val="192743"/>
                          </a:solidFill>
                          <a:latin typeface="Poppins"/>
                        </a:rPr>
                        <a:t>wahrscheinlich</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es, </a:t>
                      </a:r>
                      <a:r>
                        <a:rPr sz="788" b="0" i="0" dirty="0" err="1">
                          <a:solidFill>
                            <a:srgbClr val="192743"/>
                          </a:solidFill>
                          <a:latin typeface="Poppins"/>
                        </a:rPr>
                        <a:t>dass</a:t>
                      </a:r>
                      <a:r>
                        <a:rPr sz="788" b="0" i="0" dirty="0">
                          <a:solidFill>
                            <a:srgbClr val="192743"/>
                          </a:solidFill>
                          <a:latin typeface="Poppins"/>
                        </a:rPr>
                        <a:t> Sie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Arbeitgeber</a:t>
                      </a:r>
                      <a:r>
                        <a:rPr sz="788" b="0" i="0" dirty="0">
                          <a:solidFill>
                            <a:srgbClr val="192743"/>
                          </a:solidFill>
                          <a:latin typeface="Poppins"/>
                        </a:rPr>
                        <a:t> </a:t>
                      </a:r>
                      <a:r>
                        <a:rPr sz="788" b="0" i="0" dirty="0" err="1">
                          <a:solidFill>
                            <a:srgbClr val="192743"/>
                          </a:solidFill>
                          <a:latin typeface="Poppins"/>
                        </a:rPr>
                        <a:t>weiterempfehlen</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A89E"/>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43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268</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endParaRPr sz="788" b="0" i="0">
                        <a:solidFill>
                          <a:srgbClr val="546178"/>
                        </a:solidFill>
                        <a:latin typeface="Poppins"/>
                      </a:endParaRP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5134921" y="859102"/>
            <a:ext cx="1471613" cy="240649"/>
            <a:chOff x="472281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722812" y="863759"/>
              <a:ext cx="114300" cy="137160"/>
            </a:xfrm>
            <a:prstGeom prst="rect">
              <a:avLst/>
            </a:prstGeom>
          </p:spPr>
        </p:pic>
        <p:sp>
          <p:nvSpPr>
            <p:cNvPr id="20" name="New shape"/>
            <p:cNvSpPr txBox="1"/>
            <p:nvPr/>
          </p:nvSpPr>
          <p:spPr>
            <a:xfrm>
              <a:off x="490855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90854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612274" y="936193"/>
            <a:ext cx="1477327" cy="120015"/>
            <a:chOff x="5237162" y="783749"/>
            <a:chExt cx="1477327" cy="120015"/>
          </a:xfrm>
        </p:grpSpPr>
        <p:pic>
          <p:nvPicPr>
            <p:cNvPr id="23" name="New picture"/>
            <p:cNvPicPr/>
            <p:nvPr/>
          </p:nvPicPr>
          <p:blipFill>
            <a:blip>
              <a:extLst>
                <a:ext uri="{96DAC541-7B7A-43D3-8B79-37D633B846F1}">
                  <asvg:svgBlip xmlns:asvg="http://schemas.microsoft.com/office/drawing/2016/SVG/main" r:embed="rId4"/>
                </a:ext>
              </a:extLst>
            </a:blip>
            <a:stretch>
              <a:fillRect/>
            </a:stretch>
          </p:blipFill>
          <p:spPr>
            <a:xfrm>
              <a:off x="5237162" y="783749"/>
              <a:ext cx="120015" cy="120015"/>
            </a:xfrm>
            <a:prstGeom prst="rect">
              <a:avLst/>
            </a:prstGeom>
          </p:spPr>
        </p:pic>
        <p:sp>
          <p:nvSpPr>
            <p:cNvPr id="24" name="New shape"/>
            <p:cNvSpPr txBox="1"/>
            <p:nvPr/>
          </p:nvSpPr>
          <p:spPr>
            <a:xfrm>
              <a:off x="54286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Vorherige Befragung</a:t>
              </a:r>
            </a:p>
          </p:txBody>
        </p:sp>
      </p:grpSp>
      <p:grpSp>
        <p:nvGrpSpPr>
          <p:cNvPr id="25" name="Group 24"/>
          <p:cNvGrpSpPr/>
          <p:nvPr/>
        </p:nvGrpSpPr>
        <p:grpSpPr>
          <a:xfrm rot="18900000">
            <a:off x="6126624" y="936193"/>
            <a:ext cx="1477328" cy="120015"/>
            <a:chOff x="5751512" y="783749"/>
            <a:chExt cx="1477328" cy="120015"/>
          </a:xfrm>
        </p:grpSpPr>
        <p:pic>
          <p:nvPicPr>
            <p:cNvPr id="26" name="New picture"/>
            <p:cNvPicPr/>
            <p:nvPr/>
          </p:nvPicPr>
          <p:blipFill>
            <a:blip>
              <a:extLst>
                <a:ext uri="{96DAC541-7B7A-43D3-8B79-37D633B846F1}">
                  <asvg:svgBlip xmlns:asvg="http://schemas.microsoft.com/office/drawing/2016/SVG/main" r:embed="rId5"/>
                </a:ext>
              </a:extLst>
            </a:blip>
            <a:stretch>
              <a:fillRect/>
            </a:stretch>
          </p:blipFill>
          <p:spPr>
            <a:xfrm>
              <a:off x="5751512" y="783749"/>
              <a:ext cx="120015" cy="120015"/>
            </a:xfrm>
            <a:prstGeom prst="rect">
              <a:avLst/>
            </a:prstGeom>
          </p:spPr>
        </p:pic>
        <p:sp>
          <p:nvSpPr>
            <p:cNvPr id="27" name="New shape"/>
            <p:cNvSpPr txBox="1"/>
            <p:nvPr/>
          </p:nvSpPr>
          <p:spPr>
            <a:xfrm>
              <a:off x="5942966"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International</a:t>
              </a:r>
            </a:p>
          </p:txBody>
        </p:sp>
      </p:grpSp>
      <p:grpSp>
        <p:nvGrpSpPr>
          <p:cNvPr id="28" name="Group 27"/>
          <p:cNvGrpSpPr/>
          <p:nvPr/>
        </p:nvGrpSpPr>
        <p:grpSpPr>
          <a:xfrm rot="18900000">
            <a:off x="6580966" y="876186"/>
            <a:ext cx="1477328" cy="240030"/>
            <a:chOff x="6265862" y="723741"/>
            <a:chExt cx="1477328" cy="240030"/>
          </a:xfrm>
        </p:grpSpPr>
        <p:pic>
          <p:nvPicPr>
            <p:cNvPr id="29" name="New picture"/>
            <p:cNvPicPr/>
            <p:nvPr/>
          </p:nvPicPr>
          <p:blipFill>
            <a:blip>
              <a:extLst>
                <a:ext uri="{96DAC541-7B7A-43D3-8B79-37D633B846F1}">
                  <asvg:svgBlip xmlns:asvg="http://schemas.microsoft.com/office/drawing/2016/SVG/main" r:embed="rId6"/>
                </a:ext>
              </a:extLst>
            </a:blip>
            <a:stretch>
              <a:fillRect/>
            </a:stretch>
          </p:blipFill>
          <p:spPr>
            <a:xfrm>
              <a:off x="6265862" y="783749"/>
              <a:ext cx="120015" cy="120015"/>
            </a:xfrm>
            <a:prstGeom prst="rect">
              <a:avLst/>
            </a:prstGeom>
          </p:spPr>
        </p:pic>
        <p:sp>
          <p:nvSpPr>
            <p:cNvPr id="30" name="New shape"/>
            <p:cNvSpPr txBox="1"/>
            <p:nvPr/>
          </p:nvSpPr>
          <p:spPr>
            <a:xfrm>
              <a:off x="6457315" y="723741"/>
              <a:ext cx="128587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International</a:t>
              </a:r>
            </a:p>
          </p:txBody>
        </p:sp>
      </p:grpSp>
      <p:grpSp>
        <p:nvGrpSpPr>
          <p:cNvPr id="31" name="Group 30"/>
          <p:cNvGrpSpPr/>
          <p:nvPr/>
        </p:nvGrpSpPr>
        <p:grpSpPr>
          <a:xfrm rot="18900000">
            <a:off x="7155324" y="936193"/>
            <a:ext cx="1477327" cy="120015"/>
            <a:chOff x="6780212" y="783749"/>
            <a:chExt cx="1477327" cy="120015"/>
          </a:xfrm>
        </p:grpSpPr>
        <p:pic>
          <p:nvPicPr>
            <p:cNvPr id="32" name="New picture"/>
            <p:cNvPicPr/>
            <p:nvPr/>
          </p:nvPicPr>
          <p:blipFill>
            <a:blip>
              <a:extLst>
                <a:ext uri="{96DAC541-7B7A-43D3-8B79-37D633B846F1}">
                  <asvg:svgBlip xmlns:asvg="http://schemas.microsoft.com/office/drawing/2016/SVG/main" r:embed="rId5"/>
                </a:ext>
              </a:extLst>
            </a:blip>
            <a:stretch>
              <a:fillRect/>
            </a:stretch>
          </p:blipFill>
          <p:spPr>
            <a:xfrm>
              <a:off x="6780212" y="783749"/>
              <a:ext cx="120015" cy="120015"/>
            </a:xfrm>
            <a:prstGeom prst="rect">
              <a:avLst/>
            </a:prstGeom>
          </p:spPr>
        </p:pic>
        <p:sp>
          <p:nvSpPr>
            <p:cNvPr id="33" name="New shape"/>
            <p:cNvSpPr txBox="1"/>
            <p:nvPr/>
          </p:nvSpPr>
          <p:spPr>
            <a:xfrm>
              <a:off x="697166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Benchmark B2B</a:t>
              </a:r>
            </a:p>
          </p:txBody>
        </p:sp>
      </p:grpSp>
      <p:grpSp>
        <p:nvGrpSpPr>
          <p:cNvPr id="34" name="Group 33"/>
          <p:cNvGrpSpPr/>
          <p:nvPr/>
        </p:nvGrpSpPr>
        <p:grpSpPr>
          <a:xfrm rot="18900000">
            <a:off x="7669674" y="936193"/>
            <a:ext cx="1477327" cy="120015"/>
            <a:chOff x="7294562" y="783749"/>
            <a:chExt cx="1477327" cy="120015"/>
          </a:xfrm>
        </p:grpSpPr>
        <p:pic>
          <p:nvPicPr>
            <p:cNvPr id="35" name="New picture"/>
            <p:cNvPicPr/>
            <p:nvPr/>
          </p:nvPicPr>
          <p:blipFill>
            <a:blip>
              <a:extLst>
                <a:ext uri="{96DAC541-7B7A-43D3-8B79-37D633B846F1}">
                  <asvg:svgBlip xmlns:asvg="http://schemas.microsoft.com/office/drawing/2016/SVG/main" r:embed="rId7"/>
                </a:ext>
              </a:extLst>
            </a:blip>
            <a:stretch>
              <a:fillRect/>
            </a:stretch>
          </p:blipFill>
          <p:spPr>
            <a:xfrm>
              <a:off x="7294562" y="783749"/>
              <a:ext cx="120015" cy="120015"/>
            </a:xfrm>
            <a:prstGeom prst="rect">
              <a:avLst/>
            </a:prstGeom>
          </p:spPr>
        </p:pic>
        <p:sp>
          <p:nvSpPr>
            <p:cNvPr id="36" name="New shape"/>
            <p:cNvSpPr txBox="1"/>
            <p:nvPr/>
          </p:nvSpPr>
          <p:spPr>
            <a:xfrm>
              <a:off x="7486014"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Top 3 Benchmark B2B</a:t>
              </a:r>
            </a:p>
          </p:txBody>
        </p:sp>
      </p:gr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1868091"/>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Detaillierte Informationen: Gruppenergebnisse</a:t>
            </a:r>
          </a:p>
        </p:txBody>
      </p:sp>
      <p:sp>
        <p:nvSpPr>
          <p:cNvPr id="5" name="New shape"/>
          <p:cNvSpPr txBox="1"/>
          <p:nvPr/>
        </p:nvSpPr>
        <p:spPr>
          <a:xfrm>
            <a:off x="457200" y="2863929"/>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Sehen wir uns die Ergebnisse aller Gruppen zu den von Ihnen ausgewählten Indizes und Themen genauer an.</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15312"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spAutoFit/>
          </a:bodyPr>
          <a:lstStyle/>
          <a:p>
            <a:pPr algn="l">
              <a:lnSpc>
                <a:spcPct val="100000"/>
              </a:lnSpc>
            </a:pPr>
            <a:r>
              <a:rPr sz="2250" b="1" i="0">
                <a:solidFill>
                  <a:srgbClr val="192743"/>
                </a:solidFill>
                <a:latin typeface="Poppins"/>
              </a:rPr>
              <a:t>Eine Kurzanleitung:</a:t>
            </a:r>
            <a:r>
              <a:rPr sz="2250" b="1" i="0">
                <a:solidFill>
                  <a:srgbClr val="30B3AF"/>
                </a:solidFill>
                <a:latin typeface="Poppins"/>
              </a:rPr>
              <a:t> Vergleichen von Gruppen</a:t>
            </a:r>
          </a:p>
        </p:txBody>
      </p:sp>
      <p:sp>
        <p:nvSpPr>
          <p:cNvPr id="3" name="New shape"/>
          <p:cNvSpPr txBox="1"/>
          <p:nvPr/>
        </p:nvSpPr>
        <p:spPr>
          <a:xfrm>
            <a:off x="457200" y="857250"/>
            <a:ext cx="4286250" cy="20574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Ergebnisunterschiede und Ergebnisvergleiche</a:t>
            </a:r>
          </a:p>
        </p:txBody>
      </p:sp>
      <p:sp>
        <p:nvSpPr>
          <p:cNvPr id="4" name="New shape"/>
          <p:cNvSpPr/>
          <p:nvPr/>
        </p:nvSpPr>
        <p:spPr>
          <a:xfrm>
            <a:off x="457200" y="1405890"/>
            <a:ext cx="285750" cy="285750"/>
          </a:xfrm>
          <a:prstGeom prst="round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New shape"/>
          <p:cNvSpPr txBox="1"/>
          <p:nvPr/>
        </p:nvSpPr>
        <p:spPr>
          <a:xfrm>
            <a:off x="828675" y="142875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Gruppenergebnis ist um mindestens 20 % Punkte höher.</a:t>
            </a:r>
          </a:p>
        </p:txBody>
      </p:sp>
      <p:sp>
        <p:nvSpPr>
          <p:cNvPr id="6" name="New shape"/>
          <p:cNvSpPr/>
          <p:nvPr/>
        </p:nvSpPr>
        <p:spPr>
          <a:xfrm>
            <a:off x="457200" y="1891665"/>
            <a:ext cx="285750" cy="285750"/>
          </a:xfrm>
          <a:prstGeom prst="round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New shape"/>
          <p:cNvSpPr txBox="1"/>
          <p:nvPr/>
        </p:nvSpPr>
        <p:spPr>
          <a:xfrm>
            <a:off x="828675" y="191452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Gruppenergebnis ist um mindestens 10 % Punkte höher.</a:t>
            </a:r>
          </a:p>
        </p:txBody>
      </p:sp>
      <p:sp>
        <p:nvSpPr>
          <p:cNvPr id="8" name="New shape"/>
          <p:cNvSpPr/>
          <p:nvPr/>
        </p:nvSpPr>
        <p:spPr>
          <a:xfrm>
            <a:off x="457200" y="2377440"/>
            <a:ext cx="285750" cy="285750"/>
          </a:xfrm>
          <a:prstGeom prst="round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828675" y="2460307"/>
            <a:ext cx="282892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Nicht relevant, da die Differenz kleiner als 10 % Punkte ist.</a:t>
            </a:r>
          </a:p>
        </p:txBody>
      </p:sp>
      <p:sp>
        <p:nvSpPr>
          <p:cNvPr id="10" name="New shape"/>
          <p:cNvSpPr/>
          <p:nvPr/>
        </p:nvSpPr>
        <p:spPr>
          <a:xfrm>
            <a:off x="457200" y="2863215"/>
            <a:ext cx="285750" cy="285750"/>
          </a:xfrm>
          <a:prstGeom prst="round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New shape"/>
          <p:cNvSpPr txBox="1"/>
          <p:nvPr/>
        </p:nvSpPr>
        <p:spPr>
          <a:xfrm>
            <a:off x="828675" y="2886075"/>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Gruppenergebnis ist um mindestens 10 % Punkte niedriger.</a:t>
            </a:r>
          </a:p>
        </p:txBody>
      </p:sp>
      <p:sp>
        <p:nvSpPr>
          <p:cNvPr id="12" name="New shape"/>
          <p:cNvSpPr/>
          <p:nvPr/>
        </p:nvSpPr>
        <p:spPr>
          <a:xfrm>
            <a:off x="457200" y="3348990"/>
            <a:ext cx="285750" cy="285750"/>
          </a:xfrm>
          <a:prstGeom prst="round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New shape"/>
          <p:cNvSpPr txBox="1"/>
          <p:nvPr/>
        </p:nvSpPr>
        <p:spPr>
          <a:xfrm>
            <a:off x="828675" y="3371850"/>
            <a:ext cx="2828925" cy="24003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Das Gruppenergebnis ist um mindestens 20 % Punkte niedriger.</a:t>
            </a:r>
          </a:p>
        </p:txBody>
      </p:sp>
      <p:sp>
        <p:nvSpPr>
          <p:cNvPr id="14" name="New shape"/>
          <p:cNvSpPr txBox="1"/>
          <p:nvPr/>
        </p:nvSpPr>
        <p:spPr>
          <a:xfrm>
            <a:off x="4429125" y="2300288"/>
            <a:ext cx="1643062"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Beispielergebnis</a:t>
            </a:r>
          </a:p>
        </p:txBody>
      </p:sp>
      <p:sp>
        <p:nvSpPr>
          <p:cNvPr id="15" name="New shape"/>
          <p:cNvSpPr txBox="1"/>
          <p:nvPr/>
        </p:nvSpPr>
        <p:spPr>
          <a:xfrm>
            <a:off x="6072188" y="2300288"/>
            <a:ext cx="942975" cy="285750"/>
          </a:xfrm>
          <a:prstGeom prst="rect">
            <a:avLst/>
          </a:prstGeom>
          <a:solidFill>
            <a:srgbClr val="EFF4FF"/>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50</a:t>
            </a:r>
          </a:p>
        </p:txBody>
      </p:sp>
      <p:sp>
        <p:nvSpPr>
          <p:cNvPr id="16" name="New shape"/>
          <p:cNvSpPr/>
          <p:nvPr/>
        </p:nvSpPr>
        <p:spPr>
          <a:xfrm flipH="1">
            <a:off x="607218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7" name="New shape"/>
          <p:cNvSpPr txBox="1"/>
          <p:nvPr/>
        </p:nvSpPr>
        <p:spPr>
          <a:xfrm>
            <a:off x="7015162" y="2300288"/>
            <a:ext cx="942975" cy="285750"/>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70</a:t>
            </a:r>
          </a:p>
        </p:txBody>
      </p:sp>
      <p:sp>
        <p:nvSpPr>
          <p:cNvPr id="18" name="New shape"/>
          <p:cNvSpPr/>
          <p:nvPr/>
        </p:nvSpPr>
        <p:spPr>
          <a:xfrm flipH="1">
            <a:off x="7015162"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9" name="New shape"/>
          <p:cNvSpPr txBox="1"/>
          <p:nvPr/>
        </p:nvSpPr>
        <p:spPr>
          <a:xfrm>
            <a:off x="7958138" y="2300288"/>
            <a:ext cx="942975" cy="285750"/>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lnSpc>
                <a:spcPct val="100000"/>
              </a:lnSpc>
            </a:pPr>
            <a:r>
              <a:rPr sz="788" b="1" i="0">
                <a:solidFill>
                  <a:srgbClr val="192743"/>
                </a:solidFill>
                <a:latin typeface="Poppins"/>
              </a:rPr>
              <a:t>30</a:t>
            </a:r>
          </a:p>
        </p:txBody>
      </p:sp>
      <p:sp>
        <p:nvSpPr>
          <p:cNvPr id="20" name="New shape"/>
          <p:cNvSpPr/>
          <p:nvPr/>
        </p:nvSpPr>
        <p:spPr>
          <a:xfrm flipH="1">
            <a:off x="7958138" y="2300288"/>
            <a:ext cx="0" cy="28575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1" name="New shape"/>
          <p:cNvSpPr/>
          <p:nvPr/>
        </p:nvSpPr>
        <p:spPr>
          <a:xfrm>
            <a:off x="4429125" y="230028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2" name="New shape"/>
          <p:cNvSpPr/>
          <p:nvPr/>
        </p:nvSpPr>
        <p:spPr>
          <a:xfrm>
            <a:off x="4429125" y="2586038"/>
            <a:ext cx="4471988"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3" name="New shape"/>
          <p:cNvSpPr/>
          <p:nvPr/>
        </p:nvSpPr>
        <p:spPr>
          <a:xfrm flipH="1">
            <a:off x="6543675" y="2657475"/>
            <a:ext cx="0" cy="164306"/>
          </a:xfrm>
          <a:prstGeom prst="line">
            <a:avLst/>
          </a:prstGeom>
          <a:ln w="19050">
            <a:solidFill>
              <a:srgbClr val="1C55C7"/>
            </a:solidFill>
            <a:prstDash val="solid"/>
            <a:headEnd type="triangle" w="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4" name="New shape"/>
          <p:cNvSpPr/>
          <p:nvPr/>
        </p:nvSpPr>
        <p:spPr>
          <a:xfrm>
            <a:off x="6543675" y="2821781"/>
            <a:ext cx="942975" cy="0"/>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New shape"/>
          <p:cNvSpPr/>
          <p:nvPr/>
        </p:nvSpPr>
        <p:spPr>
          <a:xfrm flipH="1">
            <a:off x="7486650" y="2657475"/>
            <a:ext cx="0" cy="164306"/>
          </a:xfrm>
          <a:prstGeom prst="line">
            <a:avLst/>
          </a:prstGeom>
          <a:ln w="19050">
            <a:solidFill>
              <a:srgbClr val="1C55C7"/>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6" name="New shape"/>
          <p:cNvSpPr txBox="1"/>
          <p:nvPr/>
        </p:nvSpPr>
        <p:spPr>
          <a:xfrm>
            <a:off x="6072188" y="2907506"/>
            <a:ext cx="18859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oAutofit/>
          </a:bodyPr>
          <a:lstStyle/>
          <a:p>
            <a:pPr algn="ctr">
              <a:lnSpc>
                <a:spcPct val="100000"/>
              </a:lnSpc>
            </a:pPr>
            <a:r>
              <a:rPr sz="675" b="0" i="0">
                <a:solidFill>
                  <a:srgbClr val="1C55C7"/>
                </a:solidFill>
                <a:latin typeface="Poppins"/>
              </a:rPr>
              <a:t>Gruppe A hat 20 % Punkte mehr erzielt</a:t>
            </a:r>
          </a:p>
        </p:txBody>
      </p:sp>
      <p:grpSp>
        <p:nvGrpSpPr>
          <p:cNvPr id="27" name="Group 26"/>
          <p:cNvGrpSpPr/>
          <p:nvPr/>
        </p:nvGrpSpPr>
        <p:grpSpPr>
          <a:xfrm rot="18900000">
            <a:off x="6277109" y="1893796"/>
            <a:ext cx="544608" cy="171450"/>
            <a:chOff x="5801519" y="1436688"/>
            <a:chExt cx="544608" cy="171450"/>
          </a:xfrm>
        </p:grpSpPr>
        <p:pic>
          <p:nvPicPr>
            <p:cNvPr id="28" name="New picture"/>
            <p:cNvPicPr/>
            <p:nvPr/>
          </p:nvPicPr>
          <p:blipFill>
            <a:blip>
              <a:extLst>
                <a:ext uri="{96DAC541-7B7A-43D3-8B79-37D633B846F1}">
                  <asvg:svgBlip xmlns:asvg="http://schemas.microsoft.com/office/drawing/2016/SVG/main" r:embed="rId2"/>
                </a:ext>
              </a:extLst>
            </a:blip>
            <a:stretch>
              <a:fillRect/>
            </a:stretch>
          </p:blipFill>
          <p:spPr>
            <a:xfrm>
              <a:off x="5801519" y="1436688"/>
              <a:ext cx="142875" cy="171450"/>
            </a:xfrm>
            <a:prstGeom prst="rect">
              <a:avLst/>
            </a:prstGeom>
          </p:spPr>
        </p:pic>
        <p:sp>
          <p:nvSpPr>
            <p:cNvPr id="29" name="New shape"/>
            <p:cNvSpPr txBox="1"/>
            <p:nvPr/>
          </p:nvSpPr>
          <p:spPr>
            <a:xfrm>
              <a:off x="6015831" y="1461805"/>
              <a:ext cx="330295"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C55C7"/>
                  </a:solidFill>
                  <a:latin typeface="Poppins"/>
                </a:rPr>
                <a:t>Aktuell</a:t>
              </a:r>
            </a:p>
          </p:txBody>
        </p:sp>
      </p:grpSp>
      <p:grpSp>
        <p:nvGrpSpPr>
          <p:cNvPr id="30" name="Group 29"/>
          <p:cNvGrpSpPr/>
          <p:nvPr/>
        </p:nvGrpSpPr>
        <p:grpSpPr>
          <a:xfrm rot="18900000">
            <a:off x="7245008" y="1918447"/>
            <a:ext cx="546036" cy="121215"/>
            <a:chOff x="6744494" y="1461805"/>
            <a:chExt cx="474599" cy="121215"/>
          </a:xfrm>
        </p:grpSpPr>
        <p:sp>
          <p:nvSpPr>
            <p:cNvPr id="31" name="New shape"/>
            <p:cNvSpPr txBox="1"/>
            <p:nvPr/>
          </p:nvSpPr>
          <p:spPr>
            <a:xfrm>
              <a:off x="6744494" y="1461805"/>
              <a:ext cx="474599"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92743"/>
                  </a:solidFill>
                  <a:latin typeface="Poppins"/>
                </a:rPr>
                <a:t>Gruppe A</a:t>
              </a:r>
            </a:p>
          </p:txBody>
        </p:sp>
      </p:grpSp>
      <p:grpSp>
        <p:nvGrpSpPr>
          <p:cNvPr id="32" name="Group 31"/>
          <p:cNvGrpSpPr/>
          <p:nvPr/>
        </p:nvGrpSpPr>
        <p:grpSpPr>
          <a:xfrm rot="18900000">
            <a:off x="8188634" y="1920018"/>
            <a:ext cx="541226" cy="121215"/>
            <a:chOff x="7687469" y="1461805"/>
            <a:chExt cx="469789" cy="121215"/>
          </a:xfrm>
        </p:grpSpPr>
        <p:sp>
          <p:nvSpPr>
            <p:cNvPr id="33" name="New shape"/>
            <p:cNvSpPr txBox="1"/>
            <p:nvPr/>
          </p:nvSpPr>
          <p:spPr>
            <a:xfrm>
              <a:off x="7687469" y="1461805"/>
              <a:ext cx="469789"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192743"/>
                  </a:solidFill>
                  <a:latin typeface="Poppins"/>
                </a:rPr>
                <a:t>Gruppe B</a:t>
              </a:r>
            </a:p>
          </p:txBody>
        </p:sp>
      </p:grpSp>
      <p:sp>
        <p:nvSpPr>
          <p:cNvPr id="34" name="New shape"/>
          <p:cNvSpPr txBox="1"/>
          <p:nvPr/>
        </p:nvSpPr>
        <p:spPr>
          <a:xfrm>
            <a:off x="4029075" y="4083367"/>
            <a:ext cx="40290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1" i="0">
                <a:solidFill>
                  <a:srgbClr val="192743"/>
                </a:solidFill>
                <a:latin typeface="Poppins"/>
              </a:rPr>
              <a:t>Signifikanz (*)</a:t>
            </a:r>
          </a:p>
        </p:txBody>
      </p:sp>
      <p:sp>
        <p:nvSpPr>
          <p:cNvPr id="35" name="New shape"/>
          <p:cNvSpPr txBox="1"/>
          <p:nvPr/>
        </p:nvSpPr>
        <p:spPr>
          <a:xfrm>
            <a:off x="4029075" y="4254817"/>
            <a:ext cx="4029075" cy="72009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Anhand der Signifikanz kann man feststellen, ob der Unterschied zwischen zwei Ergebnissen bedeutsam ist oder auf Zufall beruht. Ein Ergebnis, das mit einem Sternchen markiert wurde, bedeutet, dass der Unterschied zwischen diesem Ergebnis und dem Ergebnis von Aktuell als signifikant betrachtet werden kann. Es symbolisiert demnach einen Unterschied, dem Beachtung geschenkt werden sollte.</a:t>
            </a:r>
          </a:p>
        </p:txBody>
      </p:sp>
      <p:sp>
        <p:nvSpPr>
          <p:cNvPr id="36"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50</a:t>
            </a:r>
          </a:p>
        </p:txBody>
      </p:sp>
      <p:pic>
        <p:nvPicPr>
          <p:cNvPr id="37" name="New picture"/>
          <p:cNvPicPr/>
          <p:nvPr/>
        </p:nvPicPr>
        <p:blipFill>
          <a:blip>
            <a:extLst>
              <a:ext uri="{96DAC541-7B7A-43D3-8B79-37D633B846F1}">
                <asvg:svgBlip xmlns:asvg="http://schemas.microsoft.com/office/drawing/2016/SVG/main" r:embed="rId3"/>
              </a:ext>
            </a:extLst>
          </a:blip>
          <a:stretch>
            <a:fillRect/>
          </a:stretch>
        </p:blipFill>
        <p:spPr>
          <a:xfrm>
            <a:off x="8829675" y="147661"/>
            <a:ext cx="217884" cy="217884"/>
          </a:xfrm>
          <a:prstGeom prst="rect">
            <a:avLst/>
          </a:prstGeom>
        </p:spPr>
      </p:pic>
      <p:sp>
        <p:nvSpPr>
          <p:cNvPr id="39"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Indizes verglichen nach Befragungsgruppen</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2" name="New Table"/>
          <p:cNvGraphicFramePr>
            <a:graphicFrameLocks noGrp="1"/>
          </p:cNvGraphicFramePr>
          <p:nvPr/>
        </p:nvGraphicFramePr>
        <p:xfrm>
          <a:off x="457200" y="1835944"/>
          <a:ext cx="7772400" cy="2286000"/>
        </p:xfrm>
        <a:graphic>
          <a:graphicData uri="http://schemas.openxmlformats.org/drawingml/2006/table">
            <a:tbl>
              <a:tblPr bandRow="1">
                <a:tableStyleId>{5C22544A-7EE6-4342-B048-85BDC9FD1C3A}</a:tableStyleId>
              </a:tblPr>
              <a:tblGrid>
                <a:gridCol w="36576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14350">
                  <a:extLst>
                    <a:ext uri="{9D8B030D-6E8A-4147-A177-3AD203B41FA5}">
                      <a16:colId xmlns:a16="http://schemas.microsoft.com/office/drawing/2014/main" val="20008"/>
                    </a:ext>
                  </a:extLst>
                </a:gridCol>
              </a:tblGrid>
              <a:tr h="285750">
                <a:tc>
                  <a:txBody>
                    <a:bodyPr/>
                    <a:lstStyle/>
                    <a:p>
                      <a:pPr algn="l"/>
                      <a:r>
                        <a:rPr sz="788" b="0" i="0">
                          <a:solidFill>
                            <a:srgbClr val="192743"/>
                          </a:solidFill>
                          <a:latin typeface="Poppins"/>
                        </a:rPr>
                        <a:t>Arbeitgeberkompetenz</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Engagement</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Veränderung gestalten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64%</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Mitarbeiter führen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69%</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192743"/>
                          </a:solidFill>
                          <a:latin typeface="Poppins"/>
                        </a:rPr>
                        <a:t>Systeme managen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75%</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a:solidFill>
                            <a:srgbClr val="192743"/>
                          </a:solidFill>
                          <a:latin typeface="Poppins"/>
                        </a:rPr>
                        <a:t>Qualität des Leistungsumfeldes</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68%</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Richtung geben</a:t>
                      </a:r>
                    </a:p>
                  </a:txBody>
                  <a:tcPr marL="0" marR="0" marT="0" marB="0"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73%</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71%</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70%</a:t>
                      </a:r>
                    </a:p>
                  </a:txBody>
                  <a:tcPr marL="0" marR="0" marT="0" marB="0"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6719"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3" name="Group 12"/>
          <p:cNvGrpSpPr/>
          <p:nvPr/>
        </p:nvGrpSpPr>
        <p:grpSpPr>
          <a:xfrm rot="18900000">
            <a:off x="4106221" y="1030552"/>
            <a:ext cx="1471613" cy="240649"/>
            <a:chOff x="3694112" y="97234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3694112" y="1035209"/>
              <a:ext cx="114300" cy="137160"/>
            </a:xfrm>
            <a:prstGeom prst="rect">
              <a:avLst/>
            </a:prstGeom>
          </p:spPr>
        </p:pic>
        <p:sp>
          <p:nvSpPr>
            <p:cNvPr id="15" name="New shape"/>
            <p:cNvSpPr txBox="1"/>
            <p:nvPr/>
          </p:nvSpPr>
          <p:spPr>
            <a:xfrm>
              <a:off x="3879850" y="97234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16" name="New shape"/>
            <p:cNvSpPr txBox="1"/>
            <p:nvPr/>
          </p:nvSpPr>
          <p:spPr>
            <a:xfrm>
              <a:off x="3879849" y="109174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17" name="Group 16"/>
          <p:cNvGrpSpPr/>
          <p:nvPr/>
        </p:nvGrpSpPr>
        <p:grpSpPr>
          <a:xfrm rot="18900000">
            <a:off x="4599812" y="1146845"/>
            <a:ext cx="1357312" cy="120015"/>
            <a:chOff x="4208462" y="955199"/>
            <a:chExt cx="1285875" cy="120015"/>
          </a:xfrm>
        </p:grpSpPr>
        <p:sp>
          <p:nvSpPr>
            <p:cNvPr id="18" name="New shape"/>
            <p:cNvSpPr txBox="1"/>
            <p:nvPr/>
          </p:nvSpPr>
          <p:spPr>
            <a:xfrm>
              <a:off x="42084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114162" y="1146845"/>
            <a:ext cx="1357312" cy="120015"/>
            <a:chOff x="4722812" y="955199"/>
            <a:chExt cx="1285875" cy="120015"/>
          </a:xfrm>
        </p:grpSpPr>
        <p:sp>
          <p:nvSpPr>
            <p:cNvPr id="20" name="New shape"/>
            <p:cNvSpPr txBox="1"/>
            <p:nvPr/>
          </p:nvSpPr>
          <p:spPr>
            <a:xfrm>
              <a:off x="47228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5628512" y="1146845"/>
            <a:ext cx="1357312" cy="120015"/>
            <a:chOff x="5237162" y="955199"/>
            <a:chExt cx="1285875" cy="120015"/>
          </a:xfrm>
        </p:grpSpPr>
        <p:sp>
          <p:nvSpPr>
            <p:cNvPr id="22" name="New shape"/>
            <p:cNvSpPr txBox="1"/>
            <p:nvPr/>
          </p:nvSpPr>
          <p:spPr>
            <a:xfrm>
              <a:off x="52371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142862" y="1146845"/>
            <a:ext cx="1357312" cy="120015"/>
            <a:chOff x="5751512" y="955199"/>
            <a:chExt cx="1285875" cy="120015"/>
          </a:xfrm>
        </p:grpSpPr>
        <p:sp>
          <p:nvSpPr>
            <p:cNvPr id="24" name="New shape"/>
            <p:cNvSpPr txBox="1"/>
            <p:nvPr/>
          </p:nvSpPr>
          <p:spPr>
            <a:xfrm>
              <a:off x="57515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6657212" y="1146845"/>
            <a:ext cx="1357312" cy="120015"/>
            <a:chOff x="6265862" y="955199"/>
            <a:chExt cx="1285875" cy="120015"/>
          </a:xfrm>
        </p:grpSpPr>
        <p:sp>
          <p:nvSpPr>
            <p:cNvPr id="26" name="New shape"/>
            <p:cNvSpPr txBox="1"/>
            <p:nvPr/>
          </p:nvSpPr>
          <p:spPr>
            <a:xfrm>
              <a:off x="62658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171562" y="1146845"/>
            <a:ext cx="1357312" cy="120015"/>
            <a:chOff x="6780212" y="955199"/>
            <a:chExt cx="1285875" cy="120015"/>
          </a:xfrm>
        </p:grpSpPr>
        <p:sp>
          <p:nvSpPr>
            <p:cNvPr id="28" name="New shape"/>
            <p:cNvSpPr txBox="1"/>
            <p:nvPr/>
          </p:nvSpPr>
          <p:spPr>
            <a:xfrm>
              <a:off x="678021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grpSp>
        <p:nvGrpSpPr>
          <p:cNvPr id="29" name="Group 28"/>
          <p:cNvGrpSpPr/>
          <p:nvPr/>
        </p:nvGrpSpPr>
        <p:grpSpPr>
          <a:xfrm rot="18900000">
            <a:off x="7685912" y="1146845"/>
            <a:ext cx="1357312" cy="120015"/>
            <a:chOff x="7294562" y="955199"/>
            <a:chExt cx="1285875" cy="120015"/>
          </a:xfrm>
        </p:grpSpPr>
        <p:sp>
          <p:nvSpPr>
            <p:cNvPr id="30" name="New shape"/>
            <p:cNvSpPr txBox="1"/>
            <p:nvPr/>
          </p:nvSpPr>
          <p:spPr>
            <a:xfrm>
              <a:off x="7294562" y="95519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
        <p:nvSpPr>
          <p:cNvPr id="31" name="New shape"/>
          <p:cNvSpPr txBox="1"/>
          <p:nvPr/>
        </p:nvSpPr>
        <p:spPr>
          <a:xfrm>
            <a:off x="457200" y="457200"/>
            <a:ext cx="8229600"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Indexergebnisse</a:t>
            </a:r>
          </a:p>
        </p:txBody>
      </p:sp>
      <p:sp>
        <p:nvSpPr>
          <p:cNvPr id="32" name="New shape"/>
          <p:cNvSpPr txBox="1"/>
          <p:nvPr/>
        </p:nvSpPr>
        <p:spPr>
          <a:xfrm>
            <a:off x="457200" y="892969"/>
            <a:ext cx="8215312"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900" b="0" i="0">
                <a:solidFill>
                  <a:srgbClr val="192743"/>
                </a:solidFill>
                <a:latin typeface="Poppins"/>
              </a:rPr>
              <a:t>Indizes verglichen nach Befragungsgruppen</a:t>
            </a:r>
          </a:p>
        </p:txBody>
      </p:sp>
      <p:sp>
        <p:nvSpPr>
          <p:cNvPr id="33"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34"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35"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36"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7"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38"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39"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40"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sp>
        <p:nvSpPr>
          <p:cNvPr id="41"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51</a:t>
            </a:r>
          </a:p>
        </p:txBody>
      </p:sp>
      <p:sp>
        <p:nvSpPr>
          <p:cNvPr id="42"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8829675" y="147661"/>
            <a:ext cx="217884" cy="217884"/>
          </a:xfrm>
          <a:prstGeom prst="rect">
            <a:avLst/>
          </a:prstGeom>
        </p:spPr>
      </p:pic>
      <p:sp>
        <p:nvSpPr>
          <p:cNvPr id="4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Spaß an der Arbeit (1)</a:t>
            </a:r>
          </a:p>
        </p:txBody>
      </p:sp>
      <p:sp>
        <p:nvSpPr>
          <p:cNvPr id="3"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4"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5"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6"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7"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8"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9"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0"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1"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2"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Meine Arbeit macht mir Spaß</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3" name="Group 12"/>
          <p:cNvGrpSpPr/>
          <p:nvPr/>
        </p:nvGrpSpPr>
        <p:grpSpPr>
          <a:xfrm rot="18900000">
            <a:off x="4620571" y="859102"/>
            <a:ext cx="1471613" cy="240649"/>
            <a:chOff x="4208462" y="800894"/>
            <a:chExt cx="1471613" cy="240649"/>
          </a:xfrm>
        </p:grpSpPr>
        <p:pic>
          <p:nvPicPr>
            <p:cNvPr id="14"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15"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16"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17" name="Group 16"/>
          <p:cNvGrpSpPr/>
          <p:nvPr/>
        </p:nvGrpSpPr>
        <p:grpSpPr>
          <a:xfrm rot="18900000">
            <a:off x="5114162" y="975395"/>
            <a:ext cx="1357312" cy="120015"/>
            <a:chOff x="4722812" y="783749"/>
            <a:chExt cx="1285875" cy="120015"/>
          </a:xfrm>
        </p:grpSpPr>
        <p:sp>
          <p:nvSpPr>
            <p:cNvPr id="18"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19" name="Group 18"/>
          <p:cNvGrpSpPr/>
          <p:nvPr/>
        </p:nvGrpSpPr>
        <p:grpSpPr>
          <a:xfrm rot="18900000">
            <a:off x="5628512" y="975395"/>
            <a:ext cx="1357312" cy="120015"/>
            <a:chOff x="5237162" y="783749"/>
            <a:chExt cx="1285875" cy="120015"/>
          </a:xfrm>
        </p:grpSpPr>
        <p:sp>
          <p:nvSpPr>
            <p:cNvPr id="20"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1" name="Group 20"/>
          <p:cNvGrpSpPr/>
          <p:nvPr/>
        </p:nvGrpSpPr>
        <p:grpSpPr>
          <a:xfrm rot="18900000">
            <a:off x="6142862" y="975395"/>
            <a:ext cx="1357312" cy="120015"/>
            <a:chOff x="5751512" y="783749"/>
            <a:chExt cx="1285875" cy="120015"/>
          </a:xfrm>
        </p:grpSpPr>
        <p:sp>
          <p:nvSpPr>
            <p:cNvPr id="22"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3" name="Group 22"/>
          <p:cNvGrpSpPr/>
          <p:nvPr/>
        </p:nvGrpSpPr>
        <p:grpSpPr>
          <a:xfrm rot="18900000">
            <a:off x="6657212" y="975395"/>
            <a:ext cx="1357312" cy="120015"/>
            <a:chOff x="6265862" y="783749"/>
            <a:chExt cx="1285875" cy="120015"/>
          </a:xfrm>
        </p:grpSpPr>
        <p:sp>
          <p:nvSpPr>
            <p:cNvPr id="24"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25" name="Group 24"/>
          <p:cNvGrpSpPr/>
          <p:nvPr/>
        </p:nvGrpSpPr>
        <p:grpSpPr>
          <a:xfrm rot="18900000">
            <a:off x="7171562" y="975395"/>
            <a:ext cx="1357312" cy="120015"/>
            <a:chOff x="6780212" y="783749"/>
            <a:chExt cx="1285875" cy="120015"/>
          </a:xfrm>
        </p:grpSpPr>
        <p:sp>
          <p:nvSpPr>
            <p:cNvPr id="26"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27" name="Group 26"/>
          <p:cNvGrpSpPr/>
          <p:nvPr/>
        </p:nvGrpSpPr>
        <p:grpSpPr>
          <a:xfrm rot="18900000">
            <a:off x="7685912" y="975395"/>
            <a:ext cx="1357312" cy="120015"/>
            <a:chOff x="7294562" y="783749"/>
            <a:chExt cx="1285875" cy="120015"/>
          </a:xfrm>
        </p:grpSpPr>
        <p:sp>
          <p:nvSpPr>
            <p:cNvPr id="28"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
        <p:nvSpPr>
          <p:cNvPr id="29"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52</a:t>
            </a:r>
          </a:p>
        </p:txBody>
      </p:sp>
      <p:sp>
        <p:nvSpPr>
          <p:cNvPr id="30"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1"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Spaß an der Arbeit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Meine Arbeit macht mir Spaß</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Arbeitsmöglichkeiten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954533"/>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Ich habe die Arbeitsmittel, die ich brauche, um gute Arbeit zu leisten  (z.B. Werkzeuge, Geräte, Software, Materialien, usw.)</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Wichtige Informationen sind für mich leicht zugänglich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Arbeitsmöglichkeiten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Ich habe die Arbeitsmittel, die ich brauche, um gute Arbeit zu leisten  (z.B. Werkzeuge, Geräte, Software, Materialien, usw.)</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Wichtige Informationen sind für mich leicht zugänglich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Arbeitsleistung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Meine Fähigkeiten und Kenntnisse passen zu meinem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weiß, welche Arbeitsergebnisse von mir erwartet werden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Arbeitsleistung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Meine Fähigkeiten und Kenntnisse passen zu meinem Job</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weiß, welche Arbeitsergebnisse von mir erwartet werden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Bei der Arbeit fühle ich mich fit und tatkräftig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kann mein Berufs- und Privatleben gut miteinander vereinbaren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Ich habe ausreichend Zeit, um meine Arbeit ordnungsgemäß zu erledigen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Meine Arbeit motiviert mich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59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428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Bei der Arbeit fühle ich mich fit und tatkräftig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kann mein Berufs- und Privatleben gut miteinander vereinbaren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Ich habe ausreichend Zeit, um meine Arbeit ordnungsgemäß zu erledigen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Meine Arbeit motiviert mich</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(3)</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Meine Arbeitsbelastung ist</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Viel zu niedrig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41%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Zu niedrig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22%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41%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13%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Genau richtig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Zu hoch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Viel zu hoch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Ich kann meine Arbeitsbelastung gut bewältigen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Bei der Arbeit gelingt es mir, mit Stress effektiv umzugehen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(4)</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321594"/>
          <a:ext cx="7772400" cy="2571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Meine Arbeitsbelastung ist</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Viel zu niedrig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51%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Zu niedrig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Genau richtig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Zu hoch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Viel zu hoch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192743"/>
                          </a:solidFill>
                          <a:latin typeface="Poppins"/>
                        </a:rPr>
                        <a:t>Ich kann meine Arbeitsbelastung gut bewältigen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Bei der Arbeit gelingt es mir, mit Stress effektiv umzugehen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(5)</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2314895"/>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Ich bin in der Lage, ein gutes Gleichgewicht zwischen Arbeit und Erholung zu halten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bin zuversichtlich, dass ich in den nächsten drei Monaten so weiterarbeiten kann wie jetzt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Bei der Arbeit vergeht die Zeit wie im Flug</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Ich habe im vergangenen Jahr unerwünschtes Verhalten von Kolleginnen oder Kollegen erlebt (z.B. verbale Aggression, Gewalt,sexuelle Belästigung, Mobbing, Diskriminierung usw.)</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000000">
                        <a:alpha val="0"/>
                      </a:srgb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Nie</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Gelegentlich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6"/>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(6)</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2383283"/>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Ich bin in der Lage, ein gutes Gleichgewicht zwischen Arbeit und Erholung zu halten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bin zuversichtlich, dass ich in den nächsten drei Monaten so weiterarbeiten kann wie jetzt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Bei der Arbeit vergeht die Zeit wie im Flug</a:t>
                      </a:r>
                    </a:p>
                  </a:txBody>
                  <a:tcPr marL="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192743"/>
                          </a:solidFill>
                          <a:latin typeface="Poppins"/>
                        </a:rPr>
                        <a:t>Ich habe im vergangenen Jahr unerwünschtes Verhalten von Kolleginnen oder Kollegen erlebt (z.B. verbale Aggression, Gewalt,sexuelle Belästigung, Mobbing, Diskriminierung usw.)</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Nie</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1">
                          <a:solidFill>
                            <a:srgbClr val="192743"/>
                          </a:solidFill>
                          <a:latin typeface="Poppins"/>
                        </a:rPr>
                        <a:t>Gelegentlich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1">
                          <a:solidFill>
                            <a:srgbClr val="192743"/>
                          </a:solidFill>
                          <a:latin typeface="Poppins"/>
                        </a:rPr>
                        <a:t>Regelmäßig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7"/>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(7)</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931862"/>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1">
                          <a:solidFill>
                            <a:srgbClr val="192743"/>
                          </a:solidFill>
                          <a:latin typeface="Poppins"/>
                        </a:rPr>
                        <a:t>Regelmäßig</a:t>
                      </a:r>
                    </a:p>
                  </a:txBody>
                  <a:tcPr marL="114300" marR="0" marT="71438" marB="71438" anchor="ctr">
                    <a:lnL w="0">
                      <a:solidFill>
                        <a:srgbClr val="E6E9EE"/>
                      </a:solidFill>
                    </a:lnL>
                    <a:lnR w="7144">
                      <a:solidFill>
                        <a:srgbClr val="E6E9EE"/>
                      </a:solidFill>
                    </a:lnR>
                    <a:lnT w="7144">
                      <a:solidFill>
                        <a:srgbClr val="E6E9EE"/>
                      </a:solidFill>
                    </a:lnT>
                    <a:lnB w="0">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srgbClr val="EFF4FF"/>
                    </a:solidFill>
                  </a:tcPr>
                </a:tc>
                <a:tc>
                  <a:txBody>
                    <a:bodyPr/>
                    <a:lstStyle/>
                    <a:p>
                      <a:pPr algn="ctr"/>
                      <a:r>
                        <a:rPr sz="900" b="1" i="0">
                          <a:solidFill>
                            <a:srgbClr val="192743"/>
                          </a:solidFill>
                          <a:latin typeface="Poppins"/>
                        </a:rPr>
                        <a:t>12%</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9%</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6%</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tc>
                  <a:txBody>
                    <a:bodyPr/>
                    <a:lstStyle/>
                    <a:p>
                      <a:pPr algn="ctr"/>
                      <a:r>
                        <a:rPr sz="900" b="1" i="0">
                          <a:solidFill>
                            <a:srgbClr val="192743"/>
                          </a:solidFill>
                          <a:latin typeface="Poppins"/>
                        </a:rPr>
                        <a:t>17%</a:t>
                      </a:r>
                    </a:p>
                  </a:txBody>
                  <a:tcPr marL="0" marR="0" marT="71438" marB="71438" anchor="ctr">
                    <a:lnL w="7144">
                      <a:solidFill>
                        <a:srgbClr val="E6E9EE"/>
                      </a:solidFill>
                    </a:lnL>
                    <a:lnR w="7144">
                      <a:solidFill>
                        <a:srgbClr val="E6E9EE"/>
                      </a:solidFill>
                    </a:lnR>
                    <a:lnT w="7144">
                      <a:solidFill>
                        <a:srgbClr val="E6E9EE"/>
                      </a:solidFill>
                    </a:lnT>
                    <a:lnB w="0">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habe im vergangenen Jahr unerwünschtes Verhalten von Kundinnen oder Kunden erlebt (z. B. verbale Aggression, Gewalt, sexuelle Belästigung, Mobbing, Diskriminierung usw.)</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Nie</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Gelegentlich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30%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1">
                          <a:solidFill>
                            <a:srgbClr val="192743"/>
                          </a:solidFill>
                          <a:latin typeface="Poppins"/>
                        </a:rPr>
                        <a:t>Regelmäßig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18%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5"/>
                  </a:ext>
                </a:extLst>
              </a:tr>
            </a:tbl>
          </a:graphicData>
        </a:graphic>
      </p:graphicFrame>
      <p:grpSp>
        <p:nvGrpSpPr>
          <p:cNvPr id="18" name="Group 17"/>
          <p:cNvGrpSpPr/>
          <p:nvPr/>
        </p:nvGrpSpPr>
        <p:grpSpPr>
          <a:xfrm rot="18900000">
            <a:off x="4620571" y="816240"/>
            <a:ext cx="1471613" cy="240649"/>
            <a:chOff x="420846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20896"/>
              <a:ext cx="114300" cy="137160"/>
            </a:xfrm>
            <a:prstGeom prst="rect">
              <a:avLst/>
            </a:prstGeom>
          </p:spPr>
        </p:pic>
        <p:sp>
          <p:nvSpPr>
            <p:cNvPr id="20" name="New shape"/>
            <p:cNvSpPr txBox="1"/>
            <p:nvPr/>
          </p:nvSpPr>
          <p:spPr>
            <a:xfrm>
              <a:off x="439420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32533"/>
            <a:ext cx="1357312" cy="120015"/>
            <a:chOff x="4722812" y="740886"/>
            <a:chExt cx="1285875" cy="120015"/>
          </a:xfrm>
        </p:grpSpPr>
        <p:sp>
          <p:nvSpPr>
            <p:cNvPr id="23" name="New shape"/>
            <p:cNvSpPr txBox="1"/>
            <p:nvPr/>
          </p:nvSpPr>
          <p:spPr>
            <a:xfrm>
              <a:off x="47228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32533"/>
            <a:ext cx="1357312" cy="120015"/>
            <a:chOff x="5237162" y="740886"/>
            <a:chExt cx="1285875" cy="120015"/>
          </a:xfrm>
        </p:grpSpPr>
        <p:sp>
          <p:nvSpPr>
            <p:cNvPr id="25" name="New shape"/>
            <p:cNvSpPr txBox="1"/>
            <p:nvPr/>
          </p:nvSpPr>
          <p:spPr>
            <a:xfrm>
              <a:off x="52371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32533"/>
            <a:ext cx="1357312" cy="120015"/>
            <a:chOff x="5751512" y="740886"/>
            <a:chExt cx="1285875" cy="120015"/>
          </a:xfrm>
        </p:grpSpPr>
        <p:sp>
          <p:nvSpPr>
            <p:cNvPr id="27" name="New shape"/>
            <p:cNvSpPr txBox="1"/>
            <p:nvPr/>
          </p:nvSpPr>
          <p:spPr>
            <a:xfrm>
              <a:off x="57515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32533"/>
            <a:ext cx="1357312" cy="120015"/>
            <a:chOff x="6265862" y="740886"/>
            <a:chExt cx="1285875" cy="120015"/>
          </a:xfrm>
        </p:grpSpPr>
        <p:sp>
          <p:nvSpPr>
            <p:cNvPr id="29" name="New shape"/>
            <p:cNvSpPr txBox="1"/>
            <p:nvPr/>
          </p:nvSpPr>
          <p:spPr>
            <a:xfrm>
              <a:off x="62658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32533"/>
            <a:ext cx="1357312" cy="120015"/>
            <a:chOff x="6780212" y="740886"/>
            <a:chExt cx="1285875" cy="120015"/>
          </a:xfrm>
        </p:grpSpPr>
        <p:sp>
          <p:nvSpPr>
            <p:cNvPr id="31" name="New shape"/>
            <p:cNvSpPr txBox="1"/>
            <p:nvPr/>
          </p:nvSpPr>
          <p:spPr>
            <a:xfrm>
              <a:off x="678021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32533"/>
            <a:ext cx="1357312" cy="120015"/>
            <a:chOff x="7294562" y="740886"/>
            <a:chExt cx="1285875" cy="120015"/>
          </a:xfrm>
        </p:grpSpPr>
        <p:sp>
          <p:nvSpPr>
            <p:cNvPr id="3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Wohlbefinden und Arbeitsbelastung (8)</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224439"/>
          <a:ext cx="7772400" cy="1526033"/>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Ich habe im vergangenen Jahr unerwünschtes Verhalten von Kundinnen oder Kunden erlebt (z. B. verbale Aggression, Gewalt, sexuelle Belästigung, Mobbing, Diskriminierung usw.)</a:t>
                      </a: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C55C7"/>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srgbClr val="FFFFFF"/>
                    </a:solidFill>
                  </a:tcPr>
                </a:tc>
                <a:tc>
                  <a:txBody>
                    <a:bodyPr/>
                    <a:lstStyle/>
                    <a:p>
                      <a:pPr algn="ctr"/>
                      <a:endParaRPr sz="900" b="1" i="0">
                        <a:solidFill>
                          <a:srgbClr val="192743"/>
                        </a:solidFill>
                        <a:latin typeface="Poppins"/>
                      </a:endParaRPr>
                    </a:p>
                  </a:txBody>
                  <a:tcPr marL="0" marR="0" marT="71438" marB="71438" anchor="ctr">
                    <a:lnL w="0">
                      <a:solidFill>
                        <a:srgbClr val="E6E9EE"/>
                      </a:solidFill>
                    </a:lnL>
                    <a:lnR w="0">
                      <a:solidFill>
                        <a:srgbClr val="E6E9EE"/>
                      </a:solidFill>
                    </a:lnR>
                    <a:lnT w="0">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1">
                          <a:solidFill>
                            <a:srgbClr val="192743"/>
                          </a:solidFill>
                          <a:latin typeface="Poppins"/>
                        </a:rPr>
                        <a:t>Nie</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1">
                          <a:solidFill>
                            <a:srgbClr val="192743"/>
                          </a:solidFill>
                          <a:latin typeface="Poppins"/>
                        </a:rPr>
                        <a:t>Gelegentlich</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25%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20%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1">
                          <a:solidFill>
                            <a:srgbClr val="192743"/>
                          </a:solidFill>
                          <a:latin typeface="Poppins"/>
                        </a:rPr>
                        <a:t>Regelmäßig</a:t>
                      </a:r>
                    </a:p>
                  </a:txBody>
                  <a:tcPr marL="11430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9FAFB"/>
                    </a:solidFill>
                  </a:tcPr>
                </a:tc>
                <a:tc>
                  <a:txBody>
                    <a:bodyPr/>
                    <a:lstStyle/>
                    <a:p>
                      <a:pPr algn="ctr"/>
                      <a:r>
                        <a:rPr sz="900" b="1" i="0">
                          <a:solidFill>
                            <a:srgbClr val="1C55C7"/>
                          </a:solidFill>
                          <a:latin typeface="Poppins"/>
                        </a:rPr>
                        <a:t>11%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15%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4"/>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32533"/>
            <a:ext cx="1357312" cy="120015"/>
            <a:chOff x="7294562" y="740886"/>
            <a:chExt cx="1285875" cy="120015"/>
          </a:xfrm>
        </p:grpSpPr>
        <p:sp>
          <p:nvSpPr>
            <p:cNvPr id="23" name="New shape"/>
            <p:cNvSpPr txBox="1"/>
            <p:nvPr/>
          </p:nvSpPr>
          <p:spPr>
            <a:xfrm>
              <a:off x="7294562" y="740886"/>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Zusammenarbeit und Leistung im Team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240283"/>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Mein Team </a:t>
                      </a:r>
                      <a:r>
                        <a:rPr sz="788" b="0" i="0" dirty="0" err="1">
                          <a:solidFill>
                            <a:srgbClr val="192743"/>
                          </a:solidFill>
                          <a:latin typeface="Poppins"/>
                        </a:rPr>
                        <a:t>weiß</a:t>
                      </a:r>
                      <a:r>
                        <a:rPr sz="788" b="0" i="0" dirty="0">
                          <a:solidFill>
                            <a:srgbClr val="192743"/>
                          </a:solidFill>
                          <a:latin typeface="Poppins"/>
                        </a:rPr>
                        <a:t>, was </a:t>
                      </a:r>
                      <a:r>
                        <a:rPr sz="788" b="0" i="0" dirty="0" err="1">
                          <a:solidFill>
                            <a:srgbClr val="192743"/>
                          </a:solidFill>
                          <a:latin typeface="Poppins"/>
                        </a:rPr>
                        <a:t>getan</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muss, um </a:t>
                      </a:r>
                      <a:r>
                        <a:rPr sz="788" b="0" i="0" dirty="0" err="1">
                          <a:solidFill>
                            <a:srgbClr val="192743"/>
                          </a:solidFill>
                          <a:latin typeface="Poppins"/>
                        </a:rPr>
                        <a:t>zum</a:t>
                      </a:r>
                      <a:r>
                        <a:rPr sz="788" b="0" i="0" dirty="0">
                          <a:solidFill>
                            <a:srgbClr val="192743"/>
                          </a:solidFill>
                          <a:latin typeface="Poppins"/>
                        </a:rPr>
                        <a:t> </a:t>
                      </a:r>
                      <a:r>
                        <a:rPr sz="788" b="0" i="0" dirty="0" err="1">
                          <a:solidFill>
                            <a:srgbClr val="192743"/>
                          </a:solidFill>
                          <a:latin typeface="Poppins"/>
                        </a:rPr>
                        <a:t>Erfolg</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beizutragen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In meinem Team arbeiten wir gut zusammen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94%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A8DBB6"/>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 Team erarbeitet regelmäßig neue und gute Verbesserungsvorschläge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Zusammenarbeit und Leistung im Team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Mein Team </a:t>
                      </a:r>
                      <a:r>
                        <a:rPr sz="788" b="0" i="0" dirty="0" err="1">
                          <a:solidFill>
                            <a:srgbClr val="192743"/>
                          </a:solidFill>
                          <a:latin typeface="Poppins"/>
                        </a:rPr>
                        <a:t>weiß</a:t>
                      </a:r>
                      <a:r>
                        <a:rPr sz="788" b="0" i="0" dirty="0">
                          <a:solidFill>
                            <a:srgbClr val="192743"/>
                          </a:solidFill>
                          <a:latin typeface="Poppins"/>
                        </a:rPr>
                        <a:t>, was </a:t>
                      </a:r>
                      <a:r>
                        <a:rPr sz="788" b="0" i="0" dirty="0" err="1">
                          <a:solidFill>
                            <a:srgbClr val="192743"/>
                          </a:solidFill>
                          <a:latin typeface="Poppins"/>
                        </a:rPr>
                        <a:t>getan</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muss, um </a:t>
                      </a:r>
                      <a:r>
                        <a:rPr sz="788" b="0" i="0" dirty="0" err="1">
                          <a:solidFill>
                            <a:srgbClr val="192743"/>
                          </a:solidFill>
                          <a:latin typeface="Poppins"/>
                        </a:rPr>
                        <a:t>zum</a:t>
                      </a:r>
                      <a:r>
                        <a:rPr sz="788" b="0" i="0" dirty="0">
                          <a:solidFill>
                            <a:srgbClr val="192743"/>
                          </a:solidFill>
                          <a:latin typeface="Poppins"/>
                        </a:rPr>
                        <a:t> </a:t>
                      </a:r>
                      <a:r>
                        <a:rPr sz="788" b="0" i="0" dirty="0" err="1">
                          <a:solidFill>
                            <a:srgbClr val="192743"/>
                          </a:solidFill>
                          <a:latin typeface="Poppins"/>
                        </a:rPr>
                        <a:t>Erfolg</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beizutragen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In meinem Team arbeiten wir gut zusammen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 Team erarbeitet regelmäßig neue und gute Verbesserungsvorschläge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Teamleitung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Ich habe Vertrauen in meine Führungskraft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erhalte regelmäßig nützliches Feedback zu meiner Leistung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Meine Führungskraft geht bei Veränderungen vorbildlich voran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69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Teamleitung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11430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Ich habe Vertrauen in meine Führungskraft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192743"/>
                          </a:solidFill>
                          <a:latin typeface="Poppins"/>
                        </a:rPr>
                        <a:t>Ich erhalte regelmäßig nützliches Feedback zu meiner Leistung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192743"/>
                          </a:solidFill>
                          <a:latin typeface="Poppins"/>
                        </a:rPr>
                        <a:t>Meine Führungskraft geht bei Veränderungen vorbildlich voran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3"/>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Unternehmensstrategie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Ich bin </a:t>
                      </a:r>
                      <a:r>
                        <a:rPr sz="788" b="0" i="0" dirty="0" err="1">
                          <a:solidFill>
                            <a:srgbClr val="192743"/>
                          </a:solidFill>
                          <a:latin typeface="Poppins"/>
                        </a:rPr>
                        <a:t>überzeugt</a:t>
                      </a:r>
                      <a:r>
                        <a:rPr sz="788" b="0" i="0" dirty="0">
                          <a:solidFill>
                            <a:srgbClr val="192743"/>
                          </a:solidFill>
                          <a:latin typeface="Poppins"/>
                        </a:rPr>
                        <a:t> von den Zielen und der </a:t>
                      </a:r>
                      <a:r>
                        <a:rPr sz="788" b="0" i="0" dirty="0" err="1">
                          <a:solidFill>
                            <a:srgbClr val="192743"/>
                          </a:solidFill>
                          <a:latin typeface="Poppins"/>
                        </a:rPr>
                        <a:t>Strategie</a:t>
                      </a:r>
                      <a:r>
                        <a:rPr sz="788" b="0" i="0" dirty="0">
                          <a:solidFill>
                            <a:srgbClr val="192743"/>
                          </a:solidFill>
                          <a:latin typeface="Poppins"/>
                        </a:rPr>
                        <a:t> von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Die </a:t>
                      </a:r>
                      <a:r>
                        <a:rPr sz="788" b="0" i="0" dirty="0" err="1">
                          <a:solidFill>
                            <a:srgbClr val="192743"/>
                          </a:solidFill>
                          <a:latin typeface="Poppins"/>
                        </a:rPr>
                        <a:t>Zukunftsvision</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inspiriert</a:t>
                      </a:r>
                      <a:r>
                        <a:rPr sz="788" b="0" i="0" dirty="0">
                          <a:solidFill>
                            <a:srgbClr val="192743"/>
                          </a:solidFill>
                          <a:latin typeface="Poppins"/>
                        </a:rPr>
                        <a:t> </a:t>
                      </a:r>
                      <a:r>
                        <a:rPr sz="788" b="0" i="0" dirty="0" err="1">
                          <a:solidFill>
                            <a:srgbClr val="192743"/>
                          </a:solidFill>
                          <a:latin typeface="Poppins"/>
                        </a:rPr>
                        <a:t>mich</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Unternehmensstrategie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8572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Ich bin </a:t>
                      </a:r>
                      <a:r>
                        <a:rPr sz="788" b="0" i="0" dirty="0" err="1">
                          <a:solidFill>
                            <a:srgbClr val="192743"/>
                          </a:solidFill>
                          <a:latin typeface="Poppins"/>
                        </a:rPr>
                        <a:t>überzeugt</a:t>
                      </a:r>
                      <a:r>
                        <a:rPr sz="788" b="0" i="0" dirty="0">
                          <a:solidFill>
                            <a:srgbClr val="192743"/>
                          </a:solidFill>
                          <a:latin typeface="Poppins"/>
                        </a:rPr>
                        <a:t> von den Zielen und der </a:t>
                      </a:r>
                      <a:r>
                        <a:rPr sz="788" b="0" i="0" dirty="0" err="1">
                          <a:solidFill>
                            <a:srgbClr val="192743"/>
                          </a:solidFill>
                          <a:latin typeface="Poppins"/>
                        </a:rPr>
                        <a:t>Strategie</a:t>
                      </a:r>
                      <a:r>
                        <a:rPr sz="788" b="0" i="0" dirty="0">
                          <a:solidFill>
                            <a:srgbClr val="192743"/>
                          </a:solidFill>
                          <a:latin typeface="Poppins"/>
                        </a:rPr>
                        <a:t> von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Die </a:t>
                      </a:r>
                      <a:r>
                        <a:rPr sz="788" b="0" i="0" dirty="0" err="1">
                          <a:solidFill>
                            <a:srgbClr val="192743"/>
                          </a:solidFill>
                          <a:latin typeface="Poppins"/>
                        </a:rPr>
                        <a:t>Zukunftsvision</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inspiriert</a:t>
                      </a:r>
                      <a:r>
                        <a:rPr sz="788" b="0" i="0" dirty="0">
                          <a:solidFill>
                            <a:srgbClr val="192743"/>
                          </a:solidFill>
                          <a:latin typeface="Poppins"/>
                        </a:rPr>
                        <a:t> </a:t>
                      </a:r>
                      <a:r>
                        <a:rPr sz="788" b="0" i="0" dirty="0" err="1">
                          <a:solidFill>
                            <a:srgbClr val="192743"/>
                          </a:solidFill>
                          <a:latin typeface="Poppins"/>
                        </a:rPr>
                        <a:t>mich</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2"/>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72</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Unternehmenskommunikation und Zusammenarbeit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Bei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sind</a:t>
                      </a:r>
                      <a:r>
                        <a:rPr sz="788" b="0" i="0" dirty="0">
                          <a:solidFill>
                            <a:srgbClr val="192743"/>
                          </a:solidFill>
                          <a:latin typeface="Poppins"/>
                        </a:rPr>
                        <a:t> die </a:t>
                      </a:r>
                      <a:r>
                        <a:rPr sz="788" b="0" i="0" dirty="0" err="1">
                          <a:solidFill>
                            <a:srgbClr val="192743"/>
                          </a:solidFill>
                          <a:latin typeface="Poppins"/>
                        </a:rPr>
                        <a:t>Arbeitsabläufe</a:t>
                      </a:r>
                      <a:r>
                        <a:rPr sz="788" b="0" i="0" dirty="0">
                          <a:solidFill>
                            <a:srgbClr val="192743"/>
                          </a:solidFill>
                          <a:latin typeface="Poppins"/>
                        </a:rPr>
                        <a:t> gut </a:t>
                      </a:r>
                      <a:r>
                        <a:rPr sz="788" b="0" i="0" dirty="0" err="1">
                          <a:solidFill>
                            <a:srgbClr val="192743"/>
                          </a:solidFill>
                          <a:latin typeface="Poppins"/>
                        </a:rPr>
                        <a:t>organisiert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73</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Unternehmenskommunikation und Zusammenarbeit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Bei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sind</a:t>
                      </a:r>
                      <a:r>
                        <a:rPr sz="788" b="0" i="0" dirty="0">
                          <a:solidFill>
                            <a:srgbClr val="192743"/>
                          </a:solidFill>
                          <a:latin typeface="Poppins"/>
                        </a:rPr>
                        <a:t> die </a:t>
                      </a:r>
                      <a:r>
                        <a:rPr sz="788" b="0" i="0" dirty="0" err="1">
                          <a:solidFill>
                            <a:srgbClr val="192743"/>
                          </a:solidFill>
                          <a:latin typeface="Poppins"/>
                        </a:rPr>
                        <a:t>Arbeitsabläufe</a:t>
                      </a:r>
                      <a:r>
                        <a:rPr sz="788" b="0" i="0" dirty="0">
                          <a:solidFill>
                            <a:srgbClr val="192743"/>
                          </a:solidFill>
                          <a:latin typeface="Poppins"/>
                        </a:rPr>
                        <a:t> gut </a:t>
                      </a:r>
                      <a:r>
                        <a:rPr sz="788" b="0" i="0" dirty="0" err="1">
                          <a:solidFill>
                            <a:srgbClr val="192743"/>
                          </a:solidFill>
                          <a:latin typeface="Poppins"/>
                        </a:rPr>
                        <a:t>organisiert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74</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Unternehmenskultur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a:t>
                      </a:r>
                      <a:r>
                        <a:rPr sz="788" b="0" i="0" dirty="0" err="1">
                          <a:solidFill>
                            <a:srgbClr val="192743"/>
                          </a:solidFill>
                          <a:latin typeface="Poppins"/>
                        </a:rPr>
                        <a:t>ein</a:t>
                      </a:r>
                      <a:r>
                        <a:rPr sz="788" b="0" i="0" dirty="0">
                          <a:solidFill>
                            <a:srgbClr val="192743"/>
                          </a:solidFill>
                          <a:latin typeface="Poppins"/>
                        </a:rPr>
                        <a:t> </a:t>
                      </a:r>
                      <a:r>
                        <a:rPr sz="788" b="0" i="0" dirty="0" err="1">
                          <a:solidFill>
                            <a:srgbClr val="192743"/>
                          </a:solidFill>
                          <a:latin typeface="Poppins"/>
                        </a:rPr>
                        <a:t>guter</a:t>
                      </a:r>
                      <a:r>
                        <a:rPr sz="788" b="0" i="0" dirty="0">
                          <a:solidFill>
                            <a:srgbClr val="192743"/>
                          </a:solidFill>
                          <a:latin typeface="Poppins"/>
                        </a:rPr>
                        <a:t> </a:t>
                      </a:r>
                      <a:r>
                        <a:rPr sz="788" b="0" i="0" dirty="0" err="1">
                          <a:solidFill>
                            <a:srgbClr val="192743"/>
                          </a:solidFill>
                          <a:latin typeface="Poppins"/>
                        </a:rPr>
                        <a:t>Arbeitgeber</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Ich war </a:t>
                      </a:r>
                      <a:r>
                        <a:rPr sz="788" b="0" i="0" dirty="0" err="1">
                          <a:solidFill>
                            <a:srgbClr val="192743"/>
                          </a:solidFill>
                          <a:latin typeface="Poppins"/>
                        </a:rPr>
                        <a:t>stolz</a:t>
                      </a:r>
                      <a:r>
                        <a:rPr sz="788" b="0" i="0" dirty="0">
                          <a:solidFill>
                            <a:srgbClr val="192743"/>
                          </a:solidFill>
                          <a:latin typeface="Poppins"/>
                        </a:rPr>
                        <a:t> </a:t>
                      </a:r>
                      <a:r>
                        <a:rPr sz="788" b="0" i="0" dirty="0" err="1">
                          <a:solidFill>
                            <a:srgbClr val="192743"/>
                          </a:solidFill>
                          <a:latin typeface="Poppins"/>
                        </a:rPr>
                        <a:t>darauf</a:t>
                      </a:r>
                      <a:r>
                        <a:rPr sz="788" b="0" i="0" dirty="0">
                          <a:solidFill>
                            <a:srgbClr val="192743"/>
                          </a:solidFill>
                          <a:latin typeface="Poppins"/>
                        </a:rPr>
                        <a:t>, für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zu</a:t>
                      </a:r>
                      <a:r>
                        <a:rPr sz="788" b="0" i="0" dirty="0">
                          <a:solidFill>
                            <a:srgbClr val="192743"/>
                          </a:solidFill>
                          <a:latin typeface="Poppins"/>
                        </a:rPr>
                        <a:t> </a:t>
                      </a:r>
                      <a:r>
                        <a:rPr sz="788" b="0" i="0" dirty="0" err="1">
                          <a:solidFill>
                            <a:srgbClr val="192743"/>
                          </a:solidFill>
                          <a:latin typeface="Poppins"/>
                        </a:rPr>
                        <a:t>arbeiten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glaube</a:t>
                      </a:r>
                      <a:r>
                        <a:rPr sz="788" b="0" i="0" dirty="0">
                          <a:solidFill>
                            <a:srgbClr val="192743"/>
                          </a:solidFill>
                          <a:latin typeface="Poppins"/>
                        </a:rPr>
                        <a:t>, </a:t>
                      </a:r>
                      <a:r>
                        <a:rPr sz="788" b="0" i="0" dirty="0" err="1">
                          <a:solidFill>
                            <a:srgbClr val="192743"/>
                          </a:solidFill>
                          <a:latin typeface="Poppins"/>
                        </a:rPr>
                        <a:t>dass</a:t>
                      </a:r>
                      <a:r>
                        <a:rPr sz="788" b="0" i="0" dirty="0">
                          <a:solidFill>
                            <a:srgbClr val="192743"/>
                          </a:solidFill>
                          <a:latin typeface="Poppins"/>
                        </a:rPr>
                        <a:t> ich gut </a:t>
                      </a:r>
                      <a:r>
                        <a:rPr sz="788" b="0" i="0" dirty="0" err="1">
                          <a:solidFill>
                            <a:srgbClr val="192743"/>
                          </a:solidFill>
                          <a:latin typeface="Poppins"/>
                        </a:rPr>
                        <a:t>zu</a:t>
                      </a:r>
                      <a:r>
                        <a:rPr sz="788" b="0" i="0" dirty="0">
                          <a:solidFill>
                            <a:srgbClr val="192743"/>
                          </a:solidFill>
                          <a:latin typeface="Poppins"/>
                        </a:rPr>
                        <a:t> </a:t>
                      </a:r>
                      <a:r>
                        <a:rPr lang="en-US" sz="788" b="0" i="0" dirty="0">
                          <a:solidFill>
                            <a:srgbClr val="192743"/>
                          </a:solidFill>
                          <a:latin typeface="Poppins"/>
                        </a:rPr>
                        <a:t>Team IT</a:t>
                      </a:r>
                      <a:r>
                        <a:rPr sz="788" b="0" i="0" dirty="0">
                          <a:solidFill>
                            <a:srgbClr val="192743"/>
                          </a:solidFill>
                          <a:latin typeface="Poppins"/>
                        </a:rPr>
                        <a:t> passe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58%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fühlte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Mitarbeiter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wertgeschätzt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identifiziere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mit</a:t>
                      </a:r>
                      <a:r>
                        <a:rPr sz="788" b="0" i="0" dirty="0">
                          <a:solidFill>
                            <a:srgbClr val="192743"/>
                          </a:solidFill>
                          <a:latin typeface="Poppins"/>
                        </a:rPr>
                        <a:t> der Kultur von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alpha val="0"/>
                      </a:srgbClr>
                    </a:solidFill>
                  </a:tcPr>
                </a:tc>
                <a:tc>
                  <a:txBody>
                    <a:bodyPr/>
                    <a:lstStyle/>
                    <a:p>
                      <a:pPr algn="ctr"/>
                      <a:r>
                        <a:rPr sz="900" b="1" i="0">
                          <a:solidFill>
                            <a:srgbClr val="192743"/>
                          </a:solidFill>
                          <a:latin typeface="Poppins"/>
                        </a:rPr>
                        <a:t>59%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dirty="0" err="1">
                          <a:solidFill>
                            <a:srgbClr val="192743"/>
                          </a:solidFill>
                          <a:latin typeface="Poppins"/>
                        </a:rPr>
                        <a:t>Innerhalb</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die </a:t>
                      </a:r>
                      <a:r>
                        <a:rPr sz="788" b="0" i="0" dirty="0" err="1">
                          <a:solidFill>
                            <a:srgbClr val="192743"/>
                          </a:solidFill>
                          <a:latin typeface="Poppins"/>
                        </a:rPr>
                        <a:t>Mitarbeitenden</a:t>
                      </a:r>
                      <a:r>
                        <a:rPr sz="788" b="0" i="0" dirty="0">
                          <a:solidFill>
                            <a:srgbClr val="192743"/>
                          </a:solidFill>
                          <a:latin typeface="Poppins"/>
                        </a:rPr>
                        <a:t> fair </a:t>
                      </a:r>
                      <a:r>
                        <a:rPr sz="788" b="0" i="0" dirty="0" err="1">
                          <a:solidFill>
                            <a:srgbClr val="192743"/>
                          </a:solidFill>
                          <a:latin typeface="Poppins"/>
                        </a:rPr>
                        <a:t>behandelt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50%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Bei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wird</a:t>
                      </a:r>
                      <a:r>
                        <a:rPr sz="788" b="0" i="0" dirty="0">
                          <a:solidFill>
                            <a:srgbClr val="192743"/>
                          </a:solidFill>
                          <a:latin typeface="Poppins"/>
                        </a:rPr>
                        <a:t> </a:t>
                      </a:r>
                      <a:r>
                        <a:rPr sz="788" b="0" i="0" dirty="0" err="1">
                          <a:solidFill>
                            <a:srgbClr val="192743"/>
                          </a:solidFill>
                          <a:latin typeface="Poppins"/>
                        </a:rPr>
                        <a:t>Leistung</a:t>
                      </a:r>
                      <a:r>
                        <a:rPr sz="788" b="0" i="0" dirty="0">
                          <a:solidFill>
                            <a:srgbClr val="192743"/>
                          </a:solidFill>
                          <a:latin typeface="Poppins"/>
                        </a:rPr>
                        <a:t> </a:t>
                      </a:r>
                      <a:r>
                        <a:rPr sz="788" b="0" i="0" dirty="0" err="1">
                          <a:solidFill>
                            <a:srgbClr val="192743"/>
                          </a:solidFill>
                          <a:latin typeface="Poppins"/>
                        </a:rPr>
                        <a:t>belohnt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88%</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Wenn ich gute Arbeit leiste, erhalte ich Lob und Anerkennung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srgbClr>
                    </a:solidFill>
                  </a:tcPr>
                </a:tc>
                <a:tc>
                  <a:txBody>
                    <a:bodyPr/>
                    <a:lstStyle/>
                    <a:p>
                      <a:pPr algn="ctr"/>
                      <a:r>
                        <a:rPr sz="900" b="1" i="0">
                          <a:solidFill>
                            <a:srgbClr val="192743"/>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srgbClr>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000000">
                        <a:alpha val="0"/>
                        <a:alpha val="0"/>
                        <a:alpha val="0"/>
                      </a:srgb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tc>
                  <a:txBody>
                    <a:bodyPr/>
                    <a:lstStyle/>
                    <a:p>
                      <a:pPr algn="ctr"/>
                      <a:r>
                        <a:rPr sz="900" b="1" i="0">
                          <a:solidFill>
                            <a:srgbClr val="192743"/>
                          </a:solidFill>
                          <a:latin typeface="Poppins"/>
                        </a:rPr>
                        <a:t>60%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75</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Unternehmenskultur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257175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a:t>
                      </a:r>
                      <a:r>
                        <a:rPr sz="788" b="0" i="0" dirty="0" err="1">
                          <a:solidFill>
                            <a:srgbClr val="192743"/>
                          </a:solidFill>
                          <a:latin typeface="Poppins"/>
                        </a:rPr>
                        <a:t>ein</a:t>
                      </a:r>
                      <a:r>
                        <a:rPr sz="788" b="0" i="0" dirty="0">
                          <a:solidFill>
                            <a:srgbClr val="192743"/>
                          </a:solidFill>
                          <a:latin typeface="Poppins"/>
                        </a:rPr>
                        <a:t> </a:t>
                      </a:r>
                      <a:r>
                        <a:rPr sz="788" b="0" i="0" dirty="0" err="1">
                          <a:solidFill>
                            <a:srgbClr val="192743"/>
                          </a:solidFill>
                          <a:latin typeface="Poppins"/>
                        </a:rPr>
                        <a:t>guter</a:t>
                      </a:r>
                      <a:r>
                        <a:rPr sz="788" b="0" i="0" dirty="0">
                          <a:solidFill>
                            <a:srgbClr val="192743"/>
                          </a:solidFill>
                          <a:latin typeface="Poppins"/>
                        </a:rPr>
                        <a:t> </a:t>
                      </a:r>
                      <a:r>
                        <a:rPr sz="788" b="0" i="0" dirty="0" err="1">
                          <a:solidFill>
                            <a:srgbClr val="192743"/>
                          </a:solidFill>
                          <a:latin typeface="Poppins"/>
                        </a:rPr>
                        <a:t>Arbeitgeber</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dirty="0">
                          <a:solidFill>
                            <a:srgbClr val="192743"/>
                          </a:solidFill>
                          <a:latin typeface="Poppins"/>
                        </a:rPr>
                        <a:t>Ich war </a:t>
                      </a:r>
                      <a:r>
                        <a:rPr sz="788" b="0" i="0" dirty="0" err="1">
                          <a:solidFill>
                            <a:srgbClr val="192743"/>
                          </a:solidFill>
                          <a:latin typeface="Poppins"/>
                        </a:rPr>
                        <a:t>stolz</a:t>
                      </a:r>
                      <a:r>
                        <a:rPr sz="788" b="0" i="0" dirty="0">
                          <a:solidFill>
                            <a:srgbClr val="192743"/>
                          </a:solidFill>
                          <a:latin typeface="Poppins"/>
                        </a:rPr>
                        <a:t> </a:t>
                      </a:r>
                      <a:r>
                        <a:rPr sz="788" b="0" i="0" dirty="0" err="1">
                          <a:solidFill>
                            <a:srgbClr val="192743"/>
                          </a:solidFill>
                          <a:latin typeface="Poppins"/>
                        </a:rPr>
                        <a:t>darauf</a:t>
                      </a:r>
                      <a:r>
                        <a:rPr sz="788" b="0" i="0" dirty="0">
                          <a:solidFill>
                            <a:srgbClr val="192743"/>
                          </a:solidFill>
                          <a:latin typeface="Poppins"/>
                        </a:rPr>
                        <a:t>, für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zu</a:t>
                      </a:r>
                      <a:r>
                        <a:rPr sz="788" b="0" i="0" dirty="0">
                          <a:solidFill>
                            <a:srgbClr val="192743"/>
                          </a:solidFill>
                          <a:latin typeface="Poppins"/>
                        </a:rPr>
                        <a:t> </a:t>
                      </a:r>
                      <a:r>
                        <a:rPr sz="788" b="0" i="0" dirty="0" err="1">
                          <a:solidFill>
                            <a:srgbClr val="192743"/>
                          </a:solidFill>
                          <a:latin typeface="Poppins"/>
                        </a:rPr>
                        <a:t>arbeiten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prstClr>
                    </a:solidFill>
                  </a:tcPr>
                </a:tc>
                <a:extLst>
                  <a:ext uri="{0D108BD9-81ED-4DB2-BD59-A6C34878D82A}">
                    <a16:rowId xmlns:a16="http://schemas.microsoft.com/office/drawing/2014/main" val="10001"/>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glaube</a:t>
                      </a:r>
                      <a:r>
                        <a:rPr sz="788" b="0" i="0" dirty="0">
                          <a:solidFill>
                            <a:srgbClr val="192743"/>
                          </a:solidFill>
                          <a:latin typeface="Poppins"/>
                        </a:rPr>
                        <a:t>, </a:t>
                      </a:r>
                      <a:r>
                        <a:rPr sz="788" b="0" i="0" dirty="0" err="1">
                          <a:solidFill>
                            <a:srgbClr val="192743"/>
                          </a:solidFill>
                          <a:latin typeface="Poppins"/>
                        </a:rPr>
                        <a:t>dass</a:t>
                      </a:r>
                      <a:r>
                        <a:rPr sz="788" b="0" i="0" dirty="0">
                          <a:solidFill>
                            <a:srgbClr val="192743"/>
                          </a:solidFill>
                          <a:latin typeface="Poppins"/>
                        </a:rPr>
                        <a:t> ich gut </a:t>
                      </a:r>
                      <a:r>
                        <a:rPr sz="788" b="0" i="0" dirty="0" err="1">
                          <a:solidFill>
                            <a:srgbClr val="192743"/>
                          </a:solidFill>
                          <a:latin typeface="Poppins"/>
                        </a:rPr>
                        <a:t>zu</a:t>
                      </a:r>
                      <a:r>
                        <a:rPr sz="788" b="0" i="0" dirty="0">
                          <a:solidFill>
                            <a:srgbClr val="192743"/>
                          </a:solidFill>
                          <a:latin typeface="Poppins"/>
                        </a:rPr>
                        <a:t> </a:t>
                      </a:r>
                      <a:r>
                        <a:rPr lang="en-US" sz="788" b="0" i="0" dirty="0">
                          <a:solidFill>
                            <a:srgbClr val="192743"/>
                          </a:solidFill>
                          <a:latin typeface="Poppins"/>
                        </a:rPr>
                        <a:t>Team IT</a:t>
                      </a:r>
                      <a:r>
                        <a:rPr sz="788" b="0" i="0" dirty="0">
                          <a:solidFill>
                            <a:srgbClr val="192743"/>
                          </a:solidFill>
                          <a:latin typeface="Poppins"/>
                        </a:rPr>
                        <a:t> passe</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prstClr>
                    </a:solidFill>
                  </a:tcPr>
                </a:tc>
                <a:extLst>
                  <a:ext uri="{0D108BD9-81ED-4DB2-BD59-A6C34878D82A}">
                    <a16:rowId xmlns:a16="http://schemas.microsoft.com/office/drawing/2014/main" val="10002"/>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fühlte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Mitarbeiter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wertgeschätzt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prstClr>
                    </a:solidFill>
                  </a:tcPr>
                </a:tc>
                <a:extLst>
                  <a:ext uri="{0D108BD9-81ED-4DB2-BD59-A6C34878D82A}">
                    <a16:rowId xmlns:a16="http://schemas.microsoft.com/office/drawing/2014/main" val="10003"/>
                  </a:ext>
                </a:extLst>
              </a:tr>
              <a:tr h="285750">
                <a:tc>
                  <a:txBody>
                    <a:bodyPr/>
                    <a:lstStyle/>
                    <a:p>
                      <a:pPr algn="l"/>
                      <a:r>
                        <a:rPr sz="788" b="0" i="0" dirty="0">
                          <a:solidFill>
                            <a:srgbClr val="192743"/>
                          </a:solidFill>
                          <a:latin typeface="Poppins"/>
                        </a:rPr>
                        <a:t>Ich </a:t>
                      </a:r>
                      <a:r>
                        <a:rPr sz="788" b="0" i="0" dirty="0" err="1">
                          <a:solidFill>
                            <a:srgbClr val="192743"/>
                          </a:solidFill>
                          <a:latin typeface="Poppins"/>
                        </a:rPr>
                        <a:t>identifiziere</a:t>
                      </a:r>
                      <a:r>
                        <a:rPr sz="788" b="0" i="0" dirty="0">
                          <a:solidFill>
                            <a:srgbClr val="192743"/>
                          </a:solidFill>
                          <a:latin typeface="Poppins"/>
                        </a:rPr>
                        <a:t> </a:t>
                      </a:r>
                      <a:r>
                        <a:rPr sz="788" b="0" i="0" dirty="0" err="1">
                          <a:solidFill>
                            <a:srgbClr val="192743"/>
                          </a:solidFill>
                          <a:latin typeface="Poppins"/>
                        </a:rPr>
                        <a:t>mich</a:t>
                      </a:r>
                      <a:r>
                        <a:rPr sz="788" b="0" i="0" dirty="0">
                          <a:solidFill>
                            <a:srgbClr val="192743"/>
                          </a:solidFill>
                          <a:latin typeface="Poppins"/>
                        </a:rPr>
                        <a:t> </a:t>
                      </a:r>
                      <a:r>
                        <a:rPr sz="788" b="0" i="0" dirty="0" err="1">
                          <a:solidFill>
                            <a:srgbClr val="192743"/>
                          </a:solidFill>
                          <a:latin typeface="Poppins"/>
                        </a:rPr>
                        <a:t>mit</a:t>
                      </a:r>
                      <a:r>
                        <a:rPr sz="788" b="0" i="0" dirty="0">
                          <a:solidFill>
                            <a:srgbClr val="192743"/>
                          </a:solidFill>
                          <a:latin typeface="Poppins"/>
                        </a:rPr>
                        <a:t> der Kultur von </a:t>
                      </a:r>
                      <a:r>
                        <a:rPr lang="en-US" sz="788" b="0" i="0" dirty="0">
                          <a:solidFill>
                            <a:srgbClr val="192743"/>
                          </a:solidFill>
                          <a:latin typeface="Poppins"/>
                        </a:rPr>
                        <a:t>Team IT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prstClr>
                    </a:solidFill>
                  </a:tcPr>
                </a:tc>
                <a:extLst>
                  <a:ext uri="{0D108BD9-81ED-4DB2-BD59-A6C34878D82A}">
                    <a16:rowId xmlns:a16="http://schemas.microsoft.com/office/drawing/2014/main" val="10004"/>
                  </a:ext>
                </a:extLst>
              </a:tr>
              <a:tr h="285750">
                <a:tc>
                  <a:txBody>
                    <a:bodyPr/>
                    <a:lstStyle/>
                    <a:p>
                      <a:pPr algn="l"/>
                      <a:r>
                        <a:rPr sz="788" b="0" i="0" dirty="0" err="1">
                          <a:solidFill>
                            <a:srgbClr val="192743"/>
                          </a:solidFill>
                          <a:latin typeface="Poppins"/>
                        </a:rPr>
                        <a:t>Innerhalb</a:t>
                      </a:r>
                      <a:r>
                        <a:rPr sz="788" b="0" i="0" dirty="0">
                          <a:solidFill>
                            <a:srgbClr val="192743"/>
                          </a:solidFill>
                          <a:latin typeface="Poppins"/>
                        </a:rPr>
                        <a:t> von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werden</a:t>
                      </a:r>
                      <a:r>
                        <a:rPr sz="788" b="0" i="0" dirty="0">
                          <a:solidFill>
                            <a:srgbClr val="192743"/>
                          </a:solidFill>
                          <a:latin typeface="Poppins"/>
                        </a:rPr>
                        <a:t> die </a:t>
                      </a:r>
                      <a:r>
                        <a:rPr sz="788" b="0" i="0" dirty="0" err="1">
                          <a:solidFill>
                            <a:srgbClr val="192743"/>
                          </a:solidFill>
                          <a:latin typeface="Poppins"/>
                        </a:rPr>
                        <a:t>Mitarbeitenden</a:t>
                      </a:r>
                      <a:r>
                        <a:rPr sz="788" b="0" i="0" dirty="0">
                          <a:solidFill>
                            <a:srgbClr val="192743"/>
                          </a:solidFill>
                          <a:latin typeface="Poppins"/>
                        </a:rPr>
                        <a:t> fair </a:t>
                      </a:r>
                      <a:r>
                        <a:rPr sz="788" b="0" i="0" dirty="0" err="1">
                          <a:solidFill>
                            <a:srgbClr val="192743"/>
                          </a:solidFill>
                          <a:latin typeface="Poppins"/>
                        </a:rPr>
                        <a:t>behandelt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prstClr>
                    </a:solidFill>
                  </a:tcPr>
                </a:tc>
                <a:extLst>
                  <a:ext uri="{0D108BD9-81ED-4DB2-BD59-A6C34878D82A}">
                    <a16:rowId xmlns:a16="http://schemas.microsoft.com/office/drawing/2014/main" val="10005"/>
                  </a:ext>
                </a:extLst>
              </a:tr>
              <a:tr h="285750">
                <a:tc>
                  <a:txBody>
                    <a:bodyPr/>
                    <a:lstStyle/>
                    <a:p>
                      <a:pPr algn="l"/>
                      <a:r>
                        <a:rPr sz="788" b="0" i="0" dirty="0">
                          <a:solidFill>
                            <a:srgbClr val="192743"/>
                          </a:solidFill>
                          <a:latin typeface="Poppins"/>
                        </a:rPr>
                        <a:t>Bei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wird</a:t>
                      </a:r>
                      <a:r>
                        <a:rPr sz="788" b="0" i="0" dirty="0">
                          <a:solidFill>
                            <a:srgbClr val="192743"/>
                          </a:solidFill>
                          <a:latin typeface="Poppins"/>
                        </a:rPr>
                        <a:t> </a:t>
                      </a:r>
                      <a:r>
                        <a:rPr sz="788" b="0" i="0" dirty="0" err="1">
                          <a:solidFill>
                            <a:srgbClr val="192743"/>
                          </a:solidFill>
                          <a:latin typeface="Poppins"/>
                        </a:rPr>
                        <a:t>Leistung</a:t>
                      </a:r>
                      <a:r>
                        <a:rPr sz="788" b="0" i="0" dirty="0">
                          <a:solidFill>
                            <a:srgbClr val="192743"/>
                          </a:solidFill>
                          <a:latin typeface="Poppins"/>
                        </a:rPr>
                        <a:t> </a:t>
                      </a:r>
                      <a:r>
                        <a:rPr sz="788" b="0" i="0" dirty="0" err="1">
                          <a:solidFill>
                            <a:srgbClr val="192743"/>
                          </a:solidFill>
                          <a:latin typeface="Poppins"/>
                        </a:rPr>
                        <a:t>belohnt</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71%</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prstClr>
                    </a:solidFill>
                  </a:tcPr>
                </a:tc>
                <a:extLst>
                  <a:ext uri="{0D108BD9-81ED-4DB2-BD59-A6C34878D82A}">
                    <a16:rowId xmlns:a16="http://schemas.microsoft.com/office/drawing/2014/main" val="10006"/>
                  </a:ext>
                </a:extLst>
              </a:tr>
              <a:tr h="285750">
                <a:tc>
                  <a:txBody>
                    <a:bodyPr/>
                    <a:lstStyle/>
                    <a:p>
                      <a:pPr algn="l"/>
                      <a:r>
                        <a:rPr sz="788" b="0" i="0">
                          <a:solidFill>
                            <a:srgbClr val="192743"/>
                          </a:solidFill>
                          <a:latin typeface="Poppins"/>
                        </a:rPr>
                        <a:t>Wenn ich gute Arbeit leiste, erhalte ich Lob und Anerkennung</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alpha val="0"/>
                        <a:alpha val="0"/>
                        <a:alpha val="0"/>
                        <a:alpha val="0"/>
                        <a:alpha val="0"/>
                        <a:alpha val="0"/>
                        <a:alpha val="0"/>
                      </a:prstClr>
                    </a:solidFill>
                  </a:tcPr>
                </a:tc>
                <a:extLst>
                  <a:ext uri="{0D108BD9-81ED-4DB2-BD59-A6C34878D82A}">
                    <a16:rowId xmlns:a16="http://schemas.microsoft.com/office/drawing/2014/main" val="10007"/>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8"/>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76</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und Maßnahmen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nutzt</a:t>
                      </a:r>
                      <a:r>
                        <a:rPr sz="788" b="0" i="0" dirty="0">
                          <a:solidFill>
                            <a:srgbClr val="192743"/>
                          </a:solidFill>
                          <a:latin typeface="Poppins"/>
                        </a:rPr>
                        <a:t> Ideen und </a:t>
                      </a:r>
                      <a:r>
                        <a:rPr sz="788" b="0" i="0" dirty="0" err="1">
                          <a:solidFill>
                            <a:srgbClr val="192743"/>
                          </a:solidFill>
                          <a:latin typeface="Poppins"/>
                        </a:rPr>
                        <a:t>Vorschläge</a:t>
                      </a:r>
                      <a:r>
                        <a:rPr sz="788" b="0" i="0" dirty="0">
                          <a:solidFill>
                            <a:srgbClr val="192743"/>
                          </a:solidFill>
                          <a:latin typeface="Poppins"/>
                        </a:rPr>
                        <a:t> der </a:t>
                      </a:r>
                      <a:r>
                        <a:rPr sz="788" b="0" i="0" dirty="0" err="1">
                          <a:solidFill>
                            <a:srgbClr val="192743"/>
                          </a:solidFill>
                          <a:latin typeface="Poppins"/>
                        </a:rPr>
                        <a:t>Mitarbeitenden</a:t>
                      </a:r>
                      <a:r>
                        <a:rPr sz="788" b="0" i="0" dirty="0">
                          <a:solidFill>
                            <a:srgbClr val="192743"/>
                          </a:solidFill>
                          <a:latin typeface="Poppins"/>
                        </a:rPr>
                        <a:t> für </a:t>
                      </a:r>
                      <a:r>
                        <a:rPr sz="788" b="0" i="0" dirty="0" err="1">
                          <a:solidFill>
                            <a:srgbClr val="192743"/>
                          </a:solidFill>
                          <a:latin typeface="Poppins"/>
                        </a:rPr>
                        <a:t>Verbesserungen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53%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63%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77%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73%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77</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Feedback und Maßnahmen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nutzt</a:t>
                      </a:r>
                      <a:r>
                        <a:rPr sz="788" b="0" i="0" dirty="0">
                          <a:solidFill>
                            <a:srgbClr val="192743"/>
                          </a:solidFill>
                          <a:latin typeface="Poppins"/>
                        </a:rPr>
                        <a:t> Ideen und </a:t>
                      </a:r>
                      <a:r>
                        <a:rPr sz="788" b="0" i="0" dirty="0" err="1">
                          <a:solidFill>
                            <a:srgbClr val="192743"/>
                          </a:solidFill>
                          <a:latin typeface="Poppins"/>
                        </a:rPr>
                        <a:t>Vorschläge</a:t>
                      </a:r>
                      <a:r>
                        <a:rPr sz="788" b="0" i="0" dirty="0">
                          <a:solidFill>
                            <a:srgbClr val="192743"/>
                          </a:solidFill>
                          <a:latin typeface="Poppins"/>
                        </a:rPr>
                        <a:t> der </a:t>
                      </a:r>
                      <a:r>
                        <a:rPr sz="788" b="0" i="0" dirty="0" err="1">
                          <a:solidFill>
                            <a:srgbClr val="192743"/>
                          </a:solidFill>
                          <a:latin typeface="Poppins"/>
                        </a:rPr>
                        <a:t>Mitarbeitenden</a:t>
                      </a:r>
                      <a:r>
                        <a:rPr sz="788" b="0" i="0" dirty="0">
                          <a:solidFill>
                            <a:srgbClr val="192743"/>
                          </a:solidFill>
                          <a:latin typeface="Poppins"/>
                        </a:rPr>
                        <a:t> für </a:t>
                      </a:r>
                      <a:r>
                        <a:rPr sz="788" b="0" i="0" dirty="0" err="1">
                          <a:solidFill>
                            <a:srgbClr val="192743"/>
                          </a:solidFill>
                          <a:latin typeface="Poppins"/>
                        </a:rPr>
                        <a:t>Verbesserungen</a:t>
                      </a:r>
                      <a:endParaRPr sz="788" b="0" i="0" dirty="0">
                        <a:solidFill>
                          <a:srgbClr val="192743"/>
                        </a:solidFill>
                        <a:latin typeface="Poppins"/>
                      </a:endParaRP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69%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78</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Wachstum und Entwicklung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a:solidFill>
                            <a:srgbClr val="192743"/>
                          </a:solidFill>
                          <a:latin typeface="Poppins"/>
                        </a:rPr>
                        <a:t>Ich habe gute Möglichkeiten, mich beruflich und persönlich weiterzuentwickeln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64%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72%</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65%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FDE0E1"/>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83%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79</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6858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Wachstum und Entwicklung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a:solidFill>
                            <a:srgbClr val="192743"/>
                          </a:solidFill>
                          <a:latin typeface="Poppins"/>
                        </a:rPr>
                        <a:t>Ich habe gute Möglichkeiten, mich beruflich und persönlich weiterzuentwickeln</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76%</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79%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80</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(1)</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417195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gridCol w="514350">
                  <a:extLst>
                    <a:ext uri="{9D8B030D-6E8A-4147-A177-3AD203B41FA5}">
                      <a16:colId xmlns:a16="http://schemas.microsoft.com/office/drawing/2014/main" val="20005"/>
                    </a:ext>
                  </a:extLst>
                </a:gridCol>
                <a:gridCol w="51435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tblGrid>
              <a:tr h="285750">
                <a:tc>
                  <a:txBody>
                    <a:bodyPr/>
                    <a:lstStyle/>
                    <a:p>
                      <a:pPr algn="l"/>
                      <a:r>
                        <a:rPr sz="788" b="0" i="0" dirty="0">
                          <a:solidFill>
                            <a:srgbClr val="192743"/>
                          </a:solidFill>
                          <a:latin typeface="Poppins"/>
                        </a:rPr>
                        <a:t>Wie </a:t>
                      </a:r>
                      <a:r>
                        <a:rPr sz="788" b="0" i="0" dirty="0" err="1">
                          <a:solidFill>
                            <a:srgbClr val="192743"/>
                          </a:solidFill>
                          <a:latin typeface="Poppins"/>
                        </a:rPr>
                        <a:t>wahrscheinlich</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es, </a:t>
                      </a:r>
                      <a:r>
                        <a:rPr sz="788" b="0" i="0" dirty="0" err="1">
                          <a:solidFill>
                            <a:srgbClr val="192743"/>
                          </a:solidFill>
                          <a:latin typeface="Poppins"/>
                        </a:rPr>
                        <a:t>dass</a:t>
                      </a:r>
                      <a:r>
                        <a:rPr sz="788" b="0" i="0" dirty="0">
                          <a:solidFill>
                            <a:srgbClr val="192743"/>
                          </a:solidFill>
                          <a:latin typeface="Poppins"/>
                        </a:rPr>
                        <a:t> Sie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Arbeitgeber</a:t>
                      </a:r>
                      <a:r>
                        <a:rPr sz="788" b="0" i="0" dirty="0">
                          <a:solidFill>
                            <a:srgbClr val="192743"/>
                          </a:solidFill>
                          <a:latin typeface="Poppins"/>
                        </a:rPr>
                        <a:t> </a:t>
                      </a:r>
                      <a:r>
                        <a:rPr sz="788" b="0" i="0" dirty="0" err="1">
                          <a:solidFill>
                            <a:srgbClr val="192743"/>
                          </a:solidFill>
                          <a:latin typeface="Poppins"/>
                        </a:rPr>
                        <a:t>weiterempfehlen</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39</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40</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47</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D2EDDB"/>
                    </a:solidFill>
                  </a:tcPr>
                </a:tc>
                <a:tc>
                  <a:txBody>
                    <a:bodyPr/>
                    <a:lstStyle/>
                    <a:p>
                      <a:pPr algn="ctr"/>
                      <a:r>
                        <a:rPr sz="900" b="1" i="0">
                          <a:solidFill>
                            <a:srgbClr val="192743"/>
                          </a:solidFill>
                          <a:latin typeface="Poppins"/>
                        </a:rPr>
                        <a:t>-</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tc>
                  <a:txBody>
                    <a:bodyPr/>
                    <a:lstStyle/>
                    <a:p>
                      <a:pPr algn="ctr"/>
                      <a:r>
                        <a:rPr sz="900" b="1" i="0">
                          <a:solidFill>
                            <a:srgbClr val="192743"/>
                          </a:solidFill>
                          <a:latin typeface="Poppins"/>
                        </a:rPr>
                        <a:t>34</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7123"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112</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17</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30</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4620571" y="859102"/>
            <a:ext cx="1471613" cy="240649"/>
            <a:chOff x="4208462" y="800894"/>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4208462" y="863759"/>
              <a:ext cx="114300" cy="137160"/>
            </a:xfrm>
            <a:prstGeom prst="rect">
              <a:avLst/>
            </a:prstGeom>
          </p:spPr>
        </p:pic>
        <p:sp>
          <p:nvSpPr>
            <p:cNvPr id="20" name="New shape"/>
            <p:cNvSpPr txBox="1"/>
            <p:nvPr/>
          </p:nvSpPr>
          <p:spPr>
            <a:xfrm>
              <a:off x="4394200" y="800894"/>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4394199" y="920291"/>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5114162" y="975395"/>
            <a:ext cx="1357312" cy="120015"/>
            <a:chOff x="4722812" y="783749"/>
            <a:chExt cx="1285875" cy="120015"/>
          </a:xfrm>
        </p:grpSpPr>
        <p:sp>
          <p:nvSpPr>
            <p:cNvPr id="23" name="New shape"/>
            <p:cNvSpPr txBox="1"/>
            <p:nvPr/>
          </p:nvSpPr>
          <p:spPr>
            <a:xfrm>
              <a:off x="47228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Communication</a:t>
              </a:r>
            </a:p>
          </p:txBody>
        </p:sp>
      </p:grpSp>
      <p:grpSp>
        <p:nvGrpSpPr>
          <p:cNvPr id="24" name="Group 23"/>
          <p:cNvGrpSpPr/>
          <p:nvPr/>
        </p:nvGrpSpPr>
        <p:grpSpPr>
          <a:xfrm rot="18900000">
            <a:off x="5628512" y="975395"/>
            <a:ext cx="1357312" cy="120015"/>
            <a:chOff x="5237162" y="783749"/>
            <a:chExt cx="1285875" cy="120015"/>
          </a:xfrm>
        </p:grpSpPr>
        <p:sp>
          <p:nvSpPr>
            <p:cNvPr id="25" name="New shape"/>
            <p:cNvSpPr txBox="1"/>
            <p:nvPr/>
          </p:nvSpPr>
          <p:spPr>
            <a:xfrm>
              <a:off x="52371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Customer Success</a:t>
              </a:r>
            </a:p>
          </p:txBody>
        </p:sp>
      </p:grpSp>
      <p:grpSp>
        <p:nvGrpSpPr>
          <p:cNvPr id="26" name="Group 25"/>
          <p:cNvGrpSpPr/>
          <p:nvPr/>
        </p:nvGrpSpPr>
        <p:grpSpPr>
          <a:xfrm rot="18900000">
            <a:off x="6142862" y="975395"/>
            <a:ext cx="1357312" cy="120015"/>
            <a:chOff x="5751512" y="783749"/>
            <a:chExt cx="1285875" cy="120015"/>
          </a:xfrm>
        </p:grpSpPr>
        <p:sp>
          <p:nvSpPr>
            <p:cNvPr id="27" name="New shape"/>
            <p:cNvSpPr txBox="1"/>
            <p:nvPr/>
          </p:nvSpPr>
          <p:spPr>
            <a:xfrm>
              <a:off x="57515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Finance</a:t>
              </a:r>
            </a:p>
          </p:txBody>
        </p:sp>
      </p:grpSp>
      <p:grpSp>
        <p:nvGrpSpPr>
          <p:cNvPr id="28" name="Group 27"/>
          <p:cNvGrpSpPr/>
          <p:nvPr/>
        </p:nvGrpSpPr>
        <p:grpSpPr>
          <a:xfrm rot="18900000">
            <a:off x="6657212" y="975395"/>
            <a:ext cx="1357312" cy="120015"/>
            <a:chOff x="6265862" y="783749"/>
            <a:chExt cx="1285875" cy="120015"/>
          </a:xfrm>
        </p:grpSpPr>
        <p:sp>
          <p:nvSpPr>
            <p:cNvPr id="29" name="New shape"/>
            <p:cNvSpPr txBox="1"/>
            <p:nvPr/>
          </p:nvSpPr>
          <p:spPr>
            <a:xfrm>
              <a:off x="62658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Human Resources</a:t>
              </a:r>
            </a:p>
          </p:txBody>
        </p:sp>
      </p:grpSp>
      <p:grpSp>
        <p:nvGrpSpPr>
          <p:cNvPr id="30" name="Group 29"/>
          <p:cNvGrpSpPr/>
          <p:nvPr/>
        </p:nvGrpSpPr>
        <p:grpSpPr>
          <a:xfrm rot="18900000">
            <a:off x="7171562" y="975395"/>
            <a:ext cx="1357312" cy="120015"/>
            <a:chOff x="6780212" y="783749"/>
            <a:chExt cx="1285875" cy="120015"/>
          </a:xfrm>
        </p:grpSpPr>
        <p:sp>
          <p:nvSpPr>
            <p:cNvPr id="31" name="New shape"/>
            <p:cNvSpPr txBox="1"/>
            <p:nvPr/>
          </p:nvSpPr>
          <p:spPr>
            <a:xfrm>
              <a:off x="678021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Management</a:t>
              </a:r>
            </a:p>
          </p:txBody>
        </p:sp>
      </p:grpSp>
      <p:grpSp>
        <p:nvGrpSpPr>
          <p:cNvPr id="32" name="Group 31"/>
          <p:cNvGrpSpPr/>
          <p:nvPr/>
        </p:nvGrpSpPr>
        <p:grpSpPr>
          <a:xfrm rot="18900000">
            <a:off x="7685912" y="975395"/>
            <a:ext cx="1357312" cy="120015"/>
            <a:chOff x="7294562" y="783749"/>
            <a:chExt cx="1285875" cy="120015"/>
          </a:xfrm>
        </p:grpSpPr>
        <p:sp>
          <p:nvSpPr>
            <p:cNvPr id="3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Marketing &amp; Sales</a:t>
              </a:r>
            </a:p>
          </p:txBody>
        </p:sp>
      </p:gr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81</a:t>
            </a:r>
          </a:p>
        </p:txBody>
      </p:sp>
      <p:sp>
        <p:nvSpPr>
          <p:cNvPr id="3"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4"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 name="New shape"/>
          <p:cNvSpPr txBox="1"/>
          <p:nvPr/>
        </p:nvSpPr>
        <p:spPr>
          <a:xfrm flipV="1">
            <a:off x="0" y="0"/>
            <a:ext cx="2487279"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Detaillierte Informationen: Gruppenergebnisse</a:t>
            </a:r>
          </a:p>
        </p:txBody>
      </p:sp>
      <p:sp>
        <p:nvSpPr>
          <p:cNvPr id="7" name="New shape" descr="QuestionScoresSlideTitle"/>
          <p:cNvSpPr txBox="1"/>
          <p:nvPr/>
        </p:nvSpPr>
        <p:spPr>
          <a:xfrm>
            <a:off x="457200" y="457200"/>
            <a:ext cx="4429125" cy="34290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2250" b="1" i="0">
                <a:solidFill>
                  <a:srgbClr val="192743"/>
                </a:solidFill>
                <a:latin typeface="Poppins"/>
              </a:rPr>
              <a:t>eNPS (2)</a:t>
            </a:r>
          </a:p>
        </p:txBody>
      </p:sp>
      <p:sp>
        <p:nvSpPr>
          <p:cNvPr id="8" name="New shape"/>
          <p:cNvSpPr txBox="1"/>
          <p:nvPr/>
        </p:nvSpPr>
        <p:spPr>
          <a:xfrm>
            <a:off x="3195875" y="4885296"/>
            <a:ext cx="1418987"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r">
              <a:lnSpc>
                <a:spcPct val="100000"/>
              </a:lnSpc>
            </a:pPr>
            <a:r>
              <a:rPr sz="788" b="0" i="0">
                <a:solidFill>
                  <a:srgbClr val="1C55C7"/>
                </a:solidFill>
                <a:latin typeface="Poppins"/>
              </a:rPr>
              <a:t>Signifikanter Unterschied (*)</a:t>
            </a:r>
          </a:p>
        </p:txBody>
      </p:sp>
      <p:sp>
        <p:nvSpPr>
          <p:cNvPr id="9" name="New shape"/>
          <p:cNvSpPr txBox="1"/>
          <p:nvPr/>
        </p:nvSpPr>
        <p:spPr>
          <a:xfrm>
            <a:off x="4486275" y="4885896"/>
            <a:ext cx="1200150"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r">
              <a:lnSpc>
                <a:spcPct val="100000"/>
              </a:lnSpc>
            </a:pPr>
            <a:r>
              <a:rPr sz="788" b="0" i="0">
                <a:solidFill>
                  <a:srgbClr val="1C55C7"/>
                </a:solidFill>
                <a:latin typeface="Poppins"/>
              </a:rPr>
              <a:t>Aktuelle Befragung ist:</a:t>
            </a:r>
          </a:p>
        </p:txBody>
      </p:sp>
      <p:sp>
        <p:nvSpPr>
          <p:cNvPr id="10" name="New shape"/>
          <p:cNvSpPr txBox="1"/>
          <p:nvPr/>
        </p:nvSpPr>
        <p:spPr>
          <a:xfrm>
            <a:off x="5743575" y="4885296"/>
            <a:ext cx="29822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418B5A"/>
                </a:solidFill>
                <a:latin typeface="Poppins"/>
              </a:rPr>
              <a:t>Höher</a:t>
            </a:r>
          </a:p>
        </p:txBody>
      </p:sp>
      <p:sp>
        <p:nvSpPr>
          <p:cNvPr id="11" name="New shape"/>
          <p:cNvSpPr txBox="1"/>
          <p:nvPr/>
        </p:nvSpPr>
        <p:spPr>
          <a:xfrm>
            <a:off x="6070378" y="4829175"/>
            <a:ext cx="400050" cy="233458"/>
          </a:xfrm>
          <a:prstGeom prst="rect">
            <a:avLst/>
          </a:prstGeom>
          <a:solidFill>
            <a:srgbClr val="A8DBB6"/>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2" name="New shape"/>
          <p:cNvSpPr txBox="1"/>
          <p:nvPr/>
        </p:nvSpPr>
        <p:spPr>
          <a:xfrm>
            <a:off x="6484716" y="4829175"/>
            <a:ext cx="400050" cy="233458"/>
          </a:xfrm>
          <a:prstGeom prst="rect">
            <a:avLst/>
          </a:prstGeom>
          <a:solidFill>
            <a:srgbClr val="D2EDDB"/>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3" name="New shape"/>
          <p:cNvSpPr/>
          <p:nvPr/>
        </p:nvSpPr>
        <p:spPr>
          <a:xfrm>
            <a:off x="6899053" y="4829175"/>
            <a:ext cx="400050" cy="233458"/>
          </a:xfrm>
          <a:prstGeom prst="rect">
            <a:avLst/>
          </a:prstGeom>
          <a:solidFill>
            <a:srgbClr val="FFFFFF"/>
          </a:solidFill>
          <a:ln w="12700">
            <a:solidFill>
              <a:srgbClr val="E6E9EE"/>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endParaRPr sz="675" b="1" i="0">
              <a:solidFill>
                <a:srgbClr val="192743"/>
              </a:solidFill>
              <a:latin typeface="Poppins"/>
            </a:endParaRPr>
          </a:p>
        </p:txBody>
      </p:sp>
      <p:sp>
        <p:nvSpPr>
          <p:cNvPr id="14" name="New shape"/>
          <p:cNvSpPr txBox="1"/>
          <p:nvPr/>
        </p:nvSpPr>
        <p:spPr>
          <a:xfrm>
            <a:off x="7313391" y="4829175"/>
            <a:ext cx="400050" cy="233458"/>
          </a:xfrm>
          <a:prstGeom prst="rect">
            <a:avLst/>
          </a:prstGeom>
          <a:solidFill>
            <a:srgbClr val="FDE0E1"/>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- 10</a:t>
            </a:r>
          </a:p>
        </p:txBody>
      </p:sp>
      <p:sp>
        <p:nvSpPr>
          <p:cNvPr id="15" name="New shape"/>
          <p:cNvSpPr txBox="1"/>
          <p:nvPr/>
        </p:nvSpPr>
        <p:spPr>
          <a:xfrm>
            <a:off x="7727728" y="4829175"/>
            <a:ext cx="400050" cy="233458"/>
          </a:xfrm>
          <a:prstGeom prst="rect">
            <a:avLst/>
          </a:prstGeom>
          <a:solidFill>
            <a:srgbClr val="FDA89E"/>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lnSpc>
                <a:spcPct val="100000"/>
              </a:lnSpc>
            </a:pPr>
            <a:r>
              <a:rPr sz="675" b="1" i="0">
                <a:solidFill>
                  <a:srgbClr val="192743"/>
                </a:solidFill>
                <a:latin typeface="Poppins"/>
              </a:rPr>
              <a:t>- 20</a:t>
            </a:r>
          </a:p>
        </p:txBody>
      </p:sp>
      <p:sp>
        <p:nvSpPr>
          <p:cNvPr id="16" name="New shape"/>
          <p:cNvSpPr txBox="1"/>
          <p:nvPr/>
        </p:nvSpPr>
        <p:spPr>
          <a:xfrm>
            <a:off x="8170641" y="4885296"/>
            <a:ext cx="455358" cy="1212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788" b="0" i="0">
                <a:solidFill>
                  <a:srgbClr val="B6161C"/>
                </a:solidFill>
                <a:latin typeface="Poppins"/>
              </a:rPr>
              <a:t>Niedriger</a:t>
            </a:r>
          </a:p>
        </p:txBody>
      </p:sp>
      <p:graphicFrame>
        <p:nvGraphicFramePr>
          <p:cNvPr id="17" name="New Table"/>
          <p:cNvGraphicFramePr>
            <a:graphicFrameLocks noGrp="1"/>
          </p:cNvGraphicFramePr>
          <p:nvPr/>
        </p:nvGraphicFramePr>
        <p:xfrm>
          <a:off x="457200" y="1607344"/>
          <a:ext cx="7772400" cy="571500"/>
        </p:xfrm>
        <a:graphic>
          <a:graphicData uri="http://schemas.openxmlformats.org/drawingml/2006/table">
            <a:tbl>
              <a:tblPr bandRow="1">
                <a:tableStyleId>{5C22544A-7EE6-4342-B048-85BDC9FD1C3A}</a:tableStyleId>
              </a:tblPr>
              <a:tblGrid>
                <a:gridCol w="6743700">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tblGrid>
              <a:tr h="285750">
                <a:tc>
                  <a:txBody>
                    <a:bodyPr/>
                    <a:lstStyle/>
                    <a:p>
                      <a:pPr algn="l"/>
                      <a:r>
                        <a:rPr sz="788" b="0" i="0" dirty="0">
                          <a:solidFill>
                            <a:srgbClr val="192743"/>
                          </a:solidFill>
                          <a:latin typeface="Poppins"/>
                        </a:rPr>
                        <a:t>Wie </a:t>
                      </a:r>
                      <a:r>
                        <a:rPr sz="788" b="0" i="0" dirty="0" err="1">
                          <a:solidFill>
                            <a:srgbClr val="192743"/>
                          </a:solidFill>
                          <a:latin typeface="Poppins"/>
                        </a:rPr>
                        <a:t>wahrscheinlich</a:t>
                      </a:r>
                      <a:r>
                        <a:rPr sz="788" b="0" i="0" dirty="0">
                          <a:solidFill>
                            <a:srgbClr val="192743"/>
                          </a:solidFill>
                          <a:latin typeface="Poppins"/>
                        </a:rPr>
                        <a:t> </a:t>
                      </a:r>
                      <a:r>
                        <a:rPr sz="788" b="0" i="0" dirty="0" err="1">
                          <a:solidFill>
                            <a:srgbClr val="192743"/>
                          </a:solidFill>
                          <a:latin typeface="Poppins"/>
                        </a:rPr>
                        <a:t>ist</a:t>
                      </a:r>
                      <a:r>
                        <a:rPr sz="788" b="0" i="0" dirty="0">
                          <a:solidFill>
                            <a:srgbClr val="192743"/>
                          </a:solidFill>
                          <a:latin typeface="Poppins"/>
                        </a:rPr>
                        <a:t> es, </a:t>
                      </a:r>
                      <a:r>
                        <a:rPr sz="788" b="0" i="0" dirty="0" err="1">
                          <a:solidFill>
                            <a:srgbClr val="192743"/>
                          </a:solidFill>
                          <a:latin typeface="Poppins"/>
                        </a:rPr>
                        <a:t>dass</a:t>
                      </a:r>
                      <a:r>
                        <a:rPr sz="788" b="0" i="0" dirty="0">
                          <a:solidFill>
                            <a:srgbClr val="192743"/>
                          </a:solidFill>
                          <a:latin typeface="Poppins"/>
                        </a:rPr>
                        <a:t> Sie </a:t>
                      </a:r>
                      <a:r>
                        <a:rPr lang="en-US" sz="788" b="0" i="0" dirty="0">
                          <a:solidFill>
                            <a:srgbClr val="192743"/>
                          </a:solidFill>
                          <a:latin typeface="Poppins"/>
                        </a:rPr>
                        <a:t>Team IT</a:t>
                      </a:r>
                      <a:r>
                        <a:rPr sz="788" b="0" i="0" dirty="0">
                          <a:solidFill>
                            <a:srgbClr val="192743"/>
                          </a:solidFill>
                          <a:latin typeface="Poppins"/>
                        </a:rPr>
                        <a:t> </a:t>
                      </a:r>
                      <a:r>
                        <a:rPr sz="788" b="0" i="0" dirty="0" err="1">
                          <a:solidFill>
                            <a:srgbClr val="192743"/>
                          </a:solidFill>
                          <a:latin typeface="Poppins"/>
                        </a:rPr>
                        <a:t>als</a:t>
                      </a:r>
                      <a:r>
                        <a:rPr sz="788" b="0" i="0" dirty="0">
                          <a:solidFill>
                            <a:srgbClr val="192743"/>
                          </a:solidFill>
                          <a:latin typeface="Poppins"/>
                        </a:rPr>
                        <a:t> </a:t>
                      </a:r>
                      <a:r>
                        <a:rPr sz="788" b="0" i="0" dirty="0" err="1">
                          <a:solidFill>
                            <a:srgbClr val="192743"/>
                          </a:solidFill>
                          <a:latin typeface="Poppins"/>
                        </a:rPr>
                        <a:t>Arbeitgeber</a:t>
                      </a:r>
                      <a:r>
                        <a:rPr sz="788" b="0" i="0" dirty="0">
                          <a:solidFill>
                            <a:srgbClr val="192743"/>
                          </a:solidFill>
                          <a:latin typeface="Poppins"/>
                        </a:rPr>
                        <a:t> </a:t>
                      </a:r>
                      <a:r>
                        <a:rPr sz="788" b="0" i="0" dirty="0" err="1">
                          <a:solidFill>
                            <a:srgbClr val="192743"/>
                          </a:solidFill>
                          <a:latin typeface="Poppins"/>
                        </a:rPr>
                        <a:t>weiterempfehlen</a:t>
                      </a:r>
                      <a:r>
                        <a:rPr sz="788" b="0" i="0" dirty="0">
                          <a:solidFill>
                            <a:srgbClr val="192743"/>
                          </a:solidFill>
                          <a:latin typeface="Poppins"/>
                        </a:rPr>
                        <a:t>?</a:t>
                      </a:r>
                    </a:p>
                  </a:txBody>
                  <a:tcPr marL="0" marR="0" marT="71438" marB="71438" anchor="ctr">
                    <a:lnL w="0">
                      <a:solidFill>
                        <a:srgbClr val="E6E9EE"/>
                      </a:solidFill>
                    </a:lnL>
                    <a:lnR w="7144">
                      <a:solidFill>
                        <a:srgbClr val="E6E9EE"/>
                      </a:solidFill>
                    </a:lnR>
                    <a:lnT w="7144">
                      <a:solidFill>
                        <a:srgbClr val="E6E9EE"/>
                      </a:solidFill>
                    </a:lnT>
                    <a:lnB w="7144">
                      <a:solidFill>
                        <a:srgbClr val="E6E9EE"/>
                      </a:solidFill>
                    </a:lnB>
                    <a:solidFill>
                      <a:srgbClr val="FFFFFF"/>
                    </a:solidFill>
                  </a:tcPr>
                </a:tc>
                <a:tc>
                  <a:txBody>
                    <a:bodyPr/>
                    <a:lstStyle/>
                    <a:p>
                      <a:pPr algn="ctr"/>
                      <a:r>
                        <a:rPr sz="900" b="1" i="0">
                          <a:solidFill>
                            <a:srgbClr val="1C55C7"/>
                          </a:solidFill>
                          <a:latin typeface="Poppins"/>
                        </a:rPr>
                        <a:t>35</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srgbClr val="EFF4FF"/>
                    </a:solidFill>
                  </a:tcPr>
                </a:tc>
                <a:tc>
                  <a:txBody>
                    <a:bodyPr/>
                    <a:lstStyle/>
                    <a:p>
                      <a:pPr algn="ctr"/>
                      <a:r>
                        <a:rPr sz="900" b="1" i="0">
                          <a:solidFill>
                            <a:srgbClr val="192743"/>
                          </a:solidFill>
                          <a:latin typeface="Poppins"/>
                        </a:rPr>
                        <a:t>33</a:t>
                      </a:r>
                    </a:p>
                  </a:txBody>
                  <a:tcPr marL="0" marR="0" marT="71438" marB="71438" anchor="ctr">
                    <a:lnL w="7144">
                      <a:solidFill>
                        <a:srgbClr val="E6E9EE"/>
                      </a:solidFill>
                    </a:lnL>
                    <a:lnR w="7144">
                      <a:solidFill>
                        <a:srgbClr val="E6E9EE"/>
                      </a:solidFill>
                    </a:lnR>
                    <a:lnT w="7144">
                      <a:solidFill>
                        <a:srgbClr val="E6E9EE"/>
                      </a:solidFill>
                    </a:lnT>
                    <a:lnB w="7144">
                      <a:solidFill>
                        <a:srgbClr val="E6E9EE"/>
                      </a:solidFill>
                    </a:lnB>
                    <a:solidFill>
                      <a:prstClr val="black">
                        <a:alpha val="0"/>
                      </a:prstClr>
                    </a:solidFill>
                  </a:tcPr>
                </a:tc>
                <a:extLst>
                  <a:ext uri="{0D108BD9-81ED-4DB2-BD59-A6C34878D82A}">
                    <a16:rowId xmlns:a16="http://schemas.microsoft.com/office/drawing/2014/main" val="10000"/>
                  </a:ext>
                </a:extLst>
              </a:tr>
              <a:tr h="285750">
                <a:tc>
                  <a:txBody>
                    <a:bodyPr/>
                    <a:lstStyle/>
                    <a:p>
                      <a:pPr algn="l"/>
                      <a:r>
                        <a:rPr sz="788" b="0" i="0">
                          <a:solidFill>
                            <a:srgbClr val="546178"/>
                          </a:solidFill>
                          <a:latin typeface="Poppins"/>
                        </a:rPr>
                        <a:t>Befragte</a:t>
                      </a:r>
                    </a:p>
                  </a:txBody>
                  <a:tcPr marL="153988" marR="0" marT="0" marB="0" anchor="ctr">
                    <a:lnL w="0">
                      <a:solidFill>
                        <a:srgbClr val="E6E9EE"/>
                      </a:solidFill>
                    </a:lnL>
                    <a:lnR w="7144">
                      <a:solidFill>
                        <a:srgbClr val="E6E9EE"/>
                      </a:solidFill>
                    </a:lnR>
                    <a:lnT w="7144">
                      <a:solidFill>
                        <a:srgbClr val="E6E9EE"/>
                      </a:solidFill>
                    </a:lnT>
                    <a:lnB w="0">
                      <a:solidFill>
                        <a:srgbClr val="E6E9EE"/>
                      </a:solidFill>
                    </a:lnB>
                    <a:blipFill>
                      <a:blip>
                        <a:extLst>
                          <a:ext uri="{96DAC541-7B7A-43D3-8B79-37D633B846F1}">
                            <asvg:svgBlip xmlns:asvg="http://schemas.microsoft.com/office/drawing/2016/SVG/main" r:embed="rId2"/>
                          </a:ext>
                        </a:extLst>
                      </a:blip>
                      <a:stretch>
                        <a:fillRect t="30000" r="98220" b="30000"/>
                      </a:stretch>
                    </a:blipFill>
                  </a:tcPr>
                </a:tc>
                <a:tc>
                  <a:txBody>
                    <a:bodyPr/>
                    <a:lstStyle/>
                    <a:p>
                      <a:pPr algn="ctr"/>
                      <a:r>
                        <a:rPr sz="788" b="0" i="0">
                          <a:solidFill>
                            <a:srgbClr val="546178"/>
                          </a:solidFill>
                          <a:latin typeface="Poppins"/>
                        </a:rPr>
                        <a:t>291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tc>
                  <a:txBody>
                    <a:bodyPr/>
                    <a:lstStyle/>
                    <a:p>
                      <a:pPr algn="ctr"/>
                      <a:r>
                        <a:rPr sz="788" b="0" i="0">
                          <a:solidFill>
                            <a:srgbClr val="546178"/>
                          </a:solidFill>
                          <a:latin typeface="Poppins"/>
                        </a:rPr>
                        <a:t>81</a:t>
                      </a:r>
                    </a:p>
                  </a:txBody>
                  <a:tcPr marL="0" marR="0" marT="0" marB="0" anchor="ctr">
                    <a:lnL w="7144">
                      <a:solidFill>
                        <a:srgbClr val="E6E9EE"/>
                      </a:solidFill>
                    </a:lnL>
                    <a:lnR w="7144">
                      <a:solidFill>
                        <a:srgbClr val="E6E9EE"/>
                      </a:solidFill>
                    </a:lnR>
                    <a:lnT w="7144">
                      <a:solidFill>
                        <a:srgbClr val="E6E9EE"/>
                      </a:solidFill>
                    </a:lnT>
                    <a:lnB w="0">
                      <a:solidFill>
                        <a:srgbClr val="E6E9EE"/>
                      </a:solidFill>
                    </a:lnB>
                    <a:solidFill>
                      <a:srgbClr val="FFFFFF"/>
                    </a:solidFill>
                  </a:tcPr>
                </a:tc>
                <a:extLst>
                  <a:ext uri="{0D108BD9-81ED-4DB2-BD59-A6C34878D82A}">
                    <a16:rowId xmlns:a16="http://schemas.microsoft.com/office/drawing/2014/main" val="10001"/>
                  </a:ext>
                </a:extLst>
              </a:tr>
            </a:tbl>
          </a:graphicData>
        </a:graphic>
      </p:graphicFrame>
      <p:grpSp>
        <p:nvGrpSpPr>
          <p:cNvPr id="18" name="Group 17"/>
          <p:cNvGrpSpPr/>
          <p:nvPr/>
        </p:nvGrpSpPr>
        <p:grpSpPr>
          <a:xfrm rot="18900000">
            <a:off x="7192321" y="816240"/>
            <a:ext cx="1471613" cy="240649"/>
            <a:chOff x="6780212" y="758031"/>
            <a:chExt cx="1471613" cy="240649"/>
          </a:xfrm>
        </p:grpSpPr>
        <p:pic>
          <p:nvPicPr>
            <p:cNvPr id="19" name="New picture"/>
            <p:cNvPicPr/>
            <p:nvPr/>
          </p:nvPicPr>
          <p:blipFill>
            <a:blip>
              <a:extLst>
                <a:ext uri="{96DAC541-7B7A-43D3-8B79-37D633B846F1}">
                  <asvg:svgBlip xmlns:asvg="http://schemas.microsoft.com/office/drawing/2016/SVG/main" r:embed="rId3"/>
                </a:ext>
              </a:extLst>
            </a:blip>
            <a:stretch>
              <a:fillRect/>
            </a:stretch>
          </p:blipFill>
          <p:spPr>
            <a:xfrm>
              <a:off x="6780212" y="820896"/>
              <a:ext cx="114300" cy="137160"/>
            </a:xfrm>
            <a:prstGeom prst="rect">
              <a:avLst/>
            </a:prstGeom>
          </p:spPr>
        </p:pic>
        <p:sp>
          <p:nvSpPr>
            <p:cNvPr id="20" name="New shape"/>
            <p:cNvSpPr txBox="1"/>
            <p:nvPr/>
          </p:nvSpPr>
          <p:spPr>
            <a:xfrm>
              <a:off x="6965950" y="758031"/>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788" b="1" i="0">
                  <a:solidFill>
                    <a:srgbClr val="1C55C7"/>
                  </a:solidFill>
                  <a:latin typeface="Poppins"/>
                </a:rPr>
                <a:t>Aktuell</a:t>
              </a:r>
            </a:p>
          </p:txBody>
        </p:sp>
        <p:sp>
          <p:nvSpPr>
            <p:cNvPr id="21" name="New shape"/>
            <p:cNvSpPr txBox="1"/>
            <p:nvPr/>
          </p:nvSpPr>
          <p:spPr>
            <a:xfrm>
              <a:off x="6965949" y="877428"/>
              <a:ext cx="1285875" cy="121252"/>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lang="en-US" sz="788" b="0" i="0" dirty="0">
                  <a:solidFill>
                    <a:srgbClr val="1C55C7"/>
                  </a:solidFill>
                  <a:latin typeface="Poppins"/>
                </a:rPr>
                <a:t>Team IT</a:t>
              </a:r>
              <a:endParaRPr sz="788" b="0" i="0" dirty="0">
                <a:solidFill>
                  <a:srgbClr val="1C55C7"/>
                </a:solidFill>
                <a:latin typeface="Poppins"/>
              </a:endParaRPr>
            </a:p>
          </p:txBody>
        </p:sp>
      </p:grpSp>
      <p:grpSp>
        <p:nvGrpSpPr>
          <p:cNvPr id="22" name="Group 21"/>
          <p:cNvGrpSpPr/>
          <p:nvPr/>
        </p:nvGrpSpPr>
        <p:grpSpPr>
          <a:xfrm rot="18900000">
            <a:off x="7685912" y="975395"/>
            <a:ext cx="1357312" cy="120015"/>
            <a:chOff x="7294562" y="783749"/>
            <a:chExt cx="1285875" cy="120015"/>
          </a:xfrm>
        </p:grpSpPr>
        <p:sp>
          <p:nvSpPr>
            <p:cNvPr id="23" name="New shape"/>
            <p:cNvSpPr txBox="1"/>
            <p:nvPr/>
          </p:nvSpPr>
          <p:spPr>
            <a:xfrm>
              <a:off x="7294562" y="783749"/>
              <a:ext cx="1285875" cy="12001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788" b="0" i="0">
                  <a:solidFill>
                    <a:srgbClr val="192743"/>
                  </a:solidFill>
                  <a:latin typeface="Poppins"/>
                </a:rPr>
                <a:t>Product &amp; Development</a:t>
              </a:r>
            </a:p>
          </p:txBody>
        </p:sp>
      </p:gr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ew shape"/>
          <p:cNvSpPr/>
          <p:nvPr/>
        </p:nvSpPr>
        <p:spPr>
          <a:xfrm>
            <a:off x="0" y="0"/>
            <a:ext cx="9144000" cy="5143500"/>
          </a:xfrm>
          <a:prstGeom prst="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2" name="New picture"/>
          <p:cNvPicPr/>
          <p:nvPr/>
        </p:nvPicPr>
        <p:blipFill>
          <a:blip r:embed="rId2"/>
          <a:stretch>
            <a:fillRect/>
          </a:stretch>
        </p:blipFill>
        <p:spPr>
          <a:xfrm>
            <a:off x="0" y="0"/>
            <a:ext cx="9144000" cy="5143500"/>
          </a:xfrm>
          <a:prstGeom prst="rect">
            <a:avLst/>
          </a:prstGeom>
        </p:spPr>
      </p:pic>
      <p:sp>
        <p:nvSpPr>
          <p:cNvPr id="4" name="New shape"/>
          <p:cNvSpPr txBox="1"/>
          <p:nvPr/>
        </p:nvSpPr>
        <p:spPr>
          <a:xfrm>
            <a:off x="457200" y="1868091"/>
            <a:ext cx="6286500" cy="96012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3150" b="1" i="0">
                <a:solidFill>
                  <a:srgbClr val="000000"/>
                </a:solidFill>
                <a:latin typeface="Poppins"/>
              </a:rPr>
              <a:t>Themen, auf die Ihre Mitarbeitenden hinweisen</a:t>
            </a:r>
          </a:p>
        </p:txBody>
      </p:sp>
      <p:sp>
        <p:nvSpPr>
          <p:cNvPr id="5" name="New shape"/>
          <p:cNvSpPr txBox="1"/>
          <p:nvPr/>
        </p:nvSpPr>
        <p:spPr>
          <a:xfrm>
            <a:off x="457200" y="2863929"/>
            <a:ext cx="6286500"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gn="l">
              <a:lnSpc>
                <a:spcPct val="100000"/>
              </a:lnSpc>
            </a:pPr>
            <a:r>
              <a:rPr sz="1350" b="0" i="0">
                <a:solidFill>
                  <a:srgbClr val="000000"/>
                </a:solidFill>
                <a:latin typeface="Poppins"/>
              </a:rPr>
              <a:t>Erfahren Sie, worauf die Mitarbeitenden besonders stolz sind und wo sie Verbesserungsbedarf sehen.</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ew shape"/>
          <p:cNvSpPr txBox="1"/>
          <p:nvPr/>
        </p:nvSpPr>
        <p:spPr>
          <a:xfrm>
            <a:off x="457200" y="455525"/>
            <a:ext cx="3672480" cy="34624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2250" b="1" i="0" dirty="0" err="1">
                <a:solidFill>
                  <a:srgbClr val="192743"/>
                </a:solidFill>
                <a:latin typeface="Poppins"/>
              </a:rPr>
              <a:t>Themen</a:t>
            </a:r>
            <a:r>
              <a:rPr sz="2250" b="1" i="0" dirty="0">
                <a:solidFill>
                  <a:srgbClr val="192743"/>
                </a:solidFill>
                <a:latin typeface="Poppins"/>
              </a:rPr>
              <a:t> für </a:t>
            </a:r>
            <a:r>
              <a:rPr lang="en-US" sz="2250" b="1" i="0" dirty="0">
                <a:solidFill>
                  <a:srgbClr val="192743"/>
                </a:solidFill>
                <a:latin typeface="Poppins"/>
              </a:rPr>
              <a:t>Team IT</a:t>
            </a:r>
            <a:endParaRPr sz="2250" b="1" i="0" dirty="0">
              <a:solidFill>
                <a:srgbClr val="192743"/>
              </a:solidFill>
              <a:latin typeface="Poppins"/>
            </a:endParaRPr>
          </a:p>
        </p:txBody>
      </p:sp>
      <p:sp>
        <p:nvSpPr>
          <p:cNvPr id="3" name="New shape"/>
          <p:cNvSpPr txBox="1"/>
          <p:nvPr/>
        </p:nvSpPr>
        <p:spPr>
          <a:xfrm>
            <a:off x="457200" y="838007"/>
            <a:ext cx="1673535" cy="138499"/>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algn="l">
              <a:lnSpc>
                <a:spcPct val="100000"/>
              </a:lnSpc>
            </a:pPr>
            <a:r>
              <a:rPr sz="900" b="0" i="0" dirty="0" err="1">
                <a:solidFill>
                  <a:srgbClr val="546178"/>
                </a:solidFill>
                <a:latin typeface="Poppins"/>
              </a:rPr>
              <a:t>Ausgewählt</a:t>
            </a:r>
            <a:r>
              <a:rPr sz="900" b="0" i="0" dirty="0">
                <a:solidFill>
                  <a:srgbClr val="546178"/>
                </a:solidFill>
                <a:latin typeface="Poppins"/>
              </a:rPr>
              <a:t> von </a:t>
            </a:r>
            <a:r>
              <a:rPr lang="en-US" sz="900" b="0" i="0" dirty="0">
                <a:solidFill>
                  <a:srgbClr val="546178"/>
                </a:solidFill>
                <a:latin typeface="Poppins"/>
              </a:rPr>
              <a:t>Team IT</a:t>
            </a:r>
            <a:endParaRPr sz="900" b="0" i="0" dirty="0">
              <a:solidFill>
                <a:srgbClr val="546178"/>
              </a:solidFill>
              <a:latin typeface="Poppins"/>
            </a:endParaRPr>
          </a:p>
        </p:txBody>
      </p:sp>
      <p:sp>
        <p:nvSpPr>
          <p:cNvPr id="4" name="New shape"/>
          <p:cNvSpPr/>
          <p:nvPr/>
        </p:nvSpPr>
        <p:spPr>
          <a:xfrm flipH="1">
            <a:off x="4572000" y="1243012"/>
            <a:ext cx="0" cy="2800350"/>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5" name="New picture"/>
          <p:cNvPicPr/>
          <p:nvPr/>
        </p:nvPicPr>
        <p:blipFill>
          <a:blip>
            <a:extLst>
              <a:ext uri="{96DAC541-7B7A-43D3-8B79-37D633B846F1}">
                <asvg:svgBlip xmlns:asvg="http://schemas.microsoft.com/office/drawing/2016/SVG/main" r:embed="rId2"/>
              </a:ext>
            </a:extLst>
          </a:blip>
          <a:stretch>
            <a:fillRect/>
          </a:stretch>
        </p:blipFill>
        <p:spPr>
          <a:xfrm>
            <a:off x="457200" y="1271588"/>
            <a:ext cx="228600" cy="228600"/>
          </a:xfrm>
          <a:prstGeom prst="rect">
            <a:avLst/>
          </a:prstGeom>
        </p:spPr>
      </p:pic>
      <p:sp>
        <p:nvSpPr>
          <p:cNvPr id="6" name="New shape"/>
          <p:cNvSpPr txBox="1"/>
          <p:nvPr/>
        </p:nvSpPr>
        <p:spPr>
          <a:xfrm>
            <a:off x="757238" y="1317307"/>
            <a:ext cx="3214688" cy="13716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Was sticht für Sie wirklich positiv hervor?</a:t>
            </a:r>
          </a:p>
        </p:txBody>
      </p:sp>
      <p:sp>
        <p:nvSpPr>
          <p:cNvPr id="7" name="New shape"/>
          <p:cNvSpPr/>
          <p:nvPr/>
        </p:nvSpPr>
        <p:spPr>
          <a:xfrm>
            <a:off x="4572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New shape"/>
          <p:cNvSpPr/>
          <p:nvPr/>
        </p:nvSpPr>
        <p:spPr>
          <a:xfrm>
            <a:off x="457200" y="1700212"/>
            <a:ext cx="1446609"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New shape"/>
          <p:cNvSpPr txBox="1"/>
          <p:nvPr/>
        </p:nvSpPr>
        <p:spPr>
          <a:xfrm>
            <a:off x="5286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Mein Unternehmen als Arbeitgeber</a:t>
            </a:r>
          </a:p>
        </p:txBody>
      </p:sp>
      <p:sp>
        <p:nvSpPr>
          <p:cNvPr id="10" name="New shape"/>
          <p:cNvSpPr txBox="1"/>
          <p:nvPr/>
        </p:nvSpPr>
        <p:spPr>
          <a:xfrm>
            <a:off x="31182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45%</a:t>
            </a:r>
          </a:p>
        </p:txBody>
      </p:sp>
      <p:pic>
        <p:nvPicPr>
          <p:cNvPr id="11" name="New picture"/>
          <p:cNvPicPr/>
          <p:nvPr/>
        </p:nvPicPr>
        <p:blipFill>
          <a:blip>
            <a:extLst>
              <a:ext uri="{96DAC541-7B7A-43D3-8B79-37D633B846F1}">
                <asvg:svgBlip xmlns:asvg="http://schemas.microsoft.com/office/drawing/2016/SVG/main" r:embed="rId3"/>
              </a:ext>
            </a:extLst>
          </a:blip>
          <a:stretch>
            <a:fillRect/>
          </a:stretch>
        </p:blipFill>
        <p:spPr>
          <a:xfrm>
            <a:off x="3786188" y="1768078"/>
            <a:ext cx="150019" cy="150019"/>
          </a:xfrm>
          <a:prstGeom prst="rect">
            <a:avLst/>
          </a:prstGeom>
        </p:spPr>
      </p:pic>
      <p:sp>
        <p:nvSpPr>
          <p:cNvPr id="12" name="New shape"/>
          <p:cNvSpPr txBox="1"/>
          <p:nvPr/>
        </p:nvSpPr>
        <p:spPr>
          <a:xfrm>
            <a:off x="40076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132</a:t>
            </a:r>
          </a:p>
        </p:txBody>
      </p:sp>
      <p:sp>
        <p:nvSpPr>
          <p:cNvPr id="13" name="New shape"/>
          <p:cNvSpPr/>
          <p:nvPr/>
        </p:nvSpPr>
        <p:spPr>
          <a:xfrm>
            <a:off x="4572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New shape"/>
          <p:cNvSpPr/>
          <p:nvPr/>
        </p:nvSpPr>
        <p:spPr>
          <a:xfrm>
            <a:off x="457200" y="2100262"/>
            <a:ext cx="417909"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New shape"/>
          <p:cNvSpPr txBox="1"/>
          <p:nvPr/>
        </p:nvSpPr>
        <p:spPr>
          <a:xfrm>
            <a:off x="5286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Kultur meines Unternehmens</a:t>
            </a:r>
          </a:p>
        </p:txBody>
      </p:sp>
      <p:sp>
        <p:nvSpPr>
          <p:cNvPr id="16" name="New shape"/>
          <p:cNvSpPr txBox="1"/>
          <p:nvPr/>
        </p:nvSpPr>
        <p:spPr>
          <a:xfrm>
            <a:off x="31182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13%</a:t>
            </a:r>
          </a:p>
        </p:txBody>
      </p:sp>
      <p:pic>
        <p:nvPicPr>
          <p:cNvPr id="17" name="New picture"/>
          <p:cNvPicPr/>
          <p:nvPr/>
        </p:nvPicPr>
        <p:blipFill>
          <a:blip>
            <a:extLst>
              <a:ext uri="{96DAC541-7B7A-43D3-8B79-37D633B846F1}">
                <asvg:svgBlip xmlns:asvg="http://schemas.microsoft.com/office/drawing/2016/SVG/main" r:embed="rId3"/>
              </a:ext>
            </a:extLst>
          </a:blip>
          <a:stretch>
            <a:fillRect/>
          </a:stretch>
        </p:blipFill>
        <p:spPr>
          <a:xfrm>
            <a:off x="3786188" y="2168128"/>
            <a:ext cx="150019" cy="150019"/>
          </a:xfrm>
          <a:prstGeom prst="rect">
            <a:avLst/>
          </a:prstGeom>
        </p:spPr>
      </p:pic>
      <p:sp>
        <p:nvSpPr>
          <p:cNvPr id="18" name="New shape"/>
          <p:cNvSpPr txBox="1"/>
          <p:nvPr/>
        </p:nvSpPr>
        <p:spPr>
          <a:xfrm>
            <a:off x="40076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38</a:t>
            </a:r>
          </a:p>
        </p:txBody>
      </p:sp>
      <p:sp>
        <p:nvSpPr>
          <p:cNvPr id="19" name="New shape"/>
          <p:cNvSpPr/>
          <p:nvPr/>
        </p:nvSpPr>
        <p:spPr>
          <a:xfrm>
            <a:off x="4572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New shape"/>
          <p:cNvSpPr/>
          <p:nvPr/>
        </p:nvSpPr>
        <p:spPr>
          <a:xfrm>
            <a:off x="457200" y="2500312"/>
            <a:ext cx="321469"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New shape"/>
          <p:cNvSpPr txBox="1"/>
          <p:nvPr/>
        </p:nvSpPr>
        <p:spPr>
          <a:xfrm>
            <a:off x="5286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Vision und Ziele meines Unternehmens</a:t>
            </a:r>
          </a:p>
        </p:txBody>
      </p:sp>
      <p:sp>
        <p:nvSpPr>
          <p:cNvPr id="22" name="New shape"/>
          <p:cNvSpPr txBox="1"/>
          <p:nvPr/>
        </p:nvSpPr>
        <p:spPr>
          <a:xfrm>
            <a:off x="31182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10%</a:t>
            </a:r>
          </a:p>
        </p:txBody>
      </p:sp>
      <p:pic>
        <p:nvPicPr>
          <p:cNvPr id="23" name="New picture"/>
          <p:cNvPicPr/>
          <p:nvPr/>
        </p:nvPicPr>
        <p:blipFill>
          <a:blip>
            <a:extLst>
              <a:ext uri="{96DAC541-7B7A-43D3-8B79-37D633B846F1}">
                <asvg:svgBlip xmlns:asvg="http://schemas.microsoft.com/office/drawing/2016/SVG/main" r:embed="rId3"/>
              </a:ext>
            </a:extLst>
          </a:blip>
          <a:stretch>
            <a:fillRect/>
          </a:stretch>
        </p:blipFill>
        <p:spPr>
          <a:xfrm>
            <a:off x="3786188" y="2568178"/>
            <a:ext cx="150019" cy="150019"/>
          </a:xfrm>
          <a:prstGeom prst="rect">
            <a:avLst/>
          </a:prstGeom>
        </p:spPr>
      </p:pic>
      <p:sp>
        <p:nvSpPr>
          <p:cNvPr id="24" name="New shape"/>
          <p:cNvSpPr txBox="1"/>
          <p:nvPr/>
        </p:nvSpPr>
        <p:spPr>
          <a:xfrm>
            <a:off x="40076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29</a:t>
            </a:r>
          </a:p>
        </p:txBody>
      </p:sp>
      <p:sp>
        <p:nvSpPr>
          <p:cNvPr id="25" name="New shape"/>
          <p:cNvSpPr/>
          <p:nvPr/>
        </p:nvSpPr>
        <p:spPr>
          <a:xfrm>
            <a:off x="4572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New shape"/>
          <p:cNvSpPr/>
          <p:nvPr/>
        </p:nvSpPr>
        <p:spPr>
          <a:xfrm>
            <a:off x="457200" y="2900362"/>
            <a:ext cx="289322"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New shape"/>
          <p:cNvSpPr txBox="1"/>
          <p:nvPr/>
        </p:nvSpPr>
        <p:spPr>
          <a:xfrm>
            <a:off x="5286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Kundenorientierung in meinem Unternehmen</a:t>
            </a:r>
          </a:p>
        </p:txBody>
      </p:sp>
      <p:sp>
        <p:nvSpPr>
          <p:cNvPr id="28" name="New shape"/>
          <p:cNvSpPr txBox="1"/>
          <p:nvPr/>
        </p:nvSpPr>
        <p:spPr>
          <a:xfrm>
            <a:off x="31182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9%</a:t>
            </a:r>
          </a:p>
        </p:txBody>
      </p:sp>
      <p:pic>
        <p:nvPicPr>
          <p:cNvPr id="29" name="New picture"/>
          <p:cNvPicPr/>
          <p:nvPr/>
        </p:nvPicPr>
        <p:blipFill>
          <a:blip>
            <a:extLst>
              <a:ext uri="{96DAC541-7B7A-43D3-8B79-37D633B846F1}">
                <asvg:svgBlip xmlns:asvg="http://schemas.microsoft.com/office/drawing/2016/SVG/main" r:embed="rId3"/>
              </a:ext>
            </a:extLst>
          </a:blip>
          <a:stretch>
            <a:fillRect/>
          </a:stretch>
        </p:blipFill>
        <p:spPr>
          <a:xfrm>
            <a:off x="3786188" y="2968228"/>
            <a:ext cx="150019" cy="150019"/>
          </a:xfrm>
          <a:prstGeom prst="rect">
            <a:avLst/>
          </a:prstGeom>
        </p:spPr>
      </p:pic>
      <p:sp>
        <p:nvSpPr>
          <p:cNvPr id="30" name="New shape"/>
          <p:cNvSpPr txBox="1"/>
          <p:nvPr/>
        </p:nvSpPr>
        <p:spPr>
          <a:xfrm>
            <a:off x="40076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25</a:t>
            </a:r>
          </a:p>
        </p:txBody>
      </p:sp>
      <p:sp>
        <p:nvSpPr>
          <p:cNvPr id="31" name="New shape"/>
          <p:cNvSpPr/>
          <p:nvPr/>
        </p:nvSpPr>
        <p:spPr>
          <a:xfrm>
            <a:off x="4572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2" name="New shape"/>
          <p:cNvSpPr/>
          <p:nvPr/>
        </p:nvSpPr>
        <p:spPr>
          <a:xfrm>
            <a:off x="457200" y="3300412"/>
            <a:ext cx="22502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3" name="New shape"/>
          <p:cNvSpPr txBox="1"/>
          <p:nvPr/>
        </p:nvSpPr>
        <p:spPr>
          <a:xfrm>
            <a:off x="5286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Kommunikation in meinem Unternehmen</a:t>
            </a:r>
          </a:p>
        </p:txBody>
      </p:sp>
      <p:sp>
        <p:nvSpPr>
          <p:cNvPr id="34" name="New shape"/>
          <p:cNvSpPr txBox="1"/>
          <p:nvPr/>
        </p:nvSpPr>
        <p:spPr>
          <a:xfrm>
            <a:off x="31182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7%</a:t>
            </a:r>
          </a:p>
        </p:txBody>
      </p:sp>
      <p:pic>
        <p:nvPicPr>
          <p:cNvPr id="35" name="New picture"/>
          <p:cNvPicPr/>
          <p:nvPr/>
        </p:nvPicPr>
        <p:blipFill>
          <a:blip>
            <a:extLst>
              <a:ext uri="{96DAC541-7B7A-43D3-8B79-37D633B846F1}">
                <asvg:svgBlip xmlns:asvg="http://schemas.microsoft.com/office/drawing/2016/SVG/main" r:embed="rId3"/>
              </a:ext>
            </a:extLst>
          </a:blip>
          <a:stretch>
            <a:fillRect/>
          </a:stretch>
        </p:blipFill>
        <p:spPr>
          <a:xfrm>
            <a:off x="3786188" y="3368278"/>
            <a:ext cx="150019" cy="150019"/>
          </a:xfrm>
          <a:prstGeom prst="rect">
            <a:avLst/>
          </a:prstGeom>
        </p:spPr>
      </p:pic>
      <p:sp>
        <p:nvSpPr>
          <p:cNvPr id="36" name="New shape"/>
          <p:cNvSpPr txBox="1"/>
          <p:nvPr/>
        </p:nvSpPr>
        <p:spPr>
          <a:xfrm>
            <a:off x="40076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19</a:t>
            </a:r>
          </a:p>
        </p:txBody>
      </p:sp>
      <p:sp>
        <p:nvSpPr>
          <p:cNvPr id="37" name="New shape"/>
          <p:cNvSpPr/>
          <p:nvPr/>
        </p:nvSpPr>
        <p:spPr>
          <a:xfrm>
            <a:off x="4572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8" name="New shape"/>
          <p:cNvSpPr/>
          <p:nvPr/>
        </p:nvSpPr>
        <p:spPr>
          <a:xfrm>
            <a:off x="457200" y="370046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9" name="New shape"/>
          <p:cNvSpPr txBox="1"/>
          <p:nvPr/>
        </p:nvSpPr>
        <p:spPr>
          <a:xfrm>
            <a:off x="5286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Zusammenarbeit in meinem Unternehmen</a:t>
            </a:r>
          </a:p>
        </p:txBody>
      </p:sp>
      <p:sp>
        <p:nvSpPr>
          <p:cNvPr id="40" name="New shape"/>
          <p:cNvSpPr txBox="1"/>
          <p:nvPr/>
        </p:nvSpPr>
        <p:spPr>
          <a:xfrm>
            <a:off x="31182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41" name="New picture"/>
          <p:cNvPicPr/>
          <p:nvPr/>
        </p:nvPicPr>
        <p:blipFill>
          <a:blip>
            <a:extLst>
              <a:ext uri="{96DAC541-7B7A-43D3-8B79-37D633B846F1}">
                <asvg:svgBlip xmlns:asvg="http://schemas.microsoft.com/office/drawing/2016/SVG/main" r:embed="rId3"/>
              </a:ext>
            </a:extLst>
          </a:blip>
          <a:stretch>
            <a:fillRect/>
          </a:stretch>
        </p:blipFill>
        <p:spPr>
          <a:xfrm>
            <a:off x="3786188" y="3768328"/>
            <a:ext cx="150019" cy="150019"/>
          </a:xfrm>
          <a:prstGeom prst="rect">
            <a:avLst/>
          </a:prstGeom>
        </p:spPr>
      </p:pic>
      <p:sp>
        <p:nvSpPr>
          <p:cNvPr id="42" name="New shape"/>
          <p:cNvSpPr txBox="1"/>
          <p:nvPr/>
        </p:nvSpPr>
        <p:spPr>
          <a:xfrm>
            <a:off x="40076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pic>
        <p:nvPicPr>
          <p:cNvPr id="43" name="New picture"/>
          <p:cNvPicPr/>
          <p:nvPr/>
        </p:nvPicPr>
        <p:blipFill>
          <a:blip>
            <a:extLst>
              <a:ext uri="{96DAC541-7B7A-43D3-8B79-37D633B846F1}">
                <asvg:svgBlip xmlns:asvg="http://schemas.microsoft.com/office/drawing/2016/SVG/main" r:embed="rId4"/>
              </a:ext>
            </a:extLst>
          </a:blip>
          <a:stretch>
            <a:fillRect/>
          </a:stretch>
        </p:blipFill>
        <p:spPr>
          <a:xfrm>
            <a:off x="4800600" y="1271588"/>
            <a:ext cx="228600" cy="228600"/>
          </a:xfrm>
          <a:prstGeom prst="rect">
            <a:avLst/>
          </a:prstGeom>
        </p:spPr>
      </p:pic>
      <p:sp>
        <p:nvSpPr>
          <p:cNvPr id="44" name="New shape"/>
          <p:cNvSpPr txBox="1"/>
          <p:nvPr/>
        </p:nvSpPr>
        <p:spPr>
          <a:xfrm>
            <a:off x="5100638" y="1180148"/>
            <a:ext cx="3214688" cy="41148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algn="l">
              <a:lnSpc>
                <a:spcPct val="100000"/>
              </a:lnSpc>
            </a:pPr>
            <a:r>
              <a:rPr sz="900" b="1" i="0">
                <a:solidFill>
                  <a:srgbClr val="192743"/>
                </a:solidFill>
                <a:latin typeface="Poppins"/>
              </a:rPr>
              <a:t>Was haben Sie gesehen oder erlebt, das verbessert werden könnte? Vergessen Sie nicht, uns einen Vorschlag dazu zu geben.</a:t>
            </a:r>
          </a:p>
        </p:txBody>
      </p:sp>
      <p:sp>
        <p:nvSpPr>
          <p:cNvPr id="45" name="New shape"/>
          <p:cNvSpPr/>
          <p:nvPr/>
        </p:nvSpPr>
        <p:spPr>
          <a:xfrm>
            <a:off x="4800600" y="17002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New shape"/>
          <p:cNvSpPr/>
          <p:nvPr/>
        </p:nvSpPr>
        <p:spPr>
          <a:xfrm>
            <a:off x="4800600" y="1700212"/>
            <a:ext cx="1253728" cy="285750"/>
          </a:xfrm>
          <a:prstGeom prst="roundRect">
            <a:avLst/>
          </a:prstGeom>
          <a:solidFill>
            <a:srgbClr val="C1EEE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7" name="New shape"/>
          <p:cNvSpPr txBox="1"/>
          <p:nvPr/>
        </p:nvSpPr>
        <p:spPr>
          <a:xfrm>
            <a:off x="4872038" y="17002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Mein Unternehmen als Arbeitgeber</a:t>
            </a:r>
          </a:p>
        </p:txBody>
      </p:sp>
      <p:sp>
        <p:nvSpPr>
          <p:cNvPr id="48" name="New shape"/>
          <p:cNvSpPr txBox="1"/>
          <p:nvPr/>
        </p:nvSpPr>
        <p:spPr>
          <a:xfrm>
            <a:off x="7461647"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39%</a:t>
            </a:r>
          </a:p>
        </p:txBody>
      </p:sp>
      <p:pic>
        <p:nvPicPr>
          <p:cNvPr id="49" name="New picture"/>
          <p:cNvPicPr/>
          <p:nvPr/>
        </p:nvPicPr>
        <p:blipFill>
          <a:blip>
            <a:extLst>
              <a:ext uri="{96DAC541-7B7A-43D3-8B79-37D633B846F1}">
                <asvg:svgBlip xmlns:asvg="http://schemas.microsoft.com/office/drawing/2016/SVG/main" r:embed="rId3"/>
              </a:ext>
            </a:extLst>
          </a:blip>
          <a:stretch>
            <a:fillRect/>
          </a:stretch>
        </p:blipFill>
        <p:spPr>
          <a:xfrm>
            <a:off x="8129588" y="1768078"/>
            <a:ext cx="150019" cy="150019"/>
          </a:xfrm>
          <a:prstGeom prst="rect">
            <a:avLst/>
          </a:prstGeom>
        </p:spPr>
      </p:pic>
      <p:sp>
        <p:nvSpPr>
          <p:cNvPr id="50" name="New shape"/>
          <p:cNvSpPr txBox="1"/>
          <p:nvPr/>
        </p:nvSpPr>
        <p:spPr>
          <a:xfrm>
            <a:off x="8351044" y="17002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113</a:t>
            </a:r>
          </a:p>
        </p:txBody>
      </p:sp>
      <p:sp>
        <p:nvSpPr>
          <p:cNvPr id="51" name="New shape"/>
          <p:cNvSpPr/>
          <p:nvPr/>
        </p:nvSpPr>
        <p:spPr>
          <a:xfrm>
            <a:off x="4800600" y="21002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2" name="New shape"/>
          <p:cNvSpPr/>
          <p:nvPr/>
        </p:nvSpPr>
        <p:spPr>
          <a:xfrm>
            <a:off x="4800600" y="2100262"/>
            <a:ext cx="546497" cy="285750"/>
          </a:xfrm>
          <a:prstGeom prst="roundRect">
            <a:avLst/>
          </a:prstGeom>
          <a:solidFill>
            <a:srgbClr val="FFEBA8"/>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3" name="New shape"/>
          <p:cNvSpPr txBox="1"/>
          <p:nvPr/>
        </p:nvSpPr>
        <p:spPr>
          <a:xfrm>
            <a:off x="4872038" y="21002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Vision und Ziele meines Unternehmens</a:t>
            </a:r>
          </a:p>
        </p:txBody>
      </p:sp>
      <p:sp>
        <p:nvSpPr>
          <p:cNvPr id="54" name="New shape"/>
          <p:cNvSpPr txBox="1"/>
          <p:nvPr/>
        </p:nvSpPr>
        <p:spPr>
          <a:xfrm>
            <a:off x="7461647"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17%</a:t>
            </a:r>
          </a:p>
        </p:txBody>
      </p:sp>
      <p:pic>
        <p:nvPicPr>
          <p:cNvPr id="55" name="New picture"/>
          <p:cNvPicPr/>
          <p:nvPr/>
        </p:nvPicPr>
        <p:blipFill>
          <a:blip>
            <a:extLst>
              <a:ext uri="{96DAC541-7B7A-43D3-8B79-37D633B846F1}">
                <asvg:svgBlip xmlns:asvg="http://schemas.microsoft.com/office/drawing/2016/SVG/main" r:embed="rId3"/>
              </a:ext>
            </a:extLst>
          </a:blip>
          <a:stretch>
            <a:fillRect/>
          </a:stretch>
        </p:blipFill>
        <p:spPr>
          <a:xfrm>
            <a:off x="8129588" y="2168128"/>
            <a:ext cx="150019" cy="150019"/>
          </a:xfrm>
          <a:prstGeom prst="rect">
            <a:avLst/>
          </a:prstGeom>
        </p:spPr>
      </p:pic>
      <p:sp>
        <p:nvSpPr>
          <p:cNvPr id="56" name="New shape"/>
          <p:cNvSpPr txBox="1"/>
          <p:nvPr/>
        </p:nvSpPr>
        <p:spPr>
          <a:xfrm>
            <a:off x="8351044" y="21002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49</a:t>
            </a:r>
          </a:p>
        </p:txBody>
      </p:sp>
      <p:sp>
        <p:nvSpPr>
          <p:cNvPr id="57" name="New shape"/>
          <p:cNvSpPr/>
          <p:nvPr/>
        </p:nvSpPr>
        <p:spPr>
          <a:xfrm>
            <a:off x="4800600" y="25003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8" name="New shape"/>
          <p:cNvSpPr/>
          <p:nvPr/>
        </p:nvSpPr>
        <p:spPr>
          <a:xfrm>
            <a:off x="4800600" y="2500312"/>
            <a:ext cx="385762" cy="285750"/>
          </a:xfrm>
          <a:prstGeom prst="roundRect">
            <a:avLst/>
          </a:prstGeom>
          <a:solidFill>
            <a:srgbClr val="E4EB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9" name="New shape"/>
          <p:cNvSpPr txBox="1"/>
          <p:nvPr/>
        </p:nvSpPr>
        <p:spPr>
          <a:xfrm>
            <a:off x="4872038" y="25003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Kultur meines Unternehmens</a:t>
            </a:r>
          </a:p>
        </p:txBody>
      </p:sp>
      <p:sp>
        <p:nvSpPr>
          <p:cNvPr id="60" name="New shape"/>
          <p:cNvSpPr txBox="1"/>
          <p:nvPr/>
        </p:nvSpPr>
        <p:spPr>
          <a:xfrm>
            <a:off x="7461647"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12%</a:t>
            </a:r>
          </a:p>
        </p:txBody>
      </p:sp>
      <p:pic>
        <p:nvPicPr>
          <p:cNvPr id="61" name="New picture"/>
          <p:cNvPicPr/>
          <p:nvPr/>
        </p:nvPicPr>
        <p:blipFill>
          <a:blip>
            <a:extLst>
              <a:ext uri="{96DAC541-7B7A-43D3-8B79-37D633B846F1}">
                <asvg:svgBlip xmlns:asvg="http://schemas.microsoft.com/office/drawing/2016/SVG/main" r:embed="rId3"/>
              </a:ext>
            </a:extLst>
          </a:blip>
          <a:stretch>
            <a:fillRect/>
          </a:stretch>
        </p:blipFill>
        <p:spPr>
          <a:xfrm>
            <a:off x="8129588" y="2568178"/>
            <a:ext cx="150019" cy="150019"/>
          </a:xfrm>
          <a:prstGeom prst="rect">
            <a:avLst/>
          </a:prstGeom>
        </p:spPr>
      </p:pic>
      <p:sp>
        <p:nvSpPr>
          <p:cNvPr id="62" name="New shape"/>
          <p:cNvSpPr txBox="1"/>
          <p:nvPr/>
        </p:nvSpPr>
        <p:spPr>
          <a:xfrm>
            <a:off x="8351044" y="25003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36</a:t>
            </a:r>
          </a:p>
        </p:txBody>
      </p:sp>
      <p:sp>
        <p:nvSpPr>
          <p:cNvPr id="63" name="New shape"/>
          <p:cNvSpPr/>
          <p:nvPr/>
        </p:nvSpPr>
        <p:spPr>
          <a:xfrm>
            <a:off x="4800600" y="29003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4" name="New shape"/>
          <p:cNvSpPr/>
          <p:nvPr/>
        </p:nvSpPr>
        <p:spPr>
          <a:xfrm>
            <a:off x="4800600" y="2900362"/>
            <a:ext cx="160734" cy="285750"/>
          </a:xfrm>
          <a:prstGeom prst="roundRect">
            <a:avLst/>
          </a:prstGeom>
          <a:solidFill>
            <a:srgbClr val="FEE5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5" name="New shape"/>
          <p:cNvSpPr txBox="1"/>
          <p:nvPr/>
        </p:nvSpPr>
        <p:spPr>
          <a:xfrm>
            <a:off x="4872038" y="29003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Teamdynamik (Atmosphäre, Vertrauen)</a:t>
            </a:r>
          </a:p>
        </p:txBody>
      </p:sp>
      <p:sp>
        <p:nvSpPr>
          <p:cNvPr id="66" name="New shape"/>
          <p:cNvSpPr txBox="1"/>
          <p:nvPr/>
        </p:nvSpPr>
        <p:spPr>
          <a:xfrm>
            <a:off x="7461647"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67" name="New picture"/>
          <p:cNvPicPr/>
          <p:nvPr/>
        </p:nvPicPr>
        <p:blipFill>
          <a:blip>
            <a:extLst>
              <a:ext uri="{96DAC541-7B7A-43D3-8B79-37D633B846F1}">
                <asvg:svgBlip xmlns:asvg="http://schemas.microsoft.com/office/drawing/2016/SVG/main" r:embed="rId3"/>
              </a:ext>
            </a:extLst>
          </a:blip>
          <a:stretch>
            <a:fillRect/>
          </a:stretch>
        </p:blipFill>
        <p:spPr>
          <a:xfrm>
            <a:off x="8129588" y="2968228"/>
            <a:ext cx="150019" cy="150019"/>
          </a:xfrm>
          <a:prstGeom prst="rect">
            <a:avLst/>
          </a:prstGeom>
        </p:spPr>
      </p:pic>
      <p:sp>
        <p:nvSpPr>
          <p:cNvPr id="68" name="New shape"/>
          <p:cNvSpPr txBox="1"/>
          <p:nvPr/>
        </p:nvSpPr>
        <p:spPr>
          <a:xfrm>
            <a:off x="8351044" y="29003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16</a:t>
            </a:r>
          </a:p>
        </p:txBody>
      </p:sp>
      <p:sp>
        <p:nvSpPr>
          <p:cNvPr id="69" name="New shape"/>
          <p:cNvSpPr/>
          <p:nvPr/>
        </p:nvSpPr>
        <p:spPr>
          <a:xfrm>
            <a:off x="4800600" y="330041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New shape"/>
          <p:cNvSpPr/>
          <p:nvPr/>
        </p:nvSpPr>
        <p:spPr>
          <a:xfrm>
            <a:off x="4800600" y="3300412"/>
            <a:ext cx="160734"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New shape"/>
          <p:cNvSpPr txBox="1"/>
          <p:nvPr/>
        </p:nvSpPr>
        <p:spPr>
          <a:xfrm>
            <a:off x="4872038" y="330041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Kundenorientierung in meinem Unternehmen</a:t>
            </a:r>
          </a:p>
        </p:txBody>
      </p:sp>
      <p:sp>
        <p:nvSpPr>
          <p:cNvPr id="72" name="New shape"/>
          <p:cNvSpPr txBox="1"/>
          <p:nvPr/>
        </p:nvSpPr>
        <p:spPr>
          <a:xfrm>
            <a:off x="7461647"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5%</a:t>
            </a:r>
          </a:p>
        </p:txBody>
      </p:sp>
      <p:pic>
        <p:nvPicPr>
          <p:cNvPr id="73" name="New picture"/>
          <p:cNvPicPr/>
          <p:nvPr/>
        </p:nvPicPr>
        <p:blipFill>
          <a:blip>
            <a:extLst>
              <a:ext uri="{96DAC541-7B7A-43D3-8B79-37D633B846F1}">
                <asvg:svgBlip xmlns:asvg="http://schemas.microsoft.com/office/drawing/2016/SVG/main" r:embed="rId3"/>
              </a:ext>
            </a:extLst>
          </a:blip>
          <a:stretch>
            <a:fillRect/>
          </a:stretch>
        </p:blipFill>
        <p:spPr>
          <a:xfrm>
            <a:off x="8129588" y="3368278"/>
            <a:ext cx="150019" cy="150019"/>
          </a:xfrm>
          <a:prstGeom prst="rect">
            <a:avLst/>
          </a:prstGeom>
        </p:spPr>
      </p:pic>
      <p:sp>
        <p:nvSpPr>
          <p:cNvPr id="74" name="New shape"/>
          <p:cNvSpPr txBox="1"/>
          <p:nvPr/>
        </p:nvSpPr>
        <p:spPr>
          <a:xfrm>
            <a:off x="8351044" y="330041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14</a:t>
            </a:r>
          </a:p>
        </p:txBody>
      </p:sp>
      <p:sp>
        <p:nvSpPr>
          <p:cNvPr id="75" name="New shape"/>
          <p:cNvSpPr/>
          <p:nvPr/>
        </p:nvSpPr>
        <p:spPr>
          <a:xfrm>
            <a:off x="4800600" y="3700462"/>
            <a:ext cx="3214688" cy="285750"/>
          </a:xfrm>
          <a:prstGeom prst="roundRect">
            <a:avLst/>
          </a:prstGeom>
          <a:solidFill>
            <a:srgbClr val="F5F7F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New shape"/>
          <p:cNvSpPr/>
          <p:nvPr/>
        </p:nvSpPr>
        <p:spPr>
          <a:xfrm>
            <a:off x="4800600" y="3700462"/>
            <a:ext cx="128588" cy="285750"/>
          </a:xfrm>
          <a:prstGeom prst="roundRect">
            <a:avLst/>
          </a:prstGeom>
          <a:solidFill>
            <a:srgbClr val="E6E9EE"/>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New shape"/>
          <p:cNvSpPr txBox="1"/>
          <p:nvPr/>
        </p:nvSpPr>
        <p:spPr>
          <a:xfrm>
            <a:off x="4872038" y="3700462"/>
            <a:ext cx="2571750"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900" b="0" i="0">
                <a:solidFill>
                  <a:srgbClr val="192743"/>
                </a:solidFill>
                <a:latin typeface="Poppins"/>
              </a:rPr>
              <a:t>Zusammenarbeit in meinem Unternehmen</a:t>
            </a:r>
          </a:p>
        </p:txBody>
      </p:sp>
      <p:sp>
        <p:nvSpPr>
          <p:cNvPr id="78" name="New shape"/>
          <p:cNvSpPr txBox="1"/>
          <p:nvPr/>
        </p:nvSpPr>
        <p:spPr>
          <a:xfrm>
            <a:off x="7461647"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r">
              <a:lnSpc>
                <a:spcPct val="100000"/>
              </a:lnSpc>
            </a:pPr>
            <a:r>
              <a:rPr sz="900" b="1" i="0">
                <a:solidFill>
                  <a:srgbClr val="192743"/>
                </a:solidFill>
                <a:latin typeface="Poppins"/>
              </a:rPr>
              <a:t>4%</a:t>
            </a:r>
          </a:p>
        </p:txBody>
      </p:sp>
      <p:pic>
        <p:nvPicPr>
          <p:cNvPr id="79" name="New picture"/>
          <p:cNvPicPr/>
          <p:nvPr/>
        </p:nvPicPr>
        <p:blipFill>
          <a:blip>
            <a:extLst>
              <a:ext uri="{96DAC541-7B7A-43D3-8B79-37D633B846F1}">
                <asvg:svgBlip xmlns:asvg="http://schemas.microsoft.com/office/drawing/2016/SVG/main" r:embed="rId3"/>
              </a:ext>
            </a:extLst>
          </a:blip>
          <a:stretch>
            <a:fillRect/>
          </a:stretch>
        </p:blipFill>
        <p:spPr>
          <a:xfrm>
            <a:off x="8129588" y="3768328"/>
            <a:ext cx="150019" cy="150019"/>
          </a:xfrm>
          <a:prstGeom prst="rect">
            <a:avLst/>
          </a:prstGeom>
        </p:spPr>
      </p:pic>
      <p:sp>
        <p:nvSpPr>
          <p:cNvPr id="80" name="New shape"/>
          <p:cNvSpPr txBox="1"/>
          <p:nvPr/>
        </p:nvSpPr>
        <p:spPr>
          <a:xfrm>
            <a:off x="8351044" y="3700462"/>
            <a:ext cx="482203" cy="2857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12</a:t>
            </a:r>
          </a:p>
        </p:txBody>
      </p:sp>
      <p:pic>
        <p:nvPicPr>
          <p:cNvPr id="81" name="New picture"/>
          <p:cNvPicPr/>
          <p:nvPr/>
        </p:nvPicPr>
        <p:blipFill>
          <a:blip>
            <a:extLst>
              <a:ext uri="{96DAC541-7B7A-43D3-8B79-37D633B846F1}">
                <asvg:svgBlip xmlns:asvg="http://schemas.microsoft.com/office/drawing/2016/SVG/main" r:embed="rId5"/>
              </a:ext>
            </a:extLst>
          </a:blip>
          <a:stretch>
            <a:fillRect/>
          </a:stretch>
        </p:blipFill>
        <p:spPr>
          <a:xfrm>
            <a:off x="114300" y="4882753"/>
            <a:ext cx="150019" cy="150019"/>
          </a:xfrm>
          <a:prstGeom prst="rect">
            <a:avLst/>
          </a:prstGeom>
        </p:spPr>
      </p:pic>
      <p:sp>
        <p:nvSpPr>
          <p:cNvPr id="82" name="New shape"/>
          <p:cNvSpPr txBox="1"/>
          <p:nvPr/>
        </p:nvSpPr>
        <p:spPr>
          <a:xfrm>
            <a:off x="335756" y="4886325"/>
            <a:ext cx="1785938" cy="142875"/>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l">
              <a:lnSpc>
                <a:spcPct val="100000"/>
              </a:lnSpc>
            </a:pPr>
            <a:r>
              <a:rPr sz="788" b="0" i="0">
                <a:solidFill>
                  <a:srgbClr val="546178"/>
                </a:solidFill>
                <a:latin typeface="Poppins"/>
              </a:rPr>
              <a:t>Befragte</a:t>
            </a:r>
          </a:p>
        </p:txBody>
      </p:sp>
      <p:sp>
        <p:nvSpPr>
          <p:cNvPr id="83" name="New shape" descr="PageNumberFooter"/>
          <p:cNvSpPr txBox="1"/>
          <p:nvPr/>
        </p:nvSpPr>
        <p:spPr>
          <a:xfrm>
            <a:off x="8786812" y="4743450"/>
            <a:ext cx="357188" cy="400050"/>
          </a:xfrm>
          <a:prstGeom prst="rect">
            <a:avLst/>
          </a:prstGeom>
          <a:solidFill>
            <a:srgbClr val="FFFFFF">
              <a:alpha val="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101600" bIns="0" rtlCol="0" anchor="ctr">
            <a:noAutofit/>
          </a:bodyPr>
          <a:lstStyle/>
          <a:p>
            <a:pPr algn="r">
              <a:lnSpc>
                <a:spcPct val="100000"/>
              </a:lnSpc>
            </a:pPr>
            <a:r>
              <a:rPr sz="788" b="0" i="0">
                <a:solidFill>
                  <a:srgbClr val="192743"/>
                </a:solidFill>
                <a:latin typeface="Poppins"/>
              </a:rPr>
              <a:t>83</a:t>
            </a:r>
          </a:p>
        </p:txBody>
      </p:sp>
      <p:sp>
        <p:nvSpPr>
          <p:cNvPr id="84" name="New shape"/>
          <p:cNvSpPr/>
          <p:nvPr/>
        </p:nvSpPr>
        <p:spPr>
          <a:xfrm flipH="1">
            <a:off x="8765381" y="4829175"/>
            <a:ext cx="0" cy="207169"/>
          </a:xfrm>
          <a:prstGeom prst="line">
            <a:avLst/>
          </a:prstGeom>
          <a:ln w="7144">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85" name="New picture"/>
          <p:cNvPicPr/>
          <p:nvPr/>
        </p:nvPicPr>
        <p:blipFill>
          <a:blip>
            <a:extLst>
              <a:ext uri="{96DAC541-7B7A-43D3-8B79-37D633B846F1}">
                <asvg:svgBlip xmlns:asvg="http://schemas.microsoft.com/office/drawing/2016/SVG/main" r:embed="rId6"/>
              </a:ext>
            </a:extLst>
          </a:blip>
          <a:stretch>
            <a:fillRect/>
          </a:stretch>
        </p:blipFill>
        <p:spPr>
          <a:xfrm>
            <a:off x="8829675" y="147661"/>
            <a:ext cx="217884" cy="217884"/>
          </a:xfrm>
          <a:prstGeom prst="rect">
            <a:avLst/>
          </a:prstGeom>
        </p:spPr>
      </p:pic>
      <p:sp>
        <p:nvSpPr>
          <p:cNvPr id="86" name="New shape"/>
          <p:cNvSpPr/>
          <p:nvPr/>
        </p:nvSpPr>
        <p:spPr>
          <a:xfrm>
            <a:off x="0" y="4743450"/>
            <a:ext cx="9144000" cy="0"/>
          </a:xfrm>
          <a:prstGeom prst="line">
            <a:avLst/>
          </a:prstGeom>
          <a:ln w="12700">
            <a:solidFill>
              <a:srgbClr val="E6E9EE"/>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88" name="New shape"/>
          <p:cNvSpPr txBox="1"/>
          <p:nvPr/>
        </p:nvSpPr>
        <p:spPr>
          <a:xfrm flipV="1">
            <a:off x="0" y="0"/>
            <a:ext cx="2511330" cy="257175"/>
          </a:xfrm>
          <a:prstGeom prst="round1Rect">
            <a:avLst/>
          </a:prstGeom>
          <a:solidFill>
            <a:srgbClr val="FFCF2E"/>
          </a:solidFill>
          <a:ln w="0">
            <a:noFill/>
          </a:ln>
        </p:spPr>
        <p:style>
          <a:lnRef idx="2">
            <a:schemeClr val="accent1">
              <a:shade val="50000"/>
            </a:schemeClr>
          </a:lnRef>
          <a:fillRef idx="1">
            <a:schemeClr val="accent1"/>
          </a:fillRef>
          <a:effectRef idx="0">
            <a:schemeClr val="accent1"/>
          </a:effectRef>
          <a:fontRef idx="minor">
            <a:schemeClr val="lt1"/>
          </a:fontRef>
        </p:style>
        <p:txBody>
          <a:bodyPr rot="10800000" wrap="none" lIns="63500" tIns="0" rIns="63500" bIns="0" rtlCol="0" anchor="ctr"/>
          <a:lstStyle/>
          <a:p>
            <a:pPr algn="l">
              <a:lnSpc>
                <a:spcPct val="100000"/>
              </a:lnSpc>
            </a:pPr>
            <a:r>
              <a:rPr sz="788" b="0" i="0">
                <a:solidFill>
                  <a:srgbClr val="192743"/>
                </a:solidFill>
                <a:latin typeface="Poppins"/>
              </a:rPr>
              <a:t>Themen, auf die Ihre Mitarbeitenden hinweisen</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8.0.26"/>
  <p:tag name="AS_OS" val="Unix 6.6.138.1"/>
  <p:tag name="AS_RELEASE_DATE" val="2024.12.14"/>
  <p:tag name="AS_TITLE" val="Aspose.Slides for .NET6"/>
  <p:tag name="AS_VERSION" val="24.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3d46c04-fec7-40b9-84af-deef71223aad}" enabled="1" method="Privileged" siteId="{e9792fd7-4044-47e7-a40d-3fba46f1cd09}" contentBits="0" removed="0"/>
</clbl:labelList>
</file>

<file path=docProps/app.xml><?xml version="1.0" encoding="utf-8"?>
<Properties xmlns="http://schemas.openxmlformats.org/officeDocument/2006/extended-properties" xmlns:vt="http://schemas.openxmlformats.org/officeDocument/2006/docPropsVTypes">
  <TotalTime>1</TotalTime>
  <Words>9346</Words>
  <Application>Microsoft Macintosh PowerPoint</Application>
  <PresentationFormat>On-screen Show (16:9)</PresentationFormat>
  <Paragraphs>3347</Paragraphs>
  <Slides>83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83</vt:i4>
      </vt:variant>
    </vt:vector>
  </HeadingPairs>
  <TitlesOfParts>
    <vt:vector size="87" baseType="lpstr">
      <vt:lpstr>Arial</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Effectory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client-confidential</dc:title>
  <dc:creator>Results dashboard</dc:creator>
  <cp:keywords>client-confidential</cp:keywords>
  <cp:lastModifiedBy>Jente Insing  Effectory</cp:lastModifiedBy>
  <cp:revision>2</cp:revision>
  <cp:lastPrinted>2026-06-25T11:41:31Z</cp:lastPrinted>
  <dcterms:created xsi:type="dcterms:W3CDTF">2026-06-25T11:41:31Z</dcterms:created>
  <dcterms:modified xsi:type="dcterms:W3CDTF">2026-06-30T12:06:51Z</dcterms:modified>
</cp:coreProperties>
</file>