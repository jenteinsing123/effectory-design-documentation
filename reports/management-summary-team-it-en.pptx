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62" r:id="rId3"/>
    <p:sldId id="265" r:id="rId4"/>
    <p:sldId id="268" r:id="rId5"/>
    <p:sldId id="271" r:id="rId6"/>
    <p:sldId id="274" r:id="rId7"/>
    <p:sldId id="277" r:id="rId8"/>
    <p:sldId id="280" r:id="rId9"/>
    <p:sldId id="283" r:id="rId10"/>
    <p:sldId id="286" r:id="rId11"/>
    <p:sldId id="289" r:id="rId12"/>
    <p:sldId id="292" r:id="rId13"/>
    <p:sldId id="295" r:id="rId14"/>
    <p:sldId id="298" r:id="rId15"/>
    <p:sldId id="304" r:id="rId16"/>
    <p:sldId id="307" r:id="rId17"/>
    <p:sldId id="310" r:id="rId18"/>
    <p:sldId id="313" r:id="rId19"/>
    <p:sldId id="316" r:id="rId20"/>
    <p:sldId id="319" r:id="rId21"/>
  </p:sldIdLst>
  <p:sldSz cx="9144000" cy="5143500" type="screen16x9"/>
  <p:notesSz cx="6858000" cy="9144000"/>
  <p:embeddedFontLst>
    <p:embeddedFont>
      <p:font typeface="Poppins" pitchFamily="2" charset="77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/>
    <p:restoredTop sz="0"/>
  </p:normalViewPr>
  <p:slideViewPr>
    <p:cSldViewPr>
      <p:cViewPr varScale="1">
        <p:scale>
          <a:sx n="138" d="100"/>
          <a:sy n="138" d="100"/>
        </p:scale>
        <p:origin x="192" y="6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2DC9084-0D4F-4964-962B-AA2DAEBC959F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EAE3DB-B6C5-4FA6-B331-BEB1B87AC02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9929A91-011A-4DD9-BFA7-0853B9497FD8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D32B86A-6FBD-46C3-824C-688396084D7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0387EAE-B226-4BB0-BD8C-434C15D2001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9DF423D-C033-41B2-B799-9D3EF3FFB1A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DA7B92C-A1C6-466B-B2F1-1F6DA9715B1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BAE58CE-350F-4DB0-8B0B-4E14F5C3D33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23E9ED0-943E-4C86-BDE5-2F4EF4794B4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EEA1BDD-4DE6-40B6-A4A6-9BA652ACD64B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440F4C-FDBF-4508-B52E-52CE0625CBE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7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21.svg"/><Relationship Id="rId5" Type="http://schemas.openxmlformats.org/officeDocument/2006/relationships/image" Target="../media/image16.svg"/><Relationship Id="rId10" Type="http://schemas.openxmlformats.org/officeDocument/2006/relationships/image" Target="../media/image20.svg"/><Relationship Id="rId4" Type="http://schemas.openxmlformats.org/officeDocument/2006/relationships/image" Target="../media/image15.sv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7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svg"/><Relationship Id="rId7" Type="http://schemas.openxmlformats.org/officeDocument/2006/relationships/image" Target="../media/image22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New shape"/>
          <p:cNvSpPr txBox="1"/>
          <p:nvPr/>
        </p:nvSpPr>
        <p:spPr>
          <a:xfrm>
            <a:off x="457200" y="1778794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 dirty="0">
                <a:solidFill>
                  <a:srgbClr val="000000"/>
                </a:solidFill>
                <a:latin typeface="Poppins"/>
              </a:rPr>
              <a:t>Management summary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57200" y="2294572"/>
            <a:ext cx="628650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0" i="0" dirty="0">
                <a:solidFill>
                  <a:srgbClr val="192743"/>
                </a:solidFill>
                <a:latin typeface="Poppins"/>
              </a:rPr>
              <a:t>Team IT</a:t>
            </a:r>
            <a:endParaRPr sz="27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5" name="New shape"/>
          <p:cNvSpPr txBox="1"/>
          <p:nvPr/>
        </p:nvSpPr>
        <p:spPr>
          <a:xfrm>
            <a:off x="114300" y="4750594"/>
            <a:ext cx="5915025" cy="39290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b="1" i="0" dirty="0">
                <a:solidFill>
                  <a:srgbClr val="192743"/>
                </a:solidFill>
                <a:latin typeface="Poppins"/>
              </a:rPr>
              <a:t>Team IT</a:t>
            </a:r>
            <a:endParaRPr sz="788" b="1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6" name="New shape"/>
          <p:cNvSpPr txBox="1"/>
          <p:nvPr/>
        </p:nvSpPr>
        <p:spPr>
          <a:xfrm>
            <a:off x="4643438" y="4750594"/>
            <a:ext cx="3929062" cy="39290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Survey period</a:t>
            </a:r>
            <a:r>
              <a:rPr sz="788" b="0" i="0">
                <a:solidFill>
                  <a:srgbClr val="192743"/>
                </a:solidFill>
                <a:latin typeface="Poppins"/>
              </a:rPr>
              <a:t> May 03, 2024 - May 08, 2024</a:t>
            </a:r>
          </a:p>
        </p:txBody>
      </p:sp>
      <p:sp>
        <p:nvSpPr>
          <p:cNvPr id="7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</a:t>
            </a:r>
          </a:p>
        </p:txBody>
      </p:sp>
      <p:sp>
        <p:nvSpPr>
          <p:cNvPr id="8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New shape"/>
          <p:cNvSpPr txBox="1"/>
          <p:nvPr/>
        </p:nvSpPr>
        <p:spPr>
          <a:xfrm>
            <a:off x="457200" y="457200"/>
            <a:ext cx="28575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Content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57200" y="12573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1.</a:t>
            </a:r>
          </a:p>
        </p:txBody>
      </p:sp>
      <p:sp>
        <p:nvSpPr>
          <p:cNvPr id="5" name="New shape">
            <a:hlinkClick r:id="rId3" action="ppaction://hlinksldjump"/>
          </p:cNvPr>
          <p:cNvSpPr txBox="1"/>
          <p:nvPr/>
        </p:nvSpPr>
        <p:spPr>
          <a:xfrm>
            <a:off x="835819" y="1257300"/>
            <a:ext cx="3143250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Key results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457200" y="163449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2.</a:t>
            </a:r>
          </a:p>
        </p:txBody>
      </p:sp>
      <p:sp>
        <p:nvSpPr>
          <p:cNvPr id="7" name="New shape">
            <a:hlinkClick r:id="rId4" action="ppaction://hlinksldjump"/>
          </p:cNvPr>
          <p:cNvSpPr txBox="1"/>
          <p:nvPr/>
        </p:nvSpPr>
        <p:spPr>
          <a:xfrm>
            <a:off x="835819" y="1634490"/>
            <a:ext cx="314325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Deep dive into the lowest-scoring themes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457200" y="221742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3.</a:t>
            </a:r>
          </a:p>
        </p:txBody>
      </p:sp>
      <p:sp>
        <p:nvSpPr>
          <p:cNvPr id="9" name="New shape">
            <a:hlinkClick r:id="rId5" action="ppaction://hlinksldjump"/>
          </p:cNvPr>
          <p:cNvSpPr txBox="1"/>
          <p:nvPr/>
        </p:nvSpPr>
        <p:spPr>
          <a:xfrm>
            <a:off x="835819" y="2217420"/>
            <a:ext cx="3143250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Reading the results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457200" y="259461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4.</a:t>
            </a:r>
          </a:p>
        </p:txBody>
      </p:sp>
      <p:sp>
        <p:nvSpPr>
          <p:cNvPr id="11" name="New shape">
            <a:hlinkClick r:id="rId6" action="ppaction://hlinksldjump"/>
          </p:cNvPr>
          <p:cNvSpPr txBox="1"/>
          <p:nvPr/>
        </p:nvSpPr>
        <p:spPr>
          <a:xfrm>
            <a:off x="835819" y="2594610"/>
            <a:ext cx="3143250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Response rate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114300" y="4750594"/>
            <a:ext cx="5915025" cy="39290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b="1" i="0" dirty="0">
                <a:solidFill>
                  <a:srgbClr val="192743"/>
                </a:solidFill>
                <a:latin typeface="Poppins"/>
              </a:rPr>
              <a:t>Team IT</a:t>
            </a:r>
            <a:endParaRPr sz="788" b="1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13" name="New shape"/>
          <p:cNvSpPr txBox="1"/>
          <p:nvPr/>
        </p:nvSpPr>
        <p:spPr>
          <a:xfrm>
            <a:off x="4643438" y="4750594"/>
            <a:ext cx="3929062" cy="39290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Survey period</a:t>
            </a:r>
            <a:r>
              <a:rPr sz="788" b="0" i="0">
                <a:solidFill>
                  <a:srgbClr val="192743"/>
                </a:solidFill>
                <a:latin typeface="Poppins"/>
              </a:rPr>
              <a:t> May 03, 2024 - May 08, 2024</a:t>
            </a:r>
          </a:p>
        </p:txBody>
      </p:sp>
      <p:sp>
        <p:nvSpPr>
          <p:cNvPr id="14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2</a:t>
            </a:r>
          </a:p>
        </p:txBody>
      </p:sp>
      <p:sp>
        <p:nvSpPr>
          <p:cNvPr id="15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Your survey cornerstones</a:t>
            </a:r>
          </a:p>
        </p:txBody>
      </p:sp>
      <p:pic>
        <p:nvPicPr>
          <p:cNvPr id="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794" y="1921669"/>
            <a:ext cx="7665244" cy="1914525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744" y="3564731"/>
            <a:ext cx="350044" cy="414338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528638" y="1707356"/>
            <a:ext cx="550069" cy="550069"/>
          </a:xfrm>
          <a:prstGeom prst="ellipse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New shape"/>
          <p:cNvSpPr/>
          <p:nvPr/>
        </p:nvSpPr>
        <p:spPr>
          <a:xfrm>
            <a:off x="700088" y="1871662"/>
            <a:ext cx="214312" cy="214312"/>
          </a:xfrm>
          <a:prstGeom prst="ellipse">
            <a:avLst/>
          </a:prstGeom>
          <a:solidFill>
            <a:srgbClr val="30B3A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New shape"/>
          <p:cNvSpPr txBox="1"/>
          <p:nvPr/>
        </p:nvSpPr>
        <p:spPr>
          <a:xfrm>
            <a:off x="814388" y="1128712"/>
            <a:ext cx="215741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 i="0">
                <a:solidFill>
                  <a:srgbClr val="30B3AF"/>
                </a:solidFill>
                <a:latin typeface="Poppins"/>
              </a:rPr>
              <a:t>Start of your listening journey!</a:t>
            </a:r>
          </a:p>
        </p:txBody>
      </p:sp>
      <p:pic>
        <p:nvPicPr>
          <p:cNvPr id="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831" y="1364456"/>
            <a:ext cx="428625" cy="464344"/>
          </a:xfrm>
          <a:prstGeom prst="rect">
            <a:avLst/>
          </a:prstGeom>
        </p:spPr>
      </p:pic>
      <p:sp>
        <p:nvSpPr>
          <p:cNvPr id="9" name="New shape"/>
          <p:cNvSpPr txBox="1"/>
          <p:nvPr/>
        </p:nvSpPr>
        <p:spPr>
          <a:xfrm>
            <a:off x="6629400" y="3429000"/>
            <a:ext cx="1443038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 i="0">
                <a:solidFill>
                  <a:srgbClr val="30B3AF"/>
                </a:solidFill>
                <a:latin typeface="Poppins"/>
              </a:rPr>
              <a:t>Let's see the results!</a:t>
            </a:r>
          </a:p>
        </p:txBody>
      </p:sp>
      <p:sp>
        <p:nvSpPr>
          <p:cNvPr id="10" name="New shape"/>
          <p:cNvSpPr/>
          <p:nvPr/>
        </p:nvSpPr>
        <p:spPr>
          <a:xfrm>
            <a:off x="2821781" y="1621631"/>
            <a:ext cx="2714625" cy="721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ew shape"/>
          <p:cNvSpPr txBox="1"/>
          <p:nvPr/>
        </p:nvSpPr>
        <p:spPr>
          <a:xfrm>
            <a:off x="2821781" y="1750219"/>
            <a:ext cx="271462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Survey period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3186112" y="1964531"/>
            <a:ext cx="60007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46178"/>
                </a:solidFill>
                <a:latin typeface="Poppins"/>
              </a:rPr>
              <a:t>May 03, 2024</a:t>
            </a:r>
          </a:p>
        </p:txBody>
      </p:sp>
      <p:sp>
        <p:nvSpPr>
          <p:cNvPr id="13" name="New shape"/>
          <p:cNvSpPr/>
          <p:nvPr/>
        </p:nvSpPr>
        <p:spPr>
          <a:xfrm>
            <a:off x="3989388" y="1978819"/>
            <a:ext cx="85725" cy="85725"/>
          </a:xfrm>
          <a:prstGeom prst="ellipse">
            <a:avLst/>
          </a:prstGeom>
          <a:solidFill>
            <a:srgbClr val="54617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ew shape"/>
          <p:cNvSpPr/>
          <p:nvPr/>
        </p:nvSpPr>
        <p:spPr>
          <a:xfrm>
            <a:off x="4075112" y="2028825"/>
            <a:ext cx="285750" cy="0"/>
          </a:xfrm>
          <a:prstGeom prst="line">
            <a:avLst/>
          </a:prstGeom>
          <a:ln w="12700">
            <a:solidFill>
              <a:srgbClr val="54617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ew shape"/>
          <p:cNvSpPr/>
          <p:nvPr/>
        </p:nvSpPr>
        <p:spPr>
          <a:xfrm>
            <a:off x="4360862" y="1978819"/>
            <a:ext cx="85725" cy="85725"/>
          </a:xfrm>
          <a:prstGeom prst="ellipse">
            <a:avLst/>
          </a:prstGeom>
          <a:solidFill>
            <a:srgbClr val="54617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ew shape"/>
          <p:cNvSpPr txBox="1"/>
          <p:nvPr/>
        </p:nvSpPr>
        <p:spPr>
          <a:xfrm>
            <a:off x="4510088" y="1964531"/>
            <a:ext cx="60007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46178"/>
                </a:solidFill>
                <a:latin typeface="Poppins"/>
              </a:rPr>
              <a:t>May 08, 2024</a:t>
            </a:r>
          </a:p>
        </p:txBody>
      </p:sp>
      <p:sp>
        <p:nvSpPr>
          <p:cNvPr id="17" name="New shape"/>
          <p:cNvSpPr/>
          <p:nvPr/>
        </p:nvSpPr>
        <p:spPr>
          <a:xfrm>
            <a:off x="5822156" y="1621631"/>
            <a:ext cx="2464594" cy="721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ew shape"/>
          <p:cNvSpPr txBox="1"/>
          <p:nvPr/>
        </p:nvSpPr>
        <p:spPr>
          <a:xfrm>
            <a:off x="6250781" y="1785938"/>
            <a:ext cx="571500" cy="36433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62" b="1" i="0">
                <a:solidFill>
                  <a:srgbClr val="5B8EF5"/>
                </a:solidFill>
                <a:latin typeface="Poppins"/>
              </a:rPr>
              <a:t>42</a:t>
            </a:r>
          </a:p>
        </p:txBody>
      </p:sp>
      <p:sp>
        <p:nvSpPr>
          <p:cNvPr id="19" name="New shape"/>
          <p:cNvSpPr txBox="1"/>
          <p:nvPr/>
        </p:nvSpPr>
        <p:spPr>
          <a:xfrm>
            <a:off x="6893719" y="1821656"/>
            <a:ext cx="928688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Questions were asked in total</a:t>
            </a:r>
          </a:p>
        </p:txBody>
      </p:sp>
      <p:sp>
        <p:nvSpPr>
          <p:cNvPr id="20" name="New shape"/>
          <p:cNvSpPr/>
          <p:nvPr/>
        </p:nvSpPr>
        <p:spPr>
          <a:xfrm>
            <a:off x="807244" y="2950369"/>
            <a:ext cx="3014662" cy="16859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 txBox="1"/>
          <p:nvPr/>
        </p:nvSpPr>
        <p:spPr>
          <a:xfrm>
            <a:off x="807244" y="3207544"/>
            <a:ext cx="301466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on themes such as: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1285875" y="3500438"/>
            <a:ext cx="1212962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Employer Excellence</a:t>
            </a:r>
          </a:p>
        </p:txBody>
      </p:sp>
      <p:sp>
        <p:nvSpPr>
          <p:cNvPr id="25" name="New shape"/>
          <p:cNvSpPr txBox="1"/>
          <p:nvPr/>
        </p:nvSpPr>
        <p:spPr>
          <a:xfrm>
            <a:off x="2570274" y="3500438"/>
            <a:ext cx="815324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Engagement</a:t>
            </a:r>
          </a:p>
        </p:txBody>
      </p:sp>
      <p:sp>
        <p:nvSpPr>
          <p:cNvPr id="27" name="New shape"/>
          <p:cNvSpPr txBox="1"/>
          <p:nvPr/>
        </p:nvSpPr>
        <p:spPr>
          <a:xfrm>
            <a:off x="1285875" y="3746954"/>
            <a:ext cx="993299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Leading Change</a:t>
            </a:r>
          </a:p>
        </p:txBody>
      </p:sp>
      <p:sp>
        <p:nvSpPr>
          <p:cNvPr id="29" name="New shape"/>
          <p:cNvSpPr txBox="1"/>
          <p:nvPr/>
        </p:nvSpPr>
        <p:spPr>
          <a:xfrm>
            <a:off x="2350612" y="3746954"/>
            <a:ext cx="1057434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Managing people</a:t>
            </a:r>
          </a:p>
        </p:txBody>
      </p:sp>
      <p:sp>
        <p:nvSpPr>
          <p:cNvPr id="31" name="New shape"/>
          <p:cNvSpPr txBox="1"/>
          <p:nvPr/>
        </p:nvSpPr>
        <p:spPr>
          <a:xfrm>
            <a:off x="1713992" y="3993471"/>
            <a:ext cx="1144016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Managing systems</a:t>
            </a:r>
          </a:p>
        </p:txBody>
      </p:sp>
      <p:sp>
        <p:nvSpPr>
          <p:cNvPr id="33" name="New shape"/>
          <p:cNvSpPr txBox="1"/>
          <p:nvPr/>
        </p:nvSpPr>
        <p:spPr>
          <a:xfrm>
            <a:off x="807244" y="4307681"/>
            <a:ext cx="301466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and more...</a:t>
            </a:r>
          </a:p>
        </p:txBody>
      </p:sp>
      <p:sp>
        <p:nvSpPr>
          <p:cNvPr id="34" name="New shape"/>
          <p:cNvSpPr/>
          <p:nvPr/>
        </p:nvSpPr>
        <p:spPr>
          <a:xfrm>
            <a:off x="4157662" y="3107531"/>
            <a:ext cx="1707356" cy="12787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ew shape"/>
          <p:cNvSpPr txBox="1"/>
          <p:nvPr/>
        </p:nvSpPr>
        <p:spPr>
          <a:xfrm>
            <a:off x="4443412" y="3450431"/>
            <a:ext cx="1135856" cy="36433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362" b="1" i="0">
                <a:solidFill>
                  <a:srgbClr val="5B8EF5"/>
                </a:solidFill>
                <a:latin typeface="Poppins"/>
              </a:rPr>
              <a:t>80%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4700588" y="3814762"/>
            <a:ext cx="61436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12" b="0" i="0">
                <a:solidFill>
                  <a:srgbClr val="2867C9"/>
                </a:solidFill>
                <a:latin typeface="Poppins"/>
              </a:rPr>
              <a:t>291/365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4507706" y="4014788"/>
            <a:ext cx="100012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Have responded!</a:t>
            </a:r>
          </a:p>
        </p:txBody>
      </p:sp>
      <p:sp>
        <p:nvSpPr>
          <p:cNvPr id="3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3</a:t>
            </a:r>
          </a:p>
        </p:txBody>
      </p:sp>
      <p:pic>
        <p:nvPicPr>
          <p:cNvPr id="3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331720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Compared by benchmarks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8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9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graphicFrame>
        <p:nvGraphicFramePr>
          <p:cNvPr id="12" name="New Table"/>
          <p:cNvGraphicFramePr>
            <a:graphicFrameLocks noGrp="1"/>
          </p:cNvGraphicFramePr>
          <p:nvPr/>
        </p:nvGraphicFramePr>
        <p:xfrm>
          <a:off x="457200" y="1835944"/>
          <a:ext cx="777240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Employer Excellence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66%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Engagement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92%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Leading Change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people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systems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73%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Performance environment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Providing direction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respondents</a:t>
                      </a:r>
                    </a:p>
                  </a:txBody>
                  <a:tcPr marL="153988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 t="30000" r="97439" b="3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291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268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 rot="18900000">
            <a:off x="5134921" y="1030552"/>
            <a:ext cx="1471613" cy="240649"/>
            <a:chOff x="4722812" y="972344"/>
            <a:chExt cx="1471613" cy="240649"/>
          </a:xfrm>
        </p:grpSpPr>
        <p:pic>
          <p:nvPicPr>
            <p:cNvPr id="1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22812" y="1035209"/>
              <a:ext cx="114300" cy="137160"/>
            </a:xfrm>
            <a:prstGeom prst="rect">
              <a:avLst/>
            </a:prstGeom>
          </p:spPr>
        </p:pic>
        <p:sp>
          <p:nvSpPr>
            <p:cNvPr id="15" name="New shape"/>
            <p:cNvSpPr txBox="1"/>
            <p:nvPr/>
          </p:nvSpPr>
          <p:spPr>
            <a:xfrm>
              <a:off x="4908550" y="972344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1" i="0">
                  <a:solidFill>
                    <a:srgbClr val="2867C9"/>
                  </a:solidFill>
                  <a:latin typeface="Poppins"/>
                </a:rPr>
                <a:t>Current</a:t>
              </a:r>
            </a:p>
          </p:txBody>
        </p:sp>
        <p:sp>
          <p:nvSpPr>
            <p:cNvPr id="16" name="New shape"/>
            <p:cNvSpPr txBox="1"/>
            <p:nvPr/>
          </p:nvSpPr>
          <p:spPr>
            <a:xfrm>
              <a:off x="4908549" y="1091741"/>
              <a:ext cx="1285875" cy="12125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788" b="0" i="0" dirty="0">
                  <a:solidFill>
                    <a:srgbClr val="2867C9"/>
                  </a:solidFill>
                  <a:latin typeface="Poppins"/>
                </a:rPr>
                <a:t>Team IT</a:t>
              </a:r>
              <a:endParaRPr sz="788" b="0" i="0" dirty="0">
                <a:solidFill>
                  <a:srgbClr val="2867C9"/>
                </a:solidFill>
                <a:latin typeface="Poppin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18900000">
            <a:off x="5612274" y="1107643"/>
            <a:ext cx="1477327" cy="120015"/>
            <a:chOff x="5237162" y="955199"/>
            <a:chExt cx="1477327" cy="120015"/>
          </a:xfrm>
        </p:grpSpPr>
        <p:pic>
          <p:nvPicPr>
            <p:cNvPr id="18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37162" y="955199"/>
              <a:ext cx="120015" cy="120015"/>
            </a:xfrm>
            <a:prstGeom prst="rect">
              <a:avLst/>
            </a:prstGeom>
          </p:spPr>
        </p:pic>
        <p:sp>
          <p:nvSpPr>
            <p:cNvPr id="19" name="New shape"/>
            <p:cNvSpPr txBox="1"/>
            <p:nvPr/>
          </p:nvSpPr>
          <p:spPr>
            <a:xfrm>
              <a:off x="5428614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Previous survey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 rot="18900000">
            <a:off x="6126624" y="1107643"/>
            <a:ext cx="1477328" cy="120015"/>
            <a:chOff x="5751512" y="955199"/>
            <a:chExt cx="1477328" cy="120015"/>
          </a:xfrm>
        </p:grpSpPr>
        <p:pic>
          <p:nvPicPr>
            <p:cNvPr id="21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51512" y="955199"/>
              <a:ext cx="120015" cy="120015"/>
            </a:xfrm>
            <a:prstGeom prst="rect">
              <a:avLst/>
            </a:prstGeom>
          </p:spPr>
        </p:pic>
        <p:sp>
          <p:nvSpPr>
            <p:cNvPr id="22" name="New shape"/>
            <p:cNvSpPr txBox="1"/>
            <p:nvPr/>
          </p:nvSpPr>
          <p:spPr>
            <a:xfrm>
              <a:off x="5942966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Global Index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 rot="18900000">
            <a:off x="6640973" y="1107643"/>
            <a:ext cx="1477328" cy="120015"/>
            <a:chOff x="6265862" y="955199"/>
            <a:chExt cx="1477328" cy="120015"/>
          </a:xfrm>
        </p:grpSpPr>
        <p:pic>
          <p:nvPicPr>
            <p:cNvPr id="2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5862" y="955199"/>
              <a:ext cx="120015" cy="120015"/>
            </a:xfrm>
            <a:prstGeom prst="rect">
              <a:avLst/>
            </a:prstGeom>
          </p:spPr>
        </p:pic>
        <p:sp>
          <p:nvSpPr>
            <p:cNvPr id="25" name="New shape"/>
            <p:cNvSpPr txBox="1"/>
            <p:nvPr/>
          </p:nvSpPr>
          <p:spPr>
            <a:xfrm>
              <a:off x="6457315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Top 3 Global Index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 rot="18900000">
            <a:off x="7155324" y="1107643"/>
            <a:ext cx="1477327" cy="120015"/>
            <a:chOff x="6780212" y="955199"/>
            <a:chExt cx="1477327" cy="120015"/>
          </a:xfrm>
        </p:grpSpPr>
        <p:pic>
          <p:nvPicPr>
            <p:cNvPr id="27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80212" y="955199"/>
              <a:ext cx="120015" cy="120015"/>
            </a:xfrm>
            <a:prstGeom prst="rect">
              <a:avLst/>
            </a:prstGeom>
          </p:spPr>
        </p:pic>
        <p:sp>
          <p:nvSpPr>
            <p:cNvPr id="28" name="New shape"/>
            <p:cNvSpPr txBox="1"/>
            <p:nvPr/>
          </p:nvSpPr>
          <p:spPr>
            <a:xfrm>
              <a:off x="6971664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Benchmark B2B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 rot="18900000">
            <a:off x="7669674" y="1107643"/>
            <a:ext cx="1477327" cy="120015"/>
            <a:chOff x="7294562" y="955199"/>
            <a:chExt cx="1477327" cy="120015"/>
          </a:xfrm>
        </p:grpSpPr>
        <p:pic>
          <p:nvPicPr>
            <p:cNvPr id="30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94562" y="955199"/>
              <a:ext cx="120015" cy="120015"/>
            </a:xfrm>
            <a:prstGeom prst="rect">
              <a:avLst/>
            </a:prstGeom>
          </p:spPr>
        </p:pic>
        <p:sp>
          <p:nvSpPr>
            <p:cNvPr id="31" name="New shape"/>
            <p:cNvSpPr txBox="1"/>
            <p:nvPr/>
          </p:nvSpPr>
          <p:spPr>
            <a:xfrm>
              <a:off x="7486014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Top 3 Benchmark B2B</a:t>
              </a:r>
            </a:p>
          </p:txBody>
        </p:sp>
      </p:grpSp>
      <p:sp>
        <p:nvSpPr>
          <p:cNvPr id="3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Compared by benchmarks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35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38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9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41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sp>
        <p:nvSpPr>
          <p:cNvPr id="42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5</a:t>
            </a:r>
          </a:p>
        </p:txBody>
      </p:sp>
      <p:sp>
        <p:nvSpPr>
          <p:cNvPr id="43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45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Themes compared by group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8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9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graphicFrame>
        <p:nvGraphicFramePr>
          <p:cNvPr id="12" name="New Table"/>
          <p:cNvGraphicFramePr>
            <a:graphicFrameLocks noGrp="1"/>
          </p:cNvGraphicFramePr>
          <p:nvPr/>
        </p:nvGraphicFramePr>
        <p:xfrm>
          <a:off x="457200" y="1835944"/>
          <a:ext cx="777240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Employer Excellence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Engagement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Leading Change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73%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people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D2ED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systems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Performance environment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Providing direction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76%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73%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respondents</a:t>
                      </a:r>
                    </a:p>
                  </a:txBody>
                  <a:tcPr marL="153988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 t="30000" r="96719" b="3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291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17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112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30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17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30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81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 rot="18900000">
            <a:off x="4106221" y="1030552"/>
            <a:ext cx="1471613" cy="240649"/>
            <a:chOff x="3694112" y="972344"/>
            <a:chExt cx="1471613" cy="240649"/>
          </a:xfrm>
        </p:grpSpPr>
        <p:pic>
          <p:nvPicPr>
            <p:cNvPr id="1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4112" y="1035209"/>
              <a:ext cx="114300" cy="137160"/>
            </a:xfrm>
            <a:prstGeom prst="rect">
              <a:avLst/>
            </a:prstGeom>
          </p:spPr>
        </p:pic>
        <p:sp>
          <p:nvSpPr>
            <p:cNvPr id="15" name="New shape"/>
            <p:cNvSpPr txBox="1"/>
            <p:nvPr/>
          </p:nvSpPr>
          <p:spPr>
            <a:xfrm>
              <a:off x="3879850" y="972344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1" i="0">
                  <a:solidFill>
                    <a:srgbClr val="2867C9"/>
                  </a:solidFill>
                  <a:latin typeface="Poppins"/>
                </a:rPr>
                <a:t>Current</a:t>
              </a:r>
            </a:p>
          </p:txBody>
        </p:sp>
        <p:sp>
          <p:nvSpPr>
            <p:cNvPr id="16" name="New shape"/>
            <p:cNvSpPr txBox="1"/>
            <p:nvPr/>
          </p:nvSpPr>
          <p:spPr>
            <a:xfrm>
              <a:off x="3879849" y="1091741"/>
              <a:ext cx="1285875" cy="12125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788" b="0" i="0" dirty="0">
                  <a:solidFill>
                    <a:srgbClr val="2867C9"/>
                  </a:solidFill>
                  <a:latin typeface="Poppins"/>
                </a:rPr>
                <a:t>Team IT</a:t>
              </a:r>
              <a:endParaRPr sz="788" b="0" i="0" dirty="0">
                <a:solidFill>
                  <a:srgbClr val="2867C9"/>
                </a:solidFill>
                <a:latin typeface="Poppin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18900000">
            <a:off x="4599812" y="1146845"/>
            <a:ext cx="1357312" cy="120015"/>
            <a:chOff x="4208462" y="955199"/>
            <a:chExt cx="1285875" cy="120015"/>
          </a:xfrm>
        </p:grpSpPr>
        <p:sp>
          <p:nvSpPr>
            <p:cNvPr id="18" name="New shape"/>
            <p:cNvSpPr txBox="1"/>
            <p:nvPr/>
          </p:nvSpPr>
          <p:spPr>
            <a:xfrm>
              <a:off x="42084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Communication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 rot="18900000">
            <a:off x="5114162" y="1146845"/>
            <a:ext cx="1357312" cy="120015"/>
            <a:chOff x="4722812" y="955199"/>
            <a:chExt cx="1285875" cy="120015"/>
          </a:xfrm>
        </p:grpSpPr>
        <p:sp>
          <p:nvSpPr>
            <p:cNvPr id="20" name="New shape"/>
            <p:cNvSpPr txBox="1"/>
            <p:nvPr/>
          </p:nvSpPr>
          <p:spPr>
            <a:xfrm>
              <a:off x="472281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Customer Success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 rot="18900000">
            <a:off x="5628512" y="1146845"/>
            <a:ext cx="1357312" cy="120015"/>
            <a:chOff x="5237162" y="955199"/>
            <a:chExt cx="1285875" cy="120015"/>
          </a:xfrm>
        </p:grpSpPr>
        <p:sp>
          <p:nvSpPr>
            <p:cNvPr id="22" name="New shape"/>
            <p:cNvSpPr txBox="1"/>
            <p:nvPr/>
          </p:nvSpPr>
          <p:spPr>
            <a:xfrm>
              <a:off x="52371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Finance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 rot="18900000">
            <a:off x="6142862" y="1146845"/>
            <a:ext cx="1357312" cy="120015"/>
            <a:chOff x="5751512" y="955199"/>
            <a:chExt cx="1285875" cy="120015"/>
          </a:xfrm>
        </p:grpSpPr>
        <p:sp>
          <p:nvSpPr>
            <p:cNvPr id="24" name="New shape"/>
            <p:cNvSpPr txBox="1"/>
            <p:nvPr/>
          </p:nvSpPr>
          <p:spPr>
            <a:xfrm>
              <a:off x="575151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Human Resources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 rot="18900000">
            <a:off x="6657212" y="1146845"/>
            <a:ext cx="1357312" cy="120015"/>
            <a:chOff x="6265862" y="955199"/>
            <a:chExt cx="1285875" cy="120015"/>
          </a:xfrm>
        </p:grpSpPr>
        <p:sp>
          <p:nvSpPr>
            <p:cNvPr id="26" name="New shape"/>
            <p:cNvSpPr txBox="1"/>
            <p:nvPr/>
          </p:nvSpPr>
          <p:spPr>
            <a:xfrm>
              <a:off x="62658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Management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 rot="18900000">
            <a:off x="7171562" y="1146845"/>
            <a:ext cx="1357312" cy="120015"/>
            <a:chOff x="6780212" y="955199"/>
            <a:chExt cx="1285875" cy="120015"/>
          </a:xfrm>
        </p:grpSpPr>
        <p:sp>
          <p:nvSpPr>
            <p:cNvPr id="28" name="New shape"/>
            <p:cNvSpPr txBox="1"/>
            <p:nvPr/>
          </p:nvSpPr>
          <p:spPr>
            <a:xfrm>
              <a:off x="678021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Marketing &amp; Sales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 rot="18900000">
            <a:off x="7685912" y="1146845"/>
            <a:ext cx="1357312" cy="120015"/>
            <a:chOff x="7294562" y="955199"/>
            <a:chExt cx="1285875" cy="120015"/>
          </a:xfrm>
        </p:grpSpPr>
        <p:sp>
          <p:nvSpPr>
            <p:cNvPr id="30" name="New shape"/>
            <p:cNvSpPr txBox="1"/>
            <p:nvPr/>
          </p:nvSpPr>
          <p:spPr>
            <a:xfrm>
              <a:off x="72945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Product &amp; Development</a:t>
              </a:r>
            </a:p>
          </p:txBody>
        </p:sp>
      </p:grpSp>
      <p:sp>
        <p:nvSpPr>
          <p:cNvPr id="31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2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Themes compared by group</a:t>
            </a:r>
          </a:p>
        </p:txBody>
      </p:sp>
      <p:sp>
        <p:nvSpPr>
          <p:cNvPr id="33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35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37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8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39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sp>
        <p:nvSpPr>
          <p:cNvPr id="41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6</a:t>
            </a:r>
          </a:p>
        </p:txBody>
      </p:sp>
      <p:sp>
        <p:nvSpPr>
          <p:cNvPr id="42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44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eNPS &amp; Benchmark comparison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 eNPS shows you to what extent your employees would recommend your organisation as a good employer.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314450"/>
            <a:ext cx="1971675" cy="62865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1131824" y="1428750"/>
            <a:ext cx="736727" cy="171450"/>
            <a:chOff x="-120650" y="793750"/>
            <a:chExt cx="736727" cy="171450"/>
          </a:xfrm>
        </p:grpSpPr>
        <p:pic>
          <p:nvPicPr>
            <p:cNvPr id="6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20650" y="793750"/>
              <a:ext cx="171450" cy="171450"/>
            </a:xfrm>
            <a:prstGeom prst="rect">
              <a:avLst/>
            </a:prstGeom>
          </p:spPr>
        </p:pic>
        <p:sp>
          <p:nvSpPr>
            <p:cNvPr id="7" name="New shape"/>
            <p:cNvSpPr txBox="1"/>
            <p:nvPr/>
          </p:nvSpPr>
          <p:spPr>
            <a:xfrm>
              <a:off x="122237" y="810209"/>
              <a:ext cx="493839" cy="1385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>
                  <a:solidFill>
                    <a:srgbClr val="546178"/>
                  </a:solidFill>
                  <a:latin typeface="Poppins"/>
                </a:rPr>
                <a:t>Passives</a:t>
              </a:r>
            </a:p>
          </p:txBody>
        </p:sp>
      </p:grpSp>
      <p:sp>
        <p:nvSpPr>
          <p:cNvPr id="8" name="New shape"/>
          <p:cNvSpPr txBox="1"/>
          <p:nvPr/>
        </p:nvSpPr>
        <p:spPr>
          <a:xfrm>
            <a:off x="457200" y="1657350"/>
            <a:ext cx="19716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17%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47827" y="2025367"/>
            <a:ext cx="304721" cy="121215"/>
            <a:chOff x="-120650" y="1390367"/>
            <a:chExt cx="304721" cy="121215"/>
          </a:xfrm>
        </p:grpSpPr>
        <p:pic>
          <p:nvPicPr>
            <p:cNvPr id="10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20650" y="1398468"/>
              <a:ext cx="105013" cy="105013"/>
            </a:xfrm>
            <a:prstGeom prst="rect">
              <a:avLst/>
            </a:prstGeom>
          </p:spPr>
        </p:pic>
        <p:sp>
          <p:nvSpPr>
            <p:cNvPr id="11" name="New shape"/>
            <p:cNvSpPr txBox="1"/>
            <p:nvPr/>
          </p:nvSpPr>
          <p:spPr>
            <a:xfrm>
              <a:off x="55801" y="1390367"/>
              <a:ext cx="128270" cy="1212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546178"/>
                  </a:solidFill>
                  <a:latin typeface="Poppins"/>
                </a:rPr>
                <a:t>48</a:t>
              </a:r>
            </a:p>
          </p:txBody>
        </p:sp>
      </p:grpSp>
      <p:sp>
        <p:nvSpPr>
          <p:cNvPr id="12" name="New shape"/>
          <p:cNvSpPr/>
          <p:nvPr/>
        </p:nvSpPr>
        <p:spPr>
          <a:xfrm flipH="1">
            <a:off x="2571750" y="1457325"/>
            <a:ext cx="0" cy="342900"/>
          </a:xfrm>
          <a:prstGeom prst="line">
            <a:avLst/>
          </a:prstGeom>
          <a:ln w="254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/>
          <p:nvPr/>
        </p:nvSpPr>
        <p:spPr>
          <a:xfrm>
            <a:off x="2714625" y="1314450"/>
            <a:ext cx="1971675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3338743" y="1428750"/>
            <a:ext cx="837740" cy="171450"/>
            <a:chOff x="2136775" y="793750"/>
            <a:chExt cx="837740" cy="171450"/>
          </a:xfrm>
        </p:grpSpPr>
        <p:pic>
          <p:nvPicPr>
            <p:cNvPr id="15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6775" y="793750"/>
              <a:ext cx="171450" cy="171450"/>
            </a:xfrm>
            <a:prstGeom prst="rect">
              <a:avLst/>
            </a:prstGeom>
          </p:spPr>
        </p:pic>
        <p:sp>
          <p:nvSpPr>
            <p:cNvPr id="16" name="New shape"/>
            <p:cNvSpPr txBox="1"/>
            <p:nvPr/>
          </p:nvSpPr>
          <p:spPr>
            <a:xfrm>
              <a:off x="2379662" y="810209"/>
              <a:ext cx="594852" cy="1385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>
                  <a:solidFill>
                    <a:srgbClr val="546178"/>
                  </a:solidFill>
                  <a:latin typeface="Poppins"/>
                </a:rPr>
                <a:t>Promoters</a:t>
              </a:r>
            </a:p>
          </p:txBody>
        </p:sp>
      </p:grpSp>
      <p:sp>
        <p:nvSpPr>
          <p:cNvPr id="17" name="New shape"/>
          <p:cNvSpPr txBox="1"/>
          <p:nvPr/>
        </p:nvSpPr>
        <p:spPr>
          <a:xfrm>
            <a:off x="2714625" y="1657350"/>
            <a:ext cx="19716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59%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596434" y="2025367"/>
            <a:ext cx="322358" cy="121215"/>
            <a:chOff x="2136775" y="1390367"/>
            <a:chExt cx="322358" cy="121215"/>
          </a:xfrm>
        </p:grpSpPr>
        <p:pic>
          <p:nvPicPr>
            <p:cNvPr id="19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6775" y="1398468"/>
              <a:ext cx="105013" cy="105013"/>
            </a:xfrm>
            <a:prstGeom prst="rect">
              <a:avLst/>
            </a:prstGeom>
          </p:spPr>
        </p:pic>
        <p:sp>
          <p:nvSpPr>
            <p:cNvPr id="20" name="New shape"/>
            <p:cNvSpPr txBox="1"/>
            <p:nvPr/>
          </p:nvSpPr>
          <p:spPr>
            <a:xfrm>
              <a:off x="2313225" y="1390367"/>
              <a:ext cx="145907" cy="1212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546178"/>
                  </a:solidFill>
                  <a:latin typeface="Poppins"/>
                </a:rPr>
                <a:t>173</a:t>
              </a:r>
            </a:p>
          </p:txBody>
        </p:sp>
      </p:grpSp>
      <p:sp>
        <p:nvSpPr>
          <p:cNvPr id="21" name="New shape"/>
          <p:cNvSpPr/>
          <p:nvPr/>
        </p:nvSpPr>
        <p:spPr>
          <a:xfrm>
            <a:off x="4829175" y="1628775"/>
            <a:ext cx="142875" cy="28575"/>
          </a:xfrm>
          <a:prstGeom prst="roundRect">
            <a:avLst>
              <a:gd name="adj" fmla="val 48000"/>
            </a:avLst>
          </a:prstGeom>
          <a:solidFill>
            <a:srgbClr val="5B8EF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New shape"/>
          <p:cNvSpPr/>
          <p:nvPr/>
        </p:nvSpPr>
        <p:spPr>
          <a:xfrm>
            <a:off x="5114925" y="1314450"/>
            <a:ext cx="1971675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/>
          <p:cNvGrpSpPr/>
          <p:nvPr/>
        </p:nvGrpSpPr>
        <p:grpSpPr>
          <a:xfrm>
            <a:off x="5732629" y="1428750"/>
            <a:ext cx="850567" cy="171450"/>
            <a:chOff x="4537075" y="793750"/>
            <a:chExt cx="850567" cy="171450"/>
          </a:xfrm>
        </p:grpSpPr>
        <p:pic>
          <p:nvPicPr>
            <p:cNvPr id="2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37075" y="793750"/>
              <a:ext cx="171450" cy="171450"/>
            </a:xfrm>
            <a:prstGeom prst="rect">
              <a:avLst/>
            </a:prstGeom>
          </p:spPr>
        </p:pic>
        <p:sp>
          <p:nvSpPr>
            <p:cNvPr id="25" name="New shape"/>
            <p:cNvSpPr txBox="1"/>
            <p:nvPr/>
          </p:nvSpPr>
          <p:spPr>
            <a:xfrm>
              <a:off x="4779962" y="810209"/>
              <a:ext cx="607679" cy="1385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>
                  <a:solidFill>
                    <a:srgbClr val="546178"/>
                  </a:solidFill>
                  <a:latin typeface="Poppins"/>
                </a:rPr>
                <a:t>Detractors</a:t>
              </a:r>
            </a:p>
          </p:txBody>
        </p:sp>
      </p:grpSp>
      <p:sp>
        <p:nvSpPr>
          <p:cNvPr id="26" name="New shape"/>
          <p:cNvSpPr txBox="1"/>
          <p:nvPr/>
        </p:nvSpPr>
        <p:spPr>
          <a:xfrm>
            <a:off x="5114925" y="1657350"/>
            <a:ext cx="19716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24%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010362" y="2025367"/>
            <a:ext cx="295101" cy="121215"/>
            <a:chOff x="4537075" y="1390367"/>
            <a:chExt cx="295101" cy="121215"/>
          </a:xfrm>
        </p:grpSpPr>
        <p:pic>
          <p:nvPicPr>
            <p:cNvPr id="28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37075" y="1398468"/>
              <a:ext cx="105013" cy="105013"/>
            </a:xfrm>
            <a:prstGeom prst="rect">
              <a:avLst/>
            </a:prstGeom>
          </p:spPr>
        </p:pic>
        <p:sp>
          <p:nvSpPr>
            <p:cNvPr id="29" name="New shape"/>
            <p:cNvSpPr txBox="1"/>
            <p:nvPr/>
          </p:nvSpPr>
          <p:spPr>
            <a:xfrm>
              <a:off x="4713526" y="1390367"/>
              <a:ext cx="118650" cy="1212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546178"/>
                  </a:solidFill>
                  <a:latin typeface="Poppins"/>
                </a:rPr>
                <a:t>70</a:t>
              </a:r>
            </a:p>
          </p:txBody>
        </p:sp>
      </p:grpSp>
      <p:sp>
        <p:nvSpPr>
          <p:cNvPr id="30" name="New shape"/>
          <p:cNvSpPr/>
          <p:nvPr/>
        </p:nvSpPr>
        <p:spPr>
          <a:xfrm>
            <a:off x="7229475" y="1600200"/>
            <a:ext cx="142875" cy="28575"/>
          </a:xfrm>
          <a:prstGeom prst="roundRect">
            <a:avLst>
              <a:gd name="adj" fmla="val 48000"/>
            </a:avLst>
          </a:prstGeom>
          <a:solidFill>
            <a:srgbClr val="5B8EF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ew shape"/>
          <p:cNvSpPr/>
          <p:nvPr/>
        </p:nvSpPr>
        <p:spPr>
          <a:xfrm>
            <a:off x="7229475" y="1657350"/>
            <a:ext cx="142875" cy="28575"/>
          </a:xfrm>
          <a:prstGeom prst="roundRect">
            <a:avLst>
              <a:gd name="adj" fmla="val 48000"/>
            </a:avLst>
          </a:prstGeom>
          <a:solidFill>
            <a:srgbClr val="5B8EF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ew shape"/>
          <p:cNvSpPr/>
          <p:nvPr/>
        </p:nvSpPr>
        <p:spPr>
          <a:xfrm>
            <a:off x="7515225" y="1314450"/>
            <a:ext cx="1143000" cy="62865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E4EB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/>
          <p:cNvSpPr txBox="1"/>
          <p:nvPr/>
        </p:nvSpPr>
        <p:spPr>
          <a:xfrm>
            <a:off x="7515225" y="1428750"/>
            <a:ext cx="114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eNPS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7515225" y="1657350"/>
            <a:ext cx="114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62" b="1" i="0">
                <a:solidFill>
                  <a:srgbClr val="192743"/>
                </a:solidFill>
                <a:latin typeface="Poppins"/>
              </a:rPr>
              <a:t>35</a:t>
            </a:r>
          </a:p>
        </p:txBody>
      </p:sp>
      <p:sp>
        <p:nvSpPr>
          <p:cNvPr id="35" name="New shape"/>
          <p:cNvSpPr/>
          <p:nvPr/>
        </p:nvSpPr>
        <p:spPr>
          <a:xfrm>
            <a:off x="457200" y="2443162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ew shape"/>
          <p:cNvSpPr/>
          <p:nvPr/>
        </p:nvSpPr>
        <p:spPr>
          <a:xfrm>
            <a:off x="4572000" y="2443162"/>
            <a:ext cx="1440180" cy="257175"/>
          </a:xfrm>
          <a:prstGeom prst="roundRect">
            <a:avLst>
              <a:gd name="adj" fmla="val 12000"/>
            </a:avLst>
          </a:prstGeom>
          <a:solidFill>
            <a:srgbClr val="C3D4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ew shape"/>
          <p:cNvSpPr txBox="1"/>
          <p:nvPr/>
        </p:nvSpPr>
        <p:spPr>
          <a:xfrm>
            <a:off x="4572000" y="2443162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35</a:t>
            </a:r>
          </a:p>
        </p:txBody>
      </p:sp>
      <p:pic>
        <p:nvPicPr>
          <p:cNvPr id="3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2486025"/>
            <a:ext cx="142875" cy="171450"/>
          </a:xfrm>
          <a:prstGeom prst="rect">
            <a:avLst/>
          </a:prstGeom>
        </p:spPr>
      </p:pic>
      <p:sp>
        <p:nvSpPr>
          <p:cNvPr id="39" name="New shape"/>
          <p:cNvSpPr txBox="1"/>
          <p:nvPr/>
        </p:nvSpPr>
        <p:spPr>
          <a:xfrm>
            <a:off x="785812" y="2443162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</a:t>
            </a:r>
          </a:p>
        </p:txBody>
      </p:sp>
      <p:sp>
        <p:nvSpPr>
          <p:cNvPr id="40" name="New shape"/>
          <p:cNvSpPr/>
          <p:nvPr/>
        </p:nvSpPr>
        <p:spPr>
          <a:xfrm>
            <a:off x="457200" y="2757488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New shape"/>
          <p:cNvSpPr/>
          <p:nvPr/>
        </p:nvSpPr>
        <p:spPr>
          <a:xfrm>
            <a:off x="4572000" y="2757488"/>
            <a:ext cx="946404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New shape"/>
          <p:cNvSpPr txBox="1"/>
          <p:nvPr/>
        </p:nvSpPr>
        <p:spPr>
          <a:xfrm>
            <a:off x="4572000" y="2757488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23</a:t>
            </a:r>
          </a:p>
        </p:txBody>
      </p:sp>
      <p:pic>
        <p:nvPicPr>
          <p:cNvPr id="4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" y="2811066"/>
            <a:ext cx="150019" cy="150019"/>
          </a:xfrm>
          <a:prstGeom prst="rect">
            <a:avLst/>
          </a:prstGeom>
        </p:spPr>
      </p:pic>
      <p:sp>
        <p:nvSpPr>
          <p:cNvPr id="44" name="New shape"/>
          <p:cNvSpPr txBox="1"/>
          <p:nvPr/>
        </p:nvSpPr>
        <p:spPr>
          <a:xfrm>
            <a:off x="792956" y="2757488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Previous survey</a:t>
            </a:r>
          </a:p>
        </p:txBody>
      </p:sp>
      <p:sp>
        <p:nvSpPr>
          <p:cNvPr id="45" name="New shape"/>
          <p:cNvSpPr/>
          <p:nvPr/>
        </p:nvSpPr>
        <p:spPr>
          <a:xfrm>
            <a:off x="457200" y="3071812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ew shape"/>
          <p:cNvSpPr/>
          <p:nvPr/>
        </p:nvSpPr>
        <p:spPr>
          <a:xfrm>
            <a:off x="4572000" y="3071812"/>
            <a:ext cx="82296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4572000" y="3071812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2</a:t>
            </a:r>
          </a:p>
        </p:txBody>
      </p:sp>
      <p:pic>
        <p:nvPicPr>
          <p:cNvPr id="4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125391"/>
            <a:ext cx="150019" cy="150019"/>
          </a:xfrm>
          <a:prstGeom prst="rect">
            <a:avLst/>
          </a:prstGeom>
        </p:spPr>
      </p:pic>
      <p:sp>
        <p:nvSpPr>
          <p:cNvPr id="49" name="New shape"/>
          <p:cNvSpPr txBox="1"/>
          <p:nvPr/>
        </p:nvSpPr>
        <p:spPr>
          <a:xfrm>
            <a:off x="792956" y="3071812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Global Index</a:t>
            </a:r>
          </a:p>
        </p:txBody>
      </p:sp>
      <p:sp>
        <p:nvSpPr>
          <p:cNvPr id="50" name="New shape"/>
          <p:cNvSpPr/>
          <p:nvPr/>
        </p:nvSpPr>
        <p:spPr>
          <a:xfrm>
            <a:off x="457200" y="3386138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ew shape"/>
          <p:cNvSpPr txBox="1"/>
          <p:nvPr/>
        </p:nvSpPr>
        <p:spPr>
          <a:xfrm>
            <a:off x="457200" y="3386138"/>
            <a:ext cx="822960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results unavailable</a:t>
            </a:r>
          </a:p>
        </p:txBody>
      </p:sp>
      <p:pic>
        <p:nvPicPr>
          <p:cNvPr id="5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500" y="3439716"/>
            <a:ext cx="150019" cy="150019"/>
          </a:xfrm>
          <a:prstGeom prst="rect">
            <a:avLst/>
          </a:prstGeom>
        </p:spPr>
      </p:pic>
      <p:sp>
        <p:nvSpPr>
          <p:cNvPr id="53" name="New shape"/>
          <p:cNvSpPr txBox="1"/>
          <p:nvPr/>
        </p:nvSpPr>
        <p:spPr>
          <a:xfrm>
            <a:off x="792956" y="3386138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Top 3 Global Index</a:t>
            </a:r>
          </a:p>
        </p:txBody>
      </p:sp>
      <p:sp>
        <p:nvSpPr>
          <p:cNvPr id="54" name="New shape"/>
          <p:cNvSpPr/>
          <p:nvPr/>
        </p:nvSpPr>
        <p:spPr>
          <a:xfrm>
            <a:off x="457200" y="3700462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New shape"/>
          <p:cNvSpPr/>
          <p:nvPr/>
        </p:nvSpPr>
        <p:spPr>
          <a:xfrm>
            <a:off x="4572000" y="3700462"/>
            <a:ext cx="658368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ew shape"/>
          <p:cNvSpPr txBox="1"/>
          <p:nvPr/>
        </p:nvSpPr>
        <p:spPr>
          <a:xfrm>
            <a:off x="4572000" y="3700462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16</a:t>
            </a:r>
          </a:p>
        </p:txBody>
      </p:sp>
      <p:pic>
        <p:nvPicPr>
          <p:cNvPr id="5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754041"/>
            <a:ext cx="150019" cy="150019"/>
          </a:xfrm>
          <a:prstGeom prst="rect">
            <a:avLst/>
          </a:prstGeom>
        </p:spPr>
      </p:pic>
      <p:sp>
        <p:nvSpPr>
          <p:cNvPr id="58" name="New shape"/>
          <p:cNvSpPr txBox="1"/>
          <p:nvPr/>
        </p:nvSpPr>
        <p:spPr>
          <a:xfrm>
            <a:off x="792956" y="3700462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Benchmark B2B</a:t>
            </a:r>
          </a:p>
        </p:txBody>
      </p:sp>
      <p:sp>
        <p:nvSpPr>
          <p:cNvPr id="59" name="New shape"/>
          <p:cNvSpPr/>
          <p:nvPr/>
        </p:nvSpPr>
        <p:spPr>
          <a:xfrm>
            <a:off x="457200" y="4014788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ew shape"/>
          <p:cNvSpPr/>
          <p:nvPr/>
        </p:nvSpPr>
        <p:spPr>
          <a:xfrm>
            <a:off x="4572000" y="4014788"/>
            <a:ext cx="2798064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ew shape"/>
          <p:cNvSpPr txBox="1"/>
          <p:nvPr/>
        </p:nvSpPr>
        <p:spPr>
          <a:xfrm>
            <a:off x="4572000" y="4014788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68</a:t>
            </a:r>
          </a:p>
        </p:txBody>
      </p:sp>
      <p:pic>
        <p:nvPicPr>
          <p:cNvPr id="6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4068366"/>
            <a:ext cx="150019" cy="150019"/>
          </a:xfrm>
          <a:prstGeom prst="rect">
            <a:avLst/>
          </a:prstGeom>
        </p:spPr>
      </p:pic>
      <p:sp>
        <p:nvSpPr>
          <p:cNvPr id="63" name="New shape"/>
          <p:cNvSpPr txBox="1"/>
          <p:nvPr/>
        </p:nvSpPr>
        <p:spPr>
          <a:xfrm>
            <a:off x="792956" y="4014788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Top 3 Benchmark B2B</a:t>
            </a:r>
          </a:p>
        </p:txBody>
      </p:sp>
      <p:sp>
        <p:nvSpPr>
          <p:cNvPr id="64" name="New shape"/>
          <p:cNvSpPr/>
          <p:nvPr/>
        </p:nvSpPr>
        <p:spPr>
          <a:xfrm>
            <a:off x="457200" y="4400550"/>
            <a:ext cx="8229600" cy="0"/>
          </a:xfrm>
          <a:prstGeom prst="line">
            <a:avLst/>
          </a:prstGeom>
          <a:ln w="1270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New shape"/>
          <p:cNvSpPr/>
          <p:nvPr/>
        </p:nvSpPr>
        <p:spPr>
          <a:xfrm flipH="1">
            <a:off x="457200" y="4329112"/>
            <a:ext cx="0" cy="71438"/>
          </a:xfrm>
          <a:prstGeom prst="line">
            <a:avLst/>
          </a:prstGeom>
          <a:ln w="889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ew shape"/>
          <p:cNvSpPr txBox="1"/>
          <p:nvPr/>
        </p:nvSpPr>
        <p:spPr>
          <a:xfrm>
            <a:off x="457200" y="4471988"/>
            <a:ext cx="285750" cy="1571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-100</a:t>
            </a:r>
          </a:p>
        </p:txBody>
      </p:sp>
      <p:sp>
        <p:nvSpPr>
          <p:cNvPr id="67" name="New shape"/>
          <p:cNvSpPr/>
          <p:nvPr/>
        </p:nvSpPr>
        <p:spPr>
          <a:xfrm flipH="1">
            <a:off x="4572000" y="4329112"/>
            <a:ext cx="0" cy="71438"/>
          </a:xfrm>
          <a:prstGeom prst="line">
            <a:avLst/>
          </a:prstGeom>
          <a:ln w="889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New shape"/>
          <p:cNvSpPr txBox="1"/>
          <p:nvPr/>
        </p:nvSpPr>
        <p:spPr>
          <a:xfrm>
            <a:off x="4429125" y="4471988"/>
            <a:ext cx="285750" cy="1571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0</a:t>
            </a:r>
          </a:p>
        </p:txBody>
      </p:sp>
      <p:sp>
        <p:nvSpPr>
          <p:cNvPr id="69" name="New shape"/>
          <p:cNvSpPr/>
          <p:nvPr/>
        </p:nvSpPr>
        <p:spPr>
          <a:xfrm flipH="1">
            <a:off x="8686800" y="4329112"/>
            <a:ext cx="0" cy="71438"/>
          </a:xfrm>
          <a:prstGeom prst="line">
            <a:avLst/>
          </a:prstGeom>
          <a:ln w="889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ew shape"/>
          <p:cNvSpPr txBox="1"/>
          <p:nvPr/>
        </p:nvSpPr>
        <p:spPr>
          <a:xfrm>
            <a:off x="8401050" y="4471988"/>
            <a:ext cx="285750" cy="1571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100</a:t>
            </a:r>
          </a:p>
        </p:txBody>
      </p:sp>
      <p:pic>
        <p:nvPicPr>
          <p:cNvPr id="7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72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sp>
        <p:nvSpPr>
          <p:cNvPr id="73" name="New shape"/>
          <p:cNvSpPr txBox="1"/>
          <p:nvPr/>
        </p:nvSpPr>
        <p:spPr>
          <a:xfrm>
            <a:off x="2093119" y="4829368"/>
            <a:ext cx="3571875" cy="24250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 dirty="0">
                <a:solidFill>
                  <a:srgbClr val="192743"/>
                </a:solidFill>
                <a:latin typeface="Poppins"/>
              </a:rPr>
              <a:t>How likely is it that you would recommend </a:t>
            </a:r>
            <a:r>
              <a:rPr lang="en-US" sz="788" b="0" i="0" dirty="0">
                <a:solidFill>
                  <a:srgbClr val="192743"/>
                </a:solidFill>
                <a:latin typeface="Poppins"/>
              </a:rPr>
              <a:t>Team IT</a:t>
            </a:r>
            <a:r>
              <a:rPr sz="788" b="0" i="0" dirty="0">
                <a:solidFill>
                  <a:srgbClr val="192743"/>
                </a:solidFill>
                <a:latin typeface="Poppins"/>
              </a:rPr>
              <a:t> as an employer to others?</a:t>
            </a:r>
          </a:p>
        </p:txBody>
      </p:sp>
      <p:pic>
        <p:nvPicPr>
          <p:cNvPr id="7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0719" y="4857750"/>
            <a:ext cx="171450" cy="171450"/>
          </a:xfrm>
          <a:prstGeom prst="rect">
            <a:avLst/>
          </a:prstGeom>
        </p:spPr>
      </p:pic>
      <p:sp>
        <p:nvSpPr>
          <p:cNvPr id="75" name="New shape"/>
          <p:cNvSpPr txBox="1"/>
          <p:nvPr/>
        </p:nvSpPr>
        <p:spPr>
          <a:xfrm>
            <a:off x="5979319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0</a:t>
            </a:r>
          </a:p>
        </p:txBody>
      </p:sp>
      <p:sp>
        <p:nvSpPr>
          <p:cNvPr id="76" name="New shape"/>
          <p:cNvSpPr txBox="1"/>
          <p:nvPr/>
        </p:nvSpPr>
        <p:spPr>
          <a:xfrm>
            <a:off x="6165056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1</a:t>
            </a:r>
          </a:p>
        </p:txBody>
      </p:sp>
      <p:sp>
        <p:nvSpPr>
          <p:cNvPr id="77" name="New shape"/>
          <p:cNvSpPr txBox="1"/>
          <p:nvPr/>
        </p:nvSpPr>
        <p:spPr>
          <a:xfrm>
            <a:off x="6350794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2</a:t>
            </a:r>
          </a:p>
        </p:txBody>
      </p:sp>
      <p:sp>
        <p:nvSpPr>
          <p:cNvPr id="78" name="New shape"/>
          <p:cNvSpPr txBox="1"/>
          <p:nvPr/>
        </p:nvSpPr>
        <p:spPr>
          <a:xfrm>
            <a:off x="6536531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3</a:t>
            </a:r>
          </a:p>
        </p:txBody>
      </p:sp>
      <p:sp>
        <p:nvSpPr>
          <p:cNvPr id="79" name="New shape"/>
          <p:cNvSpPr txBox="1"/>
          <p:nvPr/>
        </p:nvSpPr>
        <p:spPr>
          <a:xfrm>
            <a:off x="6722269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4</a:t>
            </a:r>
          </a:p>
        </p:txBody>
      </p:sp>
      <p:sp>
        <p:nvSpPr>
          <p:cNvPr id="80" name="New shape"/>
          <p:cNvSpPr txBox="1"/>
          <p:nvPr/>
        </p:nvSpPr>
        <p:spPr>
          <a:xfrm>
            <a:off x="6908006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5</a:t>
            </a:r>
          </a:p>
        </p:txBody>
      </p:sp>
      <p:sp>
        <p:nvSpPr>
          <p:cNvPr id="81" name="New shape"/>
          <p:cNvSpPr txBox="1"/>
          <p:nvPr/>
        </p:nvSpPr>
        <p:spPr>
          <a:xfrm>
            <a:off x="7093744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6</a:t>
            </a:r>
          </a:p>
        </p:txBody>
      </p:sp>
      <p:pic>
        <p:nvPicPr>
          <p:cNvPr id="8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0919" y="4857750"/>
            <a:ext cx="171450" cy="171450"/>
          </a:xfrm>
          <a:prstGeom prst="rect">
            <a:avLst/>
          </a:prstGeom>
        </p:spPr>
      </p:pic>
      <p:sp>
        <p:nvSpPr>
          <p:cNvPr id="83" name="New shape"/>
          <p:cNvSpPr txBox="1"/>
          <p:nvPr/>
        </p:nvSpPr>
        <p:spPr>
          <a:xfrm>
            <a:off x="7579519" y="4857750"/>
            <a:ext cx="171450" cy="1714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DBA900"/>
                </a:solidFill>
                <a:latin typeface="Poppins"/>
              </a:rPr>
              <a:t>7</a:t>
            </a:r>
          </a:p>
        </p:txBody>
      </p:sp>
      <p:sp>
        <p:nvSpPr>
          <p:cNvPr id="84" name="New shape"/>
          <p:cNvSpPr txBox="1"/>
          <p:nvPr/>
        </p:nvSpPr>
        <p:spPr>
          <a:xfrm>
            <a:off x="7765256" y="4857750"/>
            <a:ext cx="171450" cy="1714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DBA900"/>
                </a:solidFill>
                <a:latin typeface="Poppins"/>
              </a:rPr>
              <a:t>8</a:t>
            </a:r>
          </a:p>
        </p:txBody>
      </p:sp>
      <p:pic>
        <p:nvPicPr>
          <p:cNvPr id="8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2431" y="4857750"/>
            <a:ext cx="171450" cy="171450"/>
          </a:xfrm>
          <a:prstGeom prst="rect">
            <a:avLst/>
          </a:prstGeom>
        </p:spPr>
      </p:pic>
      <p:sp>
        <p:nvSpPr>
          <p:cNvPr id="86" name="New shape"/>
          <p:cNvSpPr txBox="1"/>
          <p:nvPr/>
        </p:nvSpPr>
        <p:spPr>
          <a:xfrm>
            <a:off x="8251031" y="4857750"/>
            <a:ext cx="171450" cy="171450"/>
          </a:xfrm>
          <a:prstGeom prst="round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66B881"/>
                </a:solidFill>
                <a:latin typeface="Poppins"/>
              </a:rPr>
              <a:t>9</a:t>
            </a:r>
          </a:p>
        </p:txBody>
      </p:sp>
      <p:sp>
        <p:nvSpPr>
          <p:cNvPr id="87" name="New shape"/>
          <p:cNvSpPr txBox="1"/>
          <p:nvPr/>
        </p:nvSpPr>
        <p:spPr>
          <a:xfrm>
            <a:off x="8436769" y="4857750"/>
            <a:ext cx="171450" cy="171450"/>
          </a:xfrm>
          <a:prstGeom prst="round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66B881"/>
                </a:solidFill>
                <a:latin typeface="Poppins"/>
              </a:rPr>
              <a:t>10</a:t>
            </a:r>
          </a:p>
        </p:txBody>
      </p:sp>
      <p:sp>
        <p:nvSpPr>
          <p:cNvPr id="8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7</a:t>
            </a:r>
          </a:p>
        </p:txBody>
      </p:sp>
      <p:sp>
        <p:nvSpPr>
          <p:cNvPr id="89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Breakdown per group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 eNPS score compared between all of your groups.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314450"/>
            <a:ext cx="7572375" cy="342900"/>
          </a:xfrm>
          <a:prstGeom prst="roundRect">
            <a:avLst>
              <a:gd name="adj" fmla="val 6000"/>
            </a:avLst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0075" y="1400175"/>
            <a:ext cx="142875" cy="171450"/>
          </a:xfrm>
          <a:prstGeom prst="rect">
            <a:avLst/>
          </a:prstGeom>
        </p:spPr>
      </p:pic>
      <p:sp>
        <p:nvSpPr>
          <p:cNvPr id="6" name="New shape"/>
          <p:cNvSpPr txBox="1"/>
          <p:nvPr/>
        </p:nvSpPr>
        <p:spPr>
          <a:xfrm>
            <a:off x="814388" y="1399318"/>
            <a:ext cx="375190" cy="17316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867C9"/>
                </a:solidFill>
                <a:latin typeface="Poppins"/>
              </a:rPr>
              <a:t>eNPS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7679579" y="1373343"/>
            <a:ext cx="235696" cy="22511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62" b="1" i="0">
                <a:solidFill>
                  <a:srgbClr val="2867C9"/>
                </a:solidFill>
                <a:latin typeface="Poppins"/>
              </a:rPr>
              <a:t>35</a:t>
            </a:r>
          </a:p>
        </p:txBody>
      </p:sp>
      <p:sp>
        <p:nvSpPr>
          <p:cNvPr id="8" name="New shape"/>
          <p:cNvSpPr/>
          <p:nvPr/>
        </p:nvSpPr>
        <p:spPr>
          <a:xfrm>
            <a:off x="1303877" y="1485900"/>
            <a:ext cx="6261402" cy="0"/>
          </a:xfrm>
          <a:prstGeom prst="line">
            <a:avLst/>
          </a:prstGeom>
          <a:ln w="10160">
            <a:solidFill>
              <a:srgbClr val="5B8EF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1425893"/>
            <a:ext cx="120015" cy="120015"/>
          </a:xfrm>
          <a:prstGeom prst="rect">
            <a:avLst/>
          </a:prstGeom>
        </p:spPr>
      </p:pic>
      <p:sp>
        <p:nvSpPr>
          <p:cNvPr id="10" name="New shape"/>
          <p:cNvSpPr txBox="1"/>
          <p:nvPr/>
        </p:nvSpPr>
        <p:spPr>
          <a:xfrm>
            <a:off x="8321040" y="1425292"/>
            <a:ext cx="153924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291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457200" y="2131009"/>
            <a:ext cx="944388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Communication</a:t>
            </a:r>
          </a:p>
        </p:txBody>
      </p:sp>
      <p:sp>
        <p:nvSpPr>
          <p:cNvPr id="12" name="New shape"/>
          <p:cNvSpPr/>
          <p:nvPr/>
        </p:nvSpPr>
        <p:spPr>
          <a:xfrm>
            <a:off x="1458738" y="2200275"/>
            <a:ext cx="6056487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7572375" y="20574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35</a:t>
            </a:r>
          </a:p>
        </p:txBody>
      </p:sp>
      <p:pic>
        <p:nvPicPr>
          <p:cNvPr id="1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128361"/>
            <a:ext cx="120015" cy="120015"/>
          </a:xfrm>
          <a:prstGeom prst="rect">
            <a:avLst/>
          </a:prstGeom>
        </p:spPr>
      </p:pic>
      <p:sp>
        <p:nvSpPr>
          <p:cNvPr id="15" name="New shape"/>
          <p:cNvSpPr txBox="1"/>
          <p:nvPr/>
        </p:nvSpPr>
        <p:spPr>
          <a:xfrm>
            <a:off x="8321040" y="2127761"/>
            <a:ext cx="86582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457200" y="2473909"/>
            <a:ext cx="108067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Customer Success</a:t>
            </a:r>
          </a:p>
        </p:txBody>
      </p:sp>
      <p:sp>
        <p:nvSpPr>
          <p:cNvPr id="17" name="New shape"/>
          <p:cNvSpPr/>
          <p:nvPr/>
        </p:nvSpPr>
        <p:spPr>
          <a:xfrm>
            <a:off x="1595025" y="2543175"/>
            <a:ext cx="592020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ew shape"/>
          <p:cNvSpPr txBox="1"/>
          <p:nvPr/>
        </p:nvSpPr>
        <p:spPr>
          <a:xfrm>
            <a:off x="7572375" y="24003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39</a:t>
            </a:r>
          </a:p>
        </p:txBody>
      </p:sp>
      <p:pic>
        <p:nvPicPr>
          <p:cNvPr id="1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471261"/>
            <a:ext cx="120015" cy="120015"/>
          </a:xfrm>
          <a:prstGeom prst="rect">
            <a:avLst/>
          </a:prstGeom>
        </p:spPr>
      </p:pic>
      <p:sp>
        <p:nvSpPr>
          <p:cNvPr id="20" name="New shape"/>
          <p:cNvSpPr txBox="1"/>
          <p:nvPr/>
        </p:nvSpPr>
        <p:spPr>
          <a:xfrm>
            <a:off x="8321040" y="2470661"/>
            <a:ext cx="121857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112</a:t>
            </a:r>
          </a:p>
        </p:txBody>
      </p:sp>
      <p:sp>
        <p:nvSpPr>
          <p:cNvPr id="21" name="New shape"/>
          <p:cNvSpPr txBox="1"/>
          <p:nvPr/>
        </p:nvSpPr>
        <p:spPr>
          <a:xfrm>
            <a:off x="457200" y="2816809"/>
            <a:ext cx="455358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Finance</a:t>
            </a:r>
          </a:p>
        </p:txBody>
      </p:sp>
      <p:sp>
        <p:nvSpPr>
          <p:cNvPr id="22" name="New shape"/>
          <p:cNvSpPr/>
          <p:nvPr/>
        </p:nvSpPr>
        <p:spPr>
          <a:xfrm>
            <a:off x="969709" y="2886075"/>
            <a:ext cx="6545516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ew shape"/>
          <p:cNvSpPr txBox="1"/>
          <p:nvPr/>
        </p:nvSpPr>
        <p:spPr>
          <a:xfrm>
            <a:off x="7572375" y="27432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40</a:t>
            </a:r>
          </a:p>
        </p:txBody>
      </p:sp>
      <p:pic>
        <p:nvPicPr>
          <p:cNvPr id="2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814161"/>
            <a:ext cx="120015" cy="120015"/>
          </a:xfrm>
          <a:prstGeom prst="rect">
            <a:avLst/>
          </a:prstGeom>
        </p:spPr>
      </p:pic>
      <p:sp>
        <p:nvSpPr>
          <p:cNvPr id="25" name="New shape"/>
          <p:cNvSpPr txBox="1"/>
          <p:nvPr/>
        </p:nvSpPr>
        <p:spPr>
          <a:xfrm>
            <a:off x="8321040" y="2813561"/>
            <a:ext cx="123460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457200" y="3159709"/>
            <a:ext cx="10534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Human Resources</a:t>
            </a:r>
          </a:p>
        </p:txBody>
      </p:sp>
      <p:sp>
        <p:nvSpPr>
          <p:cNvPr id="27" name="New shape"/>
          <p:cNvSpPr/>
          <p:nvPr/>
        </p:nvSpPr>
        <p:spPr>
          <a:xfrm>
            <a:off x="1567767" y="3228975"/>
            <a:ext cx="594745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ew shape"/>
          <p:cNvSpPr txBox="1"/>
          <p:nvPr/>
        </p:nvSpPr>
        <p:spPr>
          <a:xfrm>
            <a:off x="7572375" y="30861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47</a:t>
            </a:r>
          </a:p>
        </p:txBody>
      </p:sp>
      <p:pic>
        <p:nvPicPr>
          <p:cNvPr id="2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157061"/>
            <a:ext cx="120015" cy="120015"/>
          </a:xfrm>
          <a:prstGeom prst="rect">
            <a:avLst/>
          </a:prstGeom>
        </p:spPr>
      </p:pic>
      <p:sp>
        <p:nvSpPr>
          <p:cNvPr id="30" name="New shape"/>
          <p:cNvSpPr txBox="1"/>
          <p:nvPr/>
        </p:nvSpPr>
        <p:spPr>
          <a:xfrm>
            <a:off x="8321040" y="3156461"/>
            <a:ext cx="86582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31" name="New shape"/>
          <p:cNvSpPr txBox="1"/>
          <p:nvPr/>
        </p:nvSpPr>
        <p:spPr>
          <a:xfrm>
            <a:off x="457200" y="3502609"/>
            <a:ext cx="78725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Management</a:t>
            </a:r>
          </a:p>
        </p:txBody>
      </p:sp>
      <p:sp>
        <p:nvSpPr>
          <p:cNvPr id="32" name="New shape"/>
          <p:cNvSpPr/>
          <p:nvPr/>
        </p:nvSpPr>
        <p:spPr>
          <a:xfrm>
            <a:off x="1301607" y="3571875"/>
            <a:ext cx="621361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/>
          <p:cNvSpPr txBox="1"/>
          <p:nvPr/>
        </p:nvSpPr>
        <p:spPr>
          <a:xfrm>
            <a:off x="7572375" y="3429000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</a:t>
            </a:r>
          </a:p>
        </p:txBody>
      </p:sp>
      <p:pic>
        <p:nvPicPr>
          <p:cNvPr id="3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9588" y="3511391"/>
            <a:ext cx="91440" cy="97155"/>
          </a:xfrm>
          <a:prstGeom prst="rect">
            <a:avLst/>
          </a:prstGeom>
        </p:spPr>
      </p:pic>
      <p:sp>
        <p:nvSpPr>
          <p:cNvPr id="35" name="New shape"/>
          <p:cNvSpPr/>
          <p:nvPr/>
        </p:nvSpPr>
        <p:spPr>
          <a:xfrm flipH="1">
            <a:off x="8292465" y="3499361"/>
            <a:ext cx="0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endParaRPr sz="788" b="0" i="0">
              <a:solidFill>
                <a:srgbClr val="546178"/>
              </a:solidFill>
              <a:latin typeface="Poppins"/>
            </a:endParaRPr>
          </a:p>
        </p:txBody>
      </p:sp>
      <p:sp>
        <p:nvSpPr>
          <p:cNvPr id="36" name="New shape"/>
          <p:cNvSpPr txBox="1"/>
          <p:nvPr/>
        </p:nvSpPr>
        <p:spPr>
          <a:xfrm>
            <a:off x="457200" y="3845509"/>
            <a:ext cx="102936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Marketing &amp; Sales</a:t>
            </a:r>
          </a:p>
        </p:txBody>
      </p:sp>
      <p:sp>
        <p:nvSpPr>
          <p:cNvPr id="37" name="New shape"/>
          <p:cNvSpPr/>
          <p:nvPr/>
        </p:nvSpPr>
        <p:spPr>
          <a:xfrm>
            <a:off x="1543717" y="3914775"/>
            <a:ext cx="597150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ew shape"/>
          <p:cNvSpPr txBox="1"/>
          <p:nvPr/>
        </p:nvSpPr>
        <p:spPr>
          <a:xfrm>
            <a:off x="7572375" y="37719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34</a:t>
            </a:r>
          </a:p>
        </p:txBody>
      </p:sp>
      <p:pic>
        <p:nvPicPr>
          <p:cNvPr id="3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842861"/>
            <a:ext cx="120015" cy="120015"/>
          </a:xfrm>
          <a:prstGeom prst="rect">
            <a:avLst/>
          </a:prstGeom>
        </p:spPr>
      </p:pic>
      <p:sp>
        <p:nvSpPr>
          <p:cNvPr id="40" name="New shape"/>
          <p:cNvSpPr txBox="1"/>
          <p:nvPr/>
        </p:nvSpPr>
        <p:spPr>
          <a:xfrm>
            <a:off x="8321040" y="3842261"/>
            <a:ext cx="123460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41" name="New shape"/>
          <p:cNvSpPr txBox="1"/>
          <p:nvPr/>
        </p:nvSpPr>
        <p:spPr>
          <a:xfrm>
            <a:off x="457200" y="4188409"/>
            <a:ext cx="1372489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Product &amp; Development</a:t>
            </a:r>
          </a:p>
        </p:txBody>
      </p:sp>
      <p:sp>
        <p:nvSpPr>
          <p:cNvPr id="42" name="New shape"/>
          <p:cNvSpPr/>
          <p:nvPr/>
        </p:nvSpPr>
        <p:spPr>
          <a:xfrm>
            <a:off x="1886839" y="4257675"/>
            <a:ext cx="5628386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ew shape"/>
          <p:cNvSpPr txBox="1"/>
          <p:nvPr/>
        </p:nvSpPr>
        <p:spPr>
          <a:xfrm>
            <a:off x="7572375" y="41148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33</a:t>
            </a:r>
          </a:p>
        </p:txBody>
      </p:sp>
      <p:pic>
        <p:nvPicPr>
          <p:cNvPr id="4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4185761"/>
            <a:ext cx="120015" cy="120015"/>
          </a:xfrm>
          <a:prstGeom prst="rect">
            <a:avLst/>
          </a:prstGeom>
        </p:spPr>
      </p:pic>
      <p:sp>
        <p:nvSpPr>
          <p:cNvPr id="45" name="New shape"/>
          <p:cNvSpPr txBox="1"/>
          <p:nvPr/>
        </p:nvSpPr>
        <p:spPr>
          <a:xfrm>
            <a:off x="8321040" y="4185161"/>
            <a:ext cx="96202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81</a:t>
            </a:r>
          </a:p>
        </p:txBody>
      </p:sp>
      <p:pic>
        <p:nvPicPr>
          <p:cNvPr id="4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47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pic>
        <p:nvPicPr>
          <p:cNvPr id="4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7868" y="4897041"/>
            <a:ext cx="114300" cy="121444"/>
          </a:xfrm>
          <a:prstGeom prst="rect">
            <a:avLst/>
          </a:prstGeom>
        </p:spPr>
      </p:pic>
      <p:sp>
        <p:nvSpPr>
          <p:cNvPr id="49" name="New shape"/>
          <p:cNvSpPr txBox="1"/>
          <p:nvPr/>
        </p:nvSpPr>
        <p:spPr>
          <a:xfrm>
            <a:off x="1413605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Response rate too low</a:t>
            </a:r>
          </a:p>
        </p:txBody>
      </p:sp>
      <p:sp>
        <p:nvSpPr>
          <p:cNvPr id="50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8</a:t>
            </a:r>
          </a:p>
        </p:txBody>
      </p:sp>
      <p:sp>
        <p:nvSpPr>
          <p:cNvPr id="51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Largest differences compared to previous survey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14425"/>
            <a:ext cx="2871788" cy="285750"/>
            <a:chOff x="-177800" y="479425"/>
            <a:chExt cx="2871788" cy="285750"/>
          </a:xfrm>
        </p:grpSpPr>
        <p:pic>
          <p:nvPicPr>
            <p:cNvPr id="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77800" y="479425"/>
              <a:ext cx="285750" cy="285750"/>
            </a:xfrm>
            <a:prstGeom prst="rect">
              <a:avLst/>
            </a:prstGeom>
          </p:spPr>
        </p:pic>
        <p:sp>
          <p:nvSpPr>
            <p:cNvPr id="5" name="New shape"/>
            <p:cNvSpPr txBox="1"/>
            <p:nvPr/>
          </p:nvSpPr>
          <p:spPr>
            <a:xfrm>
              <a:off x="17938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Higher than previous survey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57750" y="1114425"/>
            <a:ext cx="2871788" cy="285750"/>
            <a:chOff x="4222750" y="479425"/>
            <a:chExt cx="2871788" cy="285750"/>
          </a:xfrm>
        </p:grpSpPr>
        <p:pic>
          <p:nvPicPr>
            <p:cNvPr id="7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22750" y="479425"/>
              <a:ext cx="285750" cy="285750"/>
            </a:xfrm>
            <a:prstGeom prst="rect">
              <a:avLst/>
            </a:prstGeom>
          </p:spPr>
        </p:pic>
        <p:sp>
          <p:nvSpPr>
            <p:cNvPr id="8" name="New shape"/>
            <p:cNvSpPr txBox="1"/>
            <p:nvPr/>
          </p:nvSpPr>
          <p:spPr>
            <a:xfrm>
              <a:off x="457993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Lower than previous survey</a:t>
              </a:r>
            </a:p>
          </p:txBody>
        </p:sp>
      </p:grp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7588" y="1203325"/>
            <a:ext cx="142875" cy="171450"/>
          </a:xfrm>
          <a:prstGeom prst="rect">
            <a:avLst/>
          </a:prstGeom>
        </p:spPr>
      </p:pic>
      <p:pic>
        <p:nvPicPr>
          <p:cNvPr id="1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90" y="1206540"/>
            <a:ext cx="165021" cy="165021"/>
          </a:xfrm>
          <a:prstGeom prst="rect">
            <a:avLst/>
          </a:prstGeom>
        </p:spPr>
      </p:pic>
      <p:sp>
        <p:nvSpPr>
          <p:cNvPr id="11" name="New shape"/>
          <p:cNvSpPr txBox="1"/>
          <p:nvPr/>
        </p:nvSpPr>
        <p:spPr>
          <a:xfrm>
            <a:off x="457200" y="1689100"/>
            <a:ext cx="17697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feel that I fit in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2180257" y="1746250"/>
            <a:ext cx="116301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340042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76%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3886200" y="16033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+7%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457200" y="2203450"/>
            <a:ext cx="293830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The vision for the future of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inspires me</a:t>
            </a:r>
          </a:p>
        </p:txBody>
      </p:sp>
      <p:sp>
        <p:nvSpPr>
          <p:cNvPr id="16" name="New shape"/>
          <p:cNvSpPr/>
          <p:nvPr/>
        </p:nvSpPr>
        <p:spPr>
          <a:xfrm>
            <a:off x="3343275" y="2260600"/>
            <a:ext cx="5842" cy="0"/>
          </a:xfrm>
          <a:prstGeom prst="lineInv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shape"/>
          <p:cNvSpPr txBox="1"/>
          <p:nvPr/>
        </p:nvSpPr>
        <p:spPr>
          <a:xfrm>
            <a:off x="340042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18" name="New shape"/>
          <p:cNvSpPr txBox="1"/>
          <p:nvPr/>
        </p:nvSpPr>
        <p:spPr>
          <a:xfrm>
            <a:off x="3886200" y="21177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+7%</a:t>
            </a:r>
          </a:p>
        </p:txBody>
      </p:sp>
      <p:sp>
        <p:nvSpPr>
          <p:cNvPr id="20" name="New shape"/>
          <p:cNvSpPr txBox="1"/>
          <p:nvPr/>
        </p:nvSpPr>
        <p:spPr>
          <a:xfrm>
            <a:off x="457200" y="26320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have good opportunities to develop myself professionally and personally</a:t>
            </a:r>
          </a:p>
        </p:txBody>
      </p:sp>
      <p:sp>
        <p:nvSpPr>
          <p:cNvPr id="21" name="New shape"/>
          <p:cNvSpPr txBox="1"/>
          <p:nvPr/>
        </p:nvSpPr>
        <p:spPr>
          <a:xfrm>
            <a:off x="3400425" y="26320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76%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3886200" y="26320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+6%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457200" y="3232150"/>
            <a:ext cx="184548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Doing my work gives me energy</a:t>
            </a:r>
          </a:p>
        </p:txBody>
      </p:sp>
      <p:sp>
        <p:nvSpPr>
          <p:cNvPr id="24" name="New shape"/>
          <p:cNvSpPr/>
          <p:nvPr/>
        </p:nvSpPr>
        <p:spPr>
          <a:xfrm>
            <a:off x="2359835" y="3289300"/>
            <a:ext cx="98344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 txBox="1"/>
          <p:nvPr/>
        </p:nvSpPr>
        <p:spPr>
          <a:xfrm>
            <a:off x="3400425" y="31464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3886200" y="31464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+6%</a:t>
            </a:r>
          </a:p>
        </p:txBody>
      </p:sp>
      <p:sp>
        <p:nvSpPr>
          <p:cNvPr id="27" name="New shape"/>
          <p:cNvSpPr txBox="1"/>
          <p:nvPr/>
        </p:nvSpPr>
        <p:spPr>
          <a:xfrm>
            <a:off x="457200" y="3746500"/>
            <a:ext cx="2425906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skills and abilities fit in well with my job</a:t>
            </a:r>
          </a:p>
        </p:txBody>
      </p:sp>
      <p:sp>
        <p:nvSpPr>
          <p:cNvPr id="28" name="New shape"/>
          <p:cNvSpPr/>
          <p:nvPr/>
        </p:nvSpPr>
        <p:spPr>
          <a:xfrm>
            <a:off x="2940256" y="3803650"/>
            <a:ext cx="403019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ew shape"/>
          <p:cNvSpPr txBox="1"/>
          <p:nvPr/>
        </p:nvSpPr>
        <p:spPr>
          <a:xfrm>
            <a:off x="3400425" y="36607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30" name="New shape"/>
          <p:cNvSpPr txBox="1"/>
          <p:nvPr/>
        </p:nvSpPr>
        <p:spPr>
          <a:xfrm>
            <a:off x="3886200" y="36607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+2%</a:t>
            </a:r>
          </a:p>
        </p:txBody>
      </p:sp>
      <p:pic>
        <p:nvPicPr>
          <p:cNvPr id="3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8138" y="1203325"/>
            <a:ext cx="142875" cy="171450"/>
          </a:xfrm>
          <a:prstGeom prst="rect">
            <a:avLst/>
          </a:prstGeom>
        </p:spPr>
      </p:pic>
      <p:pic>
        <p:nvPicPr>
          <p:cNvPr id="3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40" y="1206540"/>
            <a:ext cx="165021" cy="165021"/>
          </a:xfrm>
          <a:prstGeom prst="rect">
            <a:avLst/>
          </a:prstGeom>
        </p:spPr>
      </p:pic>
      <p:sp>
        <p:nvSpPr>
          <p:cNvPr id="33" name="New shape"/>
          <p:cNvSpPr txBox="1"/>
          <p:nvPr/>
        </p:nvSpPr>
        <p:spPr>
          <a:xfrm>
            <a:off x="4857750" y="1689100"/>
            <a:ext cx="16707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enjoy doing my work / tasks</a:t>
            </a:r>
          </a:p>
        </p:txBody>
      </p:sp>
      <p:sp>
        <p:nvSpPr>
          <p:cNvPr id="34" name="New shape"/>
          <p:cNvSpPr/>
          <p:nvPr/>
        </p:nvSpPr>
        <p:spPr>
          <a:xfrm>
            <a:off x="6585617" y="1746250"/>
            <a:ext cx="115820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ew shape"/>
          <p:cNvSpPr txBox="1"/>
          <p:nvPr/>
        </p:nvSpPr>
        <p:spPr>
          <a:xfrm>
            <a:off x="780097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64%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8286750" y="16033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-7%</a:t>
            </a:r>
          </a:p>
        </p:txBody>
      </p:sp>
      <p:sp>
        <p:nvSpPr>
          <p:cNvPr id="38" name="New shape"/>
          <p:cNvSpPr txBox="1"/>
          <p:nvPr/>
        </p:nvSpPr>
        <p:spPr>
          <a:xfrm>
            <a:off x="4857750" y="211772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My team understands what needs to be done to contribute to the success of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9" name="New shape"/>
          <p:cNvSpPr txBox="1"/>
          <p:nvPr/>
        </p:nvSpPr>
        <p:spPr>
          <a:xfrm>
            <a:off x="780097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8286750" y="211772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-5%</a:t>
            </a:r>
          </a:p>
        </p:txBody>
      </p:sp>
      <p:sp>
        <p:nvSpPr>
          <p:cNvPr id="42" name="New shape"/>
          <p:cNvSpPr txBox="1"/>
          <p:nvPr/>
        </p:nvSpPr>
        <p:spPr>
          <a:xfrm>
            <a:off x="4857750" y="26320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Within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employees are treated in a fair manner</a:t>
            </a:r>
          </a:p>
        </p:txBody>
      </p:sp>
      <p:sp>
        <p:nvSpPr>
          <p:cNvPr id="43" name="New shape"/>
          <p:cNvSpPr txBox="1"/>
          <p:nvPr/>
        </p:nvSpPr>
        <p:spPr>
          <a:xfrm>
            <a:off x="7800975" y="26320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67%</a:t>
            </a:r>
          </a:p>
        </p:txBody>
      </p:sp>
      <p:sp>
        <p:nvSpPr>
          <p:cNvPr id="44" name="New shape"/>
          <p:cNvSpPr txBox="1"/>
          <p:nvPr/>
        </p:nvSpPr>
        <p:spPr>
          <a:xfrm>
            <a:off x="8286750" y="26320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-4%</a:t>
            </a:r>
          </a:p>
        </p:txBody>
      </p:sp>
      <p:sp>
        <p:nvSpPr>
          <p:cNvPr id="45" name="New shape"/>
          <p:cNvSpPr txBox="1"/>
          <p:nvPr/>
        </p:nvSpPr>
        <p:spPr>
          <a:xfrm>
            <a:off x="4857750" y="3232150"/>
            <a:ext cx="19829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am proud to work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46" name="New shape"/>
          <p:cNvSpPr/>
          <p:nvPr/>
        </p:nvSpPr>
        <p:spPr>
          <a:xfrm>
            <a:off x="6794056" y="3289300"/>
            <a:ext cx="94977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7800975" y="31464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69%</a:t>
            </a:r>
          </a:p>
        </p:txBody>
      </p:sp>
      <p:sp>
        <p:nvSpPr>
          <p:cNvPr id="48" name="New shape"/>
          <p:cNvSpPr txBox="1"/>
          <p:nvPr/>
        </p:nvSpPr>
        <p:spPr>
          <a:xfrm>
            <a:off x="8286750" y="314642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-3%</a:t>
            </a:r>
          </a:p>
        </p:txBody>
      </p:sp>
      <p:sp>
        <p:nvSpPr>
          <p:cNvPr id="50" name="New shape"/>
          <p:cNvSpPr txBox="1"/>
          <p:nvPr/>
        </p:nvSpPr>
        <p:spPr>
          <a:xfrm>
            <a:off x="4857750" y="36607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team regularly develops good ideas for improvement</a:t>
            </a:r>
          </a:p>
        </p:txBody>
      </p:sp>
      <p:sp>
        <p:nvSpPr>
          <p:cNvPr id="51" name="New shape"/>
          <p:cNvSpPr txBox="1"/>
          <p:nvPr/>
        </p:nvSpPr>
        <p:spPr>
          <a:xfrm>
            <a:off x="7800975" y="36607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52" name="New shape"/>
          <p:cNvSpPr txBox="1"/>
          <p:nvPr/>
        </p:nvSpPr>
        <p:spPr>
          <a:xfrm>
            <a:off x="8286750" y="36607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-3%</a:t>
            </a:r>
          </a:p>
        </p:txBody>
      </p:sp>
      <p:sp>
        <p:nvSpPr>
          <p:cNvPr id="53" name="New shape"/>
          <p:cNvSpPr/>
          <p:nvPr/>
        </p:nvSpPr>
        <p:spPr>
          <a:xfrm flipH="1">
            <a:off x="4572000" y="1517650"/>
            <a:ext cx="0" cy="2571750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" y="4883467"/>
            <a:ext cx="100012" cy="120015"/>
          </a:xfrm>
          <a:prstGeom prst="rect">
            <a:avLst/>
          </a:prstGeom>
        </p:spPr>
      </p:pic>
      <p:sp>
        <p:nvSpPr>
          <p:cNvPr id="55" name="New shape"/>
          <p:cNvSpPr txBox="1"/>
          <p:nvPr/>
        </p:nvSpPr>
        <p:spPr>
          <a:xfrm>
            <a:off x="328612" y="4840605"/>
            <a:ext cx="714375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 dirty="0">
                <a:solidFill>
                  <a:srgbClr val="2867C9"/>
                </a:solidFill>
                <a:latin typeface="Poppins"/>
              </a:rPr>
              <a:t>Current: </a:t>
            </a:r>
            <a:r>
              <a:rPr lang="en-US" sz="675" b="0" i="0" dirty="0">
                <a:solidFill>
                  <a:srgbClr val="2867C9"/>
                </a:solidFill>
                <a:latin typeface="Poppins"/>
              </a:rPr>
              <a:t>Team IT</a:t>
            </a:r>
            <a:endParaRPr sz="675" b="0" i="0" dirty="0">
              <a:solidFill>
                <a:srgbClr val="2867C9"/>
              </a:solidFill>
              <a:latin typeface="Poppins"/>
            </a:endParaRPr>
          </a:p>
        </p:txBody>
      </p:sp>
      <p:pic>
        <p:nvPicPr>
          <p:cNvPr id="5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4425" y="4890969"/>
            <a:ext cx="105013" cy="105013"/>
          </a:xfrm>
          <a:prstGeom prst="rect">
            <a:avLst/>
          </a:prstGeom>
        </p:spPr>
      </p:pic>
      <p:sp>
        <p:nvSpPr>
          <p:cNvPr id="57" name="New shape"/>
          <p:cNvSpPr txBox="1"/>
          <p:nvPr/>
        </p:nvSpPr>
        <p:spPr>
          <a:xfrm>
            <a:off x="1290875" y="4892040"/>
            <a:ext cx="714375" cy="10287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Previous survey</a:t>
            </a:r>
          </a:p>
        </p:txBody>
      </p:sp>
      <p:sp>
        <p:nvSpPr>
          <p:cNvPr id="5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9</a:t>
            </a:r>
          </a:p>
        </p:txBody>
      </p:sp>
      <p:sp>
        <p:nvSpPr>
          <p:cNvPr id="59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61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Largest differences compared to benchmark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14425"/>
            <a:ext cx="2871788" cy="285750"/>
            <a:chOff x="-177800" y="479425"/>
            <a:chExt cx="2871788" cy="285750"/>
          </a:xfrm>
        </p:grpSpPr>
        <p:pic>
          <p:nvPicPr>
            <p:cNvPr id="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77800" y="479425"/>
              <a:ext cx="285750" cy="285750"/>
            </a:xfrm>
            <a:prstGeom prst="rect">
              <a:avLst/>
            </a:prstGeom>
          </p:spPr>
        </p:pic>
        <p:sp>
          <p:nvSpPr>
            <p:cNvPr id="5" name="New shape"/>
            <p:cNvSpPr txBox="1"/>
            <p:nvPr/>
          </p:nvSpPr>
          <p:spPr>
            <a:xfrm>
              <a:off x="17938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Higher than benchmark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57750" y="1114425"/>
            <a:ext cx="2871788" cy="285750"/>
            <a:chOff x="4222750" y="479425"/>
            <a:chExt cx="2871788" cy="285750"/>
          </a:xfrm>
        </p:grpSpPr>
        <p:pic>
          <p:nvPicPr>
            <p:cNvPr id="7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22750" y="479425"/>
              <a:ext cx="285750" cy="285750"/>
            </a:xfrm>
            <a:prstGeom prst="rect">
              <a:avLst/>
            </a:prstGeom>
          </p:spPr>
        </p:pic>
        <p:sp>
          <p:nvSpPr>
            <p:cNvPr id="8" name="New shape"/>
            <p:cNvSpPr txBox="1"/>
            <p:nvPr/>
          </p:nvSpPr>
          <p:spPr>
            <a:xfrm>
              <a:off x="457993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Lower than benchmark</a:t>
              </a:r>
            </a:p>
          </p:txBody>
        </p:sp>
      </p:grp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7588" y="1203325"/>
            <a:ext cx="142875" cy="171450"/>
          </a:xfrm>
          <a:prstGeom prst="rect">
            <a:avLst/>
          </a:prstGeom>
        </p:spPr>
      </p:pic>
      <p:pic>
        <p:nvPicPr>
          <p:cNvPr id="1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90" y="1206540"/>
            <a:ext cx="165021" cy="165021"/>
          </a:xfrm>
          <a:prstGeom prst="rect">
            <a:avLst/>
          </a:prstGeom>
        </p:spPr>
      </p:pic>
      <p:sp>
        <p:nvSpPr>
          <p:cNvPr id="12" name="New shape"/>
          <p:cNvSpPr txBox="1"/>
          <p:nvPr/>
        </p:nvSpPr>
        <p:spPr>
          <a:xfrm>
            <a:off x="457200" y="16033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have good opportunities to develop myself professionally and personally</a:t>
            </a:r>
          </a:p>
        </p:txBody>
      </p:sp>
      <p:sp>
        <p:nvSpPr>
          <p:cNvPr id="13" name="New shape"/>
          <p:cNvSpPr txBox="1"/>
          <p:nvPr/>
        </p:nvSpPr>
        <p:spPr>
          <a:xfrm>
            <a:off x="340042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76%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3886200" y="16033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+13%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457200" y="2203450"/>
            <a:ext cx="293830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The vision for the future of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inspires me</a:t>
            </a:r>
          </a:p>
        </p:txBody>
      </p:sp>
      <p:sp>
        <p:nvSpPr>
          <p:cNvPr id="16" name="New shape"/>
          <p:cNvSpPr/>
          <p:nvPr/>
        </p:nvSpPr>
        <p:spPr>
          <a:xfrm>
            <a:off x="3343275" y="2260600"/>
            <a:ext cx="5842" cy="0"/>
          </a:xfrm>
          <a:prstGeom prst="lineInv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shape"/>
          <p:cNvSpPr txBox="1"/>
          <p:nvPr/>
        </p:nvSpPr>
        <p:spPr>
          <a:xfrm>
            <a:off x="340042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18" name="New shape"/>
          <p:cNvSpPr txBox="1"/>
          <p:nvPr/>
        </p:nvSpPr>
        <p:spPr>
          <a:xfrm>
            <a:off x="3886200" y="21177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+13%</a:t>
            </a:r>
          </a:p>
        </p:txBody>
      </p:sp>
      <p:sp>
        <p:nvSpPr>
          <p:cNvPr id="19" name="New shape"/>
          <p:cNvSpPr txBox="1"/>
          <p:nvPr/>
        </p:nvSpPr>
        <p:spPr>
          <a:xfrm>
            <a:off x="457200" y="2717800"/>
            <a:ext cx="184548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Doing my work gives me energy</a:t>
            </a:r>
          </a:p>
        </p:txBody>
      </p:sp>
      <p:sp>
        <p:nvSpPr>
          <p:cNvPr id="20" name="New shape"/>
          <p:cNvSpPr/>
          <p:nvPr/>
        </p:nvSpPr>
        <p:spPr>
          <a:xfrm>
            <a:off x="2359835" y="2774950"/>
            <a:ext cx="98344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 txBox="1"/>
          <p:nvPr/>
        </p:nvSpPr>
        <p:spPr>
          <a:xfrm>
            <a:off x="3400425" y="26320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3886200" y="26320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+13%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457200" y="3232150"/>
            <a:ext cx="2614498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Within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performance is rewarded</a:t>
            </a:r>
          </a:p>
        </p:txBody>
      </p:sp>
      <p:sp>
        <p:nvSpPr>
          <p:cNvPr id="24" name="New shape"/>
          <p:cNvSpPr/>
          <p:nvPr/>
        </p:nvSpPr>
        <p:spPr>
          <a:xfrm>
            <a:off x="3025235" y="3289300"/>
            <a:ext cx="31804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 txBox="1"/>
          <p:nvPr/>
        </p:nvSpPr>
        <p:spPr>
          <a:xfrm>
            <a:off x="3400425" y="31464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71%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3886200" y="31464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+12%</a:t>
            </a:r>
          </a:p>
        </p:txBody>
      </p:sp>
      <p:sp>
        <p:nvSpPr>
          <p:cNvPr id="28" name="New shape"/>
          <p:cNvSpPr txBox="1"/>
          <p:nvPr/>
        </p:nvSpPr>
        <p:spPr>
          <a:xfrm>
            <a:off x="457200" y="3660775"/>
            <a:ext cx="2886075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am regularly given useful performance feedback</a:t>
            </a:r>
          </a:p>
        </p:txBody>
      </p:sp>
      <p:sp>
        <p:nvSpPr>
          <p:cNvPr id="29" name="New shape"/>
          <p:cNvSpPr txBox="1"/>
          <p:nvPr/>
        </p:nvSpPr>
        <p:spPr>
          <a:xfrm>
            <a:off x="3400425" y="36607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30" name="New shape"/>
          <p:cNvSpPr txBox="1"/>
          <p:nvPr/>
        </p:nvSpPr>
        <p:spPr>
          <a:xfrm>
            <a:off x="3886200" y="36607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+10%</a:t>
            </a:r>
          </a:p>
        </p:txBody>
      </p:sp>
      <p:pic>
        <p:nvPicPr>
          <p:cNvPr id="3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8138" y="1203325"/>
            <a:ext cx="142875" cy="171450"/>
          </a:xfrm>
          <a:prstGeom prst="rect">
            <a:avLst/>
          </a:prstGeom>
        </p:spPr>
      </p:pic>
      <p:pic>
        <p:nvPicPr>
          <p:cNvPr id="3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40" y="1206540"/>
            <a:ext cx="165021" cy="165021"/>
          </a:xfrm>
          <a:prstGeom prst="rect">
            <a:avLst/>
          </a:prstGeom>
        </p:spPr>
      </p:pic>
      <p:sp>
        <p:nvSpPr>
          <p:cNvPr id="33" name="New shape"/>
          <p:cNvSpPr txBox="1"/>
          <p:nvPr/>
        </p:nvSpPr>
        <p:spPr>
          <a:xfrm>
            <a:off x="4857750" y="1689100"/>
            <a:ext cx="2703290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know what results are expected of me at work</a:t>
            </a:r>
          </a:p>
        </p:txBody>
      </p:sp>
      <p:sp>
        <p:nvSpPr>
          <p:cNvPr id="34" name="New shape"/>
          <p:cNvSpPr/>
          <p:nvPr/>
        </p:nvSpPr>
        <p:spPr>
          <a:xfrm>
            <a:off x="7618190" y="1746250"/>
            <a:ext cx="12563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ew shape"/>
          <p:cNvSpPr txBox="1"/>
          <p:nvPr/>
        </p:nvSpPr>
        <p:spPr>
          <a:xfrm>
            <a:off x="780097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66%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8286750" y="16033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-25%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4857750" y="2203450"/>
            <a:ext cx="16707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enjoy doing my work / tasks</a:t>
            </a:r>
          </a:p>
        </p:txBody>
      </p:sp>
      <p:sp>
        <p:nvSpPr>
          <p:cNvPr id="38" name="New shape"/>
          <p:cNvSpPr/>
          <p:nvPr/>
        </p:nvSpPr>
        <p:spPr>
          <a:xfrm>
            <a:off x="6585617" y="2260600"/>
            <a:ext cx="115820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New shape"/>
          <p:cNvSpPr txBox="1"/>
          <p:nvPr/>
        </p:nvSpPr>
        <p:spPr>
          <a:xfrm>
            <a:off x="780097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64%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8286750" y="211772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-12%</a:t>
            </a:r>
          </a:p>
        </p:txBody>
      </p:sp>
      <p:sp>
        <p:nvSpPr>
          <p:cNvPr id="42" name="New shape"/>
          <p:cNvSpPr txBox="1"/>
          <p:nvPr/>
        </p:nvSpPr>
        <p:spPr>
          <a:xfrm>
            <a:off x="4857750" y="2632075"/>
            <a:ext cx="2886075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am provided with good work resources (tools, devices, software, materials, etc.) to do my job well</a:t>
            </a:r>
          </a:p>
        </p:txBody>
      </p:sp>
      <p:sp>
        <p:nvSpPr>
          <p:cNvPr id="43" name="New shape"/>
          <p:cNvSpPr txBox="1"/>
          <p:nvPr/>
        </p:nvSpPr>
        <p:spPr>
          <a:xfrm>
            <a:off x="7800975" y="2632075"/>
            <a:ext cx="457200" cy="41148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69%</a:t>
            </a:r>
          </a:p>
        </p:txBody>
      </p:sp>
      <p:sp>
        <p:nvSpPr>
          <p:cNvPr id="44" name="New shape"/>
          <p:cNvSpPr txBox="1"/>
          <p:nvPr/>
        </p:nvSpPr>
        <p:spPr>
          <a:xfrm>
            <a:off x="8286750" y="2632075"/>
            <a:ext cx="457200" cy="41148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-10%</a:t>
            </a:r>
          </a:p>
        </p:txBody>
      </p:sp>
      <p:sp>
        <p:nvSpPr>
          <p:cNvPr id="45" name="New shape"/>
          <p:cNvSpPr txBox="1"/>
          <p:nvPr/>
        </p:nvSpPr>
        <p:spPr>
          <a:xfrm>
            <a:off x="4857750" y="3357880"/>
            <a:ext cx="2425906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skills and abilities fit in well with my job</a:t>
            </a:r>
          </a:p>
        </p:txBody>
      </p:sp>
      <p:sp>
        <p:nvSpPr>
          <p:cNvPr id="46" name="New shape"/>
          <p:cNvSpPr/>
          <p:nvPr/>
        </p:nvSpPr>
        <p:spPr>
          <a:xfrm>
            <a:off x="7340806" y="3415030"/>
            <a:ext cx="403019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7800975" y="327215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48" name="New shape"/>
          <p:cNvSpPr txBox="1"/>
          <p:nvPr/>
        </p:nvSpPr>
        <p:spPr>
          <a:xfrm>
            <a:off x="8286750" y="327215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-10%</a:t>
            </a:r>
          </a:p>
        </p:txBody>
      </p:sp>
      <p:sp>
        <p:nvSpPr>
          <p:cNvPr id="50" name="New shape"/>
          <p:cNvSpPr txBox="1"/>
          <p:nvPr/>
        </p:nvSpPr>
        <p:spPr>
          <a:xfrm>
            <a:off x="4857750" y="3786505"/>
            <a:ext cx="2886075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Important information is readily accessible for me</a:t>
            </a:r>
          </a:p>
        </p:txBody>
      </p:sp>
      <p:sp>
        <p:nvSpPr>
          <p:cNvPr id="51" name="New shape"/>
          <p:cNvSpPr txBox="1"/>
          <p:nvPr/>
        </p:nvSpPr>
        <p:spPr>
          <a:xfrm>
            <a:off x="7800975" y="378650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69%</a:t>
            </a:r>
          </a:p>
        </p:txBody>
      </p:sp>
      <p:sp>
        <p:nvSpPr>
          <p:cNvPr id="52" name="New shape"/>
          <p:cNvSpPr txBox="1"/>
          <p:nvPr/>
        </p:nvSpPr>
        <p:spPr>
          <a:xfrm>
            <a:off x="8286750" y="378650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-6%</a:t>
            </a:r>
          </a:p>
        </p:txBody>
      </p:sp>
      <p:sp>
        <p:nvSpPr>
          <p:cNvPr id="53" name="New shape"/>
          <p:cNvSpPr/>
          <p:nvPr/>
        </p:nvSpPr>
        <p:spPr>
          <a:xfrm flipH="1">
            <a:off x="4572000" y="1517650"/>
            <a:ext cx="0" cy="2697480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" y="4883467"/>
            <a:ext cx="100012" cy="120015"/>
          </a:xfrm>
          <a:prstGeom prst="rect">
            <a:avLst/>
          </a:prstGeom>
        </p:spPr>
      </p:pic>
      <p:sp>
        <p:nvSpPr>
          <p:cNvPr id="55" name="New shape"/>
          <p:cNvSpPr txBox="1"/>
          <p:nvPr/>
        </p:nvSpPr>
        <p:spPr>
          <a:xfrm>
            <a:off x="328612" y="4840605"/>
            <a:ext cx="714375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 dirty="0">
                <a:solidFill>
                  <a:srgbClr val="2867C9"/>
                </a:solidFill>
                <a:latin typeface="Poppins"/>
              </a:rPr>
              <a:t>Current: </a:t>
            </a:r>
            <a:r>
              <a:rPr lang="en-US" sz="675" b="0" i="0" dirty="0">
                <a:solidFill>
                  <a:srgbClr val="2867C9"/>
                </a:solidFill>
                <a:latin typeface="Poppins"/>
              </a:rPr>
              <a:t>Team IT</a:t>
            </a:r>
            <a:endParaRPr sz="675" b="0" i="0" dirty="0">
              <a:solidFill>
                <a:srgbClr val="2867C9"/>
              </a:solidFill>
              <a:latin typeface="Poppins"/>
            </a:endParaRPr>
          </a:p>
        </p:txBody>
      </p:sp>
      <p:pic>
        <p:nvPicPr>
          <p:cNvPr id="5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4425" y="4890969"/>
            <a:ext cx="105013" cy="105013"/>
          </a:xfrm>
          <a:prstGeom prst="rect">
            <a:avLst/>
          </a:prstGeom>
        </p:spPr>
      </p:pic>
      <p:sp>
        <p:nvSpPr>
          <p:cNvPr id="57" name="New shape"/>
          <p:cNvSpPr txBox="1"/>
          <p:nvPr/>
        </p:nvSpPr>
        <p:spPr>
          <a:xfrm>
            <a:off x="1290875" y="4892040"/>
            <a:ext cx="714375" cy="10287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Global Index</a:t>
            </a:r>
          </a:p>
        </p:txBody>
      </p:sp>
      <p:sp>
        <p:nvSpPr>
          <p:cNvPr id="5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10</a:t>
            </a:r>
          </a:p>
        </p:txBody>
      </p:sp>
      <p:sp>
        <p:nvSpPr>
          <p:cNvPr id="59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61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5525"/>
            <a:ext cx="3412794" cy="34624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 dirty="0">
                <a:solidFill>
                  <a:srgbClr val="192743"/>
                </a:solidFill>
                <a:latin typeface="Poppins"/>
              </a:rPr>
              <a:t>Topics for </a:t>
            </a:r>
            <a:r>
              <a:rPr lang="en-US" sz="2250" b="1" i="0" dirty="0">
                <a:solidFill>
                  <a:srgbClr val="192743"/>
                </a:solidFill>
                <a:latin typeface="Poppins"/>
              </a:rPr>
              <a:t>Team IT</a:t>
            </a:r>
            <a:endParaRPr sz="2250" b="1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" name="New shape"/>
          <p:cNvSpPr txBox="1"/>
          <p:nvPr/>
        </p:nvSpPr>
        <p:spPr>
          <a:xfrm>
            <a:off x="457200" y="838007"/>
            <a:ext cx="136896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546178"/>
                </a:solidFill>
                <a:latin typeface="Poppins"/>
              </a:rPr>
              <a:t>Chosen by </a:t>
            </a:r>
            <a:r>
              <a:rPr lang="en-US" sz="900" b="0" i="0" dirty="0">
                <a:solidFill>
                  <a:srgbClr val="546178"/>
                </a:solidFill>
                <a:latin typeface="Poppins"/>
              </a:rPr>
              <a:t>Team IT</a:t>
            </a:r>
            <a:endParaRPr sz="900" b="0" i="0" dirty="0">
              <a:solidFill>
                <a:srgbClr val="546178"/>
              </a:solidFill>
              <a:latin typeface="Poppins"/>
            </a:endParaRPr>
          </a:p>
        </p:txBody>
      </p:sp>
      <p:sp>
        <p:nvSpPr>
          <p:cNvPr id="4" name="New shape"/>
          <p:cNvSpPr/>
          <p:nvPr/>
        </p:nvSpPr>
        <p:spPr>
          <a:xfrm flipH="1">
            <a:off x="4572000" y="1243012"/>
            <a:ext cx="0" cy="2800350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71588"/>
            <a:ext cx="228600" cy="228600"/>
          </a:xfrm>
          <a:prstGeom prst="rect">
            <a:avLst/>
          </a:prstGeom>
        </p:spPr>
      </p:pic>
      <p:sp>
        <p:nvSpPr>
          <p:cNvPr id="6" name="New shape"/>
          <p:cNvSpPr txBox="1"/>
          <p:nvPr/>
        </p:nvSpPr>
        <p:spPr>
          <a:xfrm>
            <a:off x="757238" y="1317307"/>
            <a:ext cx="3214688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What really stands out for you in a positive way?</a:t>
            </a:r>
          </a:p>
        </p:txBody>
      </p:sp>
      <p:sp>
        <p:nvSpPr>
          <p:cNvPr id="7" name="New shape"/>
          <p:cNvSpPr/>
          <p:nvPr/>
        </p:nvSpPr>
        <p:spPr>
          <a:xfrm>
            <a:off x="457200" y="17002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ew shape"/>
          <p:cNvSpPr/>
          <p:nvPr/>
        </p:nvSpPr>
        <p:spPr>
          <a:xfrm>
            <a:off x="457200" y="1700212"/>
            <a:ext cx="1446609" cy="285750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ew shape"/>
          <p:cNvSpPr txBox="1"/>
          <p:nvPr/>
        </p:nvSpPr>
        <p:spPr>
          <a:xfrm>
            <a:off x="528638" y="17002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 as an employer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3118247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45%</a:t>
            </a:r>
          </a:p>
        </p:txBody>
      </p:sp>
      <p:pic>
        <p:nvPicPr>
          <p:cNvPr id="1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1768078"/>
            <a:ext cx="150019" cy="150019"/>
          </a:xfrm>
          <a:prstGeom prst="rect">
            <a:avLst/>
          </a:prstGeom>
        </p:spPr>
      </p:pic>
      <p:sp>
        <p:nvSpPr>
          <p:cNvPr id="12" name="New shape"/>
          <p:cNvSpPr txBox="1"/>
          <p:nvPr/>
        </p:nvSpPr>
        <p:spPr>
          <a:xfrm>
            <a:off x="4007644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132</a:t>
            </a:r>
          </a:p>
        </p:txBody>
      </p:sp>
      <p:sp>
        <p:nvSpPr>
          <p:cNvPr id="13" name="New shape"/>
          <p:cNvSpPr/>
          <p:nvPr/>
        </p:nvSpPr>
        <p:spPr>
          <a:xfrm>
            <a:off x="457200" y="21002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ew shape"/>
          <p:cNvSpPr/>
          <p:nvPr/>
        </p:nvSpPr>
        <p:spPr>
          <a:xfrm>
            <a:off x="457200" y="2100262"/>
            <a:ext cx="417909" cy="2857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ew shape"/>
          <p:cNvSpPr txBox="1"/>
          <p:nvPr/>
        </p:nvSpPr>
        <p:spPr>
          <a:xfrm>
            <a:off x="528638" y="21002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culture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3118247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13%</a:t>
            </a:r>
          </a:p>
        </p:txBody>
      </p:sp>
      <p:pic>
        <p:nvPicPr>
          <p:cNvPr id="1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2168128"/>
            <a:ext cx="150019" cy="150019"/>
          </a:xfrm>
          <a:prstGeom prst="rect">
            <a:avLst/>
          </a:prstGeom>
        </p:spPr>
      </p:pic>
      <p:sp>
        <p:nvSpPr>
          <p:cNvPr id="18" name="New shape"/>
          <p:cNvSpPr txBox="1"/>
          <p:nvPr/>
        </p:nvSpPr>
        <p:spPr>
          <a:xfrm>
            <a:off x="4007644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38</a:t>
            </a:r>
          </a:p>
        </p:txBody>
      </p:sp>
      <p:sp>
        <p:nvSpPr>
          <p:cNvPr id="19" name="New shape"/>
          <p:cNvSpPr/>
          <p:nvPr/>
        </p:nvSpPr>
        <p:spPr>
          <a:xfrm>
            <a:off x="457200" y="25003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ew shape"/>
          <p:cNvSpPr/>
          <p:nvPr/>
        </p:nvSpPr>
        <p:spPr>
          <a:xfrm>
            <a:off x="457200" y="2500312"/>
            <a:ext cx="321469" cy="2857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 txBox="1"/>
          <p:nvPr/>
        </p:nvSpPr>
        <p:spPr>
          <a:xfrm>
            <a:off x="528638" y="25003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vision and goals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3118247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10%</a:t>
            </a:r>
          </a:p>
        </p:txBody>
      </p:sp>
      <p:pic>
        <p:nvPicPr>
          <p:cNvPr id="2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2568178"/>
            <a:ext cx="150019" cy="150019"/>
          </a:xfrm>
          <a:prstGeom prst="rect">
            <a:avLst/>
          </a:prstGeom>
        </p:spPr>
      </p:pic>
      <p:sp>
        <p:nvSpPr>
          <p:cNvPr id="24" name="New shape"/>
          <p:cNvSpPr txBox="1"/>
          <p:nvPr/>
        </p:nvSpPr>
        <p:spPr>
          <a:xfrm>
            <a:off x="4007644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</a:t>
            </a:r>
          </a:p>
        </p:txBody>
      </p:sp>
      <p:sp>
        <p:nvSpPr>
          <p:cNvPr id="25" name="New shape"/>
          <p:cNvSpPr/>
          <p:nvPr/>
        </p:nvSpPr>
        <p:spPr>
          <a:xfrm>
            <a:off x="457200" y="29003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ew shape"/>
          <p:cNvSpPr/>
          <p:nvPr/>
        </p:nvSpPr>
        <p:spPr>
          <a:xfrm>
            <a:off x="457200" y="2900362"/>
            <a:ext cx="289322" cy="285750"/>
          </a:xfrm>
          <a:prstGeom prst="roundRect">
            <a:avLst/>
          </a:prstGeom>
          <a:solidFill>
            <a:srgbClr val="FEE5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ew shape"/>
          <p:cNvSpPr txBox="1"/>
          <p:nvPr/>
        </p:nvSpPr>
        <p:spPr>
          <a:xfrm>
            <a:off x="528638" y="29003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Customer focus within my organisation</a:t>
            </a:r>
          </a:p>
        </p:txBody>
      </p:sp>
      <p:sp>
        <p:nvSpPr>
          <p:cNvPr id="28" name="New shape"/>
          <p:cNvSpPr txBox="1"/>
          <p:nvPr/>
        </p:nvSpPr>
        <p:spPr>
          <a:xfrm>
            <a:off x="3118247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9%</a:t>
            </a:r>
          </a:p>
        </p:txBody>
      </p:sp>
      <p:pic>
        <p:nvPicPr>
          <p:cNvPr id="2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2968228"/>
            <a:ext cx="150019" cy="150019"/>
          </a:xfrm>
          <a:prstGeom prst="rect">
            <a:avLst/>
          </a:prstGeom>
        </p:spPr>
      </p:pic>
      <p:sp>
        <p:nvSpPr>
          <p:cNvPr id="30" name="New shape"/>
          <p:cNvSpPr txBox="1"/>
          <p:nvPr/>
        </p:nvSpPr>
        <p:spPr>
          <a:xfrm>
            <a:off x="4007644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25</a:t>
            </a:r>
          </a:p>
        </p:txBody>
      </p:sp>
      <p:sp>
        <p:nvSpPr>
          <p:cNvPr id="31" name="New shape"/>
          <p:cNvSpPr/>
          <p:nvPr/>
        </p:nvSpPr>
        <p:spPr>
          <a:xfrm>
            <a:off x="457200" y="33004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ew shape"/>
          <p:cNvSpPr/>
          <p:nvPr/>
        </p:nvSpPr>
        <p:spPr>
          <a:xfrm>
            <a:off x="457200" y="3300412"/>
            <a:ext cx="225028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/>
          <p:cNvSpPr txBox="1"/>
          <p:nvPr/>
        </p:nvSpPr>
        <p:spPr>
          <a:xfrm>
            <a:off x="528638" y="33004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Communication within my organisation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3118247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7%</a:t>
            </a:r>
          </a:p>
        </p:txBody>
      </p:sp>
      <p:pic>
        <p:nvPicPr>
          <p:cNvPr id="3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3368278"/>
            <a:ext cx="150019" cy="150019"/>
          </a:xfrm>
          <a:prstGeom prst="rect">
            <a:avLst/>
          </a:prstGeom>
        </p:spPr>
      </p:pic>
      <p:sp>
        <p:nvSpPr>
          <p:cNvPr id="36" name="New shape"/>
          <p:cNvSpPr txBox="1"/>
          <p:nvPr/>
        </p:nvSpPr>
        <p:spPr>
          <a:xfrm>
            <a:off x="4007644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19</a:t>
            </a:r>
          </a:p>
        </p:txBody>
      </p:sp>
      <p:sp>
        <p:nvSpPr>
          <p:cNvPr id="37" name="New shape"/>
          <p:cNvSpPr/>
          <p:nvPr/>
        </p:nvSpPr>
        <p:spPr>
          <a:xfrm>
            <a:off x="457200" y="37004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ew shape"/>
          <p:cNvSpPr/>
          <p:nvPr/>
        </p:nvSpPr>
        <p:spPr>
          <a:xfrm>
            <a:off x="457200" y="3700462"/>
            <a:ext cx="160734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New shape"/>
          <p:cNvSpPr txBox="1"/>
          <p:nvPr/>
        </p:nvSpPr>
        <p:spPr>
          <a:xfrm>
            <a:off x="528638" y="37004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Collaboration within organisation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3118247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5%</a:t>
            </a:r>
          </a:p>
        </p:txBody>
      </p:sp>
      <p:pic>
        <p:nvPicPr>
          <p:cNvPr id="4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3768328"/>
            <a:ext cx="150019" cy="150019"/>
          </a:xfrm>
          <a:prstGeom prst="rect">
            <a:avLst/>
          </a:prstGeom>
        </p:spPr>
      </p:pic>
      <p:sp>
        <p:nvSpPr>
          <p:cNvPr id="42" name="New shape"/>
          <p:cNvSpPr txBox="1"/>
          <p:nvPr/>
        </p:nvSpPr>
        <p:spPr>
          <a:xfrm>
            <a:off x="4007644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16</a:t>
            </a:r>
          </a:p>
        </p:txBody>
      </p:sp>
      <p:pic>
        <p:nvPicPr>
          <p:cNvPr id="4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1271588"/>
            <a:ext cx="228600" cy="228600"/>
          </a:xfrm>
          <a:prstGeom prst="rect">
            <a:avLst/>
          </a:prstGeom>
        </p:spPr>
      </p:pic>
      <p:sp>
        <p:nvSpPr>
          <p:cNvPr id="44" name="New shape"/>
          <p:cNvSpPr txBox="1"/>
          <p:nvPr/>
        </p:nvSpPr>
        <p:spPr>
          <a:xfrm>
            <a:off x="5100638" y="1248727"/>
            <a:ext cx="3214688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What did you see or experience that could be improved? Don't forget to give us your tip!</a:t>
            </a:r>
          </a:p>
        </p:txBody>
      </p:sp>
      <p:sp>
        <p:nvSpPr>
          <p:cNvPr id="45" name="New shape"/>
          <p:cNvSpPr/>
          <p:nvPr/>
        </p:nvSpPr>
        <p:spPr>
          <a:xfrm>
            <a:off x="4800600" y="17002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ew shape"/>
          <p:cNvSpPr/>
          <p:nvPr/>
        </p:nvSpPr>
        <p:spPr>
          <a:xfrm>
            <a:off x="4800600" y="1700212"/>
            <a:ext cx="1253728" cy="285750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4872038" y="17002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 as an employer</a:t>
            </a:r>
          </a:p>
        </p:txBody>
      </p:sp>
      <p:sp>
        <p:nvSpPr>
          <p:cNvPr id="48" name="New shape"/>
          <p:cNvSpPr txBox="1"/>
          <p:nvPr/>
        </p:nvSpPr>
        <p:spPr>
          <a:xfrm>
            <a:off x="7461647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39%</a:t>
            </a:r>
          </a:p>
        </p:txBody>
      </p:sp>
      <p:pic>
        <p:nvPicPr>
          <p:cNvPr id="4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1768078"/>
            <a:ext cx="150019" cy="150019"/>
          </a:xfrm>
          <a:prstGeom prst="rect">
            <a:avLst/>
          </a:prstGeom>
        </p:spPr>
      </p:pic>
      <p:sp>
        <p:nvSpPr>
          <p:cNvPr id="50" name="New shape"/>
          <p:cNvSpPr txBox="1"/>
          <p:nvPr/>
        </p:nvSpPr>
        <p:spPr>
          <a:xfrm>
            <a:off x="8351044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113</a:t>
            </a:r>
          </a:p>
        </p:txBody>
      </p:sp>
      <p:sp>
        <p:nvSpPr>
          <p:cNvPr id="51" name="New shape"/>
          <p:cNvSpPr/>
          <p:nvPr/>
        </p:nvSpPr>
        <p:spPr>
          <a:xfrm>
            <a:off x="4800600" y="21002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ew shape"/>
          <p:cNvSpPr/>
          <p:nvPr/>
        </p:nvSpPr>
        <p:spPr>
          <a:xfrm>
            <a:off x="4800600" y="2100262"/>
            <a:ext cx="546497" cy="2857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ew shape"/>
          <p:cNvSpPr txBox="1"/>
          <p:nvPr/>
        </p:nvSpPr>
        <p:spPr>
          <a:xfrm>
            <a:off x="4872038" y="21002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vision and goals</a:t>
            </a:r>
          </a:p>
        </p:txBody>
      </p:sp>
      <p:sp>
        <p:nvSpPr>
          <p:cNvPr id="54" name="New shape"/>
          <p:cNvSpPr txBox="1"/>
          <p:nvPr/>
        </p:nvSpPr>
        <p:spPr>
          <a:xfrm>
            <a:off x="7461647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17%</a:t>
            </a:r>
          </a:p>
        </p:txBody>
      </p:sp>
      <p:pic>
        <p:nvPicPr>
          <p:cNvPr id="5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168128"/>
            <a:ext cx="150019" cy="150019"/>
          </a:xfrm>
          <a:prstGeom prst="rect">
            <a:avLst/>
          </a:prstGeom>
        </p:spPr>
      </p:pic>
      <p:sp>
        <p:nvSpPr>
          <p:cNvPr id="56" name="New shape"/>
          <p:cNvSpPr txBox="1"/>
          <p:nvPr/>
        </p:nvSpPr>
        <p:spPr>
          <a:xfrm>
            <a:off x="8351044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49</a:t>
            </a:r>
          </a:p>
        </p:txBody>
      </p:sp>
      <p:sp>
        <p:nvSpPr>
          <p:cNvPr id="57" name="New shape"/>
          <p:cNvSpPr/>
          <p:nvPr/>
        </p:nvSpPr>
        <p:spPr>
          <a:xfrm>
            <a:off x="4800600" y="25003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ew shape"/>
          <p:cNvSpPr/>
          <p:nvPr/>
        </p:nvSpPr>
        <p:spPr>
          <a:xfrm>
            <a:off x="4800600" y="2500312"/>
            <a:ext cx="385762" cy="2857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New shape"/>
          <p:cNvSpPr txBox="1"/>
          <p:nvPr/>
        </p:nvSpPr>
        <p:spPr>
          <a:xfrm>
            <a:off x="4872038" y="25003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culture</a:t>
            </a:r>
          </a:p>
        </p:txBody>
      </p:sp>
      <p:sp>
        <p:nvSpPr>
          <p:cNvPr id="60" name="New shape"/>
          <p:cNvSpPr txBox="1"/>
          <p:nvPr/>
        </p:nvSpPr>
        <p:spPr>
          <a:xfrm>
            <a:off x="7461647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12%</a:t>
            </a:r>
          </a:p>
        </p:txBody>
      </p:sp>
      <p:pic>
        <p:nvPicPr>
          <p:cNvPr id="6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568178"/>
            <a:ext cx="150019" cy="150019"/>
          </a:xfrm>
          <a:prstGeom prst="rect">
            <a:avLst/>
          </a:prstGeom>
        </p:spPr>
      </p:pic>
      <p:sp>
        <p:nvSpPr>
          <p:cNvPr id="62" name="New shape"/>
          <p:cNvSpPr txBox="1"/>
          <p:nvPr/>
        </p:nvSpPr>
        <p:spPr>
          <a:xfrm>
            <a:off x="8351044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36</a:t>
            </a:r>
          </a:p>
        </p:txBody>
      </p:sp>
      <p:sp>
        <p:nvSpPr>
          <p:cNvPr id="63" name="New shape"/>
          <p:cNvSpPr/>
          <p:nvPr/>
        </p:nvSpPr>
        <p:spPr>
          <a:xfrm>
            <a:off x="4800600" y="29003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ew shape"/>
          <p:cNvSpPr/>
          <p:nvPr/>
        </p:nvSpPr>
        <p:spPr>
          <a:xfrm>
            <a:off x="4800600" y="2900362"/>
            <a:ext cx="160734" cy="285750"/>
          </a:xfrm>
          <a:prstGeom prst="roundRect">
            <a:avLst/>
          </a:prstGeom>
          <a:solidFill>
            <a:srgbClr val="FEE5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New shape"/>
          <p:cNvSpPr txBox="1"/>
          <p:nvPr/>
        </p:nvSpPr>
        <p:spPr>
          <a:xfrm>
            <a:off x="4872038" y="29003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team's dynamics (atmosphere, trust)</a:t>
            </a:r>
          </a:p>
        </p:txBody>
      </p:sp>
      <p:sp>
        <p:nvSpPr>
          <p:cNvPr id="66" name="New shape"/>
          <p:cNvSpPr txBox="1"/>
          <p:nvPr/>
        </p:nvSpPr>
        <p:spPr>
          <a:xfrm>
            <a:off x="7461647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5%</a:t>
            </a:r>
          </a:p>
        </p:txBody>
      </p:sp>
      <p:pic>
        <p:nvPicPr>
          <p:cNvPr id="6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968228"/>
            <a:ext cx="150019" cy="150019"/>
          </a:xfrm>
          <a:prstGeom prst="rect">
            <a:avLst/>
          </a:prstGeom>
        </p:spPr>
      </p:pic>
      <p:sp>
        <p:nvSpPr>
          <p:cNvPr id="68" name="New shape"/>
          <p:cNvSpPr txBox="1"/>
          <p:nvPr/>
        </p:nvSpPr>
        <p:spPr>
          <a:xfrm>
            <a:off x="8351044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16</a:t>
            </a:r>
          </a:p>
        </p:txBody>
      </p:sp>
      <p:sp>
        <p:nvSpPr>
          <p:cNvPr id="69" name="New shape"/>
          <p:cNvSpPr/>
          <p:nvPr/>
        </p:nvSpPr>
        <p:spPr>
          <a:xfrm>
            <a:off x="4800600" y="33004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ew shape"/>
          <p:cNvSpPr/>
          <p:nvPr/>
        </p:nvSpPr>
        <p:spPr>
          <a:xfrm>
            <a:off x="4800600" y="3300412"/>
            <a:ext cx="160734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New shape"/>
          <p:cNvSpPr txBox="1"/>
          <p:nvPr/>
        </p:nvSpPr>
        <p:spPr>
          <a:xfrm>
            <a:off x="4872038" y="33004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Customer focus within my organisation</a:t>
            </a:r>
          </a:p>
        </p:txBody>
      </p:sp>
      <p:sp>
        <p:nvSpPr>
          <p:cNvPr id="72" name="New shape"/>
          <p:cNvSpPr txBox="1"/>
          <p:nvPr/>
        </p:nvSpPr>
        <p:spPr>
          <a:xfrm>
            <a:off x="7461647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5%</a:t>
            </a:r>
          </a:p>
        </p:txBody>
      </p:sp>
      <p:pic>
        <p:nvPicPr>
          <p:cNvPr id="7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368278"/>
            <a:ext cx="150019" cy="150019"/>
          </a:xfrm>
          <a:prstGeom prst="rect">
            <a:avLst/>
          </a:prstGeom>
        </p:spPr>
      </p:pic>
      <p:sp>
        <p:nvSpPr>
          <p:cNvPr id="74" name="New shape"/>
          <p:cNvSpPr txBox="1"/>
          <p:nvPr/>
        </p:nvSpPr>
        <p:spPr>
          <a:xfrm>
            <a:off x="8351044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14</a:t>
            </a:r>
          </a:p>
        </p:txBody>
      </p:sp>
      <p:sp>
        <p:nvSpPr>
          <p:cNvPr id="75" name="New shape"/>
          <p:cNvSpPr/>
          <p:nvPr/>
        </p:nvSpPr>
        <p:spPr>
          <a:xfrm>
            <a:off x="4800600" y="37004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ew shape"/>
          <p:cNvSpPr/>
          <p:nvPr/>
        </p:nvSpPr>
        <p:spPr>
          <a:xfrm>
            <a:off x="4800600" y="3700462"/>
            <a:ext cx="128588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New shape"/>
          <p:cNvSpPr txBox="1"/>
          <p:nvPr/>
        </p:nvSpPr>
        <p:spPr>
          <a:xfrm>
            <a:off x="4872038" y="37004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Collaboration within organisation</a:t>
            </a:r>
          </a:p>
        </p:txBody>
      </p:sp>
      <p:sp>
        <p:nvSpPr>
          <p:cNvPr id="78" name="New shape"/>
          <p:cNvSpPr txBox="1"/>
          <p:nvPr/>
        </p:nvSpPr>
        <p:spPr>
          <a:xfrm>
            <a:off x="7461647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4%</a:t>
            </a:r>
          </a:p>
        </p:txBody>
      </p:sp>
      <p:pic>
        <p:nvPicPr>
          <p:cNvPr id="7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768328"/>
            <a:ext cx="150019" cy="150019"/>
          </a:xfrm>
          <a:prstGeom prst="rect">
            <a:avLst/>
          </a:prstGeom>
        </p:spPr>
      </p:pic>
      <p:sp>
        <p:nvSpPr>
          <p:cNvPr id="80" name="New shape"/>
          <p:cNvSpPr txBox="1"/>
          <p:nvPr/>
        </p:nvSpPr>
        <p:spPr>
          <a:xfrm>
            <a:off x="8351044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12</a:t>
            </a:r>
          </a:p>
        </p:txBody>
      </p:sp>
      <p:pic>
        <p:nvPicPr>
          <p:cNvPr id="8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82" name="New shape"/>
          <p:cNvSpPr txBox="1"/>
          <p:nvPr/>
        </p:nvSpPr>
        <p:spPr>
          <a:xfrm>
            <a:off x="335756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sp>
        <p:nvSpPr>
          <p:cNvPr id="83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11</a:t>
            </a:r>
          </a:p>
        </p:txBody>
      </p:sp>
      <p:sp>
        <p:nvSpPr>
          <p:cNvPr id="84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86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091690"/>
            <a:ext cx="6286500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Deep dive into the lowest-scoring themes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Distribution of answers</a:t>
            </a:r>
          </a:p>
        </p:txBody>
      </p:sp>
      <p:sp>
        <p:nvSpPr>
          <p:cNvPr id="3" name="New shape"/>
          <p:cNvSpPr/>
          <p:nvPr/>
        </p:nvSpPr>
        <p:spPr>
          <a:xfrm>
            <a:off x="0" y="1057275"/>
            <a:ext cx="9144000" cy="300038"/>
          </a:xfrm>
          <a:prstGeom prst="rect">
            <a:avLst/>
          </a:prstGeom>
          <a:solidFill>
            <a:srgbClr val="E0F6F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ew shape"/>
          <p:cNvSpPr txBox="1"/>
          <p:nvPr/>
        </p:nvSpPr>
        <p:spPr>
          <a:xfrm>
            <a:off x="528638" y="1057275"/>
            <a:ext cx="76009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2700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9CD4"/>
                </a:solidFill>
                <a:latin typeface="Poppins"/>
              </a:rPr>
              <a:t>Engagement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528638" y="1580940"/>
            <a:ext cx="16707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enjoy doing my work / tasks</a:t>
            </a:r>
          </a:p>
        </p:txBody>
      </p:sp>
      <p:sp>
        <p:nvSpPr>
          <p:cNvPr id="6" name="New shape"/>
          <p:cNvSpPr/>
          <p:nvPr/>
        </p:nvSpPr>
        <p:spPr>
          <a:xfrm>
            <a:off x="5757862" y="1549051"/>
            <a:ext cx="1755648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64%</a:t>
            </a:r>
          </a:p>
        </p:txBody>
      </p:sp>
      <p:sp>
        <p:nvSpPr>
          <p:cNvPr id="7" name="New shape"/>
          <p:cNvSpPr/>
          <p:nvPr/>
        </p:nvSpPr>
        <p:spPr>
          <a:xfrm>
            <a:off x="7527798" y="1549051"/>
            <a:ext cx="329184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12%</a:t>
            </a:r>
          </a:p>
        </p:txBody>
      </p:sp>
      <p:sp>
        <p:nvSpPr>
          <p:cNvPr id="8" name="New shape"/>
          <p:cNvSpPr/>
          <p:nvPr/>
        </p:nvSpPr>
        <p:spPr>
          <a:xfrm>
            <a:off x="7871269" y="1549051"/>
            <a:ext cx="658368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24%</a:t>
            </a:r>
          </a:p>
        </p:txBody>
      </p:sp>
      <p:sp>
        <p:nvSpPr>
          <p:cNvPr id="9" name="New shape"/>
          <p:cNvSpPr txBox="1"/>
          <p:nvPr/>
        </p:nvSpPr>
        <p:spPr>
          <a:xfrm>
            <a:off x="5729288" y="14165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8149352" y="14165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11" name="New shape"/>
          <p:cNvSpPr/>
          <p:nvPr/>
        </p:nvSpPr>
        <p:spPr>
          <a:xfrm>
            <a:off x="528638" y="18216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ew shape"/>
          <p:cNvSpPr txBox="1"/>
          <p:nvPr/>
        </p:nvSpPr>
        <p:spPr>
          <a:xfrm>
            <a:off x="528638" y="2038141"/>
            <a:ext cx="184548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Doing my work gives me energy</a:t>
            </a:r>
          </a:p>
        </p:txBody>
      </p:sp>
      <p:sp>
        <p:nvSpPr>
          <p:cNvPr id="13" name="New shape"/>
          <p:cNvSpPr/>
          <p:nvPr/>
        </p:nvSpPr>
        <p:spPr>
          <a:xfrm>
            <a:off x="5757862" y="2006251"/>
            <a:ext cx="1975104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72%</a:t>
            </a:r>
          </a:p>
        </p:txBody>
      </p:sp>
      <p:sp>
        <p:nvSpPr>
          <p:cNvPr id="14" name="New shape"/>
          <p:cNvSpPr/>
          <p:nvPr/>
        </p:nvSpPr>
        <p:spPr>
          <a:xfrm>
            <a:off x="7747254" y="2006251"/>
            <a:ext cx="329184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12%</a:t>
            </a:r>
          </a:p>
        </p:txBody>
      </p:sp>
      <p:sp>
        <p:nvSpPr>
          <p:cNvPr id="15" name="New shape"/>
          <p:cNvSpPr/>
          <p:nvPr/>
        </p:nvSpPr>
        <p:spPr>
          <a:xfrm>
            <a:off x="8090725" y="2006251"/>
            <a:ext cx="438912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16%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5729288" y="18737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17" name="New shape"/>
          <p:cNvSpPr txBox="1"/>
          <p:nvPr/>
        </p:nvSpPr>
        <p:spPr>
          <a:xfrm>
            <a:off x="8149352" y="18737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18" name="New shape"/>
          <p:cNvSpPr/>
          <p:nvPr/>
        </p:nvSpPr>
        <p:spPr>
          <a:xfrm>
            <a:off x="528638" y="22788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 txBox="1"/>
          <p:nvPr/>
        </p:nvSpPr>
        <p:spPr>
          <a:xfrm>
            <a:off x="528638" y="2495357"/>
            <a:ext cx="19829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am proud to work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20" name="New shape"/>
          <p:cNvSpPr/>
          <p:nvPr/>
        </p:nvSpPr>
        <p:spPr>
          <a:xfrm>
            <a:off x="5757863" y="2463451"/>
            <a:ext cx="1892808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69%</a:t>
            </a:r>
          </a:p>
        </p:txBody>
      </p:sp>
      <p:sp>
        <p:nvSpPr>
          <p:cNvPr id="21" name="New shape"/>
          <p:cNvSpPr/>
          <p:nvPr/>
        </p:nvSpPr>
        <p:spPr>
          <a:xfrm>
            <a:off x="7664958" y="2463451"/>
            <a:ext cx="246888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9%</a:t>
            </a:r>
          </a:p>
        </p:txBody>
      </p:sp>
      <p:sp>
        <p:nvSpPr>
          <p:cNvPr id="22" name="New shape"/>
          <p:cNvSpPr/>
          <p:nvPr/>
        </p:nvSpPr>
        <p:spPr>
          <a:xfrm>
            <a:off x="7926133" y="2463451"/>
            <a:ext cx="603504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22%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5729288" y="23309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24" name="New shape"/>
          <p:cNvSpPr txBox="1"/>
          <p:nvPr/>
        </p:nvSpPr>
        <p:spPr>
          <a:xfrm>
            <a:off x="8149352" y="23309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25" name="New shape"/>
          <p:cNvSpPr/>
          <p:nvPr/>
        </p:nvSpPr>
        <p:spPr>
          <a:xfrm>
            <a:off x="528638" y="27360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ew shape"/>
          <p:cNvSpPr txBox="1"/>
          <p:nvPr/>
        </p:nvSpPr>
        <p:spPr>
          <a:xfrm>
            <a:off x="528638" y="2952557"/>
            <a:ext cx="17697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feel that I fit in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27" name="New shape"/>
          <p:cNvSpPr/>
          <p:nvPr/>
        </p:nvSpPr>
        <p:spPr>
          <a:xfrm>
            <a:off x="5757862" y="2920651"/>
            <a:ext cx="2084832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76%</a:t>
            </a:r>
          </a:p>
        </p:txBody>
      </p:sp>
      <p:sp>
        <p:nvSpPr>
          <p:cNvPr id="28" name="New shape"/>
          <p:cNvSpPr/>
          <p:nvPr/>
        </p:nvSpPr>
        <p:spPr>
          <a:xfrm>
            <a:off x="7856982" y="2920651"/>
            <a:ext cx="246888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9%</a:t>
            </a:r>
          </a:p>
        </p:txBody>
      </p:sp>
      <p:sp>
        <p:nvSpPr>
          <p:cNvPr id="29" name="New shape"/>
          <p:cNvSpPr/>
          <p:nvPr/>
        </p:nvSpPr>
        <p:spPr>
          <a:xfrm>
            <a:off x="8118158" y="2920651"/>
            <a:ext cx="411480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15%</a:t>
            </a:r>
          </a:p>
        </p:txBody>
      </p:sp>
      <p:sp>
        <p:nvSpPr>
          <p:cNvPr id="30" name="New shape"/>
          <p:cNvSpPr txBox="1"/>
          <p:nvPr/>
        </p:nvSpPr>
        <p:spPr>
          <a:xfrm>
            <a:off x="5729288" y="27881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31" name="New shape"/>
          <p:cNvSpPr txBox="1"/>
          <p:nvPr/>
        </p:nvSpPr>
        <p:spPr>
          <a:xfrm>
            <a:off x="8149352" y="27881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32" name="New shape"/>
          <p:cNvSpPr/>
          <p:nvPr/>
        </p:nvSpPr>
        <p:spPr>
          <a:xfrm>
            <a:off x="528638" y="31932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13</a:t>
            </a:r>
          </a:p>
        </p:txBody>
      </p:sp>
      <p:pic>
        <p:nvPicPr>
          <p:cNvPr id="3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36" name="New shape"/>
          <p:cNvSpPr txBox="1"/>
          <p:nvPr/>
        </p:nvSpPr>
        <p:spPr>
          <a:xfrm flipV="1">
            <a:off x="0" y="0"/>
            <a:ext cx="2266013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Deep dive into the lowest-scoring themes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14</a:t>
            </a:r>
          </a:p>
        </p:txBody>
      </p:sp>
      <p:pic>
        <p:nvPicPr>
          <p:cNvPr id="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5" name="New shape"/>
          <p:cNvSpPr txBox="1"/>
          <p:nvPr/>
        </p:nvSpPr>
        <p:spPr>
          <a:xfrm flipV="1">
            <a:off x="0" y="0"/>
            <a:ext cx="2266013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Deep dive into the lowest-scoring themes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Distribution of answers</a:t>
            </a:r>
          </a:p>
        </p:txBody>
      </p:sp>
      <p:sp>
        <p:nvSpPr>
          <p:cNvPr id="7" name="New shape"/>
          <p:cNvSpPr/>
          <p:nvPr/>
        </p:nvSpPr>
        <p:spPr>
          <a:xfrm>
            <a:off x="0" y="1057275"/>
            <a:ext cx="9144000" cy="300038"/>
          </a:xfrm>
          <a:prstGeom prst="rect">
            <a:avLst/>
          </a:prstGeom>
          <a:solidFill>
            <a:srgbClr val="E0F6F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ew shape"/>
          <p:cNvSpPr txBox="1"/>
          <p:nvPr/>
        </p:nvSpPr>
        <p:spPr>
          <a:xfrm>
            <a:off x="528638" y="1057275"/>
            <a:ext cx="76009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2700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9CD4"/>
                </a:solidFill>
                <a:latin typeface="Poppins"/>
              </a:rPr>
              <a:t>Managing people</a:t>
            </a:r>
          </a:p>
        </p:txBody>
      </p:sp>
      <p:sp>
        <p:nvSpPr>
          <p:cNvPr id="9" name="New shape"/>
          <p:cNvSpPr txBox="1"/>
          <p:nvPr/>
        </p:nvSpPr>
        <p:spPr>
          <a:xfrm>
            <a:off x="528637" y="1580940"/>
            <a:ext cx="2425906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skills and abilities fit in well with my job</a:t>
            </a:r>
          </a:p>
        </p:txBody>
      </p:sp>
      <p:sp>
        <p:nvSpPr>
          <p:cNvPr id="10" name="New shape"/>
          <p:cNvSpPr/>
          <p:nvPr/>
        </p:nvSpPr>
        <p:spPr>
          <a:xfrm>
            <a:off x="5757862" y="1549051"/>
            <a:ext cx="2029968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74%</a:t>
            </a:r>
          </a:p>
        </p:txBody>
      </p:sp>
      <p:sp>
        <p:nvSpPr>
          <p:cNvPr id="11" name="New shape"/>
          <p:cNvSpPr/>
          <p:nvPr/>
        </p:nvSpPr>
        <p:spPr>
          <a:xfrm>
            <a:off x="7802118" y="1549051"/>
            <a:ext cx="27432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10%</a:t>
            </a:r>
          </a:p>
        </p:txBody>
      </p:sp>
      <p:sp>
        <p:nvSpPr>
          <p:cNvPr id="12" name="New shape"/>
          <p:cNvSpPr/>
          <p:nvPr/>
        </p:nvSpPr>
        <p:spPr>
          <a:xfrm>
            <a:off x="8090726" y="1549051"/>
            <a:ext cx="438912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16%</a:t>
            </a:r>
          </a:p>
        </p:txBody>
      </p:sp>
      <p:sp>
        <p:nvSpPr>
          <p:cNvPr id="13" name="New shape"/>
          <p:cNvSpPr txBox="1"/>
          <p:nvPr/>
        </p:nvSpPr>
        <p:spPr>
          <a:xfrm>
            <a:off x="5729288" y="14165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8149352" y="14165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15" name="New shape"/>
          <p:cNvSpPr/>
          <p:nvPr/>
        </p:nvSpPr>
        <p:spPr>
          <a:xfrm>
            <a:off x="528638" y="18216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ew shape"/>
          <p:cNvSpPr txBox="1"/>
          <p:nvPr/>
        </p:nvSpPr>
        <p:spPr>
          <a:xfrm>
            <a:off x="528637" y="2038141"/>
            <a:ext cx="2703290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know what results are expected of me at work</a:t>
            </a:r>
          </a:p>
        </p:txBody>
      </p:sp>
      <p:sp>
        <p:nvSpPr>
          <p:cNvPr id="17" name="New shape"/>
          <p:cNvSpPr/>
          <p:nvPr/>
        </p:nvSpPr>
        <p:spPr>
          <a:xfrm>
            <a:off x="5757863" y="2006251"/>
            <a:ext cx="1810512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66%</a:t>
            </a:r>
          </a:p>
        </p:txBody>
      </p:sp>
      <p:sp>
        <p:nvSpPr>
          <p:cNvPr id="18" name="New shape"/>
          <p:cNvSpPr/>
          <p:nvPr/>
        </p:nvSpPr>
        <p:spPr>
          <a:xfrm>
            <a:off x="7582661" y="2006251"/>
            <a:ext cx="41148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15%</a:t>
            </a:r>
          </a:p>
        </p:txBody>
      </p:sp>
      <p:sp>
        <p:nvSpPr>
          <p:cNvPr id="19" name="New shape"/>
          <p:cNvSpPr/>
          <p:nvPr/>
        </p:nvSpPr>
        <p:spPr>
          <a:xfrm>
            <a:off x="8008429" y="2006251"/>
            <a:ext cx="521208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19%</a:t>
            </a:r>
          </a:p>
        </p:txBody>
      </p:sp>
      <p:sp>
        <p:nvSpPr>
          <p:cNvPr id="20" name="New shape"/>
          <p:cNvSpPr txBox="1"/>
          <p:nvPr/>
        </p:nvSpPr>
        <p:spPr>
          <a:xfrm>
            <a:off x="5729288" y="18737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21" name="New shape"/>
          <p:cNvSpPr txBox="1"/>
          <p:nvPr/>
        </p:nvSpPr>
        <p:spPr>
          <a:xfrm>
            <a:off x="8149352" y="18737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22" name="New shape"/>
          <p:cNvSpPr/>
          <p:nvPr/>
        </p:nvSpPr>
        <p:spPr>
          <a:xfrm>
            <a:off x="528638" y="22788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ew shape"/>
          <p:cNvSpPr txBox="1"/>
          <p:nvPr/>
        </p:nvSpPr>
        <p:spPr>
          <a:xfrm>
            <a:off x="528638" y="2495341"/>
            <a:ext cx="2898902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am regularly given useful performance feedback</a:t>
            </a:r>
          </a:p>
        </p:txBody>
      </p:sp>
      <p:sp>
        <p:nvSpPr>
          <p:cNvPr id="24" name="New shape"/>
          <p:cNvSpPr/>
          <p:nvPr/>
        </p:nvSpPr>
        <p:spPr>
          <a:xfrm>
            <a:off x="5757862" y="2463451"/>
            <a:ext cx="1975104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72%</a:t>
            </a:r>
          </a:p>
        </p:txBody>
      </p:sp>
      <p:sp>
        <p:nvSpPr>
          <p:cNvPr id="25" name="New shape"/>
          <p:cNvSpPr/>
          <p:nvPr/>
        </p:nvSpPr>
        <p:spPr>
          <a:xfrm>
            <a:off x="7747254" y="2463451"/>
            <a:ext cx="301752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11%</a:t>
            </a:r>
          </a:p>
        </p:txBody>
      </p:sp>
      <p:sp>
        <p:nvSpPr>
          <p:cNvPr id="26" name="New shape"/>
          <p:cNvSpPr/>
          <p:nvPr/>
        </p:nvSpPr>
        <p:spPr>
          <a:xfrm>
            <a:off x="8063293" y="2463451"/>
            <a:ext cx="466344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17%</a:t>
            </a:r>
          </a:p>
        </p:txBody>
      </p:sp>
      <p:sp>
        <p:nvSpPr>
          <p:cNvPr id="27" name="New shape"/>
          <p:cNvSpPr txBox="1"/>
          <p:nvPr/>
        </p:nvSpPr>
        <p:spPr>
          <a:xfrm>
            <a:off x="5729288" y="23309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28" name="New shape"/>
          <p:cNvSpPr txBox="1"/>
          <p:nvPr/>
        </p:nvSpPr>
        <p:spPr>
          <a:xfrm>
            <a:off x="8149352" y="23309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29" name="New shape"/>
          <p:cNvSpPr/>
          <p:nvPr/>
        </p:nvSpPr>
        <p:spPr>
          <a:xfrm>
            <a:off x="528638" y="27360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ew shape"/>
          <p:cNvSpPr txBox="1"/>
          <p:nvPr/>
        </p:nvSpPr>
        <p:spPr>
          <a:xfrm>
            <a:off x="528638" y="2952557"/>
            <a:ext cx="2614498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Within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Team IT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performance is rewarded</a:t>
            </a:r>
          </a:p>
        </p:txBody>
      </p:sp>
      <p:sp>
        <p:nvSpPr>
          <p:cNvPr id="31" name="New shape"/>
          <p:cNvSpPr/>
          <p:nvPr/>
        </p:nvSpPr>
        <p:spPr>
          <a:xfrm>
            <a:off x="5757862" y="2920651"/>
            <a:ext cx="1947672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71%</a:t>
            </a:r>
          </a:p>
        </p:txBody>
      </p:sp>
      <p:sp>
        <p:nvSpPr>
          <p:cNvPr id="32" name="New shape"/>
          <p:cNvSpPr/>
          <p:nvPr/>
        </p:nvSpPr>
        <p:spPr>
          <a:xfrm>
            <a:off x="7719822" y="2920651"/>
            <a:ext cx="27432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10%</a:t>
            </a:r>
          </a:p>
        </p:txBody>
      </p:sp>
      <p:sp>
        <p:nvSpPr>
          <p:cNvPr id="33" name="New shape"/>
          <p:cNvSpPr/>
          <p:nvPr/>
        </p:nvSpPr>
        <p:spPr>
          <a:xfrm>
            <a:off x="8008430" y="2920651"/>
            <a:ext cx="521208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19%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5729288" y="27881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35" name="New shape"/>
          <p:cNvSpPr txBox="1"/>
          <p:nvPr/>
        </p:nvSpPr>
        <p:spPr>
          <a:xfrm>
            <a:off x="8149352" y="27881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36" name="New shape"/>
          <p:cNvSpPr/>
          <p:nvPr/>
        </p:nvSpPr>
        <p:spPr>
          <a:xfrm>
            <a:off x="528638" y="31932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ew shape"/>
          <p:cNvSpPr txBox="1"/>
          <p:nvPr/>
        </p:nvSpPr>
        <p:spPr>
          <a:xfrm>
            <a:off x="528637" y="3409741"/>
            <a:ext cx="2983881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receive praise and recognition when I perform well</a:t>
            </a:r>
          </a:p>
        </p:txBody>
      </p:sp>
      <p:sp>
        <p:nvSpPr>
          <p:cNvPr id="38" name="New shape"/>
          <p:cNvSpPr/>
          <p:nvPr/>
        </p:nvSpPr>
        <p:spPr>
          <a:xfrm>
            <a:off x="5757862" y="3377851"/>
            <a:ext cx="1920240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70%</a:t>
            </a:r>
          </a:p>
        </p:txBody>
      </p:sp>
      <p:sp>
        <p:nvSpPr>
          <p:cNvPr id="39" name="New shape"/>
          <p:cNvSpPr/>
          <p:nvPr/>
        </p:nvSpPr>
        <p:spPr>
          <a:xfrm>
            <a:off x="7692390" y="3377851"/>
            <a:ext cx="27432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10%</a:t>
            </a:r>
          </a:p>
        </p:txBody>
      </p:sp>
      <p:sp>
        <p:nvSpPr>
          <p:cNvPr id="40" name="New shape"/>
          <p:cNvSpPr/>
          <p:nvPr/>
        </p:nvSpPr>
        <p:spPr>
          <a:xfrm>
            <a:off x="7980998" y="3377851"/>
            <a:ext cx="548640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20%</a:t>
            </a:r>
          </a:p>
        </p:txBody>
      </p:sp>
      <p:sp>
        <p:nvSpPr>
          <p:cNvPr id="41" name="New shape"/>
          <p:cNvSpPr txBox="1"/>
          <p:nvPr/>
        </p:nvSpPr>
        <p:spPr>
          <a:xfrm>
            <a:off x="5729288" y="32453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42" name="New shape"/>
          <p:cNvSpPr txBox="1"/>
          <p:nvPr/>
        </p:nvSpPr>
        <p:spPr>
          <a:xfrm>
            <a:off x="8149352" y="32453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43" name="New shape"/>
          <p:cNvSpPr/>
          <p:nvPr/>
        </p:nvSpPr>
        <p:spPr>
          <a:xfrm>
            <a:off x="528638" y="36504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331720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Reading the results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A short guide:</a:t>
            </a:r>
            <a:r>
              <a:rPr sz="2250" b="1" i="0">
                <a:solidFill>
                  <a:srgbClr val="30B3AF"/>
                </a:solidFill>
                <a:latin typeface="Poppins"/>
              </a:rPr>
              <a:t> Reading the results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57250"/>
            <a:ext cx="82296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192743"/>
                </a:solidFill>
                <a:latin typeface="Poppins"/>
              </a:rPr>
              <a:t>Compared items and score calculation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57200" y="1343025"/>
            <a:ext cx="3714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Top-two box or "Yes" scoring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457200" y="1628775"/>
            <a:ext cx="3714750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With a top-two box calculation, the final score per question combines the percentages of people that have selected either "strongly agree" or "agree".</a:t>
            </a:r>
          </a:p>
        </p:txBody>
      </p:sp>
      <p:graphicFrame>
        <p:nvGraphicFramePr>
          <p:cNvPr id="6" name="New Table"/>
          <p:cNvGraphicFramePr>
            <a:graphicFrameLocks noGrp="1"/>
          </p:cNvGraphicFramePr>
          <p:nvPr/>
        </p:nvGraphicFramePr>
        <p:xfrm>
          <a:off x="457200" y="2160270"/>
          <a:ext cx="3707606" cy="15430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5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192743"/>
                          </a:solidFill>
                          <a:latin typeface="Poppins"/>
                        </a:rPr>
                        <a:t>Possible answers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192743"/>
                          </a:solidFill>
                          <a:latin typeface="Poppins"/>
                        </a:rPr>
                        <a:t>Percentage distribution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Strongly 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Yes %</a:t>
                      </a:r>
                    </a:p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Top-two box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788" b="1" i="0">
                        <a:solidFill>
                          <a:srgbClr val="30B3AF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Neither agree nor 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Neutral 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No 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Strongly 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192743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New shape"/>
          <p:cNvSpPr txBox="1"/>
          <p:nvPr/>
        </p:nvSpPr>
        <p:spPr>
          <a:xfrm>
            <a:off x="4972050" y="1343025"/>
            <a:ext cx="3714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Question score example</a:t>
            </a:r>
          </a:p>
        </p:txBody>
      </p:sp>
      <p:graphicFrame>
        <p:nvGraphicFramePr>
          <p:cNvPr id="8" name="New Table"/>
          <p:cNvGraphicFramePr>
            <a:graphicFrameLocks noGrp="1"/>
          </p:cNvGraphicFramePr>
          <p:nvPr/>
        </p:nvGraphicFramePr>
        <p:xfrm>
          <a:off x="4972050" y="1543050"/>
          <a:ext cx="3707606" cy="1028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50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 1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 2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Strongly 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 3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Yes 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2 out of 3 = 67%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New shape"/>
          <p:cNvSpPr txBox="1"/>
          <p:nvPr/>
        </p:nvSpPr>
        <p:spPr>
          <a:xfrm>
            <a:off x="4972050" y="2743200"/>
            <a:ext cx="3714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Theme score example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4972050" y="2943225"/>
            <a:ext cx="3714750" cy="24003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The percentage of people that "agree" or "strongly agree" across all theme questions.</a:t>
            </a:r>
          </a:p>
        </p:txBody>
      </p:sp>
      <p:graphicFrame>
        <p:nvGraphicFramePr>
          <p:cNvPr id="11" name="New Table"/>
          <p:cNvGraphicFramePr>
            <a:graphicFrameLocks noGrp="1"/>
          </p:cNvGraphicFramePr>
          <p:nvPr/>
        </p:nvGraphicFramePr>
        <p:xfrm>
          <a:off x="4972050" y="3268980"/>
          <a:ext cx="3707606" cy="1028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5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Participants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Theme question 1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Theme question 2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Yes 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3 out of 4 = 75%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788" b="1" i="0">
                        <a:solidFill>
                          <a:srgbClr val="30B3AF"/>
                        </a:solidFill>
                        <a:latin typeface="Poppins"/>
                      </a:endParaRP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New shape"/>
          <p:cNvSpPr/>
          <p:nvPr/>
        </p:nvSpPr>
        <p:spPr>
          <a:xfrm flipH="1">
            <a:off x="4572000" y="1343025"/>
            <a:ext cx="0" cy="2954655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16</a:t>
            </a:r>
          </a:p>
        </p:txBody>
      </p:sp>
      <p:pic>
        <p:nvPicPr>
          <p:cNvPr id="1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16" name="New shape"/>
          <p:cNvSpPr txBox="1"/>
          <p:nvPr/>
        </p:nvSpPr>
        <p:spPr>
          <a:xfrm flipV="1">
            <a:off x="0" y="0"/>
            <a:ext cx="1130824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Reading the results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A short guide:</a:t>
            </a:r>
            <a:r>
              <a:rPr sz="2250" b="1" i="0">
                <a:solidFill>
                  <a:srgbClr val="30B3AF"/>
                </a:solidFill>
                <a:latin typeface="Poppins"/>
              </a:rPr>
              <a:t> Reading the results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57250"/>
            <a:ext cx="428625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Score differences and how the results are compared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611630"/>
            <a:ext cx="28575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ew shape"/>
          <p:cNvSpPr txBox="1"/>
          <p:nvPr/>
        </p:nvSpPr>
        <p:spPr>
          <a:xfrm>
            <a:off x="828675" y="1694497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lower by at least 20 % points.</a:t>
            </a:r>
          </a:p>
        </p:txBody>
      </p:sp>
      <p:sp>
        <p:nvSpPr>
          <p:cNvPr id="6" name="New shape"/>
          <p:cNvSpPr/>
          <p:nvPr/>
        </p:nvSpPr>
        <p:spPr>
          <a:xfrm>
            <a:off x="457200" y="2097405"/>
            <a:ext cx="285750" cy="2857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New shape"/>
          <p:cNvSpPr txBox="1"/>
          <p:nvPr/>
        </p:nvSpPr>
        <p:spPr>
          <a:xfrm>
            <a:off x="828675" y="2180273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lower by at least 10 % points.</a:t>
            </a:r>
          </a:p>
        </p:txBody>
      </p:sp>
      <p:sp>
        <p:nvSpPr>
          <p:cNvPr id="8" name="New shape"/>
          <p:cNvSpPr/>
          <p:nvPr/>
        </p:nvSpPr>
        <p:spPr>
          <a:xfrm>
            <a:off x="457200" y="2583180"/>
            <a:ext cx="285750" cy="285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ew shape"/>
          <p:cNvSpPr txBox="1"/>
          <p:nvPr/>
        </p:nvSpPr>
        <p:spPr>
          <a:xfrm>
            <a:off x="828675" y="2666048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Not relevant since difference is smaller than 10 % points.</a:t>
            </a:r>
          </a:p>
        </p:txBody>
      </p:sp>
      <p:sp>
        <p:nvSpPr>
          <p:cNvPr id="10" name="New shape"/>
          <p:cNvSpPr/>
          <p:nvPr/>
        </p:nvSpPr>
        <p:spPr>
          <a:xfrm>
            <a:off x="457200" y="3068955"/>
            <a:ext cx="285750" cy="285750"/>
          </a:xfrm>
          <a:prstGeom prst="round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ew shape"/>
          <p:cNvSpPr txBox="1"/>
          <p:nvPr/>
        </p:nvSpPr>
        <p:spPr>
          <a:xfrm>
            <a:off x="828675" y="3151823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higher by at least 10 % points.</a:t>
            </a:r>
          </a:p>
        </p:txBody>
      </p:sp>
      <p:sp>
        <p:nvSpPr>
          <p:cNvPr id="12" name="New shape"/>
          <p:cNvSpPr/>
          <p:nvPr/>
        </p:nvSpPr>
        <p:spPr>
          <a:xfrm>
            <a:off x="457200" y="3554730"/>
            <a:ext cx="28575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828675" y="3637597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higher by at least 20 % points.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4429125" y="2300288"/>
            <a:ext cx="1643062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Example result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6072188" y="2300288"/>
            <a:ext cx="942975" cy="285750"/>
          </a:xfrm>
          <a:prstGeom prst="rect">
            <a:avLst/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50</a:t>
            </a:r>
          </a:p>
        </p:txBody>
      </p:sp>
      <p:sp>
        <p:nvSpPr>
          <p:cNvPr id="16" name="New shape"/>
          <p:cNvSpPr/>
          <p:nvPr/>
        </p:nvSpPr>
        <p:spPr>
          <a:xfrm flipH="1">
            <a:off x="6072188" y="2300288"/>
            <a:ext cx="0" cy="28575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shape"/>
          <p:cNvSpPr txBox="1"/>
          <p:nvPr/>
        </p:nvSpPr>
        <p:spPr>
          <a:xfrm>
            <a:off x="7015162" y="2300288"/>
            <a:ext cx="942975" cy="285750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30</a:t>
            </a:r>
          </a:p>
        </p:txBody>
      </p:sp>
      <p:sp>
        <p:nvSpPr>
          <p:cNvPr id="18" name="New shape"/>
          <p:cNvSpPr/>
          <p:nvPr/>
        </p:nvSpPr>
        <p:spPr>
          <a:xfrm flipH="1">
            <a:off x="7015162" y="2300288"/>
            <a:ext cx="0" cy="28575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 txBox="1"/>
          <p:nvPr/>
        </p:nvSpPr>
        <p:spPr>
          <a:xfrm>
            <a:off x="7958138" y="2300288"/>
            <a:ext cx="942975" cy="285750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70</a:t>
            </a:r>
          </a:p>
        </p:txBody>
      </p:sp>
      <p:sp>
        <p:nvSpPr>
          <p:cNvPr id="20" name="New shape"/>
          <p:cNvSpPr/>
          <p:nvPr/>
        </p:nvSpPr>
        <p:spPr>
          <a:xfrm flipH="1">
            <a:off x="7958138" y="2300288"/>
            <a:ext cx="0" cy="28575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/>
          <p:nvPr/>
        </p:nvSpPr>
        <p:spPr>
          <a:xfrm>
            <a:off x="4429125" y="2300288"/>
            <a:ext cx="4471988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New shape"/>
          <p:cNvSpPr/>
          <p:nvPr/>
        </p:nvSpPr>
        <p:spPr>
          <a:xfrm>
            <a:off x="4429125" y="2586038"/>
            <a:ext cx="4471988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ew shape"/>
          <p:cNvSpPr/>
          <p:nvPr/>
        </p:nvSpPr>
        <p:spPr>
          <a:xfrm flipH="1">
            <a:off x="6543675" y="2657475"/>
            <a:ext cx="0" cy="164306"/>
          </a:xfrm>
          <a:prstGeom prst="line">
            <a:avLst/>
          </a:prstGeom>
          <a:ln w="19050">
            <a:solidFill>
              <a:srgbClr val="2867C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ew shape"/>
          <p:cNvSpPr/>
          <p:nvPr/>
        </p:nvSpPr>
        <p:spPr>
          <a:xfrm>
            <a:off x="6543675" y="2821781"/>
            <a:ext cx="942975" cy="0"/>
          </a:xfrm>
          <a:prstGeom prst="line">
            <a:avLst/>
          </a:prstGeom>
          <a:ln w="19050">
            <a:solidFill>
              <a:srgbClr val="2867C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/>
          <p:nvPr/>
        </p:nvSpPr>
        <p:spPr>
          <a:xfrm flipH="1">
            <a:off x="7486650" y="2657475"/>
            <a:ext cx="0" cy="164306"/>
          </a:xfrm>
          <a:prstGeom prst="line">
            <a:avLst/>
          </a:prstGeom>
          <a:ln w="19050">
            <a:solidFill>
              <a:srgbClr val="2867C9"/>
            </a:solidFill>
            <a:prstDash val="solid"/>
            <a:headEnd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ew shape"/>
          <p:cNvSpPr txBox="1"/>
          <p:nvPr/>
        </p:nvSpPr>
        <p:spPr>
          <a:xfrm>
            <a:off x="6072188" y="2907506"/>
            <a:ext cx="18859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0" i="0">
                <a:solidFill>
                  <a:srgbClr val="2867C9"/>
                </a:solidFill>
                <a:latin typeface="Poppins"/>
              </a:rPr>
              <a:t>Higher by 20 % points</a:t>
            </a:r>
          </a:p>
        </p:txBody>
      </p:sp>
      <p:grpSp>
        <p:nvGrpSpPr>
          <p:cNvPr id="27" name="Group 26"/>
          <p:cNvGrpSpPr/>
          <p:nvPr/>
        </p:nvGrpSpPr>
        <p:grpSpPr>
          <a:xfrm rot="18900000">
            <a:off x="6275374" y="1889607"/>
            <a:ext cx="557434" cy="171450"/>
            <a:chOff x="5801519" y="1436688"/>
            <a:chExt cx="557434" cy="171450"/>
          </a:xfrm>
        </p:grpSpPr>
        <p:pic>
          <p:nvPicPr>
            <p:cNvPr id="28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01519" y="1436688"/>
              <a:ext cx="142875" cy="171450"/>
            </a:xfrm>
            <a:prstGeom prst="rect">
              <a:avLst/>
            </a:prstGeom>
          </p:spPr>
        </p:pic>
        <p:sp>
          <p:nvSpPr>
            <p:cNvPr id="29" name="New shape"/>
            <p:cNvSpPr txBox="1"/>
            <p:nvPr/>
          </p:nvSpPr>
          <p:spPr>
            <a:xfrm>
              <a:off x="6015831" y="1470463"/>
              <a:ext cx="343122" cy="10389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75" b="1" i="0">
                  <a:solidFill>
                    <a:srgbClr val="2867C9"/>
                  </a:solidFill>
                  <a:latin typeface="Poppins"/>
                </a:rPr>
                <a:t>Current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 rot="18900000">
            <a:off x="7204235" y="1840379"/>
            <a:ext cx="740950" cy="150019"/>
            <a:chOff x="6744494" y="1447403"/>
            <a:chExt cx="740950" cy="150019"/>
          </a:xfrm>
        </p:grpSpPr>
        <p:pic>
          <p:nvPicPr>
            <p:cNvPr id="31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44494" y="1447403"/>
              <a:ext cx="150019" cy="150019"/>
            </a:xfrm>
            <a:prstGeom prst="rect">
              <a:avLst/>
            </a:prstGeom>
          </p:spPr>
        </p:pic>
        <p:sp>
          <p:nvSpPr>
            <p:cNvPr id="32" name="New shape"/>
            <p:cNvSpPr txBox="1"/>
            <p:nvPr/>
          </p:nvSpPr>
          <p:spPr>
            <a:xfrm>
              <a:off x="6965950" y="1470463"/>
              <a:ext cx="519493" cy="10389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75" b="1" i="0">
                  <a:solidFill>
                    <a:srgbClr val="192743"/>
                  </a:solidFill>
                  <a:latin typeface="Poppins"/>
                </a:rPr>
                <a:t>Benchmark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 rot="18900000">
            <a:off x="8138099" y="1818382"/>
            <a:ext cx="808292" cy="150019"/>
            <a:chOff x="7687469" y="1447403"/>
            <a:chExt cx="808292" cy="150019"/>
          </a:xfrm>
        </p:grpSpPr>
        <p:pic>
          <p:nvPicPr>
            <p:cNvPr id="3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87469" y="1447403"/>
              <a:ext cx="150019" cy="150019"/>
            </a:xfrm>
            <a:prstGeom prst="rect">
              <a:avLst/>
            </a:prstGeom>
          </p:spPr>
        </p:pic>
        <p:sp>
          <p:nvSpPr>
            <p:cNvPr id="35" name="New shape"/>
            <p:cNvSpPr txBox="1"/>
            <p:nvPr/>
          </p:nvSpPr>
          <p:spPr>
            <a:xfrm>
              <a:off x="7908925" y="1470463"/>
              <a:ext cx="586835" cy="10389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75" b="1" i="0">
                  <a:solidFill>
                    <a:srgbClr val="192743"/>
                  </a:solidFill>
                  <a:latin typeface="Poppins"/>
                </a:rPr>
                <a:t>Organisation</a:t>
              </a:r>
            </a:p>
          </p:txBody>
        </p:sp>
      </p:grpSp>
      <p:sp>
        <p:nvSpPr>
          <p:cNvPr id="36" name="New shape"/>
          <p:cNvSpPr txBox="1"/>
          <p:nvPr/>
        </p:nvSpPr>
        <p:spPr>
          <a:xfrm>
            <a:off x="4029075" y="4083367"/>
            <a:ext cx="402907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Significance (*)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4029075" y="4254817"/>
            <a:ext cx="4029075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Significance helps identify whether the difference between two scores is meaningful and not due to random chance. A score marked with an asterisk indicates that the difference between this score and Current’s score is considered significant. It reflects a real difference worth paying attention to.</a:t>
            </a:r>
          </a:p>
        </p:txBody>
      </p:sp>
      <p:sp>
        <p:nvSpPr>
          <p:cNvPr id="3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17</a:t>
            </a:r>
          </a:p>
        </p:txBody>
      </p:sp>
      <p:pic>
        <p:nvPicPr>
          <p:cNvPr id="3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41" name="New shape"/>
          <p:cNvSpPr txBox="1"/>
          <p:nvPr/>
        </p:nvSpPr>
        <p:spPr>
          <a:xfrm flipV="1">
            <a:off x="0" y="0"/>
            <a:ext cx="1130824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Reading the results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331720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Response rate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Response Rate &amp; Comparison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Your overall response rate compared to the previous and benchmark scores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201579"/>
            <a:ext cx="7415212" cy="400050"/>
          </a:xfrm>
          <a:prstGeom prst="roundRect">
            <a:avLst/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ew shape"/>
          <p:cNvSpPr/>
          <p:nvPr/>
        </p:nvSpPr>
        <p:spPr>
          <a:xfrm>
            <a:off x="457200" y="1201579"/>
            <a:ext cx="5932170" cy="4000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15879"/>
            <a:ext cx="142875" cy="171450"/>
          </a:xfrm>
          <a:prstGeom prst="rect">
            <a:avLst/>
          </a:prstGeom>
        </p:spPr>
      </p:pic>
      <p:sp>
        <p:nvSpPr>
          <p:cNvPr id="7" name="New shape"/>
          <p:cNvSpPr txBox="1"/>
          <p:nvPr/>
        </p:nvSpPr>
        <p:spPr>
          <a:xfrm>
            <a:off x="785812" y="1201579"/>
            <a:ext cx="593217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6645831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80%</a:t>
            </a:r>
          </a:p>
        </p:txBody>
      </p: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326594"/>
            <a:ext cx="150019" cy="150019"/>
          </a:xfrm>
          <a:prstGeom prst="rect">
            <a:avLst/>
          </a:prstGeom>
        </p:spPr>
      </p:pic>
      <p:sp>
        <p:nvSpPr>
          <p:cNvPr id="10" name="New shape"/>
          <p:cNvSpPr txBox="1"/>
          <p:nvPr/>
        </p:nvSpPr>
        <p:spPr>
          <a:xfrm>
            <a:off x="8208169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291</a:t>
            </a:r>
          </a:p>
        </p:txBody>
      </p:sp>
      <p:sp>
        <p:nvSpPr>
          <p:cNvPr id="11" name="New shape"/>
          <p:cNvSpPr/>
          <p:nvPr/>
        </p:nvSpPr>
        <p:spPr>
          <a:xfrm>
            <a:off x="457200" y="171592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ew shape"/>
          <p:cNvSpPr/>
          <p:nvPr/>
        </p:nvSpPr>
        <p:spPr>
          <a:xfrm>
            <a:off x="457200" y="1715929"/>
            <a:ext cx="5413105" cy="314325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1798082"/>
            <a:ext cx="150019" cy="150019"/>
          </a:xfrm>
          <a:prstGeom prst="rect">
            <a:avLst/>
          </a:prstGeom>
        </p:spPr>
      </p:pic>
      <p:sp>
        <p:nvSpPr>
          <p:cNvPr id="14" name="New shape"/>
          <p:cNvSpPr txBox="1"/>
          <p:nvPr/>
        </p:nvSpPr>
        <p:spPr>
          <a:xfrm>
            <a:off x="792956" y="171592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Previous survey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6645831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73%</a:t>
            </a:r>
          </a:p>
        </p:txBody>
      </p:sp>
      <p:pic>
        <p:nvPicPr>
          <p:cNvPr id="1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798082"/>
            <a:ext cx="150019" cy="150019"/>
          </a:xfrm>
          <a:prstGeom prst="rect">
            <a:avLst/>
          </a:prstGeom>
        </p:spPr>
      </p:pic>
      <p:sp>
        <p:nvSpPr>
          <p:cNvPr id="17" name="New shape"/>
          <p:cNvSpPr txBox="1"/>
          <p:nvPr/>
        </p:nvSpPr>
        <p:spPr>
          <a:xfrm>
            <a:off x="8208169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268</a:t>
            </a:r>
          </a:p>
        </p:txBody>
      </p:sp>
      <p:sp>
        <p:nvSpPr>
          <p:cNvPr id="18" name="New shape"/>
          <p:cNvSpPr/>
          <p:nvPr/>
        </p:nvSpPr>
        <p:spPr>
          <a:xfrm>
            <a:off x="457200" y="214455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/>
          <p:nvPr/>
        </p:nvSpPr>
        <p:spPr>
          <a:xfrm>
            <a:off x="457200" y="2144554"/>
            <a:ext cx="5338953" cy="314325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2226707"/>
            <a:ext cx="150019" cy="150019"/>
          </a:xfrm>
          <a:prstGeom prst="rect">
            <a:avLst/>
          </a:prstGeom>
        </p:spPr>
      </p:pic>
      <p:sp>
        <p:nvSpPr>
          <p:cNvPr id="21" name="New shape"/>
          <p:cNvSpPr txBox="1"/>
          <p:nvPr/>
        </p:nvSpPr>
        <p:spPr>
          <a:xfrm>
            <a:off x="792956" y="214455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Benchmark B2B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6645831" y="21445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pic>
        <p:nvPicPr>
          <p:cNvPr id="2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24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pic>
        <p:nvPicPr>
          <p:cNvPr id="2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718" y="4897041"/>
            <a:ext cx="114300" cy="121444"/>
          </a:xfrm>
          <a:prstGeom prst="rect">
            <a:avLst/>
          </a:prstGeom>
        </p:spPr>
      </p:pic>
      <p:sp>
        <p:nvSpPr>
          <p:cNvPr id="26" name="New shape"/>
          <p:cNvSpPr txBox="1"/>
          <p:nvPr/>
        </p:nvSpPr>
        <p:spPr>
          <a:xfrm>
            <a:off x="1356455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Response rate too low</a:t>
            </a:r>
          </a:p>
        </p:txBody>
      </p:sp>
      <p:sp>
        <p:nvSpPr>
          <p:cNvPr id="27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19</a:t>
            </a:r>
          </a:p>
        </p:txBody>
      </p:sp>
      <p:sp>
        <p:nvSpPr>
          <p:cNvPr id="28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30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ew shape"/>
          <p:cNvSpPr txBox="1"/>
          <p:nvPr/>
        </p:nvSpPr>
        <p:spPr>
          <a:xfrm flipV="1">
            <a:off x="0" y="0"/>
            <a:ext cx="885507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Response rate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Response rate per group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See how many employees completed the survey in all of your groups.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201579"/>
            <a:ext cx="7415212" cy="400050"/>
          </a:xfrm>
          <a:prstGeom prst="roundRect">
            <a:avLst/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ew shape"/>
          <p:cNvSpPr/>
          <p:nvPr/>
        </p:nvSpPr>
        <p:spPr>
          <a:xfrm>
            <a:off x="457200" y="1201579"/>
            <a:ext cx="5932170" cy="4000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15879"/>
            <a:ext cx="142875" cy="171450"/>
          </a:xfrm>
          <a:prstGeom prst="rect">
            <a:avLst/>
          </a:prstGeom>
        </p:spPr>
      </p:pic>
      <p:sp>
        <p:nvSpPr>
          <p:cNvPr id="7" name="New shape"/>
          <p:cNvSpPr txBox="1"/>
          <p:nvPr/>
        </p:nvSpPr>
        <p:spPr>
          <a:xfrm>
            <a:off x="785812" y="1201579"/>
            <a:ext cx="593217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6645831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80%</a:t>
            </a:r>
          </a:p>
        </p:txBody>
      </p: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326594"/>
            <a:ext cx="150019" cy="150019"/>
          </a:xfrm>
          <a:prstGeom prst="rect">
            <a:avLst/>
          </a:prstGeom>
        </p:spPr>
      </p:pic>
      <p:sp>
        <p:nvSpPr>
          <p:cNvPr id="10" name="New shape"/>
          <p:cNvSpPr txBox="1"/>
          <p:nvPr/>
        </p:nvSpPr>
        <p:spPr>
          <a:xfrm>
            <a:off x="8208169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291</a:t>
            </a:r>
          </a:p>
        </p:txBody>
      </p:sp>
      <p:sp>
        <p:nvSpPr>
          <p:cNvPr id="11" name="New shape"/>
          <p:cNvSpPr/>
          <p:nvPr/>
        </p:nvSpPr>
        <p:spPr>
          <a:xfrm>
            <a:off x="457200" y="171592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ew shape"/>
          <p:cNvSpPr/>
          <p:nvPr/>
        </p:nvSpPr>
        <p:spPr>
          <a:xfrm>
            <a:off x="457200" y="1715929"/>
            <a:ext cx="5042345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571500" y="171592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Communication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6645831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68%</a:t>
            </a:r>
          </a:p>
        </p:txBody>
      </p:sp>
      <p:pic>
        <p:nvPicPr>
          <p:cNvPr id="1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798082"/>
            <a:ext cx="150019" cy="150019"/>
          </a:xfrm>
          <a:prstGeom prst="rect">
            <a:avLst/>
          </a:prstGeom>
        </p:spPr>
      </p:pic>
      <p:sp>
        <p:nvSpPr>
          <p:cNvPr id="16" name="New shape"/>
          <p:cNvSpPr txBox="1"/>
          <p:nvPr/>
        </p:nvSpPr>
        <p:spPr>
          <a:xfrm>
            <a:off x="8208169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17" name="New shape"/>
          <p:cNvSpPr/>
          <p:nvPr/>
        </p:nvSpPr>
        <p:spPr>
          <a:xfrm>
            <a:off x="457200" y="214455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ew shape"/>
          <p:cNvSpPr/>
          <p:nvPr/>
        </p:nvSpPr>
        <p:spPr>
          <a:xfrm>
            <a:off x="457200" y="2144554"/>
            <a:ext cx="5858018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 txBox="1"/>
          <p:nvPr/>
        </p:nvSpPr>
        <p:spPr>
          <a:xfrm>
            <a:off x="571500" y="214455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Customer Success</a:t>
            </a:r>
          </a:p>
        </p:txBody>
      </p:sp>
      <p:sp>
        <p:nvSpPr>
          <p:cNvPr id="20" name="New shape"/>
          <p:cNvSpPr txBox="1"/>
          <p:nvPr/>
        </p:nvSpPr>
        <p:spPr>
          <a:xfrm>
            <a:off x="6645831" y="21445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79%</a:t>
            </a:r>
          </a:p>
        </p:txBody>
      </p:sp>
      <p:pic>
        <p:nvPicPr>
          <p:cNvPr id="2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2226707"/>
            <a:ext cx="150019" cy="150019"/>
          </a:xfrm>
          <a:prstGeom prst="rect">
            <a:avLst/>
          </a:prstGeom>
        </p:spPr>
      </p:pic>
      <p:sp>
        <p:nvSpPr>
          <p:cNvPr id="22" name="New shape"/>
          <p:cNvSpPr txBox="1"/>
          <p:nvPr/>
        </p:nvSpPr>
        <p:spPr>
          <a:xfrm>
            <a:off x="8208169" y="21445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112</a:t>
            </a:r>
          </a:p>
        </p:txBody>
      </p:sp>
      <p:sp>
        <p:nvSpPr>
          <p:cNvPr id="23" name="New shape"/>
          <p:cNvSpPr/>
          <p:nvPr/>
        </p:nvSpPr>
        <p:spPr>
          <a:xfrm>
            <a:off x="457200" y="257317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ew shape"/>
          <p:cNvSpPr/>
          <p:nvPr/>
        </p:nvSpPr>
        <p:spPr>
          <a:xfrm>
            <a:off x="457200" y="2573179"/>
            <a:ext cx="5858018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 txBox="1"/>
          <p:nvPr/>
        </p:nvSpPr>
        <p:spPr>
          <a:xfrm>
            <a:off x="571500" y="257317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Finance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6645831" y="25731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79%</a:t>
            </a:r>
          </a:p>
        </p:txBody>
      </p:sp>
      <p:pic>
        <p:nvPicPr>
          <p:cNvPr id="2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2655332"/>
            <a:ext cx="150019" cy="150019"/>
          </a:xfrm>
          <a:prstGeom prst="rect">
            <a:avLst/>
          </a:prstGeom>
        </p:spPr>
      </p:pic>
      <p:sp>
        <p:nvSpPr>
          <p:cNvPr id="28" name="New shape"/>
          <p:cNvSpPr txBox="1"/>
          <p:nvPr/>
        </p:nvSpPr>
        <p:spPr>
          <a:xfrm>
            <a:off x="8208169" y="25731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29" name="New shape"/>
          <p:cNvSpPr/>
          <p:nvPr/>
        </p:nvSpPr>
        <p:spPr>
          <a:xfrm>
            <a:off x="457200" y="300180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ew shape"/>
          <p:cNvSpPr/>
          <p:nvPr/>
        </p:nvSpPr>
        <p:spPr>
          <a:xfrm>
            <a:off x="457200" y="3001804"/>
            <a:ext cx="5709714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ew shape"/>
          <p:cNvSpPr txBox="1"/>
          <p:nvPr/>
        </p:nvSpPr>
        <p:spPr>
          <a:xfrm>
            <a:off x="571500" y="300180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Human Resources</a:t>
            </a:r>
          </a:p>
        </p:txBody>
      </p:sp>
      <p:sp>
        <p:nvSpPr>
          <p:cNvPr id="32" name="New shape"/>
          <p:cNvSpPr txBox="1"/>
          <p:nvPr/>
        </p:nvSpPr>
        <p:spPr>
          <a:xfrm>
            <a:off x="6645831" y="300180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77%</a:t>
            </a:r>
          </a:p>
        </p:txBody>
      </p:sp>
      <p:pic>
        <p:nvPicPr>
          <p:cNvPr id="3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3083957"/>
            <a:ext cx="150019" cy="150019"/>
          </a:xfrm>
          <a:prstGeom prst="rect">
            <a:avLst/>
          </a:prstGeom>
        </p:spPr>
      </p:pic>
      <p:sp>
        <p:nvSpPr>
          <p:cNvPr id="34" name="New shape"/>
          <p:cNvSpPr txBox="1"/>
          <p:nvPr/>
        </p:nvSpPr>
        <p:spPr>
          <a:xfrm>
            <a:off x="8208169" y="300180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35" name="New shape"/>
          <p:cNvSpPr/>
          <p:nvPr/>
        </p:nvSpPr>
        <p:spPr>
          <a:xfrm>
            <a:off x="457200" y="343042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ew shape"/>
          <p:cNvSpPr txBox="1"/>
          <p:nvPr/>
        </p:nvSpPr>
        <p:spPr>
          <a:xfrm>
            <a:off x="571500" y="343042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Management</a:t>
            </a:r>
          </a:p>
        </p:txBody>
      </p:sp>
      <p:sp>
        <p:nvSpPr>
          <p:cNvPr id="37" name="New shape"/>
          <p:cNvSpPr/>
          <p:nvPr/>
        </p:nvSpPr>
        <p:spPr>
          <a:xfrm>
            <a:off x="6645831" y="34304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endParaRPr sz="788" b="0" i="0">
              <a:solidFill>
                <a:srgbClr val="546178"/>
              </a:solidFill>
              <a:latin typeface="Poppins"/>
            </a:endParaRPr>
          </a:p>
        </p:txBody>
      </p:sp>
      <p:pic>
        <p:nvPicPr>
          <p:cNvPr id="3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6712" y="3526870"/>
            <a:ext cx="114300" cy="121444"/>
          </a:xfrm>
          <a:prstGeom prst="rect">
            <a:avLst/>
          </a:prstGeom>
        </p:spPr>
      </p:pic>
      <p:sp>
        <p:nvSpPr>
          <p:cNvPr id="39" name="New shape"/>
          <p:cNvSpPr/>
          <p:nvPr/>
        </p:nvSpPr>
        <p:spPr>
          <a:xfrm>
            <a:off x="8172450" y="34304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endParaRPr sz="788" b="0" i="0">
              <a:solidFill>
                <a:srgbClr val="546178"/>
              </a:solidFill>
              <a:latin typeface="Poppins"/>
            </a:endParaRPr>
          </a:p>
        </p:txBody>
      </p:sp>
      <p:sp>
        <p:nvSpPr>
          <p:cNvPr id="40" name="New shape"/>
          <p:cNvSpPr/>
          <p:nvPr/>
        </p:nvSpPr>
        <p:spPr>
          <a:xfrm>
            <a:off x="457200" y="385905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New shape"/>
          <p:cNvSpPr/>
          <p:nvPr/>
        </p:nvSpPr>
        <p:spPr>
          <a:xfrm>
            <a:off x="457200" y="3859054"/>
            <a:ext cx="6377083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New shape"/>
          <p:cNvSpPr txBox="1"/>
          <p:nvPr/>
        </p:nvSpPr>
        <p:spPr>
          <a:xfrm>
            <a:off x="571500" y="385905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Marketing &amp; Sales</a:t>
            </a:r>
          </a:p>
        </p:txBody>
      </p:sp>
      <p:sp>
        <p:nvSpPr>
          <p:cNvPr id="43" name="New shape"/>
          <p:cNvSpPr txBox="1"/>
          <p:nvPr/>
        </p:nvSpPr>
        <p:spPr>
          <a:xfrm>
            <a:off x="6645831" y="38590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86%</a:t>
            </a:r>
          </a:p>
        </p:txBody>
      </p:sp>
      <p:pic>
        <p:nvPicPr>
          <p:cNvPr id="4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3941207"/>
            <a:ext cx="150019" cy="150019"/>
          </a:xfrm>
          <a:prstGeom prst="rect">
            <a:avLst/>
          </a:prstGeom>
        </p:spPr>
      </p:pic>
      <p:sp>
        <p:nvSpPr>
          <p:cNvPr id="45" name="New shape"/>
          <p:cNvSpPr txBox="1"/>
          <p:nvPr/>
        </p:nvSpPr>
        <p:spPr>
          <a:xfrm>
            <a:off x="8208169" y="38590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46" name="New shape"/>
          <p:cNvSpPr/>
          <p:nvPr/>
        </p:nvSpPr>
        <p:spPr>
          <a:xfrm>
            <a:off x="457200" y="428767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/>
          <p:nvPr/>
        </p:nvSpPr>
        <p:spPr>
          <a:xfrm>
            <a:off x="457200" y="4287679"/>
            <a:ext cx="6080474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New shape"/>
          <p:cNvSpPr txBox="1"/>
          <p:nvPr/>
        </p:nvSpPr>
        <p:spPr>
          <a:xfrm>
            <a:off x="571500" y="428767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Product &amp; Development</a:t>
            </a:r>
          </a:p>
        </p:txBody>
      </p:sp>
      <p:sp>
        <p:nvSpPr>
          <p:cNvPr id="49" name="New shape"/>
          <p:cNvSpPr txBox="1"/>
          <p:nvPr/>
        </p:nvSpPr>
        <p:spPr>
          <a:xfrm>
            <a:off x="6645831" y="42876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82%</a:t>
            </a:r>
          </a:p>
        </p:txBody>
      </p:sp>
      <p:pic>
        <p:nvPicPr>
          <p:cNvPr id="5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4369832"/>
            <a:ext cx="150019" cy="150019"/>
          </a:xfrm>
          <a:prstGeom prst="rect">
            <a:avLst/>
          </a:prstGeom>
        </p:spPr>
      </p:pic>
      <p:sp>
        <p:nvSpPr>
          <p:cNvPr id="51" name="New shape"/>
          <p:cNvSpPr txBox="1"/>
          <p:nvPr/>
        </p:nvSpPr>
        <p:spPr>
          <a:xfrm>
            <a:off x="8208169" y="42876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81</a:t>
            </a:r>
          </a:p>
        </p:txBody>
      </p:sp>
      <p:pic>
        <p:nvPicPr>
          <p:cNvPr id="5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53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pic>
        <p:nvPicPr>
          <p:cNvPr id="5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718" y="4897041"/>
            <a:ext cx="114300" cy="121444"/>
          </a:xfrm>
          <a:prstGeom prst="rect">
            <a:avLst/>
          </a:prstGeom>
        </p:spPr>
      </p:pic>
      <p:sp>
        <p:nvSpPr>
          <p:cNvPr id="55" name="New shape"/>
          <p:cNvSpPr txBox="1"/>
          <p:nvPr/>
        </p:nvSpPr>
        <p:spPr>
          <a:xfrm>
            <a:off x="1356455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Response rate too low</a:t>
            </a:r>
          </a:p>
        </p:txBody>
      </p:sp>
      <p:sp>
        <p:nvSpPr>
          <p:cNvPr id="56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20</a:t>
            </a:r>
          </a:p>
        </p:txBody>
      </p:sp>
      <p:sp>
        <p:nvSpPr>
          <p:cNvPr id="57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59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ew shape"/>
          <p:cNvSpPr txBox="1"/>
          <p:nvPr/>
        </p:nvSpPr>
        <p:spPr>
          <a:xfrm flipV="1">
            <a:off x="0" y="0"/>
            <a:ext cx="885507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Response rate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6"/>
  <p:tag name="AS_OS" val="Unix 6.6.138.1"/>
  <p:tag name="AS_RELEASE_DATE" val="2024.12.14"/>
  <p:tag name="AS_TITLE" val="Aspose.Slides for .NET6"/>
  <p:tag name="AS_VERSION" val="24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3d46c04-fec7-40b9-84af-deef71223aad}" enabled="1" method="Privileged" siteId="{e9792fd7-4044-47e7-a40d-3fba46f1cd0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1667</Words>
  <Application>Microsoft Macintosh PowerPoint</Application>
  <PresentationFormat>On-screen Show (16:9)</PresentationFormat>
  <Paragraphs>571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Effectory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client-confidential</dc:title>
  <dc:creator>Results dashboard</dc:creator>
  <cp:keywords>client-confidential</cp:keywords>
  <cp:lastModifiedBy>Jente Insing  Effectory</cp:lastModifiedBy>
  <cp:revision>2</cp:revision>
  <cp:lastPrinted>2026-06-29T13:17:36Z</cp:lastPrinted>
  <dcterms:created xsi:type="dcterms:W3CDTF">2026-06-29T13:17:36Z</dcterms:created>
  <dcterms:modified xsi:type="dcterms:W3CDTF">2026-06-30T12:04:52Z</dcterms:modified>
</cp:coreProperties>
</file>