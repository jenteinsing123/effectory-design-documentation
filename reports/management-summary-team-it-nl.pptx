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4" r:id="rId16"/>
    <p:sldId id="307" r:id="rId17"/>
    <p:sldId id="310" r:id="rId18"/>
    <p:sldId id="313" r:id="rId19"/>
    <p:sldId id="316" r:id="rId20"/>
    <p:sldId id="319" r:id="rId21"/>
  </p:sldIdLst>
  <p:sldSz cx="9144000" cy="5143500" type="screen16x9"/>
  <p:notesSz cx="6858000" cy="9144000"/>
  <p:embeddedFontLst>
    <p:embeddedFont>
      <p:font typeface="Poppins" pitchFamily="2" charset="77"/>
      <p:regular r:id="rId22"/>
      <p:bold r:id="rId23"/>
      <p:italic r:id="rId24"/>
      <p:boldItalic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F1D79409-757B-414A-A8C8-971404F0C3B3}"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53B0EF4A-6B82-4595-99B9-C9613731FEC0}"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9AEBF8F6-0E8B-4F5A-8CE3-6CDE1848971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6D394FAD-08B4-46EA-840A-27A0FB55ECA8}"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3A212AEB-4B84-4B53-8659-48224D50734E}"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9681DDB7-99A8-4284-BC2A-ADA5436DF5F1}"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94BF1CC9-6B4F-41DE-990A-A8D0E55BB57E}"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C99B6500-3768-4605-BC50-ADFC5A918DCF}"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631C55D2-525C-4BC6-99DE-730F2135F329}"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2A292B7-655C-4441-9053-5AC256704D6B}"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C418B1D-D024-4CDC-B08E-5681D0715273}"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18.xml"/><Relationship Id="rId5" Type="http://schemas.openxmlformats.org/officeDocument/2006/relationships/slide" Target="slide15.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7.sv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21.svg"/><Relationship Id="rId5" Type="http://schemas.openxmlformats.org/officeDocument/2006/relationships/image" Target="../media/image16.svg"/><Relationship Id="rId10" Type="http://schemas.openxmlformats.org/officeDocument/2006/relationships/image" Target="../media/image20.svg"/><Relationship Id="rId4" Type="http://schemas.openxmlformats.org/officeDocument/2006/relationships/image" Target="../media/image15.sv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7.sv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5.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8.svg"/><Relationship Id="rId7" Type="http://schemas.openxmlformats.org/officeDocument/2006/relationships/image" Target="../media/image22.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18.sv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778794"/>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err="1">
                <a:solidFill>
                  <a:srgbClr val="000000"/>
                </a:solidFill>
                <a:latin typeface="Poppins"/>
              </a:rPr>
              <a:t>Managementsamenvatting</a:t>
            </a:r>
            <a:endParaRPr sz="3150" b="1" i="0" dirty="0">
              <a:solidFill>
                <a:srgbClr val="000000"/>
              </a:solidFill>
              <a:latin typeface="Poppins"/>
            </a:endParaRPr>
          </a:p>
        </p:txBody>
      </p:sp>
      <p:sp>
        <p:nvSpPr>
          <p:cNvPr id="4" name="New shape"/>
          <p:cNvSpPr txBox="1"/>
          <p:nvPr/>
        </p:nvSpPr>
        <p:spPr>
          <a:xfrm>
            <a:off x="457200" y="2294572"/>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2700" b="0" i="0" dirty="0">
                <a:solidFill>
                  <a:srgbClr val="192743"/>
                </a:solidFill>
                <a:latin typeface="Poppins"/>
              </a:rPr>
              <a:t>Team IT</a:t>
            </a:r>
            <a:endParaRPr sz="2700" b="0" i="0" dirty="0">
              <a:solidFill>
                <a:srgbClr val="192743"/>
              </a:solidFill>
              <a:latin typeface="Poppins"/>
            </a:endParaRPr>
          </a:p>
        </p:txBody>
      </p:sp>
      <p:sp>
        <p:nvSpPr>
          <p:cNvPr id="5"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6"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Inhoud</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Belangrijke resultaten</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Verdiep je in de thema's met de laagste scores</a:t>
            </a:r>
          </a:p>
        </p:txBody>
      </p:sp>
      <p:sp>
        <p:nvSpPr>
          <p:cNvPr id="8" name="New shape"/>
          <p:cNvSpPr txBox="1"/>
          <p:nvPr/>
        </p:nvSpPr>
        <p:spPr>
          <a:xfrm>
            <a:off x="457200" y="221742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21742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Het lezen van de resultaten</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Respons</a:t>
            </a:r>
          </a:p>
        </p:txBody>
      </p:sp>
      <p:sp>
        <p:nvSpPr>
          <p:cNvPr id="12"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13"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14"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15"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De kern van het onderzoek</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Het begin van je luisteravontuur!</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Laten we de resultaten bekijken.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Onderzoeksperiode</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Vragen zijn in totaal gesteld</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over thema's als:</a:t>
            </a:r>
          </a:p>
        </p:txBody>
      </p:sp>
      <p:sp>
        <p:nvSpPr>
          <p:cNvPr id="23" name="New shape"/>
          <p:cNvSpPr txBox="1"/>
          <p:nvPr/>
        </p:nvSpPr>
        <p:spPr>
          <a:xfrm>
            <a:off x="1299472" y="3500438"/>
            <a:ext cx="104140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Werkgeverschap</a:t>
            </a:r>
          </a:p>
        </p:txBody>
      </p:sp>
      <p:sp>
        <p:nvSpPr>
          <p:cNvPr id="25" name="New shape"/>
          <p:cNvSpPr txBox="1"/>
          <p:nvPr/>
        </p:nvSpPr>
        <p:spPr>
          <a:xfrm>
            <a:off x="2412309" y="3500438"/>
            <a:ext cx="86021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Bevlogenheid</a:t>
            </a:r>
          </a:p>
        </p:txBody>
      </p:sp>
      <p:sp>
        <p:nvSpPr>
          <p:cNvPr id="27" name="New shape"/>
          <p:cNvSpPr txBox="1"/>
          <p:nvPr/>
        </p:nvSpPr>
        <p:spPr>
          <a:xfrm>
            <a:off x="1485511" y="3746954"/>
            <a:ext cx="160097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Leiderschap bij verandering</a:t>
            </a:r>
          </a:p>
        </p:txBody>
      </p:sp>
      <p:sp>
        <p:nvSpPr>
          <p:cNvPr id="29" name="New shape"/>
          <p:cNvSpPr txBox="1"/>
          <p:nvPr/>
        </p:nvSpPr>
        <p:spPr>
          <a:xfrm>
            <a:off x="1582515" y="3993471"/>
            <a:ext cx="140697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Medewerkers faciliteren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en meer...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2867C9"/>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Hebben gereageerd.</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Belangrijke resultaten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Huidig</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Team IT</a:t>
              </a:r>
              <a:endParaRPr sz="788" b="0" i="0" dirty="0">
                <a:solidFill>
                  <a:srgbClr val="2867C9"/>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3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Huidig</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Team IT</a:t>
              </a:r>
              <a:endParaRPr sz="788" b="0" i="0" dirty="0">
                <a:solidFill>
                  <a:srgbClr val="2867C9"/>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3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en benchmarkvergelijking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 ENPS laat zien in welke mate de medewerkers de organisatie zouden aanbevelen als goede werkgever.</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095748" y="1428750"/>
            <a:ext cx="808879" cy="171450"/>
            <a:chOff x="-120650" y="793750"/>
            <a:chExt cx="80887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8" y="810209"/>
              <a:ext cx="56599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Neutralen</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368405" y="1428750"/>
            <a:ext cx="778415" cy="171450"/>
            <a:chOff x="2136775" y="793750"/>
            <a:chExt cx="778415"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53552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736637" y="1428750"/>
            <a:ext cx="842550" cy="171450"/>
            <a:chOff x="4537075" y="793750"/>
            <a:chExt cx="842550"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59966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Criticaster</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2867C9"/>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Huidig</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Globaal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resultaten niet beschikbaar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Globaal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Opsplitsing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Een vergelijking van de eNPS-score tussen al je groepen.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2867C9"/>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2867C9"/>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301623" y="4897041"/>
            <a:ext cx="114300" cy="121444"/>
          </a:xfrm>
          <a:prstGeom prst="rect">
            <a:avLst/>
          </a:prstGeom>
        </p:spPr>
      </p:pic>
      <p:sp>
        <p:nvSpPr>
          <p:cNvPr id="49" name="New shape"/>
          <p:cNvSpPr txBox="1"/>
          <p:nvPr/>
        </p:nvSpPr>
        <p:spPr>
          <a:xfrm>
            <a:off x="148736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Grootste verschillen vergeleken met vorig onderzoek</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Hoger dan vorig onderzoek</a:t>
              </a:r>
            </a:p>
          </p:txBody>
        </p:sp>
      </p:grpSp>
      <p:grpSp>
        <p:nvGrpSpPr>
          <p:cNvPr id="6" name="Group 5"/>
          <p:cNvGrpSpPr/>
          <p:nvPr/>
        </p:nvGrpSpPr>
        <p:grpSpPr>
          <a:xfrm>
            <a:off x="4857750" y="1114425"/>
            <a:ext cx="2871788" cy="285750"/>
            <a:chOff x="4222750" y="479425"/>
            <a:chExt cx="2871788" cy="28575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Lager dan vorig onderzoek</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0332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06540"/>
            <a:ext cx="165021" cy="165021"/>
          </a:xfrm>
          <a:prstGeom prst="rect">
            <a:avLst/>
          </a:prstGeom>
        </p:spPr>
      </p:pic>
      <p:sp>
        <p:nvSpPr>
          <p:cNvPr id="11" name="New shape"/>
          <p:cNvSpPr txBox="1"/>
          <p:nvPr/>
        </p:nvSpPr>
        <p:spPr>
          <a:xfrm>
            <a:off x="457200" y="1689100"/>
            <a:ext cx="2494273"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a:t>
            </a:r>
            <a:r>
              <a:rPr sz="900" b="0" i="0" dirty="0" err="1">
                <a:solidFill>
                  <a:srgbClr val="192743"/>
                </a:solidFill>
                <a:latin typeface="Poppins"/>
              </a:rPr>
              <a:t>heb</a:t>
            </a:r>
            <a:r>
              <a:rPr sz="900" b="0" i="0" dirty="0">
                <a:solidFill>
                  <a:srgbClr val="192743"/>
                </a:solidFill>
                <a:latin typeface="Poppins"/>
              </a:rPr>
              <a:t> het </a:t>
            </a:r>
            <a:r>
              <a:rPr sz="900" b="0" i="0" dirty="0" err="1">
                <a:solidFill>
                  <a:srgbClr val="192743"/>
                </a:solidFill>
                <a:latin typeface="Poppins"/>
              </a:rPr>
              <a:t>gevoel</a:t>
            </a:r>
            <a:r>
              <a:rPr sz="900" b="0" i="0" dirty="0">
                <a:solidFill>
                  <a:srgbClr val="192743"/>
                </a:solidFill>
                <a:latin typeface="Poppins"/>
              </a:rPr>
              <a:t> </a:t>
            </a:r>
            <a:r>
              <a:rPr sz="900" b="0" i="0" dirty="0" err="1">
                <a:solidFill>
                  <a:srgbClr val="192743"/>
                </a:solidFill>
                <a:latin typeface="Poppins"/>
              </a:rPr>
              <a:t>dat</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a:t>
            </a:r>
            <a:r>
              <a:rPr sz="900" b="0" i="0" dirty="0" err="1">
                <a:solidFill>
                  <a:srgbClr val="192743"/>
                </a:solidFill>
                <a:latin typeface="Poppins"/>
              </a:rPr>
              <a:t>bij</a:t>
            </a:r>
            <a:r>
              <a:rPr sz="900" b="0" i="0" dirty="0">
                <a:solidFill>
                  <a:srgbClr val="192743"/>
                </a:solidFill>
                <a:latin typeface="Poppins"/>
              </a:rPr>
              <a:t> </a:t>
            </a:r>
            <a:r>
              <a:rPr lang="en-US" sz="900" b="0" i="0" dirty="0">
                <a:solidFill>
                  <a:srgbClr val="192743"/>
                </a:solidFill>
                <a:latin typeface="Poppins"/>
              </a:rPr>
              <a:t>Team IT</a:t>
            </a:r>
            <a:r>
              <a:rPr sz="900" b="0" i="0" dirty="0">
                <a:solidFill>
                  <a:srgbClr val="192743"/>
                </a:solidFill>
                <a:latin typeface="Poppins"/>
              </a:rPr>
              <a:t> pas</a:t>
            </a:r>
          </a:p>
        </p:txBody>
      </p:sp>
      <p:sp>
        <p:nvSpPr>
          <p:cNvPr id="12" name="New shape"/>
          <p:cNvSpPr/>
          <p:nvPr/>
        </p:nvSpPr>
        <p:spPr>
          <a:xfrm>
            <a:off x="2904982" y="1746250"/>
            <a:ext cx="43829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340042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033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15" name="New shape"/>
          <p:cNvSpPr txBox="1"/>
          <p:nvPr/>
        </p:nvSpPr>
        <p:spPr>
          <a:xfrm>
            <a:off x="457200" y="2203450"/>
            <a:ext cx="277319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De </a:t>
            </a:r>
            <a:r>
              <a:rPr sz="900" b="0" i="0" dirty="0" err="1">
                <a:solidFill>
                  <a:srgbClr val="192743"/>
                </a:solidFill>
                <a:latin typeface="Poppins"/>
              </a:rPr>
              <a:t>toekomstvisie</a:t>
            </a:r>
            <a:r>
              <a:rPr sz="900" b="0" i="0" dirty="0">
                <a:solidFill>
                  <a:srgbClr val="192743"/>
                </a:solidFill>
                <a:latin typeface="Poppins"/>
              </a:rPr>
              <a:t> van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inspireert</a:t>
            </a:r>
            <a:r>
              <a:rPr sz="900" b="0" i="0" dirty="0">
                <a:solidFill>
                  <a:srgbClr val="192743"/>
                </a:solidFill>
                <a:latin typeface="Poppins"/>
              </a:rPr>
              <a:t> me</a:t>
            </a:r>
          </a:p>
        </p:txBody>
      </p:sp>
      <p:sp>
        <p:nvSpPr>
          <p:cNvPr id="16" name="New shape"/>
          <p:cNvSpPr/>
          <p:nvPr/>
        </p:nvSpPr>
        <p:spPr>
          <a:xfrm>
            <a:off x="3183969" y="2260600"/>
            <a:ext cx="15930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177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20" name="New shape"/>
          <p:cNvSpPr txBox="1"/>
          <p:nvPr/>
        </p:nvSpPr>
        <p:spPr>
          <a:xfrm>
            <a:off x="457200" y="26320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heb</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diverse </a:t>
            </a:r>
            <a:r>
              <a:rPr sz="900" b="0" i="0" dirty="0" err="1">
                <a:solidFill>
                  <a:srgbClr val="192743"/>
                </a:solidFill>
                <a:latin typeface="Poppins"/>
              </a:rPr>
              <a:t>mogelijkheden</a:t>
            </a:r>
            <a:r>
              <a:rPr sz="900" b="0" i="0" dirty="0">
                <a:solidFill>
                  <a:srgbClr val="192743"/>
                </a:solidFill>
                <a:latin typeface="Poppins"/>
              </a:rPr>
              <a:t> om </a:t>
            </a:r>
            <a:r>
              <a:rPr sz="900" b="0" i="0" dirty="0" err="1">
                <a:solidFill>
                  <a:srgbClr val="192743"/>
                </a:solidFill>
                <a:latin typeface="Poppins"/>
              </a:rPr>
              <a:t>mijzelf</a:t>
            </a:r>
            <a:r>
              <a:rPr sz="900" b="0" i="0" dirty="0">
                <a:solidFill>
                  <a:srgbClr val="192743"/>
                </a:solidFill>
                <a:latin typeface="Poppins"/>
              </a:rPr>
              <a:t>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ontwikkelen</a:t>
            </a:r>
            <a:endParaRPr sz="900" b="0" i="0" dirty="0">
              <a:solidFill>
                <a:srgbClr val="192743"/>
              </a:solidFill>
              <a:latin typeface="Poppins"/>
            </a:endParaRPr>
          </a:p>
        </p:txBody>
      </p:sp>
      <p:sp>
        <p:nvSpPr>
          <p:cNvPr id="21" name="New shape"/>
          <p:cNvSpPr txBox="1"/>
          <p:nvPr/>
        </p:nvSpPr>
        <p:spPr>
          <a:xfrm>
            <a:off x="340042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22" name="New shape"/>
          <p:cNvSpPr txBox="1"/>
          <p:nvPr/>
        </p:nvSpPr>
        <p:spPr>
          <a:xfrm>
            <a:off x="3886200" y="26320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3" name="New shape"/>
          <p:cNvSpPr txBox="1"/>
          <p:nvPr/>
        </p:nvSpPr>
        <p:spPr>
          <a:xfrm>
            <a:off x="457200" y="3232150"/>
            <a:ext cx="154244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Mijn werk geeft mij energie</a:t>
            </a:r>
          </a:p>
        </p:txBody>
      </p:sp>
      <p:sp>
        <p:nvSpPr>
          <p:cNvPr id="24" name="New shape"/>
          <p:cNvSpPr/>
          <p:nvPr/>
        </p:nvSpPr>
        <p:spPr>
          <a:xfrm>
            <a:off x="2056797" y="3289300"/>
            <a:ext cx="128647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6" name="New shape"/>
          <p:cNvSpPr txBox="1"/>
          <p:nvPr/>
        </p:nvSpPr>
        <p:spPr>
          <a:xfrm>
            <a:off x="3886200" y="31464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8" name="New shape"/>
          <p:cNvSpPr txBox="1"/>
          <p:nvPr/>
        </p:nvSpPr>
        <p:spPr>
          <a:xfrm>
            <a:off x="45720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werkzaamheden sluiten aan bij wat ik goed kan</a:t>
            </a:r>
          </a:p>
        </p:txBody>
      </p:sp>
      <p:sp>
        <p:nvSpPr>
          <p:cNvPr id="29" name="New shape"/>
          <p:cNvSpPr txBox="1"/>
          <p:nvPr/>
        </p:nvSpPr>
        <p:spPr>
          <a:xfrm>
            <a:off x="340042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30" name="New shape"/>
          <p:cNvSpPr txBox="1"/>
          <p:nvPr/>
        </p:nvSpPr>
        <p:spPr>
          <a:xfrm>
            <a:off x="3886200" y="36607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0332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06540"/>
            <a:ext cx="165021" cy="165021"/>
          </a:xfrm>
          <a:prstGeom prst="rect">
            <a:avLst/>
          </a:prstGeom>
        </p:spPr>
      </p:pic>
      <p:sp>
        <p:nvSpPr>
          <p:cNvPr id="33" name="New shape"/>
          <p:cNvSpPr txBox="1"/>
          <p:nvPr/>
        </p:nvSpPr>
        <p:spPr>
          <a:xfrm>
            <a:off x="4857750" y="1689100"/>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heb plezier in mijn werk</a:t>
            </a:r>
          </a:p>
        </p:txBody>
      </p:sp>
      <p:sp>
        <p:nvSpPr>
          <p:cNvPr id="34" name="New shape"/>
          <p:cNvSpPr/>
          <p:nvPr/>
        </p:nvSpPr>
        <p:spPr>
          <a:xfrm>
            <a:off x="6378781" y="1746250"/>
            <a:ext cx="136504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5" name="New shape"/>
          <p:cNvSpPr txBox="1"/>
          <p:nvPr/>
        </p:nvSpPr>
        <p:spPr>
          <a:xfrm>
            <a:off x="780097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36" name="New shape"/>
          <p:cNvSpPr txBox="1"/>
          <p:nvPr/>
        </p:nvSpPr>
        <p:spPr>
          <a:xfrm>
            <a:off x="8286750" y="16033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38" name="New shape"/>
          <p:cNvSpPr txBox="1"/>
          <p:nvPr/>
        </p:nvSpPr>
        <p:spPr>
          <a:xfrm>
            <a:off x="4857750" y="21177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Binnen mijn team is het duidelijk hoe wij kunnen bijdragen aan het succes van de organisatie</a:t>
            </a:r>
          </a:p>
        </p:txBody>
      </p:sp>
      <p:sp>
        <p:nvSpPr>
          <p:cNvPr id="39" name="New shape"/>
          <p:cNvSpPr txBox="1"/>
          <p:nvPr/>
        </p:nvSpPr>
        <p:spPr>
          <a:xfrm>
            <a:off x="780097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40" name="New shape"/>
          <p:cNvSpPr txBox="1"/>
          <p:nvPr/>
        </p:nvSpPr>
        <p:spPr>
          <a:xfrm>
            <a:off x="8286750" y="21177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-5%</a:t>
            </a:r>
          </a:p>
        </p:txBody>
      </p:sp>
      <p:sp>
        <p:nvSpPr>
          <p:cNvPr id="42" name="New shape"/>
          <p:cNvSpPr txBox="1"/>
          <p:nvPr/>
        </p:nvSpPr>
        <p:spPr>
          <a:xfrm>
            <a:off x="4857750" y="26320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medewerkers</a:t>
            </a:r>
            <a:r>
              <a:rPr sz="900" b="0" i="0" dirty="0">
                <a:solidFill>
                  <a:srgbClr val="192743"/>
                </a:solidFill>
                <a:latin typeface="Poppins"/>
              </a:rPr>
              <a:t> op </a:t>
            </a:r>
            <a:r>
              <a:rPr sz="900" b="0" i="0" dirty="0" err="1">
                <a:solidFill>
                  <a:srgbClr val="192743"/>
                </a:solidFill>
                <a:latin typeface="Poppins"/>
              </a:rPr>
              <a:t>een</a:t>
            </a:r>
            <a:r>
              <a:rPr sz="900" b="0" i="0" dirty="0">
                <a:solidFill>
                  <a:srgbClr val="192743"/>
                </a:solidFill>
                <a:latin typeface="Poppins"/>
              </a:rPr>
              <a:t> </a:t>
            </a:r>
            <a:r>
              <a:rPr sz="900" b="0" i="0" dirty="0" err="1">
                <a:solidFill>
                  <a:srgbClr val="192743"/>
                </a:solidFill>
                <a:latin typeface="Poppins"/>
              </a:rPr>
              <a:t>eerlijke</a:t>
            </a:r>
            <a:r>
              <a:rPr sz="900" b="0" i="0" dirty="0">
                <a:solidFill>
                  <a:srgbClr val="192743"/>
                </a:solidFill>
                <a:latin typeface="Poppins"/>
              </a:rPr>
              <a:t> </a:t>
            </a:r>
            <a:r>
              <a:rPr sz="900" b="0" i="0" dirty="0" err="1">
                <a:solidFill>
                  <a:srgbClr val="192743"/>
                </a:solidFill>
                <a:latin typeface="Poppins"/>
              </a:rPr>
              <a:t>manier</a:t>
            </a:r>
            <a:r>
              <a:rPr sz="900" b="0" i="0" dirty="0">
                <a:solidFill>
                  <a:srgbClr val="192743"/>
                </a:solidFill>
                <a:latin typeface="Poppins"/>
              </a:rPr>
              <a:t> </a:t>
            </a:r>
            <a:r>
              <a:rPr sz="900" b="0" i="0" dirty="0" err="1">
                <a:solidFill>
                  <a:srgbClr val="192743"/>
                </a:solidFill>
                <a:latin typeface="Poppins"/>
              </a:rPr>
              <a:t>behandeld</a:t>
            </a:r>
            <a:endParaRPr sz="900" b="0" i="0" dirty="0">
              <a:solidFill>
                <a:srgbClr val="192743"/>
              </a:solidFill>
              <a:latin typeface="Poppins"/>
            </a:endParaRPr>
          </a:p>
        </p:txBody>
      </p:sp>
      <p:sp>
        <p:nvSpPr>
          <p:cNvPr id="43" name="New shape"/>
          <p:cNvSpPr txBox="1"/>
          <p:nvPr/>
        </p:nvSpPr>
        <p:spPr>
          <a:xfrm>
            <a:off x="780097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44" name="New shape"/>
          <p:cNvSpPr txBox="1"/>
          <p:nvPr/>
        </p:nvSpPr>
        <p:spPr>
          <a:xfrm>
            <a:off x="8286750" y="26320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a:t>
            </a:r>
          </a:p>
        </p:txBody>
      </p:sp>
      <p:sp>
        <p:nvSpPr>
          <p:cNvPr id="45" name="New shape"/>
          <p:cNvSpPr txBox="1"/>
          <p:nvPr/>
        </p:nvSpPr>
        <p:spPr>
          <a:xfrm>
            <a:off x="4857750" y="3232150"/>
            <a:ext cx="1567737"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ben trots op </a:t>
            </a:r>
            <a:r>
              <a:rPr lang="en-US" sz="900" b="0" i="0" dirty="0">
                <a:solidFill>
                  <a:srgbClr val="192743"/>
                </a:solidFill>
                <a:latin typeface="Poppins"/>
              </a:rPr>
              <a:t>Team IT</a:t>
            </a:r>
            <a:endParaRPr sz="900" b="0" i="0" dirty="0">
              <a:solidFill>
                <a:srgbClr val="192743"/>
              </a:solidFill>
              <a:latin typeface="Poppins"/>
            </a:endParaRPr>
          </a:p>
        </p:txBody>
      </p:sp>
      <p:sp>
        <p:nvSpPr>
          <p:cNvPr id="46" name="New shape"/>
          <p:cNvSpPr/>
          <p:nvPr/>
        </p:nvSpPr>
        <p:spPr>
          <a:xfrm>
            <a:off x="6378781" y="3289300"/>
            <a:ext cx="136504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a:off x="780097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8" name="New shape"/>
          <p:cNvSpPr txBox="1"/>
          <p:nvPr/>
        </p:nvSpPr>
        <p:spPr>
          <a:xfrm>
            <a:off x="8286750" y="31464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0" name="New shape"/>
          <p:cNvSpPr txBox="1"/>
          <p:nvPr/>
        </p:nvSpPr>
        <p:spPr>
          <a:xfrm>
            <a:off x="485775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team ontwikkelt regelmatig goede ideeën voor verbetering</a:t>
            </a:r>
          </a:p>
        </p:txBody>
      </p:sp>
      <p:sp>
        <p:nvSpPr>
          <p:cNvPr id="51" name="New shape"/>
          <p:cNvSpPr txBox="1"/>
          <p:nvPr/>
        </p:nvSpPr>
        <p:spPr>
          <a:xfrm>
            <a:off x="780097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52" name="New shape"/>
          <p:cNvSpPr txBox="1"/>
          <p:nvPr/>
        </p:nvSpPr>
        <p:spPr>
          <a:xfrm>
            <a:off x="8286750" y="36607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3" name="New shape"/>
          <p:cNvSpPr/>
          <p:nvPr/>
        </p:nvSpPr>
        <p:spPr>
          <a:xfrm flipH="1">
            <a:off x="4572000" y="1517650"/>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Huidig</a:t>
            </a:r>
            <a:r>
              <a:rPr sz="675" b="0" i="0" dirty="0">
                <a:solidFill>
                  <a:srgbClr val="2867C9"/>
                </a:solidFill>
                <a:latin typeface="Poppins"/>
              </a:rPr>
              <a:t>: </a:t>
            </a:r>
            <a:r>
              <a:rPr lang="en-US" sz="675" b="0" i="0" dirty="0">
                <a:solidFill>
                  <a:srgbClr val="2867C9"/>
                </a:solidFill>
                <a:latin typeface="Poppins"/>
              </a:rPr>
              <a:t>Team IT</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9</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Grootste verschillen vergeleken met de benchmark</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Hoger dan de benchmark</a:t>
              </a:r>
            </a:p>
          </p:txBody>
        </p:sp>
      </p:grpSp>
      <p:grpSp>
        <p:nvGrpSpPr>
          <p:cNvPr id="6" name="Group 5"/>
          <p:cNvGrpSpPr/>
          <p:nvPr/>
        </p:nvGrpSpPr>
        <p:grpSpPr>
          <a:xfrm>
            <a:off x="4857750" y="1114425"/>
            <a:ext cx="2871788" cy="285750"/>
            <a:chOff x="4222750" y="479425"/>
            <a:chExt cx="2871788" cy="28575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Lager dan de benchmark</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0332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06540"/>
            <a:ext cx="165021" cy="165021"/>
          </a:xfrm>
          <a:prstGeom prst="rect">
            <a:avLst/>
          </a:prstGeom>
        </p:spPr>
      </p:pic>
      <p:sp>
        <p:nvSpPr>
          <p:cNvPr id="12" name="New shape"/>
          <p:cNvSpPr txBox="1"/>
          <p:nvPr/>
        </p:nvSpPr>
        <p:spPr>
          <a:xfrm>
            <a:off x="45720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heb</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diverse </a:t>
            </a:r>
            <a:r>
              <a:rPr sz="900" b="0" i="0" dirty="0" err="1">
                <a:solidFill>
                  <a:srgbClr val="192743"/>
                </a:solidFill>
                <a:latin typeface="Poppins"/>
              </a:rPr>
              <a:t>mogelijkheden</a:t>
            </a:r>
            <a:r>
              <a:rPr sz="900" b="0" i="0" dirty="0">
                <a:solidFill>
                  <a:srgbClr val="192743"/>
                </a:solidFill>
                <a:latin typeface="Poppins"/>
              </a:rPr>
              <a:t> om </a:t>
            </a:r>
            <a:r>
              <a:rPr sz="900" b="0" i="0" dirty="0" err="1">
                <a:solidFill>
                  <a:srgbClr val="192743"/>
                </a:solidFill>
                <a:latin typeface="Poppins"/>
              </a:rPr>
              <a:t>mijzelf</a:t>
            </a:r>
            <a:r>
              <a:rPr sz="900" b="0" i="0" dirty="0">
                <a:solidFill>
                  <a:srgbClr val="192743"/>
                </a:solidFill>
                <a:latin typeface="Poppins"/>
              </a:rPr>
              <a:t>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ontwikkelen</a:t>
            </a:r>
            <a:endParaRPr sz="900" b="0" i="0" dirty="0">
              <a:solidFill>
                <a:srgbClr val="192743"/>
              </a:solidFill>
              <a:latin typeface="Poppins"/>
            </a:endParaRPr>
          </a:p>
        </p:txBody>
      </p:sp>
      <p:sp>
        <p:nvSpPr>
          <p:cNvPr id="13" name="New shape"/>
          <p:cNvSpPr txBox="1"/>
          <p:nvPr/>
        </p:nvSpPr>
        <p:spPr>
          <a:xfrm>
            <a:off x="340042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033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5" name="New shape"/>
          <p:cNvSpPr txBox="1"/>
          <p:nvPr/>
        </p:nvSpPr>
        <p:spPr>
          <a:xfrm>
            <a:off x="457200" y="2203450"/>
            <a:ext cx="277319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De </a:t>
            </a:r>
            <a:r>
              <a:rPr sz="900" b="0" i="0" dirty="0" err="1">
                <a:solidFill>
                  <a:srgbClr val="192743"/>
                </a:solidFill>
                <a:latin typeface="Poppins"/>
              </a:rPr>
              <a:t>toekomstvisie</a:t>
            </a:r>
            <a:r>
              <a:rPr sz="900" b="0" i="0" dirty="0">
                <a:solidFill>
                  <a:srgbClr val="192743"/>
                </a:solidFill>
                <a:latin typeface="Poppins"/>
              </a:rPr>
              <a:t> van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inspireert</a:t>
            </a:r>
            <a:r>
              <a:rPr sz="900" b="0" i="0" dirty="0">
                <a:solidFill>
                  <a:srgbClr val="192743"/>
                </a:solidFill>
                <a:latin typeface="Poppins"/>
              </a:rPr>
              <a:t> me</a:t>
            </a:r>
          </a:p>
        </p:txBody>
      </p:sp>
      <p:sp>
        <p:nvSpPr>
          <p:cNvPr id="16" name="New shape"/>
          <p:cNvSpPr/>
          <p:nvPr/>
        </p:nvSpPr>
        <p:spPr>
          <a:xfrm>
            <a:off x="3183969" y="2260600"/>
            <a:ext cx="15930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177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9" name="New shape"/>
          <p:cNvSpPr txBox="1"/>
          <p:nvPr/>
        </p:nvSpPr>
        <p:spPr>
          <a:xfrm>
            <a:off x="457200" y="2717800"/>
            <a:ext cx="154244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Mijn werk geeft mij energie</a:t>
            </a:r>
          </a:p>
        </p:txBody>
      </p:sp>
      <p:sp>
        <p:nvSpPr>
          <p:cNvPr id="20" name="New shape"/>
          <p:cNvSpPr/>
          <p:nvPr/>
        </p:nvSpPr>
        <p:spPr>
          <a:xfrm>
            <a:off x="2056797" y="2774950"/>
            <a:ext cx="128647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40042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2" name="New shape"/>
          <p:cNvSpPr txBox="1"/>
          <p:nvPr/>
        </p:nvSpPr>
        <p:spPr>
          <a:xfrm>
            <a:off x="3886200" y="26320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23" name="New shape"/>
          <p:cNvSpPr txBox="1"/>
          <p:nvPr/>
        </p:nvSpPr>
        <p:spPr>
          <a:xfrm>
            <a:off x="457200" y="3232150"/>
            <a:ext cx="272831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prestaties</a:t>
            </a:r>
            <a:r>
              <a:rPr sz="900" b="0" i="0" dirty="0">
                <a:solidFill>
                  <a:srgbClr val="192743"/>
                </a:solidFill>
                <a:latin typeface="Poppins"/>
              </a:rPr>
              <a:t> </a:t>
            </a:r>
            <a:r>
              <a:rPr sz="900" b="0" i="0" dirty="0" err="1">
                <a:solidFill>
                  <a:srgbClr val="192743"/>
                </a:solidFill>
                <a:latin typeface="Poppins"/>
              </a:rPr>
              <a:t>beloond</a:t>
            </a:r>
            <a:endParaRPr sz="900" b="0" i="0" dirty="0">
              <a:solidFill>
                <a:srgbClr val="192743"/>
              </a:solidFill>
              <a:latin typeface="Poppins"/>
            </a:endParaRPr>
          </a:p>
        </p:txBody>
      </p:sp>
      <p:sp>
        <p:nvSpPr>
          <p:cNvPr id="24" name="New shape"/>
          <p:cNvSpPr/>
          <p:nvPr/>
        </p:nvSpPr>
        <p:spPr>
          <a:xfrm>
            <a:off x="3139075" y="3289300"/>
            <a:ext cx="204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71%</a:t>
            </a:r>
          </a:p>
        </p:txBody>
      </p:sp>
      <p:sp>
        <p:nvSpPr>
          <p:cNvPr id="26" name="New shape"/>
          <p:cNvSpPr txBox="1"/>
          <p:nvPr/>
        </p:nvSpPr>
        <p:spPr>
          <a:xfrm>
            <a:off x="3886200" y="31464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28" name="New shape"/>
          <p:cNvSpPr txBox="1"/>
          <p:nvPr/>
        </p:nvSpPr>
        <p:spPr>
          <a:xfrm>
            <a:off x="45720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Ik krijg regelmatig nuttige feedback over mijn functioneren</a:t>
            </a:r>
          </a:p>
        </p:txBody>
      </p:sp>
      <p:sp>
        <p:nvSpPr>
          <p:cNvPr id="29" name="New shape"/>
          <p:cNvSpPr txBox="1"/>
          <p:nvPr/>
        </p:nvSpPr>
        <p:spPr>
          <a:xfrm>
            <a:off x="340042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30" name="New shape"/>
          <p:cNvSpPr txBox="1"/>
          <p:nvPr/>
        </p:nvSpPr>
        <p:spPr>
          <a:xfrm>
            <a:off x="3886200" y="36607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0332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06540"/>
            <a:ext cx="165021" cy="165021"/>
          </a:xfrm>
          <a:prstGeom prst="rect">
            <a:avLst/>
          </a:prstGeom>
        </p:spPr>
      </p:pic>
      <p:sp>
        <p:nvSpPr>
          <p:cNvPr id="34" name="New shape"/>
          <p:cNvSpPr txBox="1"/>
          <p:nvPr/>
        </p:nvSpPr>
        <p:spPr>
          <a:xfrm>
            <a:off x="485775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Ik weet welke resultaten er van mij worden verwacht</a:t>
            </a:r>
          </a:p>
        </p:txBody>
      </p:sp>
      <p:sp>
        <p:nvSpPr>
          <p:cNvPr id="35" name="New shape"/>
          <p:cNvSpPr txBox="1"/>
          <p:nvPr/>
        </p:nvSpPr>
        <p:spPr>
          <a:xfrm>
            <a:off x="780097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36" name="New shape"/>
          <p:cNvSpPr txBox="1"/>
          <p:nvPr/>
        </p:nvSpPr>
        <p:spPr>
          <a:xfrm>
            <a:off x="8286750" y="16033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-25%</a:t>
            </a:r>
          </a:p>
        </p:txBody>
      </p:sp>
      <p:sp>
        <p:nvSpPr>
          <p:cNvPr id="37" name="New shape"/>
          <p:cNvSpPr txBox="1"/>
          <p:nvPr/>
        </p:nvSpPr>
        <p:spPr>
          <a:xfrm>
            <a:off x="4857750" y="2203450"/>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heb plezier in mijn werk</a:t>
            </a:r>
          </a:p>
        </p:txBody>
      </p:sp>
      <p:sp>
        <p:nvSpPr>
          <p:cNvPr id="38" name="New shape"/>
          <p:cNvSpPr/>
          <p:nvPr/>
        </p:nvSpPr>
        <p:spPr>
          <a:xfrm>
            <a:off x="6378781" y="2260600"/>
            <a:ext cx="136504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9" name="New shape"/>
          <p:cNvSpPr txBox="1"/>
          <p:nvPr/>
        </p:nvSpPr>
        <p:spPr>
          <a:xfrm>
            <a:off x="780097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40" name="New shape"/>
          <p:cNvSpPr txBox="1"/>
          <p:nvPr/>
        </p:nvSpPr>
        <p:spPr>
          <a:xfrm>
            <a:off x="8286750" y="21177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42" name="New shape"/>
          <p:cNvSpPr txBox="1"/>
          <p:nvPr/>
        </p:nvSpPr>
        <p:spPr>
          <a:xfrm>
            <a:off x="4857750" y="26320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Ik beschik over voldoende middelen (apparatuur en materiaal) om mijn werk goed te kunnen doen</a:t>
            </a:r>
          </a:p>
        </p:txBody>
      </p:sp>
      <p:sp>
        <p:nvSpPr>
          <p:cNvPr id="43" name="New shape"/>
          <p:cNvSpPr txBox="1"/>
          <p:nvPr/>
        </p:nvSpPr>
        <p:spPr>
          <a:xfrm>
            <a:off x="780097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4" name="New shape"/>
          <p:cNvSpPr txBox="1"/>
          <p:nvPr/>
        </p:nvSpPr>
        <p:spPr>
          <a:xfrm>
            <a:off x="8286750" y="26320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46" name="New shape"/>
          <p:cNvSpPr txBox="1"/>
          <p:nvPr/>
        </p:nvSpPr>
        <p:spPr>
          <a:xfrm>
            <a:off x="4857750" y="31464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werkzaamheden sluiten aan bij wat ik goed kan</a:t>
            </a:r>
          </a:p>
        </p:txBody>
      </p:sp>
      <p:sp>
        <p:nvSpPr>
          <p:cNvPr id="47" name="New shape"/>
          <p:cNvSpPr txBox="1"/>
          <p:nvPr/>
        </p:nvSpPr>
        <p:spPr>
          <a:xfrm>
            <a:off x="780097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48" name="New shape"/>
          <p:cNvSpPr txBox="1"/>
          <p:nvPr/>
        </p:nvSpPr>
        <p:spPr>
          <a:xfrm>
            <a:off x="8286750" y="31464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49" name="New shape"/>
          <p:cNvSpPr txBox="1"/>
          <p:nvPr/>
        </p:nvSpPr>
        <p:spPr>
          <a:xfrm>
            <a:off x="4857750" y="3746500"/>
            <a:ext cx="284599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De informatie die ik nodig heb kan ik goed vinden</a:t>
            </a:r>
          </a:p>
        </p:txBody>
      </p:sp>
      <p:sp>
        <p:nvSpPr>
          <p:cNvPr id="50" name="New shape"/>
          <p:cNvSpPr/>
          <p:nvPr/>
        </p:nvSpPr>
        <p:spPr>
          <a:xfrm>
            <a:off x="7743825" y="3803650"/>
            <a:ext cx="17066" cy="0"/>
          </a:xfrm>
          <a:prstGeom prst="lineInv">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1" name="New shape"/>
          <p:cNvSpPr txBox="1"/>
          <p:nvPr/>
        </p:nvSpPr>
        <p:spPr>
          <a:xfrm>
            <a:off x="780097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52" name="New shape"/>
          <p:cNvSpPr txBox="1"/>
          <p:nvPr/>
        </p:nvSpPr>
        <p:spPr>
          <a:xfrm>
            <a:off x="8286750" y="36607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53" name="New shape"/>
          <p:cNvSpPr/>
          <p:nvPr/>
        </p:nvSpPr>
        <p:spPr>
          <a:xfrm flipH="1">
            <a:off x="4572000" y="1517650"/>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Huidig</a:t>
            </a:r>
            <a:r>
              <a:rPr sz="675" b="0" i="0" dirty="0">
                <a:solidFill>
                  <a:srgbClr val="2867C9"/>
                </a:solidFill>
                <a:latin typeface="Poppins"/>
              </a:rPr>
              <a:t>: </a:t>
            </a:r>
            <a:r>
              <a:rPr lang="en-US" sz="675" b="0" i="0" dirty="0">
                <a:solidFill>
                  <a:srgbClr val="2867C9"/>
                </a:solidFill>
                <a:latin typeface="Poppins"/>
              </a:rPr>
              <a:t>Team IT</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47400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Onderwerpen</a:t>
            </a:r>
            <a:r>
              <a:rPr sz="2250" b="1" i="0" dirty="0">
                <a:solidFill>
                  <a:srgbClr val="192743"/>
                </a:solidFill>
                <a:latin typeface="Poppins"/>
              </a:rPr>
              <a:t> </a:t>
            </a:r>
            <a:r>
              <a:rPr sz="2250" b="1" i="0" dirty="0" err="1">
                <a:solidFill>
                  <a:srgbClr val="192743"/>
                </a:solidFill>
                <a:latin typeface="Poppins"/>
              </a:rPr>
              <a:t>voor</a:t>
            </a:r>
            <a:r>
              <a:rPr sz="2250" b="1" i="0" dirty="0">
                <a:solidFill>
                  <a:srgbClr val="192743"/>
                </a:solidFill>
                <a:latin typeface="Poppins"/>
              </a:rPr>
              <a:t> </a:t>
            </a:r>
            <a:r>
              <a:rPr lang="en-US" sz="2250" b="1" i="0" dirty="0">
                <a:solidFill>
                  <a:srgbClr val="192743"/>
                </a:solidFill>
                <a:latin typeface="Poppins"/>
              </a:rPr>
              <a:t>Team IT</a:t>
            </a:r>
            <a:endParaRPr sz="2250" b="1" i="0" dirty="0">
              <a:solidFill>
                <a:srgbClr val="192743"/>
              </a:solidFill>
              <a:latin typeface="Poppins"/>
            </a:endParaRPr>
          </a:p>
        </p:txBody>
      </p:sp>
      <p:sp>
        <p:nvSpPr>
          <p:cNvPr id="3" name="New shape"/>
          <p:cNvSpPr txBox="1"/>
          <p:nvPr/>
        </p:nvSpPr>
        <p:spPr>
          <a:xfrm>
            <a:off x="457200" y="838007"/>
            <a:ext cx="1543692"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Gekozen</a:t>
            </a:r>
            <a:r>
              <a:rPr sz="900" b="0" i="0" dirty="0">
                <a:solidFill>
                  <a:srgbClr val="546178"/>
                </a:solidFill>
                <a:latin typeface="Poppins"/>
              </a:rPr>
              <a:t> door </a:t>
            </a:r>
            <a:r>
              <a:rPr lang="en-US" sz="900" b="0" i="0" dirty="0">
                <a:solidFill>
                  <a:srgbClr val="546178"/>
                </a:solidFill>
                <a:latin typeface="Poppins"/>
              </a:rPr>
              <a:t>Team IT</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springt er voor jou in positieve zin uit?</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Communicatie binnen mijn organisatie</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heb je gezien dat anders of beter kan? En vergeet vooral niet om jouw tip te geven om dit ook beter te doen.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Teamdynamiek (sfeer, )</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respondenten</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Verdiep je in de thema's met de laagste scores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Verdeling van antwoorden</a:t>
            </a:r>
          </a:p>
        </p:txBody>
      </p:sp>
      <p:sp>
        <p:nvSpPr>
          <p:cNvPr id="3"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Bevlogenheid</a:t>
            </a:r>
          </a:p>
        </p:txBody>
      </p:sp>
      <p:sp>
        <p:nvSpPr>
          <p:cNvPr id="5" name="New shape"/>
          <p:cNvSpPr txBox="1"/>
          <p:nvPr/>
        </p:nvSpPr>
        <p:spPr>
          <a:xfrm>
            <a:off x="528638" y="1580940"/>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Ik heb plezier in mijn werk</a:t>
            </a:r>
          </a:p>
        </p:txBody>
      </p:sp>
      <p:sp>
        <p:nvSpPr>
          <p:cNvPr id="6" name="New shape"/>
          <p:cNvSpPr/>
          <p:nvPr/>
        </p:nvSpPr>
        <p:spPr>
          <a:xfrm>
            <a:off x="5757862" y="1549051"/>
            <a:ext cx="175564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7" name="New shape"/>
          <p:cNvSpPr/>
          <p:nvPr/>
        </p:nvSpPr>
        <p:spPr>
          <a:xfrm>
            <a:off x="7527798" y="15490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8" name="New shape"/>
          <p:cNvSpPr/>
          <p:nvPr/>
        </p:nvSpPr>
        <p:spPr>
          <a:xfrm>
            <a:off x="7871269" y="1549051"/>
            <a:ext cx="65836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9" name="New shape"/>
          <p:cNvSpPr txBox="1"/>
          <p:nvPr/>
        </p:nvSpPr>
        <p:spPr>
          <a:xfrm>
            <a:off x="5729288" y="14165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10" name="New shape"/>
          <p:cNvSpPr txBox="1"/>
          <p:nvPr/>
        </p:nvSpPr>
        <p:spPr>
          <a:xfrm>
            <a:off x="8011461" y="14165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11"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528638" y="2038141"/>
            <a:ext cx="154244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Mijn werk geeft mij energie</a:t>
            </a:r>
          </a:p>
        </p:txBody>
      </p:sp>
      <p:sp>
        <p:nvSpPr>
          <p:cNvPr id="13" name="New shape"/>
          <p:cNvSpPr/>
          <p:nvPr/>
        </p:nvSpPr>
        <p:spPr>
          <a:xfrm>
            <a:off x="5757862" y="20062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14" name="New shape"/>
          <p:cNvSpPr/>
          <p:nvPr/>
        </p:nvSpPr>
        <p:spPr>
          <a:xfrm>
            <a:off x="7747254" y="20062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5" name="New shape"/>
          <p:cNvSpPr/>
          <p:nvPr/>
        </p:nvSpPr>
        <p:spPr>
          <a:xfrm>
            <a:off x="8090725" y="20062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6" name="New shape"/>
          <p:cNvSpPr txBox="1"/>
          <p:nvPr/>
        </p:nvSpPr>
        <p:spPr>
          <a:xfrm>
            <a:off x="5729288" y="18737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17" name="New shape"/>
          <p:cNvSpPr txBox="1"/>
          <p:nvPr/>
        </p:nvSpPr>
        <p:spPr>
          <a:xfrm>
            <a:off x="8011461" y="18737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18"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528638" y="2495357"/>
            <a:ext cx="1567737"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Ik ben trots op </a:t>
            </a:r>
            <a:r>
              <a:rPr lang="en-US" sz="900" b="0" i="0" dirty="0">
                <a:solidFill>
                  <a:srgbClr val="192743"/>
                </a:solidFill>
                <a:latin typeface="Poppins"/>
              </a:rPr>
              <a:t>Team IT</a:t>
            </a:r>
            <a:endParaRPr sz="900" b="0" i="0" dirty="0">
              <a:solidFill>
                <a:srgbClr val="192743"/>
              </a:solidFill>
              <a:latin typeface="Poppins"/>
            </a:endParaRPr>
          </a:p>
        </p:txBody>
      </p:sp>
      <p:sp>
        <p:nvSpPr>
          <p:cNvPr id="20" name="New shape"/>
          <p:cNvSpPr/>
          <p:nvPr/>
        </p:nvSpPr>
        <p:spPr>
          <a:xfrm>
            <a:off x="5757863" y="2463451"/>
            <a:ext cx="189280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1" name="New shape"/>
          <p:cNvSpPr/>
          <p:nvPr/>
        </p:nvSpPr>
        <p:spPr>
          <a:xfrm>
            <a:off x="7664958" y="24634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2" name="New shape"/>
          <p:cNvSpPr/>
          <p:nvPr/>
        </p:nvSpPr>
        <p:spPr>
          <a:xfrm>
            <a:off x="7926133" y="2463451"/>
            <a:ext cx="60350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23" name="New shape"/>
          <p:cNvSpPr txBox="1"/>
          <p:nvPr/>
        </p:nvSpPr>
        <p:spPr>
          <a:xfrm>
            <a:off x="5729288" y="23309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24" name="New shape"/>
          <p:cNvSpPr txBox="1"/>
          <p:nvPr/>
        </p:nvSpPr>
        <p:spPr>
          <a:xfrm>
            <a:off x="8011461" y="23309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25"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528638" y="2952557"/>
            <a:ext cx="2494273"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Ik </a:t>
            </a:r>
            <a:r>
              <a:rPr sz="900" b="0" i="0" dirty="0" err="1">
                <a:solidFill>
                  <a:srgbClr val="192743"/>
                </a:solidFill>
                <a:latin typeface="Poppins"/>
              </a:rPr>
              <a:t>heb</a:t>
            </a:r>
            <a:r>
              <a:rPr sz="900" b="0" i="0" dirty="0">
                <a:solidFill>
                  <a:srgbClr val="192743"/>
                </a:solidFill>
                <a:latin typeface="Poppins"/>
              </a:rPr>
              <a:t> het </a:t>
            </a:r>
            <a:r>
              <a:rPr sz="900" b="0" i="0" dirty="0" err="1">
                <a:solidFill>
                  <a:srgbClr val="192743"/>
                </a:solidFill>
                <a:latin typeface="Poppins"/>
              </a:rPr>
              <a:t>gevoel</a:t>
            </a:r>
            <a:r>
              <a:rPr sz="900" b="0" i="0" dirty="0">
                <a:solidFill>
                  <a:srgbClr val="192743"/>
                </a:solidFill>
                <a:latin typeface="Poppins"/>
              </a:rPr>
              <a:t> </a:t>
            </a:r>
            <a:r>
              <a:rPr sz="900" b="0" i="0" dirty="0" err="1">
                <a:solidFill>
                  <a:srgbClr val="192743"/>
                </a:solidFill>
                <a:latin typeface="Poppins"/>
              </a:rPr>
              <a:t>dat</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a:t>
            </a:r>
            <a:r>
              <a:rPr sz="900" b="0" i="0" dirty="0" err="1">
                <a:solidFill>
                  <a:srgbClr val="192743"/>
                </a:solidFill>
                <a:latin typeface="Poppins"/>
              </a:rPr>
              <a:t>bij</a:t>
            </a:r>
            <a:r>
              <a:rPr sz="900" b="0" i="0" dirty="0">
                <a:solidFill>
                  <a:srgbClr val="192743"/>
                </a:solidFill>
                <a:latin typeface="Poppins"/>
              </a:rPr>
              <a:t> </a:t>
            </a:r>
            <a:r>
              <a:rPr lang="en-US" sz="900" b="0" i="0" dirty="0">
                <a:solidFill>
                  <a:srgbClr val="192743"/>
                </a:solidFill>
                <a:latin typeface="Poppins"/>
              </a:rPr>
              <a:t>Team IT</a:t>
            </a:r>
            <a:r>
              <a:rPr sz="900" b="0" i="0" dirty="0">
                <a:solidFill>
                  <a:srgbClr val="192743"/>
                </a:solidFill>
                <a:latin typeface="Poppins"/>
              </a:rPr>
              <a:t> pas</a:t>
            </a:r>
          </a:p>
        </p:txBody>
      </p:sp>
      <p:sp>
        <p:nvSpPr>
          <p:cNvPr id="27" name="New shape"/>
          <p:cNvSpPr/>
          <p:nvPr/>
        </p:nvSpPr>
        <p:spPr>
          <a:xfrm>
            <a:off x="5757862" y="2920651"/>
            <a:ext cx="208483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28" name="New shape"/>
          <p:cNvSpPr/>
          <p:nvPr/>
        </p:nvSpPr>
        <p:spPr>
          <a:xfrm>
            <a:off x="7856982" y="29206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9" name="New shape"/>
          <p:cNvSpPr/>
          <p:nvPr/>
        </p:nvSpPr>
        <p:spPr>
          <a:xfrm>
            <a:off x="8118158" y="2920651"/>
            <a:ext cx="41148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30" name="New shape"/>
          <p:cNvSpPr txBox="1"/>
          <p:nvPr/>
        </p:nvSpPr>
        <p:spPr>
          <a:xfrm>
            <a:off x="5729288" y="27881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31" name="New shape"/>
          <p:cNvSpPr txBox="1"/>
          <p:nvPr/>
        </p:nvSpPr>
        <p:spPr>
          <a:xfrm>
            <a:off x="8011461" y="27881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32"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3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36" name="New shape"/>
          <p:cNvSpPr txBox="1"/>
          <p:nvPr/>
        </p:nvSpPr>
        <p:spPr>
          <a:xfrm flipV="1">
            <a:off x="0" y="0"/>
            <a:ext cx="25369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Verdiep je in de thema's met de laagste scores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txBox="1"/>
          <p:nvPr/>
        </p:nvSpPr>
        <p:spPr>
          <a:xfrm flipV="1">
            <a:off x="0" y="0"/>
            <a:ext cx="25369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Verdiep je in de thema's met de laagste scores</a:t>
            </a:r>
          </a:p>
        </p:txBody>
      </p:sp>
      <p:sp>
        <p:nvSpPr>
          <p:cNvPr id="6"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Verdeling van antwoorden</a:t>
            </a:r>
          </a:p>
        </p:txBody>
      </p:sp>
      <p:sp>
        <p:nvSpPr>
          <p:cNvPr id="7"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Medewerkers faciliteren</a:t>
            </a:r>
          </a:p>
        </p:txBody>
      </p:sp>
      <p:sp>
        <p:nvSpPr>
          <p:cNvPr id="9" name="New shape"/>
          <p:cNvSpPr txBox="1"/>
          <p:nvPr/>
        </p:nvSpPr>
        <p:spPr>
          <a:xfrm>
            <a:off x="528638" y="1580940"/>
            <a:ext cx="300793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Mijn werkzaamheden sluiten aan bij wat ik goed kan</a:t>
            </a:r>
          </a:p>
        </p:txBody>
      </p:sp>
      <p:sp>
        <p:nvSpPr>
          <p:cNvPr id="10" name="New shape"/>
          <p:cNvSpPr/>
          <p:nvPr/>
        </p:nvSpPr>
        <p:spPr>
          <a:xfrm>
            <a:off x="5757862" y="1549051"/>
            <a:ext cx="202996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11" name="New shape"/>
          <p:cNvSpPr/>
          <p:nvPr/>
        </p:nvSpPr>
        <p:spPr>
          <a:xfrm>
            <a:off x="7802118" y="15490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12" name="New shape"/>
          <p:cNvSpPr/>
          <p:nvPr/>
        </p:nvSpPr>
        <p:spPr>
          <a:xfrm>
            <a:off x="8090726" y="15490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3" name="New shape"/>
          <p:cNvSpPr txBox="1"/>
          <p:nvPr/>
        </p:nvSpPr>
        <p:spPr>
          <a:xfrm>
            <a:off x="5729288" y="14165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14" name="New shape"/>
          <p:cNvSpPr txBox="1"/>
          <p:nvPr/>
        </p:nvSpPr>
        <p:spPr>
          <a:xfrm>
            <a:off x="8011461" y="14165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15"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txBox="1"/>
          <p:nvPr/>
        </p:nvSpPr>
        <p:spPr>
          <a:xfrm>
            <a:off x="528638" y="2038141"/>
            <a:ext cx="300953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Ik weet welke resultaten er van mij worden verwacht</a:t>
            </a:r>
          </a:p>
        </p:txBody>
      </p:sp>
      <p:sp>
        <p:nvSpPr>
          <p:cNvPr id="17" name="New shape"/>
          <p:cNvSpPr/>
          <p:nvPr/>
        </p:nvSpPr>
        <p:spPr>
          <a:xfrm>
            <a:off x="5757863" y="2006251"/>
            <a:ext cx="181051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18" name="New shape"/>
          <p:cNvSpPr/>
          <p:nvPr/>
        </p:nvSpPr>
        <p:spPr>
          <a:xfrm>
            <a:off x="7582661" y="2006251"/>
            <a:ext cx="41148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19" name="New shape"/>
          <p:cNvSpPr/>
          <p:nvPr/>
        </p:nvSpPr>
        <p:spPr>
          <a:xfrm>
            <a:off x="8008429" y="20062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20" name="New shape"/>
          <p:cNvSpPr txBox="1"/>
          <p:nvPr/>
        </p:nvSpPr>
        <p:spPr>
          <a:xfrm>
            <a:off x="5729288" y="18737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21" name="New shape"/>
          <p:cNvSpPr txBox="1"/>
          <p:nvPr/>
        </p:nvSpPr>
        <p:spPr>
          <a:xfrm>
            <a:off x="8011461" y="18737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22"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528638" y="2495341"/>
            <a:ext cx="337991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Ik krijg regelmatig nuttige feedback over mijn functioneren</a:t>
            </a:r>
          </a:p>
        </p:txBody>
      </p:sp>
      <p:sp>
        <p:nvSpPr>
          <p:cNvPr id="24" name="New shape"/>
          <p:cNvSpPr/>
          <p:nvPr/>
        </p:nvSpPr>
        <p:spPr>
          <a:xfrm>
            <a:off x="5757862" y="24634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5" name="New shape"/>
          <p:cNvSpPr/>
          <p:nvPr/>
        </p:nvSpPr>
        <p:spPr>
          <a:xfrm>
            <a:off x="7747254" y="2463451"/>
            <a:ext cx="301752"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26" name="New shape"/>
          <p:cNvSpPr/>
          <p:nvPr/>
        </p:nvSpPr>
        <p:spPr>
          <a:xfrm>
            <a:off x="8063293" y="2463451"/>
            <a:ext cx="46634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27" name="New shape"/>
          <p:cNvSpPr txBox="1"/>
          <p:nvPr/>
        </p:nvSpPr>
        <p:spPr>
          <a:xfrm>
            <a:off x="5729288" y="23309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28" name="New shape"/>
          <p:cNvSpPr txBox="1"/>
          <p:nvPr/>
        </p:nvSpPr>
        <p:spPr>
          <a:xfrm>
            <a:off x="8011461" y="23309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29"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txBox="1"/>
          <p:nvPr/>
        </p:nvSpPr>
        <p:spPr>
          <a:xfrm>
            <a:off x="528638" y="2952557"/>
            <a:ext cx="272831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prestaties</a:t>
            </a:r>
            <a:r>
              <a:rPr sz="900" b="0" i="0" dirty="0">
                <a:solidFill>
                  <a:srgbClr val="192743"/>
                </a:solidFill>
                <a:latin typeface="Poppins"/>
              </a:rPr>
              <a:t> </a:t>
            </a:r>
            <a:r>
              <a:rPr sz="900" b="0" i="0" dirty="0" err="1">
                <a:solidFill>
                  <a:srgbClr val="192743"/>
                </a:solidFill>
                <a:latin typeface="Poppins"/>
              </a:rPr>
              <a:t>beloond</a:t>
            </a:r>
            <a:endParaRPr sz="900" b="0" i="0" dirty="0">
              <a:solidFill>
                <a:srgbClr val="192743"/>
              </a:solidFill>
              <a:latin typeface="Poppins"/>
            </a:endParaRPr>
          </a:p>
        </p:txBody>
      </p:sp>
      <p:sp>
        <p:nvSpPr>
          <p:cNvPr id="31" name="New shape"/>
          <p:cNvSpPr/>
          <p:nvPr/>
        </p:nvSpPr>
        <p:spPr>
          <a:xfrm>
            <a:off x="5757862" y="2920651"/>
            <a:ext cx="194767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32" name="New shape"/>
          <p:cNvSpPr/>
          <p:nvPr/>
        </p:nvSpPr>
        <p:spPr>
          <a:xfrm>
            <a:off x="7719822" y="29206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3" name="New shape"/>
          <p:cNvSpPr/>
          <p:nvPr/>
        </p:nvSpPr>
        <p:spPr>
          <a:xfrm>
            <a:off x="8008430" y="29206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34" name="New shape"/>
          <p:cNvSpPr txBox="1"/>
          <p:nvPr/>
        </p:nvSpPr>
        <p:spPr>
          <a:xfrm>
            <a:off x="5729288" y="27881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35" name="New shape"/>
          <p:cNvSpPr txBox="1"/>
          <p:nvPr/>
        </p:nvSpPr>
        <p:spPr>
          <a:xfrm>
            <a:off x="8011461" y="27881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36"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7" name="New shape"/>
          <p:cNvSpPr txBox="1"/>
          <p:nvPr/>
        </p:nvSpPr>
        <p:spPr>
          <a:xfrm>
            <a:off x="528638" y="3409741"/>
            <a:ext cx="323721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Wanneer ik het goed doe, word ik hiervoor gewaardeerd</a:t>
            </a:r>
          </a:p>
        </p:txBody>
      </p:sp>
      <p:sp>
        <p:nvSpPr>
          <p:cNvPr id="38" name="New shape"/>
          <p:cNvSpPr/>
          <p:nvPr/>
        </p:nvSpPr>
        <p:spPr>
          <a:xfrm>
            <a:off x="5757862" y="3377851"/>
            <a:ext cx="1920240"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39" name="New shape"/>
          <p:cNvSpPr/>
          <p:nvPr/>
        </p:nvSpPr>
        <p:spPr>
          <a:xfrm>
            <a:off x="7692390" y="33778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40" name="New shape"/>
          <p:cNvSpPr/>
          <p:nvPr/>
        </p:nvSpPr>
        <p:spPr>
          <a:xfrm>
            <a:off x="7980998" y="3377851"/>
            <a:ext cx="54864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41" name="New shape"/>
          <p:cNvSpPr txBox="1"/>
          <p:nvPr/>
        </p:nvSpPr>
        <p:spPr>
          <a:xfrm>
            <a:off x="5729288" y="32453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42" name="New shape"/>
          <p:cNvSpPr txBox="1"/>
          <p:nvPr/>
        </p:nvSpPr>
        <p:spPr>
          <a:xfrm>
            <a:off x="8011461" y="32453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43" name="New shape"/>
          <p:cNvSpPr/>
          <p:nvPr/>
        </p:nvSpPr>
        <p:spPr>
          <a:xfrm>
            <a:off x="528638" y="36504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Het lezen van de resultaten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Vergeleken items en scoreberekening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 2 Box score of de score 'Ja'</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Bij een berekening op basis van de Top 2 Box score worden voor de totaalscore per vraag de percentages gecombineerd van deelnemers die 'Helemaal mee eens' of 'Mee eens' hebben geselecteerd.</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Mogelijke antwoorden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Procentuele verdeling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 2 Box score</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Niet mee eens/ niet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Percentage neutraal</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Nee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Helemaal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vraagscore</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Deelnemer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Deelnemer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Deelnemer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van de 3 = 67%</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themascore</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Het percentage mensen dat op alle topicvragen heeft gereageerd met 'Mee eens' of 'Helemaal mee eens'.</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Deelnemers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Themavraag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Themavraag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van de 4 = 75%</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153327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Het lezen van de resultaten</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Verschillen in scores en hoe de resultaten worden vergeleken</a:t>
            </a:r>
          </a:p>
        </p:txBody>
      </p:sp>
      <p:sp>
        <p:nvSpPr>
          <p:cNvPr id="4" name="New shape"/>
          <p:cNvSpPr/>
          <p:nvPr/>
        </p:nvSpPr>
        <p:spPr>
          <a:xfrm>
            <a:off x="457200" y="16116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344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lager.</a:t>
            </a:r>
          </a:p>
        </p:txBody>
      </p:sp>
      <p:sp>
        <p:nvSpPr>
          <p:cNvPr id="6" name="New shape"/>
          <p:cNvSpPr/>
          <p:nvPr/>
        </p:nvSpPr>
        <p:spPr>
          <a:xfrm>
            <a:off x="457200" y="209740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2026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lager.</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0604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Niet relevant omdat het verschil kleiner is dan 10 % punten.</a:t>
            </a:r>
          </a:p>
        </p:txBody>
      </p:sp>
      <p:sp>
        <p:nvSpPr>
          <p:cNvPr id="10" name="New shape"/>
          <p:cNvSpPr/>
          <p:nvPr/>
        </p:nvSpPr>
        <p:spPr>
          <a:xfrm>
            <a:off x="457200" y="306895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09181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hoger.</a:t>
            </a:r>
          </a:p>
        </p:txBody>
      </p:sp>
      <p:sp>
        <p:nvSpPr>
          <p:cNvPr id="12" name="New shape"/>
          <p:cNvSpPr/>
          <p:nvPr/>
        </p:nvSpPr>
        <p:spPr>
          <a:xfrm>
            <a:off x="457200" y="35547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5775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hoger.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Voorbeeldresultaat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2867C9"/>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2867C9"/>
                </a:solidFill>
                <a:latin typeface="Poppins"/>
              </a:rPr>
              <a:t>20 % punten hoger</a:t>
            </a:r>
          </a:p>
        </p:txBody>
      </p:sp>
      <p:grpSp>
        <p:nvGrpSpPr>
          <p:cNvPr id="27" name="Group 26"/>
          <p:cNvGrpSpPr/>
          <p:nvPr/>
        </p:nvGrpSpPr>
        <p:grpSpPr>
          <a:xfrm rot="18900000">
            <a:off x="6282532" y="1906890"/>
            <a:ext cx="504523" cy="171450"/>
            <a:chOff x="5801519" y="1436688"/>
            <a:chExt cx="504523"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29021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2867C9"/>
                  </a:solidFill>
                  <a:latin typeface="Poppins"/>
                </a:rPr>
                <a:t>Huidig</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46125" y="1837760"/>
            <a:ext cx="748967" cy="150019"/>
            <a:chOff x="7687469" y="1447403"/>
            <a:chExt cx="748967"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527510"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Organisatie</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Significantie (*)</a:t>
            </a:r>
          </a:p>
        </p:txBody>
      </p:sp>
      <p:sp>
        <p:nvSpPr>
          <p:cNvPr id="37"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Significantie helpt je identificeren of het waargenomen verschil tussen twee scores niet aan toeval te wijten is. Als een score gemarkeerd is met een asterisk, geeft dit aan dat het verschil tussen deze score en de score van Huidig significant is. Het weerspiegelt een realistisch verschil dat aandacht verdient.</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153327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Het lezen van de resultaten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Respons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en 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Je algehele responspercentage vergeleken met de vorige scores en benchmarkscores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1244473" y="4897041"/>
            <a:ext cx="114300" cy="121444"/>
          </a:xfrm>
          <a:prstGeom prst="rect">
            <a:avLst/>
          </a:prstGeom>
        </p:spPr>
      </p:pic>
      <p:sp>
        <p:nvSpPr>
          <p:cNvPr id="26"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590486"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Respons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Bekijk hoeveel medewerkers in al je groepen hebben deelgenomen aan het onderzoek.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244473" y="4897041"/>
            <a:ext cx="114300" cy="121444"/>
          </a:xfrm>
          <a:prstGeom prst="rect">
            <a:avLst/>
          </a:prstGeom>
        </p:spPr>
      </p:pic>
      <p:sp>
        <p:nvSpPr>
          <p:cNvPr id="55"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590486"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Respons</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1702</Words>
  <Application>Microsoft Macintosh PowerPoint</Application>
  <PresentationFormat>On-screen Show (16:9)</PresentationFormat>
  <Paragraphs>570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2026-06-29T13:18:05Z</cp:lastPrinted>
  <dcterms:created xsi:type="dcterms:W3CDTF">2026-06-29T13:18:06Z</dcterms:created>
  <dcterms:modified xsi:type="dcterms:W3CDTF">2026-06-30T12:05:38Z</dcterms:modified>
</cp:coreProperties>
</file>